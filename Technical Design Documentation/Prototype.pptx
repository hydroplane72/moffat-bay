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FE5"/>
    <a:srgbClr val="132133"/>
    <a:srgbClr val="163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5DB15-7D6E-4472-B99D-9906CF1DE234}"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076F5-3447-4DA2-8E99-5DA35D376766}" type="slidenum">
              <a:rPr lang="en-US" smtClean="0"/>
              <a:t>‹#›</a:t>
            </a:fld>
            <a:endParaRPr lang="en-US"/>
          </a:p>
        </p:txBody>
      </p:sp>
    </p:spTree>
    <p:extLst>
      <p:ext uri="{BB962C8B-B14F-4D97-AF65-F5344CB8AC3E}">
        <p14:creationId xmlns:p14="http://schemas.microsoft.com/office/powerpoint/2010/main" val="62396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E4A2-0155-A05C-AAF5-BBFDA9E37B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EC1CA4-16E4-B629-6F0E-0EEF4D7E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19F1BB-6298-3AAC-93AF-D5C8310B044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61B29333-C17D-8F41-90EC-56CE4FA60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DCD2F-0A04-79C3-4783-FCF699FCCCEC}"/>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5854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91FB-ED08-5951-8A5A-D8944DBB89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9BB92D-9F22-E006-B20E-F27A6E23B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411F8-2C5A-5B33-A3C5-986371A2BFB0}"/>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3890D87B-9377-76ED-C8F5-5191A5AEC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BEFA1-2E2D-A0A8-11AE-145BB097F5E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73632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D72C3-5BAA-A10E-3285-67305AEF9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D943-089A-2C66-B80E-E40BAC83C6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0D70DF-B1E4-7642-0A89-B051BC90175E}"/>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25E907DA-71ED-6A8F-CF58-B8C6791AE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2E472-952E-4900-13EE-F620FDAFDF48}"/>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367330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95B3-A267-9C5E-AC87-62423339E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F2F3C-C019-8721-948D-9F11E50C7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2C0271-09DA-6AC9-DF82-6C8E62FC3A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37CB97-D526-83AC-8B37-20B914263C4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F58D21C6-D9DD-CEAE-D600-FDA731D09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3209A7-BA73-35C5-3761-AA1F8DDCDC3E}"/>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422690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A059-DD14-D336-0962-488FFF1B7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7A254-7BAE-6B45-D89F-ED13E6988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86CAF9-9534-4079-6A93-6297526F67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36A7B-CE72-195E-25D3-D782EDE14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28A44-E64A-6698-34EC-B77B7BCA52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ABE73F-4645-0BA5-3E2E-BBB8FD4A5AC1}"/>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8" name="Footer Placeholder 7">
            <a:extLst>
              <a:ext uri="{FF2B5EF4-FFF2-40B4-BE49-F238E27FC236}">
                <a16:creationId xmlns:a16="http://schemas.microsoft.com/office/drawing/2014/main" id="{01A77963-35AF-9F83-B9C4-76724B810A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E934C7-5539-36CE-9CDD-AD51B3D80AE7}"/>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356780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E877-0C79-D784-B993-45D9241DA3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E4F0F-7A11-6C9E-D7D2-22D3414FCFC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4" name="Footer Placeholder 3">
            <a:extLst>
              <a:ext uri="{FF2B5EF4-FFF2-40B4-BE49-F238E27FC236}">
                <a16:creationId xmlns:a16="http://schemas.microsoft.com/office/drawing/2014/main" id="{386CC4B6-A626-C7C9-FFD3-7826791A25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D0ED10-94EC-C057-E8E0-EE91C0840C7D}"/>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021032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8FDF5-8F5F-1B44-A602-99BDDA5CE2C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3" name="Footer Placeholder 2">
            <a:extLst>
              <a:ext uri="{FF2B5EF4-FFF2-40B4-BE49-F238E27FC236}">
                <a16:creationId xmlns:a16="http://schemas.microsoft.com/office/drawing/2014/main" id="{267F3CE6-EE7E-5EE8-B6E1-990C6B8673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54164-1DDA-18D3-BE82-9DA2528D002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296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1C1C-88B1-6C82-1556-87AAC554C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E3369C-9E32-2BCD-299A-B1C1AA961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6EDEE-F977-CEF3-39D3-08D5C91BF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49E5B-B917-5055-9035-6F4FB33A2765}"/>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A467E325-6406-F480-E79C-AE9351CFA1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084D0-5DD5-EBF6-3F02-32E16FC3C89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481791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9A65-1700-5996-2381-8A9EC5B65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74CE2-285E-B301-8B3A-A85A564A1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F256-CB98-E565-A17F-E879CB685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385DB-42C3-E76D-ACFD-559961FF480E}"/>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DB59BC7E-CC21-EA51-543C-DDD08C7BC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10CE7-B052-F965-34DD-DFEF4A5B2D6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91110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4261-9401-684A-C9AA-5DDAABC5C3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71F7D-AA47-797B-5850-B2C57AA843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46B1-EB72-477F-15EA-5DB3D75ED5F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8C0ADC89-A98E-C277-E1E8-34CBF7F7D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0DC25-0B14-CC9B-D835-44A3382BE75F}"/>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42011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61098-BE1A-D11A-2438-CA72428C0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981C4-A98C-D95E-6D49-81B607F64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7BA21-BDDB-F033-BA91-E0C407E0D94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4C37E778-C888-1CAA-F70C-5520A207D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43CA-CE61-38F9-4975-63A5330E510A}"/>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6862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281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CB8F2-7A74-A422-E451-534F9636D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3F6F89-7765-EFBA-143F-42782B0B4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F67F-0DEC-A33D-1DD0-69F2A01D8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04ABB39D-98B6-C693-1053-BED240B6A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999B3C-FDCB-E0F9-A157-E97169C1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9185F2-FDE0-4379-9660-6AB1AB775FC0}" type="slidenum">
              <a:rPr lang="en-US" smtClean="0"/>
              <a:t>‹#›</a:t>
            </a:fld>
            <a:endParaRPr lang="en-US"/>
          </a:p>
        </p:txBody>
      </p:sp>
    </p:spTree>
    <p:extLst>
      <p:ext uri="{BB962C8B-B14F-4D97-AF65-F5344CB8AC3E}">
        <p14:creationId xmlns:p14="http://schemas.microsoft.com/office/powerpoint/2010/main" val="22990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slide" Target="slide10.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3.xml"/><Relationship Id="rId7" Type="http://schemas.openxmlformats.org/officeDocument/2006/relationships/slide" Target="slide4.xml"/><Relationship Id="rId12"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2.xml"/><Relationship Id="rId11" Type="http://schemas.openxmlformats.org/officeDocument/2006/relationships/slide" Target="slide11.xml"/><Relationship Id="rId5" Type="http://schemas.openxmlformats.org/officeDocument/2006/relationships/slide" Target="slide10.xml"/><Relationship Id="rId10" Type="http://schemas.openxmlformats.org/officeDocument/2006/relationships/slide" Target="slide8.xml"/><Relationship Id="rId4" Type="http://schemas.openxmlformats.org/officeDocument/2006/relationships/slide" Target="slide5.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5.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6.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7.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2.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5"/>
        </a:solidFill>
        <a:effectLst/>
      </p:bgPr>
    </p:bg>
    <p:spTree>
      <p:nvGrpSpPr>
        <p:cNvPr id="1" name=""/>
        <p:cNvGrpSpPr/>
        <p:nvPr/>
      </p:nvGrpSpPr>
      <p:grpSpPr>
        <a:xfrm>
          <a:off x="0" y="0"/>
          <a:ext cx="0" cy="0"/>
          <a:chOff x="0" y="0"/>
          <a:chExt cx="0" cy="0"/>
        </a:xfrm>
      </p:grpSpPr>
      <p:sp>
        <p:nvSpPr>
          <p:cNvPr id="2" name="Shape 0"/>
          <p:cNvSpPr/>
          <p:nvPr/>
        </p:nvSpPr>
        <p:spPr>
          <a:xfrm>
            <a:off x="566928" y="420624"/>
            <a:ext cx="603504" cy="603504"/>
          </a:xfrm>
          <a:prstGeom prst="ellipse">
            <a:avLst/>
          </a:prstGeom>
          <a:solidFill>
            <a:srgbClr val="276F7B"/>
          </a:solidFill>
          <a:ln w="12700">
            <a:solidFill>
              <a:srgbClr val="276F7B"/>
            </a:solidFill>
            <a:prstDash val="solid"/>
          </a:ln>
        </p:spPr>
        <p:txBody>
          <a:bodyPr/>
          <a:lstStyle/>
          <a:p>
            <a:endParaRPr lang="en-US"/>
          </a:p>
        </p:txBody>
      </p:sp>
      <p:sp>
        <p:nvSpPr>
          <p:cNvPr id="3" name="Text 1"/>
          <p:cNvSpPr/>
          <p:nvPr/>
        </p:nvSpPr>
        <p:spPr>
          <a:xfrm>
            <a:off x="566928" y="557784"/>
            <a:ext cx="603504" cy="219456"/>
          </a:xfrm>
          <a:prstGeom prst="rect">
            <a:avLst/>
          </a:prstGeom>
          <a:noFill/>
          <a:ln/>
        </p:spPr>
        <p:txBody>
          <a:bodyPr wrap="square" lIns="381" tIns="381" rIns="381" bIns="381" rtlCol="0" anchor="ctr">
            <a:normAutofit fontScale="92500" lnSpcReduction="20000"/>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MB</a:t>
            </a:r>
            <a:endParaRPr lang="en-US" sz="1800" dirty="0"/>
          </a:p>
        </p:txBody>
      </p:sp>
      <p:sp>
        <p:nvSpPr>
          <p:cNvPr id="4" name="Text 2"/>
          <p:cNvSpPr/>
          <p:nvPr/>
        </p:nvSpPr>
        <p:spPr>
          <a:xfrm>
            <a:off x="1353312" y="420624"/>
            <a:ext cx="3657600" cy="329184"/>
          </a:xfrm>
          <a:prstGeom prst="rect">
            <a:avLst/>
          </a:prstGeom>
          <a:noFill/>
          <a:ln/>
        </p:spPr>
        <p:txBody>
          <a:bodyPr wrap="square" lIns="381" tIns="381" rIns="381" bIns="381" rtlCol="0" anchor="ctr">
            <a:normAutofit/>
          </a:bodyPr>
          <a:lstStyle/>
          <a:p>
            <a:pPr marL="0" indent="0" algn="l">
              <a:buNone/>
            </a:pPr>
            <a:r>
              <a:rPr lang="en-US" sz="1500" b="1" dirty="0">
                <a:solidFill>
                  <a:srgbClr val="132133"/>
                </a:solidFill>
                <a:latin typeface="Arial" pitchFamily="34" charset="0"/>
                <a:ea typeface="Arial" pitchFamily="34" charset="-122"/>
                <a:cs typeface="Arial" pitchFamily="34" charset="-120"/>
              </a:rPr>
              <a:t>Moffat Bay Lodge</a:t>
            </a:r>
            <a:endParaRPr lang="en-US" sz="1500" dirty="0"/>
          </a:p>
        </p:txBody>
      </p:sp>
      <p:sp>
        <p:nvSpPr>
          <p:cNvPr id="5" name="Text 3"/>
          <p:cNvSpPr/>
          <p:nvPr/>
        </p:nvSpPr>
        <p:spPr>
          <a:xfrm>
            <a:off x="1353312" y="795528"/>
            <a:ext cx="4572000" cy="201168"/>
          </a:xfrm>
          <a:prstGeom prst="rect">
            <a:avLst/>
          </a:prstGeom>
          <a:noFill/>
          <a:ln/>
        </p:spPr>
        <p:txBody>
          <a:bodyPr wrap="square" lIns="381" tIns="381" rIns="381" bIns="381" rtlCol="0" anchor="ctr">
            <a:normAutofit/>
          </a:bodyPr>
          <a:lstStyle/>
          <a:p>
            <a:pPr marL="0" indent="0" algn="l">
              <a:buNone/>
            </a:pPr>
            <a:r>
              <a:rPr lang="en-US" sz="950" dirty="0">
                <a:solidFill>
                  <a:srgbClr val="536273"/>
                </a:solidFill>
                <a:latin typeface="Arial" pitchFamily="34" charset="0"/>
                <a:ea typeface="Arial" pitchFamily="34" charset="-122"/>
                <a:cs typeface="Arial" pitchFamily="34" charset="-120"/>
              </a:rPr>
              <a:t>Functional Prototype + Landing Page Mockup</a:t>
            </a:r>
            <a:endParaRPr lang="en-US" sz="950" dirty="0"/>
          </a:p>
        </p:txBody>
      </p:sp>
      <p:sp>
        <p:nvSpPr>
          <p:cNvPr id="6" name="Text 4"/>
          <p:cNvSpPr/>
          <p:nvPr/>
        </p:nvSpPr>
        <p:spPr>
          <a:xfrm>
            <a:off x="658368" y="1691640"/>
            <a:ext cx="7132320" cy="530352"/>
          </a:xfrm>
          <a:prstGeom prst="rect">
            <a:avLst/>
          </a:prstGeom>
          <a:noFill/>
          <a:ln/>
        </p:spPr>
        <p:txBody>
          <a:bodyPr wrap="square" lIns="381" tIns="381" rIns="381" bIns="381" rtlCol="0" anchor="ctr">
            <a:normAutofit/>
          </a:bodyPr>
          <a:lstStyle/>
          <a:p>
            <a:pPr marL="0" indent="0" algn="l">
              <a:buNone/>
            </a:pPr>
            <a:r>
              <a:rPr lang="en-US" sz="2750" dirty="0">
                <a:solidFill>
                  <a:srgbClr val="132133"/>
                </a:solidFill>
                <a:latin typeface="Georgia" pitchFamily="34" charset="0"/>
                <a:ea typeface="Georgia" pitchFamily="34" charset="-122"/>
                <a:cs typeface="Georgia" pitchFamily="34" charset="-120"/>
              </a:rPr>
              <a:t>Navigational Wireframe PowerPoint</a:t>
            </a:r>
            <a:endParaRPr lang="en-US" sz="2750" dirty="0"/>
          </a:p>
        </p:txBody>
      </p:sp>
      <p:sp>
        <p:nvSpPr>
          <p:cNvPr id="8" name="Shape 6"/>
          <p:cNvSpPr/>
          <p:nvPr/>
        </p:nvSpPr>
        <p:spPr>
          <a:xfrm>
            <a:off x="694944" y="3054096"/>
            <a:ext cx="4663440" cy="1417320"/>
          </a:xfrm>
          <a:prstGeom prst="roundRect">
            <a:avLst>
              <a:gd name="adj" fmla="val 7742"/>
            </a:avLst>
          </a:prstGeom>
          <a:solidFill>
            <a:srgbClr val="FFFFFF">
              <a:alpha val="92000"/>
            </a:srgbClr>
          </a:solidFill>
          <a:ln w="12700">
            <a:solidFill>
              <a:srgbClr val="E9DFCF"/>
            </a:solidFill>
            <a:prstDash val="solid"/>
          </a:ln>
          <a:effectLst>
            <a:outerShdw blurRad="12700" dist="8890" dir="2700000" algn="bl" rotWithShape="0">
              <a:srgbClr val="132133">
                <a:alpha val="8000"/>
              </a:srgbClr>
            </a:outerShdw>
          </a:effectLst>
        </p:spPr>
        <p:txBody>
          <a:bodyPr/>
          <a:lstStyle/>
          <a:p>
            <a:endParaRPr lang="en-US"/>
          </a:p>
        </p:txBody>
      </p:sp>
      <p:sp>
        <p:nvSpPr>
          <p:cNvPr id="9" name="Text 7"/>
          <p:cNvSpPr/>
          <p:nvPr/>
        </p:nvSpPr>
        <p:spPr>
          <a:xfrm>
            <a:off x="941832" y="3273552"/>
            <a:ext cx="4023360" cy="228600"/>
          </a:xfrm>
          <a:prstGeom prst="rect">
            <a:avLst/>
          </a:prstGeom>
          <a:noFill/>
          <a:ln/>
        </p:spPr>
        <p:txBody>
          <a:bodyPr wrap="square" lIns="381" tIns="381" rIns="381" bIns="381" rtlCol="0" anchor="ctr">
            <a:normAutofit/>
          </a:bodyPr>
          <a:lstStyle/>
          <a:p>
            <a:pPr marL="0" indent="0" algn="l">
              <a:buNone/>
            </a:pPr>
            <a:r>
              <a:rPr lang="en-US" sz="1300" b="1" dirty="0">
                <a:solidFill>
                  <a:srgbClr val="132133"/>
                </a:solidFill>
                <a:latin typeface="Arial" pitchFamily="34" charset="0"/>
                <a:ea typeface="Arial" pitchFamily="34" charset="-122"/>
                <a:cs typeface="Arial" pitchFamily="34" charset="-120"/>
              </a:rPr>
              <a:t>Red Team</a:t>
            </a:r>
            <a:endParaRPr lang="en-US" sz="1300" dirty="0"/>
          </a:p>
        </p:txBody>
      </p:sp>
      <p:sp>
        <p:nvSpPr>
          <p:cNvPr id="10" name="Text 8"/>
          <p:cNvSpPr/>
          <p:nvPr/>
        </p:nvSpPr>
        <p:spPr>
          <a:xfrm>
            <a:off x="950976" y="3602736"/>
            <a:ext cx="3931920" cy="713232"/>
          </a:xfrm>
          <a:prstGeom prst="rect">
            <a:avLst/>
          </a:prstGeom>
          <a:noFill/>
          <a:ln/>
        </p:spPr>
        <p:txBody>
          <a:bodyPr wrap="square" lIns="381" tIns="381" rIns="381" bIns="381" rtlCol="0" anchor="t">
            <a:normAutofit/>
          </a:bodyPr>
          <a:lstStyle/>
          <a:p>
            <a:pPr marL="0" indent="0" algn="l">
              <a:buNone/>
            </a:pPr>
            <a:r>
              <a:rPr lang="en-US" sz="1100" dirty="0">
                <a:solidFill>
                  <a:srgbClr val="2A3B50"/>
                </a:solidFill>
                <a:latin typeface="Arial" pitchFamily="34" charset="0"/>
                <a:ea typeface="Arial" pitchFamily="34" charset="-122"/>
                <a:cs typeface="Arial" pitchFamily="34" charset="-120"/>
              </a:rPr>
              <a:t>Matthew Rozendaal</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Brayan Covarrubias</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Rashai Robertson</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Tiffany Davidson</a:t>
            </a:r>
            <a:endParaRPr lang="en-US" sz="1100" dirty="0"/>
          </a:p>
        </p:txBody>
      </p:sp>
      <p:sp>
        <p:nvSpPr>
          <p:cNvPr id="11" name="Shape 9"/>
          <p:cNvSpPr/>
          <p:nvPr/>
        </p:nvSpPr>
        <p:spPr>
          <a:xfrm>
            <a:off x="6629400" y="1170432"/>
            <a:ext cx="4663440" cy="4526280"/>
          </a:xfrm>
          <a:prstGeom prst="roundRect">
            <a:avLst>
              <a:gd name="adj" fmla="val 3636"/>
            </a:avLst>
          </a:prstGeom>
          <a:solidFill>
            <a:srgbClr val="FFFFFF">
              <a:alpha val="90000"/>
            </a:srgbClr>
          </a:solidFill>
          <a:ln w="12700">
            <a:solidFill>
              <a:srgbClr val="E9DFCF"/>
            </a:solidFill>
            <a:prstDash val="solid"/>
          </a:ln>
          <a:effectLst>
            <a:outerShdw blurRad="25400" dist="12700" dir="2700000" algn="bl" rotWithShape="0">
              <a:srgbClr val="132133">
                <a:alpha val="12000"/>
              </a:srgbClr>
            </a:outerShdw>
          </a:effectLst>
        </p:spPr>
        <p:txBody>
          <a:bodyPr/>
          <a:lstStyle/>
          <a:p>
            <a:endParaRPr lang="en-US"/>
          </a:p>
        </p:txBody>
      </p:sp>
      <p:sp>
        <p:nvSpPr>
          <p:cNvPr id="12" name="Shape 10"/>
          <p:cNvSpPr/>
          <p:nvPr/>
        </p:nvSpPr>
        <p:spPr>
          <a:xfrm>
            <a:off x="6903720" y="1417320"/>
            <a:ext cx="4114800" cy="3977640"/>
          </a:xfrm>
          <a:prstGeom prst="roundRect">
            <a:avLst>
              <a:gd name="adj" fmla="val 1839"/>
            </a:avLst>
          </a:prstGeom>
          <a:solidFill>
            <a:srgbClr val="FFFAF2"/>
          </a:solidFill>
          <a:ln w="12700">
            <a:solidFill>
              <a:srgbClr val="E9DFCF"/>
            </a:solidFill>
            <a:prstDash val="solid"/>
          </a:ln>
        </p:spPr>
        <p:txBody>
          <a:bodyPr/>
          <a:lstStyle/>
          <a:p>
            <a:endParaRPr lang="en-US"/>
          </a:p>
        </p:txBody>
      </p:sp>
      <p:sp>
        <p:nvSpPr>
          <p:cNvPr id="13" name="Shape 11"/>
          <p:cNvSpPr/>
          <p:nvPr/>
        </p:nvSpPr>
        <p:spPr>
          <a:xfrm>
            <a:off x="6903720" y="1417320"/>
            <a:ext cx="4114800" cy="384048"/>
          </a:xfrm>
          <a:prstGeom prst="rect">
            <a:avLst/>
          </a:prstGeom>
          <a:solidFill>
            <a:srgbClr val="FFFFFF"/>
          </a:solidFill>
          <a:ln w="12700">
            <a:solidFill>
              <a:srgbClr val="E9DFCF"/>
            </a:solidFill>
            <a:prstDash val="solid"/>
          </a:ln>
        </p:spPr>
        <p:txBody>
          <a:bodyPr/>
          <a:lstStyle/>
          <a:p>
            <a:endParaRPr lang="en-US"/>
          </a:p>
        </p:txBody>
      </p:sp>
      <p:sp>
        <p:nvSpPr>
          <p:cNvPr id="17" name="Shape 15"/>
          <p:cNvSpPr/>
          <p:nvPr/>
        </p:nvSpPr>
        <p:spPr>
          <a:xfrm>
            <a:off x="6903720" y="1801368"/>
            <a:ext cx="4114800" cy="384048"/>
          </a:xfrm>
          <a:prstGeom prst="rect">
            <a:avLst/>
          </a:prstGeom>
          <a:solidFill>
            <a:srgbClr val="FAF5EC"/>
          </a:solidFill>
          <a:ln w="12700">
            <a:solidFill>
              <a:srgbClr val="E9DFCF"/>
            </a:solidFill>
            <a:prstDash val="solid"/>
          </a:ln>
        </p:spPr>
        <p:txBody>
          <a:bodyPr/>
          <a:lstStyle/>
          <a:p>
            <a:endParaRPr lang="en-US"/>
          </a:p>
        </p:txBody>
      </p:sp>
      <p:sp>
        <p:nvSpPr>
          <p:cNvPr id="18" name="Shape 16"/>
          <p:cNvSpPr/>
          <p:nvPr/>
        </p:nvSpPr>
        <p:spPr>
          <a:xfrm>
            <a:off x="7114032" y="1892808"/>
            <a:ext cx="201168" cy="201168"/>
          </a:xfrm>
          <a:prstGeom prst="ellipse">
            <a:avLst/>
          </a:prstGeom>
          <a:solidFill>
            <a:srgbClr val="276F7B"/>
          </a:solidFill>
          <a:ln w="12700">
            <a:solidFill>
              <a:srgbClr val="276F7B"/>
            </a:solidFill>
            <a:prstDash val="solid"/>
          </a:ln>
        </p:spPr>
        <p:txBody>
          <a:bodyPr/>
          <a:lstStyle/>
          <a:p>
            <a:endParaRPr lang="en-US"/>
          </a:p>
        </p:txBody>
      </p:sp>
      <p:sp>
        <p:nvSpPr>
          <p:cNvPr id="19" name="Text 17"/>
          <p:cNvSpPr/>
          <p:nvPr/>
        </p:nvSpPr>
        <p:spPr>
          <a:xfrm>
            <a:off x="7114032" y="1929384"/>
            <a:ext cx="201168" cy="73152"/>
          </a:xfrm>
          <a:prstGeom prst="rect">
            <a:avLst/>
          </a:prstGeom>
          <a:noFill/>
          <a:ln/>
        </p:spPr>
        <p:txBody>
          <a:bodyPr wrap="square" lIns="381" tIns="381" rIns="381" bIns="381" rtlCol="0" anchor="ctr">
            <a:normAutofit lnSpcReduction="10000"/>
          </a:bodyPr>
          <a:lstStyle/>
          <a:p>
            <a:pPr marL="0" indent="0" algn="ctr">
              <a:buNone/>
            </a:pPr>
            <a:r>
              <a:rPr lang="en-US" sz="500" b="1" dirty="0">
                <a:solidFill>
                  <a:srgbClr val="FFFFFF"/>
                </a:solidFill>
                <a:latin typeface="Georgia" pitchFamily="34" charset="0"/>
                <a:ea typeface="Georgia" pitchFamily="34" charset="-122"/>
                <a:cs typeface="Georgia" pitchFamily="34" charset="-120"/>
              </a:rPr>
              <a:t>MB</a:t>
            </a:r>
            <a:endParaRPr lang="en-US" sz="500" dirty="0"/>
          </a:p>
        </p:txBody>
      </p:sp>
      <p:sp>
        <p:nvSpPr>
          <p:cNvPr id="20" name="Text 18"/>
          <p:cNvSpPr/>
          <p:nvPr/>
        </p:nvSpPr>
        <p:spPr>
          <a:xfrm>
            <a:off x="7388352" y="1920240"/>
            <a:ext cx="1170432" cy="82296"/>
          </a:xfrm>
          <a:prstGeom prst="rect">
            <a:avLst/>
          </a:prstGeom>
          <a:noFill/>
          <a:ln/>
        </p:spPr>
        <p:txBody>
          <a:bodyPr wrap="square" lIns="381" tIns="381" rIns="381" bIns="381" rtlCol="0" anchor="ctr">
            <a:normAutofit/>
          </a:bodyPr>
          <a:lstStyle/>
          <a:p>
            <a:pPr marL="0" indent="0" algn="l">
              <a:buNone/>
            </a:pPr>
            <a:r>
              <a:rPr lang="en-US" sz="520" b="1" dirty="0">
                <a:solidFill>
                  <a:srgbClr val="132133"/>
                </a:solidFill>
                <a:latin typeface="Arial" pitchFamily="34" charset="0"/>
                <a:ea typeface="Arial" pitchFamily="34" charset="-122"/>
                <a:cs typeface="Arial" pitchFamily="34" charset="-120"/>
              </a:rPr>
              <a:t>MOFFAT BAY LODGE</a:t>
            </a:r>
            <a:endParaRPr lang="en-US" sz="520" dirty="0"/>
          </a:p>
        </p:txBody>
      </p:sp>
      <p:sp>
        <p:nvSpPr>
          <p:cNvPr id="21" name="Text 19"/>
          <p:cNvSpPr/>
          <p:nvPr/>
        </p:nvSpPr>
        <p:spPr>
          <a:xfrm>
            <a:off x="879652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76F7B"/>
                </a:solidFill>
                <a:latin typeface="Arial" pitchFamily="34" charset="0"/>
                <a:ea typeface="Arial" pitchFamily="34" charset="-122"/>
                <a:cs typeface="Arial" pitchFamily="34" charset="-120"/>
              </a:rPr>
              <a:t>Home</a:t>
            </a:r>
            <a:endParaRPr lang="en-US" sz="490" dirty="0"/>
          </a:p>
        </p:txBody>
      </p:sp>
      <p:sp>
        <p:nvSpPr>
          <p:cNvPr id="22" name="Text 20"/>
          <p:cNvSpPr/>
          <p:nvPr/>
        </p:nvSpPr>
        <p:spPr>
          <a:xfrm>
            <a:off x="929944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Rooms</a:t>
            </a:r>
            <a:endParaRPr lang="en-US" sz="490" dirty="0"/>
          </a:p>
        </p:txBody>
      </p:sp>
      <p:sp>
        <p:nvSpPr>
          <p:cNvPr id="23" name="Text 21"/>
          <p:cNvSpPr/>
          <p:nvPr/>
        </p:nvSpPr>
        <p:spPr>
          <a:xfrm>
            <a:off x="980236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Book</a:t>
            </a:r>
            <a:endParaRPr lang="en-US" sz="490" dirty="0"/>
          </a:p>
        </p:txBody>
      </p:sp>
      <p:sp>
        <p:nvSpPr>
          <p:cNvPr id="24" name="Shape 22"/>
          <p:cNvSpPr/>
          <p:nvPr/>
        </p:nvSpPr>
        <p:spPr>
          <a:xfrm>
            <a:off x="7269480" y="2606040"/>
            <a:ext cx="1627632" cy="960120"/>
          </a:xfrm>
          <a:prstGeom prst="roundRect">
            <a:avLst>
              <a:gd name="adj" fmla="val 9524"/>
            </a:avLst>
          </a:prstGeom>
          <a:solidFill>
            <a:srgbClr val="FFFFFF"/>
          </a:solidFill>
          <a:ln w="12700">
            <a:solidFill>
              <a:srgbClr val="E9DFCF"/>
            </a:solidFill>
            <a:prstDash val="solid"/>
          </a:ln>
        </p:spPr>
        <p:txBody>
          <a:bodyPr/>
          <a:lstStyle/>
          <a:p>
            <a:endParaRPr lang="en-US"/>
          </a:p>
        </p:txBody>
      </p:sp>
      <p:sp>
        <p:nvSpPr>
          <p:cNvPr id="25" name="Text 23"/>
          <p:cNvSpPr/>
          <p:nvPr/>
        </p:nvSpPr>
        <p:spPr>
          <a:xfrm>
            <a:off x="7424928" y="2761488"/>
            <a:ext cx="1353312"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26" name="Text 24"/>
          <p:cNvSpPr/>
          <p:nvPr/>
        </p:nvSpPr>
        <p:spPr>
          <a:xfrm>
            <a:off x="7424928" y="2962656"/>
            <a:ext cx="1353312" cy="256032"/>
          </a:xfrm>
          <a:prstGeom prst="rect">
            <a:avLst/>
          </a:prstGeom>
          <a:noFill/>
          <a:ln/>
        </p:spPr>
        <p:txBody>
          <a:bodyPr wrap="square" lIns="381" tIns="381" rIns="381" bIns="381" rtlCol="0" anchor="ctr">
            <a:normAutofit/>
          </a:bodyPr>
          <a:lstStyle/>
          <a:p>
            <a:pPr marL="0" indent="0" algn="l">
              <a:buNone/>
            </a:pPr>
            <a:r>
              <a:rPr lang="en-US" sz="950" dirty="0">
                <a:solidFill>
                  <a:srgbClr val="132133"/>
                </a:solidFill>
                <a:latin typeface="Georgia" pitchFamily="34" charset="0"/>
                <a:ea typeface="Georgia" pitchFamily="34" charset="-122"/>
                <a:cs typeface="Georgia" pitchFamily="34" charset="-120"/>
              </a:rPr>
              <a:t>One Island. One Lodge.</a:t>
            </a:r>
            <a:endParaRPr lang="en-US" sz="950" dirty="0"/>
          </a:p>
        </p:txBody>
      </p:sp>
      <p:sp>
        <p:nvSpPr>
          <p:cNvPr id="27" name="Text 25"/>
          <p:cNvSpPr/>
          <p:nvPr/>
        </p:nvSpPr>
        <p:spPr>
          <a:xfrm>
            <a:off x="7424928" y="3200400"/>
            <a:ext cx="1353312" cy="228600"/>
          </a:xfrm>
          <a:prstGeom prst="rect">
            <a:avLst/>
          </a:prstGeom>
          <a:noFill/>
          <a:ln/>
        </p:spPr>
        <p:txBody>
          <a:bodyPr wrap="square" lIns="381" tIns="381" rIns="381" bIns="381" rtlCol="0" anchor="t">
            <a:normAutofit/>
          </a:bodyPr>
          <a:lstStyle/>
          <a:p>
            <a:pPr marL="0" indent="0" algn="l">
              <a:buNone/>
            </a:pPr>
            <a:r>
              <a:rPr lang="en-US" sz="460" dirty="0">
                <a:solidFill>
                  <a:srgbClr val="2A3B50"/>
                </a:solidFill>
                <a:latin typeface="Arial" pitchFamily="34" charset="0"/>
                <a:ea typeface="Arial" pitchFamily="34" charset="-122"/>
                <a:cs typeface="Arial" pitchFamily="34" charset="-120"/>
              </a:rPr>
              <a:t>Comfortable lodging and island adventure in one simple reservation flow.</a:t>
            </a:r>
            <a:endParaRPr lang="en-US" sz="460" dirty="0"/>
          </a:p>
        </p:txBody>
      </p:sp>
      <p:sp>
        <p:nvSpPr>
          <p:cNvPr id="28" name="Shape 26"/>
          <p:cNvSpPr/>
          <p:nvPr/>
        </p:nvSpPr>
        <p:spPr>
          <a:xfrm>
            <a:off x="9079992" y="2606040"/>
            <a:ext cx="1444752" cy="960120"/>
          </a:xfrm>
          <a:prstGeom prst="roundRect">
            <a:avLst>
              <a:gd name="adj" fmla="val 9524"/>
            </a:avLst>
          </a:prstGeom>
          <a:solidFill>
            <a:srgbClr val="132133"/>
          </a:solidFill>
          <a:ln w="12700">
            <a:solidFill>
              <a:srgbClr val="132133"/>
            </a:solidFill>
            <a:prstDash val="solid"/>
          </a:ln>
        </p:spPr>
        <p:txBody>
          <a:bodyPr/>
          <a:lstStyle/>
          <a:p>
            <a:endParaRPr lang="en-US"/>
          </a:p>
        </p:txBody>
      </p:sp>
      <p:sp>
        <p:nvSpPr>
          <p:cNvPr id="29" name="Text 27"/>
          <p:cNvSpPr/>
          <p:nvPr/>
        </p:nvSpPr>
        <p:spPr>
          <a:xfrm>
            <a:off x="9217152" y="3081528"/>
            <a:ext cx="1133856" cy="137160"/>
          </a:xfrm>
          <a:prstGeom prst="rect">
            <a:avLst/>
          </a:prstGeom>
          <a:noFill/>
          <a:ln/>
        </p:spPr>
        <p:txBody>
          <a:bodyPr wrap="square" lIns="381" tIns="381" rIns="381" bIns="381" rtlCol="0" anchor="ctr">
            <a:normAutofit/>
          </a:bodyPr>
          <a:lstStyle/>
          <a:p>
            <a:pPr marL="0" indent="0" algn="ctr">
              <a:buNone/>
            </a:pPr>
            <a:r>
              <a:rPr lang="en-US" sz="700" dirty="0">
                <a:solidFill>
                  <a:srgbClr val="FFFFFF"/>
                </a:solidFill>
                <a:latin typeface="Georgia" pitchFamily="34" charset="0"/>
                <a:ea typeface="Georgia" pitchFamily="34" charset="-122"/>
                <a:cs typeface="Georgia" pitchFamily="34" charset="-120"/>
              </a:rPr>
              <a:t>Salt Air and Quiet Water</a:t>
            </a:r>
            <a:endParaRPr lang="en-US" sz="700" dirty="0"/>
          </a:p>
        </p:txBody>
      </p:sp>
      <p:sp>
        <p:nvSpPr>
          <p:cNvPr id="30" name="Shape 28">
            <a:hlinkClick r:id="rId3" action="ppaction://hlinksldjump"/>
          </p:cNvPr>
          <p:cNvSpPr/>
          <p:nvPr/>
        </p:nvSpPr>
        <p:spPr>
          <a:xfrm>
            <a:off x="713232" y="4892040"/>
            <a:ext cx="14630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31" name="Text 29">
            <a:hlinkClick r:id="rId3" action="ppaction://hlinksldjump"/>
          </p:cNvPr>
          <p:cNvSpPr/>
          <p:nvPr/>
        </p:nvSpPr>
        <p:spPr>
          <a:xfrm>
            <a:off x="740664" y="497433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Start Walkthrough</a:t>
            </a:r>
            <a:endParaRPr lang="en-US" sz="640" dirty="0"/>
          </a:p>
        </p:txBody>
      </p:sp>
      <p:sp>
        <p:nvSpPr>
          <p:cNvPr id="32" name="Shape 30">
            <a:hlinkClick r:id="rId4" action="ppaction://hlinksldjump"/>
          </p:cNvPr>
          <p:cNvSpPr/>
          <p:nvPr/>
        </p:nvSpPr>
        <p:spPr>
          <a:xfrm>
            <a:off x="2331720" y="4892040"/>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33" name="Text 31">
            <a:hlinkClick r:id="rId4" action="ppaction://hlinksldjump"/>
          </p:cNvPr>
          <p:cNvSpPr/>
          <p:nvPr/>
        </p:nvSpPr>
        <p:spPr>
          <a:xfrm>
            <a:off x="2359152" y="49743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Jump to Home</a:t>
            </a:r>
            <a:endParaRPr lang="en-US" sz="640" dirty="0"/>
          </a:p>
        </p:txBody>
      </p:sp>
      <p:sp>
        <p:nvSpPr>
          <p:cNvPr id="34" name="Text 32"/>
          <p:cNvSpPr/>
          <p:nvPr/>
        </p:nvSpPr>
        <p:spPr>
          <a:xfrm>
            <a:off x="713232" y="5760720"/>
            <a:ext cx="6400800" cy="274320"/>
          </a:xfrm>
          <a:prstGeom prst="rect">
            <a:avLst/>
          </a:prstGeom>
          <a:noFill/>
          <a:ln/>
        </p:spPr>
        <p:txBody>
          <a:bodyPr wrap="square" lIns="381" tIns="381" rIns="381" bIns="381" rtlCol="0" anchor="ctr">
            <a:normAutofit/>
          </a:bodyPr>
          <a:lstStyle/>
          <a:p>
            <a:pPr marL="0" indent="0" algn="l">
              <a:buNone/>
            </a:pPr>
            <a:r>
              <a:rPr lang="en-US" sz="900" dirty="0">
                <a:solidFill>
                  <a:srgbClr val="536273"/>
                </a:solidFill>
                <a:latin typeface="Arial" pitchFamily="34" charset="0"/>
                <a:ea typeface="Arial" pitchFamily="34" charset="-122"/>
                <a:cs typeface="Arial" pitchFamily="34" charset="-120"/>
              </a:rPr>
              <a:t>Approval-ready package: page mockups, booking flow, page purposes, and clickable prototype links.</a:t>
            </a:r>
            <a:endParaRPr lang="en-US" sz="900" dirty="0"/>
          </a:p>
        </p:txBody>
      </p:sp>
      <p:sp>
        <p:nvSpPr>
          <p:cNvPr id="35" name="Text 33"/>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 | Editable components | Use Slide Show mode to click through the prototype</a:t>
            </a:r>
            <a:endParaRPr lang="en-US" sz="710" dirty="0"/>
          </a:p>
        </p:txBody>
      </p:sp>
      <p:sp>
        <p:nvSpPr>
          <p:cNvPr id="36" name="Shape 34">
            <a:hlinkClick r:id="rId4"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7" name="Text 35">
            <a:hlinkClick r:id="rId4"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Home</a:t>
            </a:r>
            <a:endParaRPr lang="en-US" sz="800" dirty="0"/>
          </a:p>
        </p:txBody>
      </p:sp>
      <p:sp>
        <p:nvSpPr>
          <p:cNvPr id="38" name="Shape 36">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9" name="Text 37">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40" name="Shape 38">
            <a:hlinkClick r:id="rId6"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1" name="Text 39">
            <a:hlinkClick r:id="rId6"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Book</a:t>
            </a:r>
            <a:endParaRPr lang="en-US" sz="800" dirty="0"/>
          </a:p>
        </p:txBody>
      </p:sp>
      <p:sp>
        <p:nvSpPr>
          <p:cNvPr id="42" name="Shape 40">
            <a:hlinkClick r:id="rId7"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3" name="Text 41">
            <a:hlinkClick r:id="rId7"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Lookup</a:t>
            </a:r>
            <a:endParaRPr lang="en-US" sz="800" dirty="0"/>
          </a:p>
        </p:txBody>
      </p:sp>
      <p:sp>
        <p:nvSpPr>
          <p:cNvPr id="44" name="Shape 42">
            <a:hlinkClick r:id="rId3"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3"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Site Flow + Prototype Map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Approval walkthrough for the Moffat Bay Lodge navigation and reservation path.</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2103120" y="2084832"/>
            <a:ext cx="1810512" cy="0"/>
          </a:xfrm>
          <a:prstGeom prst="line">
            <a:avLst/>
          </a:prstGeom>
          <a:noFill/>
          <a:ln w="16510">
            <a:solidFill>
              <a:srgbClr val="276F7B"/>
            </a:solidFill>
            <a:prstDash val="solid"/>
            <a:headEnd type="none"/>
            <a:tailEnd type="triangle"/>
          </a:ln>
        </p:spPr>
        <p:txBody>
          <a:bodyPr/>
          <a:lstStyle/>
          <a:p>
            <a:endParaRPr lang="en-US"/>
          </a:p>
        </p:txBody>
      </p:sp>
      <p:sp>
        <p:nvSpPr>
          <p:cNvPr id="6" name="Shape 4"/>
          <p:cNvSpPr/>
          <p:nvPr/>
        </p:nvSpPr>
        <p:spPr>
          <a:xfrm>
            <a:off x="5074920" y="2084832"/>
            <a:ext cx="1801368" cy="0"/>
          </a:xfrm>
          <a:prstGeom prst="line">
            <a:avLst/>
          </a:prstGeom>
          <a:noFill/>
          <a:ln w="16510">
            <a:solidFill>
              <a:srgbClr val="276F7B"/>
            </a:solidFill>
            <a:prstDash val="solid"/>
            <a:headEnd type="none"/>
            <a:tailEnd type="triangle"/>
          </a:ln>
        </p:spPr>
        <p:txBody>
          <a:bodyPr/>
          <a:lstStyle/>
          <a:p>
            <a:endParaRPr lang="en-US"/>
          </a:p>
        </p:txBody>
      </p:sp>
      <p:sp>
        <p:nvSpPr>
          <p:cNvPr id="7" name="Shape 5"/>
          <p:cNvSpPr/>
          <p:nvPr/>
        </p:nvSpPr>
        <p:spPr>
          <a:xfrm>
            <a:off x="8046720" y="2084832"/>
            <a:ext cx="1508760" cy="0"/>
          </a:xfrm>
          <a:prstGeom prst="line">
            <a:avLst/>
          </a:prstGeom>
          <a:noFill/>
          <a:ln w="16510">
            <a:solidFill>
              <a:srgbClr val="276F7B"/>
            </a:solidFill>
            <a:prstDash val="solid"/>
            <a:headEnd type="none"/>
            <a:tailEnd type="triangle"/>
          </a:ln>
        </p:spPr>
        <p:txBody>
          <a:bodyPr/>
          <a:lstStyle/>
          <a:p>
            <a:endParaRPr lang="en-US"/>
          </a:p>
        </p:txBody>
      </p:sp>
      <p:sp>
        <p:nvSpPr>
          <p:cNvPr id="8" name="Shape 6"/>
          <p:cNvSpPr/>
          <p:nvPr/>
        </p:nvSpPr>
        <p:spPr>
          <a:xfrm>
            <a:off x="2743200" y="2788920"/>
            <a:ext cx="0" cy="1005840"/>
          </a:xfrm>
          <a:prstGeom prst="line">
            <a:avLst/>
          </a:prstGeom>
          <a:noFill/>
          <a:ln w="16510">
            <a:solidFill>
              <a:srgbClr val="276F7B"/>
            </a:solidFill>
            <a:prstDash val="solid"/>
            <a:headEnd type="none"/>
            <a:tailEnd type="triangle"/>
          </a:ln>
        </p:spPr>
        <p:txBody>
          <a:bodyPr/>
          <a:lstStyle/>
          <a:p>
            <a:endParaRPr lang="en-US"/>
          </a:p>
        </p:txBody>
      </p:sp>
      <p:sp>
        <p:nvSpPr>
          <p:cNvPr id="9" name="Shape 7"/>
          <p:cNvSpPr/>
          <p:nvPr/>
        </p:nvSpPr>
        <p:spPr>
          <a:xfrm>
            <a:off x="2743200" y="3794760"/>
            <a:ext cx="1828800" cy="0"/>
          </a:xfrm>
          <a:prstGeom prst="line">
            <a:avLst/>
          </a:prstGeom>
          <a:noFill/>
          <a:ln w="16510">
            <a:solidFill>
              <a:srgbClr val="276F7B"/>
            </a:solidFill>
            <a:prstDash val="solid"/>
            <a:headEnd type="none"/>
            <a:tailEnd type="triangle"/>
          </a:ln>
        </p:spPr>
        <p:txBody>
          <a:bodyPr/>
          <a:lstStyle/>
          <a:p>
            <a:endParaRPr lang="en-US"/>
          </a:p>
        </p:txBody>
      </p:sp>
      <p:sp>
        <p:nvSpPr>
          <p:cNvPr id="10" name="Shape 8"/>
          <p:cNvSpPr/>
          <p:nvPr/>
        </p:nvSpPr>
        <p:spPr>
          <a:xfrm>
            <a:off x="5760720" y="3794760"/>
            <a:ext cx="1600200" cy="0"/>
          </a:xfrm>
          <a:prstGeom prst="line">
            <a:avLst/>
          </a:prstGeom>
          <a:noFill/>
          <a:ln w="16510">
            <a:solidFill>
              <a:srgbClr val="276F7B"/>
            </a:solidFill>
            <a:prstDash val="solid"/>
            <a:headEnd type="none"/>
            <a:tailEnd type="triangle"/>
          </a:ln>
        </p:spPr>
        <p:txBody>
          <a:bodyPr/>
          <a:lstStyle/>
          <a:p>
            <a:endParaRPr lang="en-US"/>
          </a:p>
        </p:txBody>
      </p:sp>
      <p:sp>
        <p:nvSpPr>
          <p:cNvPr id="11" name="Shape 9"/>
          <p:cNvSpPr/>
          <p:nvPr/>
        </p:nvSpPr>
        <p:spPr>
          <a:xfrm>
            <a:off x="8549640" y="3794760"/>
            <a:ext cx="1307592" cy="0"/>
          </a:xfrm>
          <a:prstGeom prst="line">
            <a:avLst/>
          </a:prstGeom>
          <a:noFill/>
          <a:ln w="16510">
            <a:solidFill>
              <a:srgbClr val="276F7B"/>
            </a:solidFill>
            <a:prstDash val="solid"/>
            <a:headEnd type="none"/>
            <a:tailEnd type="triangle"/>
          </a:ln>
        </p:spPr>
        <p:txBody>
          <a:bodyPr/>
          <a:lstStyle/>
          <a:p>
            <a:endParaRPr lang="en-US"/>
          </a:p>
        </p:txBody>
      </p:sp>
      <p:sp>
        <p:nvSpPr>
          <p:cNvPr id="12" name="Shape 10">
            <a:hlinkClick r:id="rId3" action="ppaction://hlinksldjump"/>
          </p:cNvPr>
          <p:cNvSpPr/>
          <p:nvPr/>
        </p:nvSpPr>
        <p:spPr>
          <a:xfrm>
            <a:off x="914400" y="1755648"/>
            <a:ext cx="132588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3" name="Text 11">
            <a:hlinkClick r:id="rId3" action="ppaction://hlinksldjump"/>
          </p:cNvPr>
          <p:cNvSpPr/>
          <p:nvPr/>
        </p:nvSpPr>
        <p:spPr>
          <a:xfrm>
            <a:off x="987552"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Landing / Home</a:t>
            </a:r>
            <a:endParaRPr lang="en-US" sz="900" dirty="0"/>
          </a:p>
        </p:txBody>
      </p:sp>
      <p:sp>
        <p:nvSpPr>
          <p:cNvPr id="14" name="Shape 12">
            <a:hlinkClick r:id="rId4" action="ppaction://hlinksldjump"/>
          </p:cNvPr>
          <p:cNvSpPr/>
          <p:nvPr/>
        </p:nvSpPr>
        <p:spPr>
          <a:xfrm>
            <a:off x="3703320" y="1755648"/>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15" name="Text 13">
            <a:hlinkClick r:id="rId4" action="ppaction://hlinksldjump"/>
          </p:cNvPr>
          <p:cNvSpPr/>
          <p:nvPr/>
        </p:nvSpPr>
        <p:spPr>
          <a:xfrm>
            <a:off x="3776472" y="1965960"/>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 &amp; Pricing</a:t>
            </a:r>
            <a:endParaRPr lang="en-US" sz="900" dirty="0"/>
          </a:p>
        </p:txBody>
      </p:sp>
      <p:sp>
        <p:nvSpPr>
          <p:cNvPr id="16" name="Shape 14">
            <a:hlinkClick r:id="rId5" action="ppaction://hlinksldjump"/>
          </p:cNvPr>
          <p:cNvSpPr/>
          <p:nvPr/>
        </p:nvSpPr>
        <p:spPr>
          <a:xfrm>
            <a:off x="6656832" y="1755648"/>
            <a:ext cx="132588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17" name="Text 15">
            <a:hlinkClick r:id="rId5" action="ppaction://hlinksldjump"/>
          </p:cNvPr>
          <p:cNvSpPr/>
          <p:nvPr/>
        </p:nvSpPr>
        <p:spPr>
          <a:xfrm>
            <a:off x="6729984"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 Your Stay</a:t>
            </a:r>
            <a:endParaRPr lang="en-US" sz="900" dirty="0"/>
          </a:p>
        </p:txBody>
      </p:sp>
      <p:sp>
        <p:nvSpPr>
          <p:cNvPr id="18" name="Shape 16">
            <a:hlinkClick r:id="rId6" action="ppaction://hlinksldjump"/>
          </p:cNvPr>
          <p:cNvSpPr/>
          <p:nvPr/>
        </p:nvSpPr>
        <p:spPr>
          <a:xfrm>
            <a:off x="9372600" y="1755648"/>
            <a:ext cx="160020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9" name="Text 17">
            <a:hlinkClick r:id="rId6" action="ppaction://hlinksldjump"/>
          </p:cNvPr>
          <p:cNvSpPr/>
          <p:nvPr/>
        </p:nvSpPr>
        <p:spPr>
          <a:xfrm>
            <a:off x="9445752" y="1965960"/>
            <a:ext cx="145389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Reservation Summary</a:t>
            </a:r>
            <a:endParaRPr lang="en-US" sz="900" dirty="0"/>
          </a:p>
        </p:txBody>
      </p:sp>
      <p:sp>
        <p:nvSpPr>
          <p:cNvPr id="20" name="Shape 18">
            <a:hlinkClick r:id="rId7" action="ppaction://hlinksldjump"/>
          </p:cNvPr>
          <p:cNvSpPr/>
          <p:nvPr/>
        </p:nvSpPr>
        <p:spPr>
          <a:xfrm>
            <a:off x="2011680"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1" name="Text 19">
            <a:hlinkClick r:id="rId7" action="ppaction://hlinksldjump"/>
          </p:cNvPr>
          <p:cNvSpPr/>
          <p:nvPr/>
        </p:nvSpPr>
        <p:spPr>
          <a:xfrm>
            <a:off x="2084832"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About</a:t>
            </a:r>
            <a:endParaRPr lang="en-US" sz="900" dirty="0"/>
          </a:p>
        </p:txBody>
      </p:sp>
      <p:sp>
        <p:nvSpPr>
          <p:cNvPr id="22" name="Shape 20">
            <a:hlinkClick r:id="rId8" action="ppaction://hlinksldjump"/>
          </p:cNvPr>
          <p:cNvSpPr/>
          <p:nvPr/>
        </p:nvSpPr>
        <p:spPr>
          <a:xfrm>
            <a:off x="4315968" y="3474720"/>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3" name="Text 21">
            <a:hlinkClick r:id="rId8" action="ppaction://hlinksldjump"/>
          </p:cNvPr>
          <p:cNvSpPr/>
          <p:nvPr/>
        </p:nvSpPr>
        <p:spPr>
          <a:xfrm>
            <a:off x="4389120" y="3685032"/>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Attractions</a:t>
            </a:r>
            <a:endParaRPr lang="en-US" sz="900" dirty="0"/>
          </a:p>
        </p:txBody>
      </p:sp>
      <p:sp>
        <p:nvSpPr>
          <p:cNvPr id="24" name="Shape 22">
            <a:hlinkClick r:id="rId9" action="ppaction://hlinksldjump"/>
          </p:cNvPr>
          <p:cNvSpPr/>
          <p:nvPr/>
        </p:nvSpPr>
        <p:spPr>
          <a:xfrm>
            <a:off x="7159752"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5" name="Text 23">
            <a:hlinkClick r:id="rId9" action="ppaction://hlinksldjump"/>
          </p:cNvPr>
          <p:cNvSpPr/>
          <p:nvPr/>
        </p:nvSpPr>
        <p:spPr>
          <a:xfrm>
            <a:off x="7232904"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Contact</a:t>
            </a:r>
            <a:endParaRPr lang="en-US" sz="900" dirty="0"/>
          </a:p>
        </p:txBody>
      </p:sp>
      <p:sp>
        <p:nvSpPr>
          <p:cNvPr id="26" name="Shape 24">
            <a:hlinkClick r:id="rId10" action="ppaction://hlinksldjump"/>
          </p:cNvPr>
          <p:cNvSpPr/>
          <p:nvPr/>
        </p:nvSpPr>
        <p:spPr>
          <a:xfrm>
            <a:off x="9582912" y="3474720"/>
            <a:ext cx="150876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27" name="Text 25">
            <a:hlinkClick r:id="rId10" action="ppaction://hlinksldjump"/>
          </p:cNvPr>
          <p:cNvSpPr/>
          <p:nvPr/>
        </p:nvSpPr>
        <p:spPr>
          <a:xfrm>
            <a:off x="9656064" y="3685032"/>
            <a:ext cx="136245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Login / Register</a:t>
            </a:r>
            <a:endParaRPr lang="en-US" sz="900" dirty="0"/>
          </a:p>
        </p:txBody>
      </p:sp>
      <p:sp>
        <p:nvSpPr>
          <p:cNvPr id="28" name="Shape 26">
            <a:hlinkClick r:id="rId11" action="ppaction://hlinksldjump"/>
          </p:cNvPr>
          <p:cNvSpPr/>
          <p:nvPr/>
        </p:nvSpPr>
        <p:spPr>
          <a:xfrm>
            <a:off x="9372600" y="4983480"/>
            <a:ext cx="16916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9" name="Text 27">
            <a:hlinkClick r:id="rId11" action="ppaction://hlinksldjump"/>
          </p:cNvPr>
          <p:cNvSpPr/>
          <p:nvPr/>
        </p:nvSpPr>
        <p:spPr>
          <a:xfrm>
            <a:off x="9445752" y="5193792"/>
            <a:ext cx="15453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Reservation Lookup</a:t>
            </a:r>
            <a:endParaRPr lang="en-US" sz="900" dirty="0"/>
          </a:p>
        </p:txBody>
      </p:sp>
      <p:sp>
        <p:nvSpPr>
          <p:cNvPr id="30" name="Shape 28"/>
          <p:cNvSpPr/>
          <p:nvPr/>
        </p:nvSpPr>
        <p:spPr>
          <a:xfrm>
            <a:off x="713232" y="4800600"/>
            <a:ext cx="7040880" cy="868680"/>
          </a:xfrm>
          <a:prstGeom prst="roundRect">
            <a:avLst>
              <a:gd name="adj" fmla="val 12632"/>
            </a:avLst>
          </a:prstGeom>
          <a:solidFill>
            <a:srgbClr val="FFFFFF">
              <a:alpha val="88000"/>
            </a:srgbClr>
          </a:solidFill>
          <a:ln w="12700">
            <a:solidFill>
              <a:srgbClr val="E9DFCF"/>
            </a:solidFill>
            <a:prstDash val="solid"/>
          </a:ln>
        </p:spPr>
        <p:txBody>
          <a:bodyPr/>
          <a:lstStyle/>
          <a:p>
            <a:endParaRPr lang="en-US"/>
          </a:p>
        </p:txBody>
      </p:sp>
      <p:sp>
        <p:nvSpPr>
          <p:cNvPr id="31" name="Text 29"/>
          <p:cNvSpPr/>
          <p:nvPr/>
        </p:nvSpPr>
        <p:spPr>
          <a:xfrm>
            <a:off x="896112" y="5047488"/>
            <a:ext cx="6675120" cy="292608"/>
          </a:xfrm>
          <a:prstGeom prst="rect">
            <a:avLst/>
          </a:prstGeom>
          <a:noFill/>
          <a:ln/>
        </p:spPr>
        <p:txBody>
          <a:bodyPr wrap="square" lIns="381" tIns="381" rIns="381" bIns="381" rtlCol="0" anchor="t">
            <a:normAutofit lnSpcReduction="10000"/>
          </a:bodyPr>
          <a:lstStyle/>
          <a:p>
            <a:pPr marL="0" indent="0" algn="l">
              <a:buNone/>
            </a:pPr>
            <a:r>
              <a:rPr lang="en-US" sz="1000" dirty="0">
                <a:solidFill>
                  <a:srgbClr val="2A3B50"/>
                </a:solidFill>
                <a:latin typeface="Arial" pitchFamily="34" charset="0"/>
                <a:ea typeface="Arial" pitchFamily="34" charset="-122"/>
                <a:cs typeface="Arial" pitchFamily="34" charset="-120"/>
              </a:rPr>
              <a:t>Primary reviewer path: Home → Rooms &amp; Pricing → Book Your Stay → Reservation Summary. Secondary paths support lodge information, activities, contact, account creation, and reservation lookup.</a:t>
            </a:r>
            <a:endParaRPr lang="en-US" sz="1000" dirty="0"/>
          </a:p>
        </p:txBody>
      </p:sp>
      <p:sp>
        <p:nvSpPr>
          <p:cNvPr id="32" name="Text 30"/>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2 | Editable components | Use Slide Show mode to click through the prototype</a:t>
            </a:r>
            <a:endParaRPr lang="en-US" sz="710" dirty="0"/>
          </a:p>
        </p:txBody>
      </p:sp>
      <p:sp>
        <p:nvSpPr>
          <p:cNvPr id="33" name="Shape 31">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5" name="Shape 33">
            <a:hlinkClick r:id="rId4"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6" name="Text 34">
            <a:hlinkClick r:id="rId4"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a:t>
            </a:r>
            <a:endParaRPr lang="en-US" sz="800" dirty="0"/>
          </a:p>
        </p:txBody>
      </p:sp>
      <p:sp>
        <p:nvSpPr>
          <p:cNvPr id="37" name="Shape 35">
            <a:hlinkClick r:id="rId5"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8" name="Text 36">
            <a:hlinkClick r:id="rId5"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a:t>
            </a:r>
            <a:endParaRPr lang="en-US" sz="800" dirty="0"/>
          </a:p>
        </p:txBody>
      </p:sp>
      <p:sp>
        <p:nvSpPr>
          <p:cNvPr id="39" name="Shape 37">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0" name="Text 38">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41" name="Shape 39">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2" name="Text 40">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Landing Page Mockup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Realistic mockup of the website home page with header, hero, room cards, CTAs, and activity section.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moffatbaylodge.com/index.html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Shape 15"/>
          <p:cNvSpPr/>
          <p:nvPr/>
        </p:nvSpPr>
        <p:spPr>
          <a:xfrm>
            <a:off x="3337560" y="1627632"/>
            <a:ext cx="310896" cy="22860"/>
          </a:xfrm>
          <a:prstGeom prst="rect">
            <a:avLst/>
          </a:prstGeom>
          <a:solidFill>
            <a:srgbClr val="2F8694"/>
          </a:solidFill>
          <a:ln w="12700">
            <a:solidFill>
              <a:srgbClr val="2F8694"/>
            </a:solidFill>
            <a:prstDash val="solid"/>
          </a:ln>
        </p:spPr>
        <p:txBody>
          <a:bodyPr/>
          <a:lstStyle/>
          <a:p>
            <a:endParaRPr lang="en-US"/>
          </a:p>
        </p:txBody>
      </p:sp>
      <p:sp>
        <p:nvSpPr>
          <p:cNvPr id="18" name="Text 16">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3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Shape 36"/>
          <p:cNvSpPr/>
          <p:nvPr/>
        </p:nvSpPr>
        <p:spPr>
          <a:xfrm>
            <a:off x="822960" y="2130552"/>
            <a:ext cx="5212080" cy="1664208"/>
          </a:xfrm>
          <a:prstGeom prst="roundRect">
            <a:avLst>
              <a:gd name="adj" fmla="val 8791"/>
            </a:avLst>
          </a:prstGeom>
          <a:solidFill>
            <a:srgbClr val="FFFFFF">
              <a:alpha val="92000"/>
            </a:srgbClr>
          </a:solidFill>
          <a:ln w="12700">
            <a:solidFill>
              <a:srgbClr val="E9DFCF">
                <a:alpha val="70000"/>
              </a:srgbClr>
            </a:solidFill>
            <a:prstDash val="solid"/>
          </a:ln>
          <a:effectLst>
            <a:outerShdw blurRad="12700" dist="10160" dir="2700000" algn="bl" rotWithShape="0">
              <a:srgbClr val="132133">
                <a:alpha val="8000"/>
              </a:srgbClr>
            </a:outerShdw>
          </a:effectLst>
        </p:spPr>
        <p:txBody>
          <a:bodyPr/>
          <a:lstStyle/>
          <a:p>
            <a:endParaRPr lang="en-US"/>
          </a:p>
        </p:txBody>
      </p:sp>
      <p:sp>
        <p:nvSpPr>
          <p:cNvPr id="39" name="Text 37"/>
          <p:cNvSpPr/>
          <p:nvPr/>
        </p:nvSpPr>
        <p:spPr>
          <a:xfrm>
            <a:off x="1051560" y="2359152"/>
            <a:ext cx="466344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40" name="Text 38"/>
          <p:cNvSpPr/>
          <p:nvPr/>
        </p:nvSpPr>
        <p:spPr>
          <a:xfrm>
            <a:off x="1051560" y="2560320"/>
            <a:ext cx="4663440" cy="420624"/>
          </a:xfrm>
          <a:prstGeom prst="rect">
            <a:avLst/>
          </a:prstGeom>
          <a:noFill/>
          <a:ln/>
        </p:spPr>
        <p:txBody>
          <a:bodyPr wrap="square" lIns="381" tIns="381" rIns="381" bIns="381" rtlCol="0" anchor="ctr">
            <a:normAutofit fontScale="92500"/>
          </a:bodyPr>
          <a:lstStyle/>
          <a:p>
            <a:pPr marL="0" indent="0" algn="l">
              <a:buNone/>
            </a:pPr>
            <a:r>
              <a:rPr lang="en-US" sz="2000" dirty="0">
                <a:solidFill>
                  <a:srgbClr val="132133"/>
                </a:solidFill>
                <a:latin typeface="Georgia" pitchFamily="34" charset="0"/>
                <a:ea typeface="Georgia" pitchFamily="34" charset="-122"/>
                <a:cs typeface="Georgia" pitchFamily="34" charset="-120"/>
              </a:rPr>
              <a:t>One Island. One Lodge. Endless Adventure.</a:t>
            </a:r>
            <a:endParaRPr lang="en-US" sz="2000" dirty="0"/>
          </a:p>
        </p:txBody>
      </p:sp>
      <p:sp>
        <p:nvSpPr>
          <p:cNvPr id="41" name="Text 39"/>
          <p:cNvSpPr/>
          <p:nvPr/>
        </p:nvSpPr>
        <p:spPr>
          <a:xfrm>
            <a:off x="1051560" y="3054096"/>
            <a:ext cx="4663440" cy="320040"/>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Comfortable lodging, coastal adventure, and a simple reservation experience come together at one island retreat.</a:t>
            </a:r>
            <a:endParaRPr lang="en-US" sz="840" dirty="0"/>
          </a:p>
        </p:txBody>
      </p:sp>
      <p:sp>
        <p:nvSpPr>
          <p:cNvPr id="42" name="Shape 40">
            <a:hlinkClick r:id="rId8" action="ppaction://hlinksldjump"/>
          </p:cNvPr>
          <p:cNvSpPr/>
          <p:nvPr/>
        </p:nvSpPr>
        <p:spPr>
          <a:xfrm>
            <a:off x="1051560" y="3392424"/>
            <a:ext cx="1133856"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3" name="Text 41">
            <a:hlinkClick r:id="rId8" action="ppaction://hlinksldjump"/>
          </p:cNvPr>
          <p:cNvSpPr/>
          <p:nvPr/>
        </p:nvSpPr>
        <p:spPr>
          <a:xfrm>
            <a:off x="1078992" y="3474720"/>
            <a:ext cx="107899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Your Stay</a:t>
            </a:r>
            <a:endParaRPr lang="en-US" sz="640" dirty="0"/>
          </a:p>
        </p:txBody>
      </p:sp>
      <p:sp>
        <p:nvSpPr>
          <p:cNvPr id="44" name="Shape 42">
            <a:hlinkClick r:id="rId5" action="ppaction://hlinksldjump"/>
          </p:cNvPr>
          <p:cNvSpPr/>
          <p:nvPr/>
        </p:nvSpPr>
        <p:spPr>
          <a:xfrm>
            <a:off x="2331720" y="3392424"/>
            <a:ext cx="1225296"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5" action="ppaction://hlinksldjump"/>
          </p:cNvPr>
          <p:cNvSpPr/>
          <p:nvPr/>
        </p:nvSpPr>
        <p:spPr>
          <a:xfrm>
            <a:off x="2359152" y="3474720"/>
            <a:ext cx="117043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46" name="Shape 44"/>
          <p:cNvSpPr/>
          <p:nvPr/>
        </p:nvSpPr>
        <p:spPr>
          <a:xfrm>
            <a:off x="3730752" y="3447288"/>
            <a:ext cx="67665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7" name="Text 45"/>
          <p:cNvSpPr/>
          <p:nvPr/>
        </p:nvSpPr>
        <p:spPr>
          <a:xfrm>
            <a:off x="3758184" y="3502152"/>
            <a:ext cx="62179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4 Room Types</a:t>
            </a:r>
            <a:endParaRPr lang="en-US" sz="540" dirty="0"/>
          </a:p>
        </p:txBody>
      </p:sp>
      <p:sp>
        <p:nvSpPr>
          <p:cNvPr id="48" name="Shape 46"/>
          <p:cNvSpPr/>
          <p:nvPr/>
        </p:nvSpPr>
        <p:spPr>
          <a:xfrm>
            <a:off x="4498848" y="3447288"/>
            <a:ext cx="76809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9" name="Text 47"/>
          <p:cNvSpPr/>
          <p:nvPr/>
        </p:nvSpPr>
        <p:spPr>
          <a:xfrm>
            <a:off x="4526280" y="3502152"/>
            <a:ext cx="71323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Family Friendly</a:t>
            </a:r>
            <a:endParaRPr lang="en-US" sz="540" dirty="0"/>
          </a:p>
        </p:txBody>
      </p:sp>
      <p:sp>
        <p:nvSpPr>
          <p:cNvPr id="50" name="Shape 48"/>
          <p:cNvSpPr/>
          <p:nvPr/>
        </p:nvSpPr>
        <p:spPr>
          <a:xfrm>
            <a:off x="6259068" y="2093976"/>
            <a:ext cx="4434840" cy="1664208"/>
          </a:xfrm>
          <a:prstGeom prst="roundRect">
            <a:avLst>
              <a:gd name="adj" fmla="val 8791"/>
            </a:avLst>
          </a:prstGeom>
          <a:solidFill>
            <a:srgbClr val="132133"/>
          </a:solidFill>
          <a:ln w="12700">
            <a:solidFill>
              <a:srgbClr val="132133"/>
            </a:solidFill>
            <a:prstDash val="solid"/>
          </a:ln>
          <a:effectLst>
            <a:outerShdw blurRad="12700" dist="10160" dir="2700000" algn="bl" rotWithShape="0">
              <a:srgbClr val="132133">
                <a:alpha val="12000"/>
              </a:srgbClr>
            </a:outerShdw>
          </a:effectLst>
        </p:spPr>
        <p:txBody>
          <a:bodyPr/>
          <a:lstStyle/>
          <a:p>
            <a:endParaRPr lang="en-US"/>
          </a:p>
        </p:txBody>
      </p:sp>
      <p:sp>
        <p:nvSpPr>
          <p:cNvPr id="52" name="Text 50"/>
          <p:cNvSpPr/>
          <p:nvPr/>
        </p:nvSpPr>
        <p:spPr>
          <a:xfrm>
            <a:off x="6583680" y="3044952"/>
            <a:ext cx="3749040" cy="274320"/>
          </a:xfrm>
          <a:prstGeom prst="rect">
            <a:avLst/>
          </a:prstGeom>
          <a:noFill/>
          <a:ln/>
        </p:spPr>
        <p:txBody>
          <a:bodyPr wrap="square" lIns="381" tIns="381" rIns="381" bIns="381" rtlCol="0" anchor="ctr">
            <a:normAutofit/>
          </a:bodyPr>
          <a:lstStyle/>
          <a:p>
            <a:pPr marL="0" indent="0" algn="l">
              <a:buNone/>
            </a:pPr>
            <a:r>
              <a:rPr lang="en-US" sz="1300" dirty="0">
                <a:solidFill>
                  <a:srgbClr val="FFFFFF"/>
                </a:solidFill>
                <a:latin typeface="Georgia" pitchFamily="34" charset="0"/>
                <a:ea typeface="Georgia" pitchFamily="34" charset="-122"/>
                <a:cs typeface="Georgia" pitchFamily="34" charset="-120"/>
              </a:rPr>
              <a:t>Wake Up to Salt Air and Quiet Water</a:t>
            </a:r>
            <a:endParaRPr lang="en-US" sz="1300" dirty="0"/>
          </a:p>
        </p:txBody>
      </p:sp>
      <p:sp>
        <p:nvSpPr>
          <p:cNvPr id="53" name="Text 51"/>
          <p:cNvSpPr/>
          <p:nvPr/>
        </p:nvSpPr>
        <p:spPr>
          <a:xfrm>
            <a:off x="6583680" y="3355848"/>
            <a:ext cx="3657600" cy="201168"/>
          </a:xfrm>
          <a:prstGeom prst="rect">
            <a:avLst/>
          </a:prstGeom>
          <a:noFill/>
          <a:ln/>
        </p:spPr>
        <p:txBody>
          <a:bodyPr wrap="square" lIns="381" tIns="381" rIns="381" bIns="381" rtlCol="0" anchor="ctr">
            <a:normAutofit/>
          </a:bodyPr>
          <a:lstStyle/>
          <a:p>
            <a:pPr marL="0" indent="0" algn="l">
              <a:buNone/>
            </a:pPr>
            <a:r>
              <a:rPr lang="en-US" sz="660" dirty="0">
                <a:solidFill>
                  <a:srgbClr val="FFFFFF"/>
                </a:solidFill>
                <a:latin typeface="Arial" pitchFamily="34" charset="0"/>
                <a:ea typeface="Arial" pitchFamily="34" charset="-122"/>
                <a:cs typeface="Arial" pitchFamily="34" charset="-120"/>
              </a:rPr>
              <a:t>Hike, kayak, whale watch, or scuba dive, then return to a comfortable room.</a:t>
            </a:r>
            <a:endParaRPr lang="en-US" sz="660" dirty="0"/>
          </a:p>
        </p:txBody>
      </p:sp>
      <p:sp>
        <p:nvSpPr>
          <p:cNvPr id="54" name="Text 52"/>
          <p:cNvSpPr/>
          <p:nvPr/>
        </p:nvSpPr>
        <p:spPr>
          <a:xfrm>
            <a:off x="822960" y="4078224"/>
            <a:ext cx="54864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YOUR WAY</a:t>
            </a:r>
            <a:endParaRPr lang="en-US" sz="680" dirty="0"/>
          </a:p>
        </p:txBody>
      </p:sp>
      <p:sp>
        <p:nvSpPr>
          <p:cNvPr id="55" name="Text 53"/>
          <p:cNvSpPr/>
          <p:nvPr/>
        </p:nvSpPr>
        <p:spPr>
          <a:xfrm>
            <a:off x="822960" y="4279392"/>
            <a:ext cx="5486400" cy="256032"/>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Find the Room That Fits Your Trip</a:t>
            </a:r>
            <a:endParaRPr lang="en-US" sz="1400" dirty="0"/>
          </a:p>
        </p:txBody>
      </p:sp>
      <p:sp>
        <p:nvSpPr>
          <p:cNvPr id="56" name="Text 54"/>
          <p:cNvSpPr/>
          <p:nvPr/>
        </p:nvSpPr>
        <p:spPr>
          <a:xfrm>
            <a:off x="822960" y="4553712"/>
            <a:ext cx="5486400" cy="201168"/>
          </a:xfrm>
          <a:prstGeom prst="rect">
            <a:avLst/>
          </a:prstGeom>
          <a:noFill/>
          <a:ln/>
        </p:spPr>
        <p:txBody>
          <a:bodyPr wrap="square" lIns="381" tIns="381" rIns="381" bIns="381" rtlCol="0" anchor="t">
            <a:normAutofit/>
          </a:bodyPr>
          <a:lstStyle/>
          <a:p>
            <a:pPr marL="0" indent="0" algn="l">
              <a:buNone/>
            </a:pPr>
            <a:r>
              <a:rPr lang="en-US" sz="650" dirty="0">
                <a:solidFill>
                  <a:srgbClr val="2A3B50"/>
                </a:solidFill>
                <a:latin typeface="Arial" pitchFamily="34" charset="0"/>
                <a:ea typeface="Arial" pitchFamily="34" charset="-122"/>
                <a:cs typeface="Arial" pitchFamily="34" charset="-120"/>
              </a:rPr>
              <a:t>Choose from four room types with clear nightly pricing.</a:t>
            </a:r>
            <a:endParaRPr lang="en-US" sz="650" dirty="0"/>
          </a:p>
        </p:txBody>
      </p:sp>
      <p:sp>
        <p:nvSpPr>
          <p:cNvPr id="57" name="Shape 55"/>
          <p:cNvSpPr/>
          <p:nvPr/>
        </p:nvSpPr>
        <p:spPr>
          <a:xfrm>
            <a:off x="822960"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8" name="Text 56"/>
          <p:cNvSpPr/>
          <p:nvPr/>
        </p:nvSpPr>
        <p:spPr>
          <a:xfrm>
            <a:off x="950976"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9" name="Text 57"/>
          <p:cNvSpPr/>
          <p:nvPr/>
        </p:nvSpPr>
        <p:spPr>
          <a:xfrm>
            <a:off x="950976"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Full Beds</a:t>
            </a:r>
            <a:endParaRPr lang="en-US" sz="1230" dirty="0"/>
          </a:p>
        </p:txBody>
      </p:sp>
      <p:sp>
        <p:nvSpPr>
          <p:cNvPr id="60" name="Text 58"/>
          <p:cNvSpPr/>
          <p:nvPr/>
        </p:nvSpPr>
        <p:spPr>
          <a:xfrm>
            <a:off x="950976"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Families and small groups.</a:t>
            </a:r>
            <a:endParaRPr lang="en-US" sz="680" dirty="0"/>
          </a:p>
        </p:txBody>
      </p:sp>
      <p:sp>
        <p:nvSpPr>
          <p:cNvPr id="61" name="Text 59"/>
          <p:cNvSpPr/>
          <p:nvPr/>
        </p:nvSpPr>
        <p:spPr>
          <a:xfrm>
            <a:off x="950976"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$120 / night</a:t>
            </a:r>
            <a:endParaRPr lang="en-US" sz="640" dirty="0"/>
          </a:p>
        </p:txBody>
      </p:sp>
      <p:sp>
        <p:nvSpPr>
          <p:cNvPr id="62" name="Shape 60"/>
          <p:cNvSpPr/>
          <p:nvPr/>
        </p:nvSpPr>
        <p:spPr>
          <a:xfrm>
            <a:off x="3227832"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3355848"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64" name="Shape 62"/>
          <p:cNvSpPr/>
          <p:nvPr/>
        </p:nvSpPr>
        <p:spPr>
          <a:xfrm>
            <a:off x="4645152" y="4873752"/>
            <a:ext cx="640080" cy="182880"/>
          </a:xfrm>
          <a:prstGeom prst="roundRect">
            <a:avLst>
              <a:gd name="adj" fmla="val 30000"/>
            </a:avLst>
          </a:prstGeom>
          <a:solidFill>
            <a:srgbClr val="DFB66E"/>
          </a:solidFill>
          <a:ln w="12700">
            <a:solidFill>
              <a:srgbClr val="DFB66E"/>
            </a:solidFill>
            <a:prstDash val="solid"/>
          </a:ln>
        </p:spPr>
        <p:txBody>
          <a:bodyPr/>
          <a:lstStyle/>
          <a:p>
            <a:endParaRPr lang="en-US"/>
          </a:p>
        </p:txBody>
      </p:sp>
      <p:sp>
        <p:nvSpPr>
          <p:cNvPr id="65" name="Text 63"/>
          <p:cNvSpPr/>
          <p:nvPr/>
        </p:nvSpPr>
        <p:spPr>
          <a:xfrm>
            <a:off x="4681728" y="4919472"/>
            <a:ext cx="566928" cy="73152"/>
          </a:xfrm>
          <a:prstGeom prst="rect">
            <a:avLst/>
          </a:prstGeom>
          <a:noFill/>
          <a:ln/>
        </p:spPr>
        <p:txBody>
          <a:bodyPr wrap="square" lIns="381" tIns="381" rIns="381" bIns="381" rtlCol="0" anchor="ctr">
            <a:normAutofit/>
          </a:bodyPr>
          <a:lstStyle/>
          <a:p>
            <a:pPr marL="0" indent="0" algn="ctr">
              <a:buNone/>
            </a:pPr>
            <a:r>
              <a:rPr lang="en-US" sz="420" b="1" dirty="0">
                <a:solidFill>
                  <a:srgbClr val="132133"/>
                </a:solidFill>
                <a:latin typeface="Arial" pitchFamily="34" charset="0"/>
                <a:ea typeface="Arial" pitchFamily="34" charset="-122"/>
                <a:cs typeface="Arial" pitchFamily="34" charset="-120"/>
              </a:rPr>
              <a:t>POPULAR</a:t>
            </a:r>
            <a:endParaRPr lang="en-US" sz="420" dirty="0"/>
          </a:p>
        </p:txBody>
      </p:sp>
      <p:sp>
        <p:nvSpPr>
          <p:cNvPr id="66" name="Text 64"/>
          <p:cNvSpPr/>
          <p:nvPr/>
        </p:nvSpPr>
        <p:spPr>
          <a:xfrm>
            <a:off x="3355848"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Queen</a:t>
            </a:r>
            <a:endParaRPr lang="en-US" sz="1230" dirty="0"/>
          </a:p>
        </p:txBody>
      </p:sp>
      <p:sp>
        <p:nvSpPr>
          <p:cNvPr id="67" name="Text 65"/>
          <p:cNvSpPr/>
          <p:nvPr/>
        </p:nvSpPr>
        <p:spPr>
          <a:xfrm>
            <a:off x="3355848"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Couples or solo travelers.</a:t>
            </a:r>
            <a:endParaRPr lang="en-US" sz="680" dirty="0"/>
          </a:p>
        </p:txBody>
      </p:sp>
      <p:sp>
        <p:nvSpPr>
          <p:cNvPr id="68" name="Text 66"/>
          <p:cNvSpPr/>
          <p:nvPr/>
        </p:nvSpPr>
        <p:spPr>
          <a:xfrm>
            <a:off x="3355848"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$135 / night</a:t>
            </a:r>
            <a:endParaRPr lang="en-US" sz="640" dirty="0"/>
          </a:p>
        </p:txBody>
      </p:sp>
      <p:sp>
        <p:nvSpPr>
          <p:cNvPr id="69" name="Shape 67"/>
          <p:cNvSpPr/>
          <p:nvPr/>
        </p:nvSpPr>
        <p:spPr>
          <a:xfrm>
            <a:off x="5632704"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0" name="Text 68"/>
          <p:cNvSpPr/>
          <p:nvPr/>
        </p:nvSpPr>
        <p:spPr>
          <a:xfrm>
            <a:off x="5760720"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71" name="Text 69"/>
          <p:cNvSpPr/>
          <p:nvPr/>
        </p:nvSpPr>
        <p:spPr>
          <a:xfrm>
            <a:off x="5760720"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Queen Beds</a:t>
            </a:r>
            <a:endParaRPr lang="en-US" sz="1230" dirty="0"/>
          </a:p>
        </p:txBody>
      </p:sp>
      <p:sp>
        <p:nvSpPr>
          <p:cNvPr id="72" name="Text 70"/>
          <p:cNvSpPr/>
          <p:nvPr/>
        </p:nvSpPr>
        <p:spPr>
          <a:xfrm>
            <a:off x="5760720"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Larger travel groups.</a:t>
            </a:r>
            <a:endParaRPr lang="en-US" sz="680" dirty="0"/>
          </a:p>
        </p:txBody>
      </p:sp>
      <p:sp>
        <p:nvSpPr>
          <p:cNvPr id="73" name="Text 71"/>
          <p:cNvSpPr/>
          <p:nvPr/>
        </p:nvSpPr>
        <p:spPr>
          <a:xfrm>
            <a:off x="5760720"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$150 / night</a:t>
            </a:r>
            <a:endParaRPr lang="en-US" sz="640" dirty="0"/>
          </a:p>
        </p:txBody>
      </p:sp>
      <p:sp>
        <p:nvSpPr>
          <p:cNvPr id="74" name="Shape 72"/>
          <p:cNvSpPr/>
          <p:nvPr/>
        </p:nvSpPr>
        <p:spPr>
          <a:xfrm>
            <a:off x="8037576"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5" name="Text 73"/>
          <p:cNvSpPr/>
          <p:nvPr/>
        </p:nvSpPr>
        <p:spPr>
          <a:xfrm>
            <a:off x="8165592"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76" name="Text 74"/>
          <p:cNvSpPr/>
          <p:nvPr/>
        </p:nvSpPr>
        <p:spPr>
          <a:xfrm>
            <a:off x="8165592"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King</a:t>
            </a:r>
            <a:endParaRPr lang="en-US" sz="1230" dirty="0"/>
          </a:p>
        </p:txBody>
      </p:sp>
      <p:sp>
        <p:nvSpPr>
          <p:cNvPr id="77" name="Text 75"/>
          <p:cNvSpPr/>
          <p:nvPr/>
        </p:nvSpPr>
        <p:spPr>
          <a:xfrm>
            <a:off x="8165592"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Added sleeping space and comfort.</a:t>
            </a:r>
            <a:endParaRPr lang="en-US" sz="680" dirty="0"/>
          </a:p>
        </p:txBody>
      </p:sp>
      <p:sp>
        <p:nvSpPr>
          <p:cNvPr id="78" name="Text 76"/>
          <p:cNvSpPr/>
          <p:nvPr/>
        </p:nvSpPr>
        <p:spPr>
          <a:xfrm>
            <a:off x="8165592" y="5548832"/>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$160 / night</a:t>
            </a:r>
            <a:endParaRPr lang="en-US" sz="640" dirty="0"/>
          </a:p>
        </p:txBody>
      </p:sp>
      <p:sp>
        <p:nvSpPr>
          <p:cNvPr id="79" name="Shape 77"/>
          <p:cNvSpPr/>
          <p:nvPr/>
        </p:nvSpPr>
        <p:spPr>
          <a:xfrm>
            <a:off x="822960" y="5806440"/>
            <a:ext cx="9921240" cy="475488"/>
          </a:xfrm>
          <a:prstGeom prst="roundRect">
            <a:avLst>
              <a:gd name="adj" fmla="val 19231"/>
            </a:avLst>
          </a:prstGeom>
          <a:solidFill>
            <a:srgbClr val="132133">
              <a:alpha val="98000"/>
            </a:srgbClr>
          </a:solidFill>
          <a:ln w="12700">
            <a:solidFill>
              <a:srgbClr val="132133"/>
            </a:solidFill>
            <a:prstDash val="solid"/>
          </a:ln>
        </p:spPr>
        <p:txBody>
          <a:bodyPr/>
          <a:lstStyle/>
          <a:p>
            <a:endParaRPr lang="en-US"/>
          </a:p>
        </p:txBody>
      </p:sp>
      <p:sp>
        <p:nvSpPr>
          <p:cNvPr id="80" name="Text 78"/>
          <p:cNvSpPr/>
          <p:nvPr/>
        </p:nvSpPr>
        <p:spPr>
          <a:xfrm>
            <a:off x="1051560" y="5961888"/>
            <a:ext cx="2651760" cy="128016"/>
          </a:xfrm>
          <a:prstGeom prst="rect">
            <a:avLst/>
          </a:prstGeom>
          <a:noFill/>
          <a:ln/>
        </p:spPr>
        <p:txBody>
          <a:bodyPr wrap="square" lIns="381" tIns="381" rIns="381" bIns="381" rtlCol="0" anchor="ctr">
            <a:normAutofit fontScale="92500" lnSpcReduction="10000"/>
          </a:bodyPr>
          <a:lstStyle/>
          <a:p>
            <a:pPr marL="0" indent="0" algn="l">
              <a:buNone/>
            </a:pPr>
            <a:r>
              <a:rPr lang="en-US" sz="1020" dirty="0">
                <a:solidFill>
                  <a:srgbClr val="FFFFFF"/>
                </a:solidFill>
                <a:latin typeface="Georgia" pitchFamily="34" charset="0"/>
                <a:ea typeface="Georgia" pitchFamily="34" charset="-122"/>
                <a:cs typeface="Georgia" pitchFamily="34" charset="-120"/>
              </a:rPr>
              <a:t>Adventure Is Right Outside Your Door</a:t>
            </a:r>
            <a:endParaRPr lang="en-US" sz="1020" dirty="0"/>
          </a:p>
        </p:txBody>
      </p:sp>
      <p:sp>
        <p:nvSpPr>
          <p:cNvPr id="81" name="Shape 79"/>
          <p:cNvSpPr/>
          <p:nvPr/>
        </p:nvSpPr>
        <p:spPr>
          <a:xfrm>
            <a:off x="388620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2" name="Text 80"/>
          <p:cNvSpPr/>
          <p:nvPr/>
        </p:nvSpPr>
        <p:spPr>
          <a:xfrm>
            <a:off x="391363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Hiking</a:t>
            </a:r>
            <a:endParaRPr lang="en-US" sz="540" dirty="0"/>
          </a:p>
        </p:txBody>
      </p:sp>
      <p:sp>
        <p:nvSpPr>
          <p:cNvPr id="83" name="Shape 81"/>
          <p:cNvSpPr/>
          <p:nvPr/>
        </p:nvSpPr>
        <p:spPr>
          <a:xfrm>
            <a:off x="512064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4" name="Text 82"/>
          <p:cNvSpPr/>
          <p:nvPr/>
        </p:nvSpPr>
        <p:spPr>
          <a:xfrm>
            <a:off x="514807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Kayaking</a:t>
            </a:r>
            <a:endParaRPr lang="en-US" sz="540" dirty="0"/>
          </a:p>
        </p:txBody>
      </p:sp>
      <p:sp>
        <p:nvSpPr>
          <p:cNvPr id="85" name="Shape 83"/>
          <p:cNvSpPr/>
          <p:nvPr/>
        </p:nvSpPr>
        <p:spPr>
          <a:xfrm>
            <a:off x="635508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6" name="Text 84"/>
          <p:cNvSpPr/>
          <p:nvPr/>
        </p:nvSpPr>
        <p:spPr>
          <a:xfrm>
            <a:off x="638251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Whale Watching</a:t>
            </a:r>
            <a:endParaRPr lang="en-US" sz="540" dirty="0"/>
          </a:p>
        </p:txBody>
      </p:sp>
      <p:sp>
        <p:nvSpPr>
          <p:cNvPr id="87" name="Shape 85"/>
          <p:cNvSpPr/>
          <p:nvPr/>
        </p:nvSpPr>
        <p:spPr>
          <a:xfrm>
            <a:off x="758952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8" name="Text 86"/>
          <p:cNvSpPr/>
          <p:nvPr/>
        </p:nvSpPr>
        <p:spPr>
          <a:xfrm>
            <a:off x="761695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Scuba Diving</a:t>
            </a:r>
            <a:endParaRPr lang="en-US" sz="540" dirty="0"/>
          </a:p>
        </p:txBody>
      </p:sp>
      <p:sp>
        <p:nvSpPr>
          <p:cNvPr id="89" name="Shape 87">
            <a:hlinkClick r:id="rId6" action="ppaction://hlinksldjump"/>
          </p:cNvPr>
          <p:cNvSpPr/>
          <p:nvPr/>
        </p:nvSpPr>
        <p:spPr>
          <a:xfrm>
            <a:off x="9052560" y="5916168"/>
            <a:ext cx="1152144"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90" name="Text 88">
            <a:hlinkClick r:id="rId6" action="ppaction://hlinksldjump"/>
          </p:cNvPr>
          <p:cNvSpPr/>
          <p:nvPr/>
        </p:nvSpPr>
        <p:spPr>
          <a:xfrm>
            <a:off x="9079992" y="5998464"/>
            <a:ext cx="1097280"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View Attractions</a:t>
            </a:r>
            <a:endParaRPr lang="en-US" sz="6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About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explain the lodge experience and guide visitors to rooms, reservations, and attractions.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moffatbaylodge.com/about.html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Shape 16"/>
          <p:cNvSpPr/>
          <p:nvPr/>
        </p:nvSpPr>
        <p:spPr>
          <a:xfrm>
            <a:off x="3941064"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4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84832"/>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DISCOVER MOFFAT BAY</a:t>
            </a:r>
            <a:endParaRPr lang="en-US" sz="680" dirty="0"/>
          </a:p>
        </p:txBody>
      </p:sp>
      <p:sp>
        <p:nvSpPr>
          <p:cNvPr id="39" name="Text 37"/>
          <p:cNvSpPr/>
          <p:nvPr/>
        </p:nvSpPr>
        <p:spPr>
          <a:xfrm>
            <a:off x="822960" y="2286000"/>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About Moffat Bay Lodge</a:t>
            </a:r>
            <a:endParaRPr lang="en-US" sz="2000" dirty="0"/>
          </a:p>
        </p:txBody>
      </p:sp>
      <p:sp>
        <p:nvSpPr>
          <p:cNvPr id="40" name="Text 38"/>
          <p:cNvSpPr/>
          <p:nvPr/>
        </p:nvSpPr>
        <p:spPr>
          <a:xfrm>
            <a:off x="822960" y="2779776"/>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A comfortable island retreat built around simple lodging, straightforward reservations, and easy access to outdoor experiences.</a:t>
            </a:r>
            <a:endParaRPr lang="en-US" sz="840" dirty="0"/>
          </a:p>
        </p:txBody>
      </p:sp>
      <p:sp>
        <p:nvSpPr>
          <p:cNvPr id="41" name="Shape 39"/>
          <p:cNvSpPr/>
          <p:nvPr/>
        </p:nvSpPr>
        <p:spPr>
          <a:xfrm>
            <a:off x="822960" y="3108960"/>
            <a:ext cx="658368" cy="32004"/>
          </a:xfrm>
          <a:prstGeom prst="rect">
            <a:avLst/>
          </a:prstGeom>
          <a:solidFill>
            <a:srgbClr val="2F8694"/>
          </a:solidFill>
          <a:ln w="12700">
            <a:solidFill>
              <a:srgbClr val="2F8694"/>
            </a:solidFill>
            <a:prstDash val="solid"/>
          </a:ln>
        </p:spPr>
        <p:txBody>
          <a:bodyPr/>
          <a:lstStyle/>
          <a:p>
            <a:endParaRPr lang="en-US"/>
          </a:p>
        </p:txBody>
      </p:sp>
      <p:sp>
        <p:nvSpPr>
          <p:cNvPr id="42" name="Shape 40"/>
          <p:cNvSpPr/>
          <p:nvPr/>
        </p:nvSpPr>
        <p:spPr>
          <a:xfrm>
            <a:off x="822960" y="3410712"/>
            <a:ext cx="475488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3" name="Shape 41"/>
          <p:cNvSpPr/>
          <p:nvPr/>
        </p:nvSpPr>
        <p:spPr>
          <a:xfrm>
            <a:off x="822960" y="3410712"/>
            <a:ext cx="4754880" cy="54864"/>
          </a:xfrm>
          <a:prstGeom prst="rect">
            <a:avLst/>
          </a:prstGeom>
          <a:solidFill>
            <a:srgbClr val="2F8694"/>
          </a:solidFill>
          <a:ln w="12700">
            <a:solidFill>
              <a:srgbClr val="2F8694"/>
            </a:solidFill>
            <a:prstDash val="solid"/>
          </a:ln>
        </p:spPr>
        <p:txBody>
          <a:bodyPr/>
          <a:lstStyle/>
          <a:p>
            <a:endParaRPr lang="en-US"/>
          </a:p>
        </p:txBody>
      </p:sp>
      <p:sp>
        <p:nvSpPr>
          <p:cNvPr id="44" name="Text 42"/>
          <p:cNvSpPr/>
          <p:nvPr/>
        </p:nvSpPr>
        <p:spPr>
          <a:xfrm>
            <a:off x="987552" y="3575304"/>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A Comfortable Place to Call Home</a:t>
            </a:r>
            <a:endParaRPr lang="en-US" sz="1250" dirty="0"/>
          </a:p>
        </p:txBody>
      </p:sp>
      <p:sp>
        <p:nvSpPr>
          <p:cNvPr id="45" name="Text 43"/>
          <p:cNvSpPr/>
          <p:nvPr/>
        </p:nvSpPr>
        <p:spPr>
          <a:xfrm>
            <a:off x="987552" y="3913632"/>
            <a:ext cx="442569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Moffat Bay Lodge is designed for travelers who want comfortable lodging and easy access to local island activities. Visitors can compare rooms, learn about adventures, and book from one simple site.</a:t>
            </a:r>
            <a:endParaRPr lang="en-US" sz="680" dirty="0"/>
          </a:p>
        </p:txBody>
      </p:sp>
      <p:sp>
        <p:nvSpPr>
          <p:cNvPr id="46" name="Shape 44"/>
          <p:cNvSpPr/>
          <p:nvPr/>
        </p:nvSpPr>
        <p:spPr>
          <a:xfrm>
            <a:off x="5897880" y="3410712"/>
            <a:ext cx="480060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6062472" y="3575304"/>
            <a:ext cx="447141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Stay. Explore. Relax.</a:t>
            </a:r>
            <a:endParaRPr lang="en-US" sz="1250" dirty="0"/>
          </a:p>
        </p:txBody>
      </p:sp>
      <p:sp>
        <p:nvSpPr>
          <p:cNvPr id="48" name="Text 46"/>
          <p:cNvSpPr/>
          <p:nvPr/>
        </p:nvSpPr>
        <p:spPr>
          <a:xfrm>
            <a:off x="6062472" y="3913632"/>
            <a:ext cx="447141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Start near the water, spend the day exploring trails or ocean activities, then return to a comfortable room at night. One lodge location keeps planning simple.</a:t>
            </a:r>
            <a:endParaRPr lang="en-US" sz="680" dirty="0"/>
          </a:p>
        </p:txBody>
      </p:sp>
      <p:sp>
        <p:nvSpPr>
          <p:cNvPr id="49" name="Shape 47"/>
          <p:cNvSpPr/>
          <p:nvPr/>
        </p:nvSpPr>
        <p:spPr>
          <a:xfrm>
            <a:off x="822960"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0" name="Text 48"/>
          <p:cNvSpPr/>
          <p:nvPr/>
        </p:nvSpPr>
        <p:spPr>
          <a:xfrm>
            <a:off x="950976"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1" name="Text 49"/>
          <p:cNvSpPr/>
          <p:nvPr/>
        </p:nvSpPr>
        <p:spPr>
          <a:xfrm>
            <a:off x="950976"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Comfortable Room Options</a:t>
            </a:r>
            <a:endParaRPr lang="en-US" sz="1230" dirty="0"/>
          </a:p>
        </p:txBody>
      </p:sp>
      <p:sp>
        <p:nvSpPr>
          <p:cNvPr id="52" name="Text 50"/>
          <p:cNvSpPr/>
          <p:nvPr/>
        </p:nvSpPr>
        <p:spPr>
          <a:xfrm>
            <a:off x="950976"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Compare Double Full, Queen, Double Queen, and King rooms.</a:t>
            </a:r>
            <a:endParaRPr lang="en-US" sz="680" dirty="0"/>
          </a:p>
        </p:txBody>
      </p:sp>
      <p:sp>
        <p:nvSpPr>
          <p:cNvPr id="53" name="Text 51"/>
          <p:cNvSpPr/>
          <p:nvPr/>
        </p:nvSpPr>
        <p:spPr>
          <a:xfrm>
            <a:off x="950976"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View Rooms →</a:t>
            </a:r>
            <a:endParaRPr lang="en-US" sz="640" dirty="0"/>
          </a:p>
        </p:txBody>
      </p:sp>
      <p:sp>
        <p:nvSpPr>
          <p:cNvPr id="54" name="Shape 52"/>
          <p:cNvSpPr/>
          <p:nvPr/>
        </p:nvSpPr>
        <p:spPr>
          <a:xfrm>
            <a:off x="4133088"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5" name="Text 53"/>
          <p:cNvSpPr/>
          <p:nvPr/>
        </p:nvSpPr>
        <p:spPr>
          <a:xfrm>
            <a:off x="4261104"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6" name="Text 54"/>
          <p:cNvSpPr/>
          <p:nvPr/>
        </p:nvSpPr>
        <p:spPr>
          <a:xfrm>
            <a:off x="4261104"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Simple Reservations</a:t>
            </a:r>
            <a:endParaRPr lang="en-US" sz="1230" dirty="0"/>
          </a:p>
        </p:txBody>
      </p:sp>
      <p:sp>
        <p:nvSpPr>
          <p:cNvPr id="57" name="Text 55"/>
          <p:cNvSpPr/>
          <p:nvPr/>
        </p:nvSpPr>
        <p:spPr>
          <a:xfrm>
            <a:off x="4261104"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Select a room, dates, and guests before confirming.</a:t>
            </a:r>
            <a:endParaRPr lang="en-US" sz="680" dirty="0"/>
          </a:p>
        </p:txBody>
      </p:sp>
      <p:sp>
        <p:nvSpPr>
          <p:cNvPr id="58" name="Text 56"/>
          <p:cNvSpPr/>
          <p:nvPr/>
        </p:nvSpPr>
        <p:spPr>
          <a:xfrm>
            <a:off x="4261104"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Book Your Stay →</a:t>
            </a:r>
            <a:endParaRPr lang="en-US" sz="640" dirty="0"/>
          </a:p>
        </p:txBody>
      </p:sp>
      <p:sp>
        <p:nvSpPr>
          <p:cNvPr id="59" name="Shape 57"/>
          <p:cNvSpPr/>
          <p:nvPr/>
        </p:nvSpPr>
        <p:spPr>
          <a:xfrm>
            <a:off x="7443216"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0" name="Text 58"/>
          <p:cNvSpPr/>
          <p:nvPr/>
        </p:nvSpPr>
        <p:spPr>
          <a:xfrm>
            <a:off x="7571232"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61" name="Text 59"/>
          <p:cNvSpPr/>
          <p:nvPr/>
        </p:nvSpPr>
        <p:spPr>
          <a:xfrm>
            <a:off x="7571232"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Island Adventure</a:t>
            </a:r>
            <a:endParaRPr lang="en-US" sz="1230" dirty="0"/>
          </a:p>
        </p:txBody>
      </p:sp>
      <p:sp>
        <p:nvSpPr>
          <p:cNvPr id="62" name="Text 60"/>
          <p:cNvSpPr/>
          <p:nvPr/>
        </p:nvSpPr>
        <p:spPr>
          <a:xfrm>
            <a:off x="7571232"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Plan hiking, kayaking, whale watching, and scuba diving.</a:t>
            </a:r>
            <a:endParaRPr lang="en-US" sz="680" dirty="0"/>
          </a:p>
        </p:txBody>
      </p:sp>
      <p:sp>
        <p:nvSpPr>
          <p:cNvPr id="63" name="Text 61"/>
          <p:cNvSpPr/>
          <p:nvPr/>
        </p:nvSpPr>
        <p:spPr>
          <a:xfrm>
            <a:off x="7571232"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Explore Attractions →</a:t>
            </a:r>
            <a:endParaRPr lang="en-US" sz="6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Rooms &amp; Pricing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guests compare room types and continue directly to the reservation form.</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moffatbaylodge.com/rooms.html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Shape 17"/>
          <p:cNvSpPr/>
          <p:nvPr/>
        </p:nvSpPr>
        <p:spPr>
          <a:xfrm>
            <a:off x="4562856" y="1627632"/>
            <a:ext cx="868680" cy="22860"/>
          </a:xfrm>
          <a:prstGeom prst="rect">
            <a:avLst/>
          </a:prstGeom>
          <a:solidFill>
            <a:srgbClr val="2F8694"/>
          </a:solidFill>
          <a:ln w="12700">
            <a:solidFill>
              <a:srgbClr val="2F8694"/>
            </a:solidFill>
            <a:prstDash val="solid"/>
          </a:ln>
        </p:spPr>
        <p:txBody>
          <a:bodyPr/>
          <a:lstStyle/>
          <a:p>
            <a:endParaRPr lang="en-US"/>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5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66544"/>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AT MOFFAT BAY</a:t>
            </a:r>
            <a:endParaRPr lang="en-US" sz="680" dirty="0"/>
          </a:p>
        </p:txBody>
      </p:sp>
      <p:sp>
        <p:nvSpPr>
          <p:cNvPr id="39" name="Text 37"/>
          <p:cNvSpPr/>
          <p:nvPr/>
        </p:nvSpPr>
        <p:spPr>
          <a:xfrm>
            <a:off x="822960" y="2267712"/>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Rooms &amp; Pricing</a:t>
            </a:r>
            <a:endParaRPr lang="en-US" sz="2000" dirty="0"/>
          </a:p>
        </p:txBody>
      </p:sp>
      <p:sp>
        <p:nvSpPr>
          <p:cNvPr id="40" name="Text 38"/>
          <p:cNvSpPr/>
          <p:nvPr/>
        </p:nvSpPr>
        <p:spPr>
          <a:xfrm>
            <a:off x="822960" y="2761488"/>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Compare all four room types and nightly rates, then continue directly to the reservation page with the room choice selected.</a:t>
            </a:r>
            <a:endParaRPr lang="en-US" sz="840" dirty="0"/>
          </a:p>
        </p:txBody>
      </p:sp>
      <p:sp>
        <p:nvSpPr>
          <p:cNvPr id="41" name="Shape 39"/>
          <p:cNvSpPr/>
          <p:nvPr/>
        </p:nvSpPr>
        <p:spPr>
          <a:xfrm>
            <a:off x="822960" y="3236976"/>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42" name="Text 40"/>
          <p:cNvSpPr/>
          <p:nvPr/>
        </p:nvSpPr>
        <p:spPr>
          <a:xfrm>
            <a:off x="1024128" y="3465576"/>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01</a:t>
            </a:r>
            <a:endParaRPr lang="en-US" sz="600" dirty="0"/>
          </a:p>
        </p:txBody>
      </p:sp>
      <p:sp>
        <p:nvSpPr>
          <p:cNvPr id="43" name="Text 41"/>
          <p:cNvSpPr/>
          <p:nvPr/>
        </p:nvSpPr>
        <p:spPr>
          <a:xfrm>
            <a:off x="1463040" y="3383280"/>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Full Beds</a:t>
            </a:r>
            <a:endParaRPr lang="en-US" sz="1250" dirty="0"/>
          </a:p>
        </p:txBody>
      </p:sp>
      <p:sp>
        <p:nvSpPr>
          <p:cNvPr id="44" name="Text 42"/>
          <p:cNvSpPr/>
          <p:nvPr/>
        </p:nvSpPr>
        <p:spPr>
          <a:xfrm>
            <a:off x="3566160" y="3419856"/>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Full Beds • Family Friendly • Single Lodge Location</a:t>
            </a:r>
            <a:endParaRPr lang="en-US" sz="640" dirty="0"/>
          </a:p>
        </p:txBody>
      </p:sp>
      <p:sp>
        <p:nvSpPr>
          <p:cNvPr id="45" name="Text 43"/>
          <p:cNvSpPr/>
          <p:nvPr/>
        </p:nvSpPr>
        <p:spPr>
          <a:xfrm>
            <a:off x="7315200" y="3364992"/>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$120</a:t>
            </a:r>
            <a:endParaRPr lang="en-US" sz="1100" dirty="0"/>
          </a:p>
        </p:txBody>
      </p:sp>
      <p:sp>
        <p:nvSpPr>
          <p:cNvPr id="46" name="Text 44"/>
          <p:cNvSpPr/>
          <p:nvPr/>
        </p:nvSpPr>
        <p:spPr>
          <a:xfrm>
            <a:off x="7900416" y="3429000"/>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47" name="Shape 45">
            <a:hlinkClick r:id="rId8" action="ppaction://hlinksldjump"/>
          </p:cNvPr>
          <p:cNvSpPr/>
          <p:nvPr/>
        </p:nvSpPr>
        <p:spPr>
          <a:xfrm>
            <a:off x="9372600" y="3392424"/>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8" name="Text 46">
            <a:hlinkClick r:id="rId8" action="ppaction://hlinksldjump"/>
          </p:cNvPr>
          <p:cNvSpPr/>
          <p:nvPr/>
        </p:nvSpPr>
        <p:spPr>
          <a:xfrm>
            <a:off x="9400032" y="3474720"/>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49" name="Shape 47"/>
          <p:cNvSpPr/>
          <p:nvPr/>
        </p:nvSpPr>
        <p:spPr>
          <a:xfrm>
            <a:off x="822960" y="4005072"/>
            <a:ext cx="9921240" cy="621792"/>
          </a:xfrm>
          <a:prstGeom prst="roundRect">
            <a:avLst>
              <a:gd name="adj" fmla="val 10294"/>
            </a:avLst>
          </a:prstGeom>
          <a:solidFill>
            <a:srgbClr val="FFFFFF">
              <a:alpha val="92000"/>
            </a:srgbClr>
          </a:solidFill>
          <a:ln w="19050">
            <a:solidFill>
              <a:srgbClr val="CDA059"/>
            </a:solidFill>
            <a:prstDash val="solid"/>
          </a:ln>
          <a:effectLst>
            <a:outerShdw blurRad="12700" dist="7620" dir="2700000" algn="bl" rotWithShape="0">
              <a:srgbClr val="132133">
                <a:alpha val="5500"/>
              </a:srgbClr>
            </a:outerShdw>
          </a:effectLst>
        </p:spPr>
        <p:txBody>
          <a:bodyPr/>
          <a:lstStyle/>
          <a:p>
            <a:endParaRPr lang="en-US"/>
          </a:p>
        </p:txBody>
      </p:sp>
      <p:sp>
        <p:nvSpPr>
          <p:cNvPr id="50" name="Text 48"/>
          <p:cNvSpPr/>
          <p:nvPr/>
        </p:nvSpPr>
        <p:spPr>
          <a:xfrm>
            <a:off x="1024128" y="4233672"/>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02</a:t>
            </a:r>
            <a:endParaRPr lang="en-US" sz="600" dirty="0"/>
          </a:p>
        </p:txBody>
      </p:sp>
      <p:sp>
        <p:nvSpPr>
          <p:cNvPr id="51" name="Text 49"/>
          <p:cNvSpPr/>
          <p:nvPr/>
        </p:nvSpPr>
        <p:spPr>
          <a:xfrm>
            <a:off x="1463040" y="4151376"/>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Queen</a:t>
            </a:r>
            <a:endParaRPr lang="en-US" sz="1250" dirty="0"/>
          </a:p>
        </p:txBody>
      </p:sp>
      <p:sp>
        <p:nvSpPr>
          <p:cNvPr id="52" name="Shape 50"/>
          <p:cNvSpPr/>
          <p:nvPr/>
        </p:nvSpPr>
        <p:spPr>
          <a:xfrm>
            <a:off x="2907792" y="4169664"/>
            <a:ext cx="530352" cy="173736"/>
          </a:xfrm>
          <a:prstGeom prst="roundRect">
            <a:avLst>
              <a:gd name="adj" fmla="val 26316"/>
            </a:avLst>
          </a:prstGeom>
          <a:solidFill>
            <a:srgbClr val="DFB66E"/>
          </a:solidFill>
          <a:ln w="12700">
            <a:solidFill>
              <a:srgbClr val="DFB66E"/>
            </a:solidFill>
            <a:prstDash val="solid"/>
          </a:ln>
        </p:spPr>
        <p:txBody>
          <a:bodyPr/>
          <a:lstStyle/>
          <a:p>
            <a:endParaRPr lang="en-US"/>
          </a:p>
        </p:txBody>
      </p:sp>
      <p:sp>
        <p:nvSpPr>
          <p:cNvPr id="53" name="Text 51"/>
          <p:cNvSpPr/>
          <p:nvPr/>
        </p:nvSpPr>
        <p:spPr>
          <a:xfrm>
            <a:off x="2944368" y="4215384"/>
            <a:ext cx="457200" cy="64008"/>
          </a:xfrm>
          <a:prstGeom prst="rect">
            <a:avLst/>
          </a:prstGeom>
          <a:noFill/>
          <a:ln/>
        </p:spPr>
        <p:txBody>
          <a:bodyPr wrap="square" lIns="381" tIns="381" rIns="381" bIns="381" rtlCol="0" anchor="ctr">
            <a:normAutofit/>
          </a:bodyPr>
          <a:lstStyle/>
          <a:p>
            <a:pPr marL="0" indent="0" algn="ctr">
              <a:buNone/>
            </a:pPr>
            <a:r>
              <a:rPr lang="en-US" sz="400" b="1" dirty="0">
                <a:solidFill>
                  <a:srgbClr val="132133"/>
                </a:solidFill>
                <a:latin typeface="Arial" pitchFamily="34" charset="0"/>
                <a:ea typeface="Arial" pitchFamily="34" charset="-122"/>
                <a:cs typeface="Arial" pitchFamily="34" charset="-120"/>
              </a:rPr>
              <a:t>POPULAR</a:t>
            </a:r>
            <a:endParaRPr lang="en-US" sz="400" dirty="0"/>
          </a:p>
        </p:txBody>
      </p:sp>
      <p:sp>
        <p:nvSpPr>
          <p:cNvPr id="54" name="Text 52"/>
          <p:cNvSpPr/>
          <p:nvPr/>
        </p:nvSpPr>
        <p:spPr>
          <a:xfrm>
            <a:off x="3566160" y="4187952"/>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Queen Bed • Couples Favorite • Single Lodge Location</a:t>
            </a:r>
            <a:endParaRPr lang="en-US" sz="640" dirty="0"/>
          </a:p>
        </p:txBody>
      </p:sp>
      <p:sp>
        <p:nvSpPr>
          <p:cNvPr id="55" name="Text 53"/>
          <p:cNvSpPr/>
          <p:nvPr/>
        </p:nvSpPr>
        <p:spPr>
          <a:xfrm>
            <a:off x="7315200" y="4133088"/>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$135</a:t>
            </a:r>
            <a:endParaRPr lang="en-US" sz="1100" dirty="0"/>
          </a:p>
        </p:txBody>
      </p:sp>
      <p:sp>
        <p:nvSpPr>
          <p:cNvPr id="56" name="Text 54"/>
          <p:cNvSpPr/>
          <p:nvPr/>
        </p:nvSpPr>
        <p:spPr>
          <a:xfrm>
            <a:off x="7900416" y="4197096"/>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57" name="Shape 55">
            <a:hlinkClick r:id="rId8" action="ppaction://hlinksldjump"/>
          </p:cNvPr>
          <p:cNvSpPr/>
          <p:nvPr/>
        </p:nvSpPr>
        <p:spPr>
          <a:xfrm>
            <a:off x="9372600" y="4160520"/>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8" name="Text 56">
            <a:hlinkClick r:id="rId8" action="ppaction://hlinksldjump"/>
          </p:cNvPr>
          <p:cNvSpPr/>
          <p:nvPr/>
        </p:nvSpPr>
        <p:spPr>
          <a:xfrm>
            <a:off x="9400032" y="4242816"/>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59" name="Shape 57"/>
          <p:cNvSpPr/>
          <p:nvPr/>
        </p:nvSpPr>
        <p:spPr>
          <a:xfrm>
            <a:off x="822960" y="4773168"/>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0" name="Text 58"/>
          <p:cNvSpPr/>
          <p:nvPr/>
        </p:nvSpPr>
        <p:spPr>
          <a:xfrm>
            <a:off x="1024128" y="5001768"/>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03</a:t>
            </a:r>
            <a:endParaRPr lang="en-US" sz="600" dirty="0"/>
          </a:p>
        </p:txBody>
      </p:sp>
      <p:sp>
        <p:nvSpPr>
          <p:cNvPr id="61" name="Text 59"/>
          <p:cNvSpPr/>
          <p:nvPr/>
        </p:nvSpPr>
        <p:spPr>
          <a:xfrm>
            <a:off x="1463040" y="4919472"/>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Queen Beds</a:t>
            </a:r>
            <a:endParaRPr lang="en-US" sz="1250" dirty="0"/>
          </a:p>
        </p:txBody>
      </p:sp>
      <p:sp>
        <p:nvSpPr>
          <p:cNvPr id="62" name="Text 60"/>
          <p:cNvSpPr/>
          <p:nvPr/>
        </p:nvSpPr>
        <p:spPr>
          <a:xfrm>
            <a:off x="3566160" y="4956048"/>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Queen Beds • Extra Space • Single Lodge Location</a:t>
            </a:r>
            <a:endParaRPr lang="en-US" sz="640" dirty="0"/>
          </a:p>
        </p:txBody>
      </p:sp>
      <p:sp>
        <p:nvSpPr>
          <p:cNvPr id="63" name="Text 61"/>
          <p:cNvSpPr/>
          <p:nvPr/>
        </p:nvSpPr>
        <p:spPr>
          <a:xfrm>
            <a:off x="7315200" y="4901184"/>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$150</a:t>
            </a:r>
            <a:endParaRPr lang="en-US" sz="1100" dirty="0"/>
          </a:p>
        </p:txBody>
      </p:sp>
      <p:sp>
        <p:nvSpPr>
          <p:cNvPr id="64" name="Text 62"/>
          <p:cNvSpPr/>
          <p:nvPr/>
        </p:nvSpPr>
        <p:spPr>
          <a:xfrm>
            <a:off x="7900416" y="4965192"/>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65" name="Shape 63">
            <a:hlinkClick r:id="rId8" action="ppaction://hlinksldjump"/>
          </p:cNvPr>
          <p:cNvSpPr/>
          <p:nvPr/>
        </p:nvSpPr>
        <p:spPr>
          <a:xfrm>
            <a:off x="9372600" y="4928616"/>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6" name="Text 64">
            <a:hlinkClick r:id="rId8" action="ppaction://hlinksldjump"/>
          </p:cNvPr>
          <p:cNvSpPr/>
          <p:nvPr/>
        </p:nvSpPr>
        <p:spPr>
          <a:xfrm>
            <a:off x="9400032" y="5010912"/>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67" name="Shape 65"/>
          <p:cNvSpPr/>
          <p:nvPr/>
        </p:nvSpPr>
        <p:spPr>
          <a:xfrm>
            <a:off x="822960" y="5541264"/>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8" name="Text 66"/>
          <p:cNvSpPr/>
          <p:nvPr/>
        </p:nvSpPr>
        <p:spPr>
          <a:xfrm>
            <a:off x="1024128" y="5769864"/>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04</a:t>
            </a:r>
            <a:endParaRPr lang="en-US" sz="600" dirty="0"/>
          </a:p>
        </p:txBody>
      </p:sp>
      <p:sp>
        <p:nvSpPr>
          <p:cNvPr id="69" name="Text 67"/>
          <p:cNvSpPr/>
          <p:nvPr/>
        </p:nvSpPr>
        <p:spPr>
          <a:xfrm>
            <a:off x="1463040" y="5687568"/>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King</a:t>
            </a:r>
            <a:endParaRPr lang="en-US" sz="1250" dirty="0"/>
          </a:p>
        </p:txBody>
      </p:sp>
      <p:sp>
        <p:nvSpPr>
          <p:cNvPr id="70" name="Text 68"/>
          <p:cNvSpPr/>
          <p:nvPr/>
        </p:nvSpPr>
        <p:spPr>
          <a:xfrm>
            <a:off x="3566160" y="5724144"/>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King Bed • Spacious Comfort • Single Lodge Location</a:t>
            </a:r>
            <a:endParaRPr lang="en-US" sz="640" dirty="0"/>
          </a:p>
        </p:txBody>
      </p:sp>
      <p:sp>
        <p:nvSpPr>
          <p:cNvPr id="71" name="Text 69"/>
          <p:cNvSpPr/>
          <p:nvPr/>
        </p:nvSpPr>
        <p:spPr>
          <a:xfrm>
            <a:off x="7315200" y="5669280"/>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$160</a:t>
            </a:r>
            <a:endParaRPr lang="en-US" sz="1100" dirty="0"/>
          </a:p>
        </p:txBody>
      </p:sp>
      <p:sp>
        <p:nvSpPr>
          <p:cNvPr id="72" name="Text 70"/>
          <p:cNvSpPr/>
          <p:nvPr/>
        </p:nvSpPr>
        <p:spPr>
          <a:xfrm>
            <a:off x="7900416" y="5733288"/>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73" name="Shape 71">
            <a:hlinkClick r:id="rId8" action="ppaction://hlinksldjump"/>
          </p:cNvPr>
          <p:cNvSpPr/>
          <p:nvPr/>
        </p:nvSpPr>
        <p:spPr>
          <a:xfrm>
            <a:off x="9372600" y="5696712"/>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4" name="Text 72">
            <a:hlinkClick r:id="rId8" action="ppaction://hlinksldjump"/>
          </p:cNvPr>
          <p:cNvSpPr/>
          <p:nvPr/>
        </p:nvSpPr>
        <p:spPr>
          <a:xfrm>
            <a:off x="9400032" y="5779008"/>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75" name="Shape 73"/>
          <p:cNvSpPr/>
          <p:nvPr/>
        </p:nvSpPr>
        <p:spPr>
          <a:xfrm>
            <a:off x="822960" y="6089904"/>
            <a:ext cx="9921240" cy="438912"/>
          </a:xfrm>
          <a:prstGeom prst="roundRect">
            <a:avLst>
              <a:gd name="adj" fmla="val 20833"/>
            </a:avLst>
          </a:prstGeom>
          <a:solidFill>
            <a:srgbClr val="132133"/>
          </a:solidFill>
          <a:ln w="12700">
            <a:solidFill>
              <a:srgbClr val="132133"/>
            </a:solidFill>
            <a:prstDash val="solid"/>
          </a:ln>
        </p:spPr>
        <p:txBody>
          <a:bodyPr/>
          <a:lstStyle/>
          <a:p>
            <a:endParaRPr lang="en-US"/>
          </a:p>
        </p:txBody>
      </p:sp>
      <p:sp>
        <p:nvSpPr>
          <p:cNvPr id="76" name="Text 74"/>
          <p:cNvSpPr/>
          <p:nvPr/>
        </p:nvSpPr>
        <p:spPr>
          <a:xfrm>
            <a:off x="1051560" y="6227064"/>
            <a:ext cx="3200400" cy="118872"/>
          </a:xfrm>
          <a:prstGeom prst="rect">
            <a:avLst/>
          </a:prstGeom>
          <a:noFill/>
          <a:ln/>
        </p:spPr>
        <p:txBody>
          <a:bodyPr wrap="square" lIns="381" tIns="381" rIns="381" bIns="381" rtlCol="0" anchor="ctr">
            <a:normAutofit fontScale="92500" lnSpcReduction="20000"/>
          </a:bodyPr>
          <a:lstStyle/>
          <a:p>
            <a:pPr marL="0" indent="0" algn="l">
              <a:buNone/>
            </a:pPr>
            <a:r>
              <a:rPr lang="en-US" sz="1000" dirty="0">
                <a:solidFill>
                  <a:srgbClr val="FFFFFF"/>
                </a:solidFill>
                <a:latin typeface="Georgia" pitchFamily="34" charset="0"/>
                <a:ea typeface="Georgia" pitchFamily="34" charset="-122"/>
                <a:cs typeface="Georgia" pitchFamily="34" charset="-120"/>
              </a:rPr>
              <a:t>Simple Pricing. Easy Reservations.</a:t>
            </a:r>
            <a:endParaRPr lang="en-US" sz="1000" dirty="0"/>
          </a:p>
        </p:txBody>
      </p:sp>
      <p:sp>
        <p:nvSpPr>
          <p:cNvPr id="77" name="Shape 75">
            <a:hlinkClick r:id="rId8" action="ppaction://hlinksldjump"/>
          </p:cNvPr>
          <p:cNvSpPr/>
          <p:nvPr/>
        </p:nvSpPr>
        <p:spPr>
          <a:xfrm>
            <a:off x="9144000" y="6163056"/>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8" name="Text 76">
            <a:hlinkClick r:id="rId8" action="ppaction://hlinksldjump"/>
          </p:cNvPr>
          <p:cNvSpPr/>
          <p:nvPr/>
        </p:nvSpPr>
        <p:spPr>
          <a:xfrm>
            <a:off x="9171432" y="6245352"/>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Start Reservation</a:t>
            </a:r>
            <a:endParaRPr lang="en-US" sz="6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Attractions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show nearby island activities and encourage guests to book after planning the trip.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moffatbaylodge.com/attractions.html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Shape 18"/>
          <p:cNvSpPr/>
          <p:nvPr/>
        </p:nvSpPr>
        <p:spPr>
          <a:xfrm>
            <a:off x="5724144" y="1627632"/>
            <a:ext cx="594360" cy="22860"/>
          </a:xfrm>
          <a:prstGeom prst="rect">
            <a:avLst/>
          </a:prstGeom>
          <a:solidFill>
            <a:srgbClr val="2F8694"/>
          </a:solidFill>
          <a:ln w="12700">
            <a:solidFill>
              <a:srgbClr val="2F8694"/>
            </a:solidFill>
            <a:prstDash val="solid"/>
          </a:ln>
        </p:spPr>
        <p:txBody>
          <a:bodyPr/>
          <a:lstStyle/>
          <a:p>
            <a:endParaRPr lang="en-US"/>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6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EXPLORE MOFFAT BAY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Island Adventures Await</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From peaceful hiking trails to unforgettable ocean experiences, Moffat Bay offers outdoor activities for every kind of traveler.</a:t>
            </a:r>
            <a:endParaRPr lang="en-US" sz="840" dirty="0"/>
          </a:p>
        </p:txBody>
      </p:sp>
      <p:sp>
        <p:nvSpPr>
          <p:cNvPr id="41" name="Text 39"/>
          <p:cNvSpPr/>
          <p:nvPr/>
        </p:nvSpPr>
        <p:spPr>
          <a:xfrm>
            <a:off x="822960" y="3218688"/>
            <a:ext cx="64008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THINGS TO DO</a:t>
            </a:r>
            <a:endParaRPr lang="en-US" sz="680" dirty="0"/>
          </a:p>
        </p:txBody>
      </p:sp>
      <p:sp>
        <p:nvSpPr>
          <p:cNvPr id="42" name="Text 40"/>
          <p:cNvSpPr/>
          <p:nvPr/>
        </p:nvSpPr>
        <p:spPr>
          <a:xfrm>
            <a:off x="822960" y="3419856"/>
            <a:ext cx="6400800" cy="274320"/>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Experience the Island</a:t>
            </a:r>
            <a:endParaRPr lang="en-US" sz="1400" dirty="0"/>
          </a:p>
        </p:txBody>
      </p:sp>
      <p:sp>
        <p:nvSpPr>
          <p:cNvPr id="43" name="Text 41"/>
          <p:cNvSpPr/>
          <p:nvPr/>
        </p:nvSpPr>
        <p:spPr>
          <a:xfrm>
            <a:off x="822960" y="3721608"/>
            <a:ext cx="6400800" cy="182880"/>
          </a:xfrm>
          <a:prstGeom prst="rect">
            <a:avLst/>
          </a:prstGeom>
          <a:noFill/>
          <a:ln/>
        </p:spPr>
        <p:txBody>
          <a:bodyPr wrap="square" lIns="381" tIns="381" rIns="381" bIns="381" rtlCol="0" anchor="t">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Make the most of your stay with adventures surrounding Moffat Bay Lodge.</a:t>
            </a:r>
            <a:endParaRPr lang="en-US" sz="640" dirty="0"/>
          </a:p>
        </p:txBody>
      </p:sp>
      <p:sp>
        <p:nvSpPr>
          <p:cNvPr id="44" name="Shape 42">
            <a:hlinkClick r:id="rId5" action="ppaction://hlinksldjump"/>
          </p:cNvPr>
          <p:cNvSpPr/>
          <p:nvPr/>
        </p:nvSpPr>
        <p:spPr>
          <a:xfrm>
            <a:off x="9235440" y="3429000"/>
            <a:ext cx="146304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5" name="Text 43">
            <a:hlinkClick r:id="rId5" action="ppaction://hlinksldjump"/>
          </p:cNvPr>
          <p:cNvSpPr/>
          <p:nvPr/>
        </p:nvSpPr>
        <p:spPr>
          <a:xfrm>
            <a:off x="9262872" y="351129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 &amp; Pricing</a:t>
            </a:r>
            <a:endParaRPr lang="en-US" sz="640" dirty="0"/>
          </a:p>
        </p:txBody>
      </p:sp>
      <p:sp>
        <p:nvSpPr>
          <p:cNvPr id="46" name="Shape 44"/>
          <p:cNvSpPr/>
          <p:nvPr/>
        </p:nvSpPr>
        <p:spPr>
          <a:xfrm>
            <a:off x="822960"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950976"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48" name="Text 46"/>
          <p:cNvSpPr/>
          <p:nvPr/>
        </p:nvSpPr>
        <p:spPr>
          <a:xfrm>
            <a:off x="950976"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Hiking</a:t>
            </a:r>
            <a:endParaRPr lang="en-US" sz="1230" dirty="0"/>
          </a:p>
        </p:txBody>
      </p:sp>
      <p:sp>
        <p:nvSpPr>
          <p:cNvPr id="49" name="Text 47"/>
          <p:cNvSpPr/>
          <p:nvPr/>
        </p:nvSpPr>
        <p:spPr>
          <a:xfrm>
            <a:off x="950976"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Scenic coastal trails and cedar paths.</a:t>
            </a:r>
            <a:endParaRPr lang="en-US" sz="680" dirty="0"/>
          </a:p>
        </p:txBody>
      </p:sp>
      <p:sp>
        <p:nvSpPr>
          <p:cNvPr id="50" name="Text 48"/>
          <p:cNvSpPr/>
          <p:nvPr/>
        </p:nvSpPr>
        <p:spPr>
          <a:xfrm>
            <a:off x="950976"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LAND ADVENTURE</a:t>
            </a:r>
            <a:endParaRPr lang="en-US" sz="640" dirty="0"/>
          </a:p>
        </p:txBody>
      </p:sp>
      <p:sp>
        <p:nvSpPr>
          <p:cNvPr id="51" name="Shape 49"/>
          <p:cNvSpPr/>
          <p:nvPr/>
        </p:nvSpPr>
        <p:spPr>
          <a:xfrm>
            <a:off x="3310128"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3438144"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3" name="Text 51"/>
          <p:cNvSpPr/>
          <p:nvPr/>
        </p:nvSpPr>
        <p:spPr>
          <a:xfrm>
            <a:off x="3438144"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Kayaking</a:t>
            </a:r>
            <a:endParaRPr lang="en-US" sz="1230" dirty="0"/>
          </a:p>
        </p:txBody>
      </p:sp>
      <p:sp>
        <p:nvSpPr>
          <p:cNvPr id="54" name="Text 52"/>
          <p:cNvSpPr/>
          <p:nvPr/>
        </p:nvSpPr>
        <p:spPr>
          <a:xfrm>
            <a:off x="3438144"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Paddle the waters around Moffat Bay.</a:t>
            </a:r>
            <a:endParaRPr lang="en-US" sz="680" dirty="0"/>
          </a:p>
        </p:txBody>
      </p:sp>
      <p:sp>
        <p:nvSpPr>
          <p:cNvPr id="55" name="Text 53"/>
          <p:cNvSpPr/>
          <p:nvPr/>
        </p:nvSpPr>
        <p:spPr>
          <a:xfrm>
            <a:off x="3438144"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WATER ADVENTURE</a:t>
            </a:r>
            <a:endParaRPr lang="en-US" sz="640" dirty="0"/>
          </a:p>
        </p:txBody>
      </p:sp>
      <p:sp>
        <p:nvSpPr>
          <p:cNvPr id="56" name="Shape 54"/>
          <p:cNvSpPr/>
          <p:nvPr/>
        </p:nvSpPr>
        <p:spPr>
          <a:xfrm>
            <a:off x="5797296"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7" name="Text 55"/>
          <p:cNvSpPr/>
          <p:nvPr/>
        </p:nvSpPr>
        <p:spPr>
          <a:xfrm>
            <a:off x="5925312"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58" name="Text 56"/>
          <p:cNvSpPr/>
          <p:nvPr/>
        </p:nvSpPr>
        <p:spPr>
          <a:xfrm>
            <a:off x="5925312"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Whale Watching</a:t>
            </a:r>
            <a:endParaRPr lang="en-US" sz="1230" dirty="0"/>
          </a:p>
        </p:txBody>
      </p:sp>
      <p:sp>
        <p:nvSpPr>
          <p:cNvPr id="59" name="Text 57"/>
          <p:cNvSpPr/>
          <p:nvPr/>
        </p:nvSpPr>
        <p:spPr>
          <a:xfrm>
            <a:off x="5925312"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Look for whales and marine wildlife.</a:t>
            </a:r>
            <a:endParaRPr lang="en-US" sz="680" dirty="0"/>
          </a:p>
        </p:txBody>
      </p:sp>
      <p:sp>
        <p:nvSpPr>
          <p:cNvPr id="60" name="Text 58"/>
          <p:cNvSpPr/>
          <p:nvPr/>
        </p:nvSpPr>
        <p:spPr>
          <a:xfrm>
            <a:off x="5925312"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WILDLIFE EXPERIENCE</a:t>
            </a:r>
            <a:endParaRPr lang="en-US" sz="640" dirty="0"/>
          </a:p>
        </p:txBody>
      </p:sp>
      <p:sp>
        <p:nvSpPr>
          <p:cNvPr id="61" name="Shape 59"/>
          <p:cNvSpPr/>
          <p:nvPr/>
        </p:nvSpPr>
        <p:spPr>
          <a:xfrm>
            <a:off x="8284464"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2" name="Text 60"/>
          <p:cNvSpPr/>
          <p:nvPr/>
        </p:nvSpPr>
        <p:spPr>
          <a:xfrm>
            <a:off x="8412480"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63" name="Text 61"/>
          <p:cNvSpPr/>
          <p:nvPr/>
        </p:nvSpPr>
        <p:spPr>
          <a:xfrm>
            <a:off x="8412480"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Scuba Diving</a:t>
            </a:r>
            <a:endParaRPr lang="en-US" sz="1230" dirty="0"/>
          </a:p>
        </p:txBody>
      </p:sp>
      <p:sp>
        <p:nvSpPr>
          <p:cNvPr id="64" name="Text 62"/>
          <p:cNvSpPr/>
          <p:nvPr/>
        </p:nvSpPr>
        <p:spPr>
          <a:xfrm>
            <a:off x="8412480"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Explore the underwater marine environment.</a:t>
            </a:r>
            <a:endParaRPr lang="en-US" sz="680" dirty="0"/>
          </a:p>
        </p:txBody>
      </p:sp>
      <p:sp>
        <p:nvSpPr>
          <p:cNvPr id="65" name="Text 63"/>
          <p:cNvSpPr/>
          <p:nvPr/>
        </p:nvSpPr>
        <p:spPr>
          <a:xfrm>
            <a:off x="8412480"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OCEAN ADVENTURE</a:t>
            </a:r>
            <a:endParaRPr lang="en-US" sz="640" dirty="0"/>
          </a:p>
        </p:txBody>
      </p:sp>
      <p:sp>
        <p:nvSpPr>
          <p:cNvPr id="66" name="Shape 64"/>
          <p:cNvSpPr/>
          <p:nvPr/>
        </p:nvSpPr>
        <p:spPr>
          <a:xfrm>
            <a:off x="822960" y="5486400"/>
            <a:ext cx="9921240" cy="713232"/>
          </a:xfrm>
          <a:prstGeom prst="roundRect">
            <a:avLst>
              <a:gd name="adj" fmla="val 14103"/>
            </a:avLst>
          </a:prstGeom>
          <a:solidFill>
            <a:srgbClr val="132133"/>
          </a:solidFill>
          <a:ln w="12700">
            <a:solidFill>
              <a:srgbClr val="132133"/>
            </a:solidFill>
            <a:prstDash val="solid"/>
          </a:ln>
        </p:spPr>
        <p:txBody>
          <a:bodyPr/>
          <a:lstStyle/>
          <a:p>
            <a:endParaRPr lang="en-US"/>
          </a:p>
        </p:txBody>
      </p:sp>
      <p:sp>
        <p:nvSpPr>
          <p:cNvPr id="67" name="Text 65"/>
          <p:cNvSpPr/>
          <p:nvPr/>
        </p:nvSpPr>
        <p:spPr>
          <a:xfrm>
            <a:off x="1143000" y="5650992"/>
            <a:ext cx="7132320" cy="146304"/>
          </a:xfrm>
          <a:prstGeom prst="rect">
            <a:avLst/>
          </a:prstGeom>
          <a:noFill/>
          <a:ln/>
        </p:spPr>
        <p:txBody>
          <a:bodyPr wrap="square" lIns="381" tIns="381" rIns="381" bIns="381" rtlCol="0" anchor="ctr">
            <a:normAutofit/>
          </a:bodyPr>
          <a:lstStyle/>
          <a:p>
            <a:pPr marL="0" indent="0" algn="l">
              <a:buNone/>
            </a:pPr>
            <a:r>
              <a:rPr lang="en-US" sz="680" b="1" dirty="0">
                <a:solidFill>
                  <a:srgbClr val="DFB66E"/>
                </a:solidFill>
                <a:latin typeface="Arial" pitchFamily="34" charset="0"/>
                <a:ea typeface="Arial" pitchFamily="34" charset="-122"/>
                <a:cs typeface="Arial" pitchFamily="34" charset="-120"/>
              </a:rPr>
              <a:t>MAKE IT YOUR TRIP</a:t>
            </a:r>
            <a:endParaRPr lang="en-US" sz="680" dirty="0"/>
          </a:p>
        </p:txBody>
      </p:sp>
      <p:sp>
        <p:nvSpPr>
          <p:cNvPr id="68" name="Text 66"/>
          <p:cNvSpPr/>
          <p:nvPr/>
        </p:nvSpPr>
        <p:spPr>
          <a:xfrm>
            <a:off x="1143000" y="5852160"/>
            <a:ext cx="7132320" cy="219456"/>
          </a:xfrm>
          <a:prstGeom prst="rect">
            <a:avLst/>
          </a:prstGeom>
          <a:noFill/>
          <a:ln/>
        </p:spPr>
        <p:txBody>
          <a:bodyPr wrap="square" lIns="381" tIns="381" rIns="381" bIns="381" rtlCol="0" anchor="ctr">
            <a:normAutofit/>
          </a:bodyPr>
          <a:lstStyle/>
          <a:p>
            <a:pPr marL="0" indent="0" algn="l">
              <a:buNone/>
            </a:pPr>
            <a:r>
              <a:rPr lang="en-US" sz="1250" dirty="0">
                <a:solidFill>
                  <a:srgbClr val="FFFFFF"/>
                </a:solidFill>
                <a:latin typeface="Georgia" pitchFamily="34" charset="0"/>
                <a:ea typeface="Georgia" pitchFamily="34" charset="-122"/>
                <a:cs typeface="Georgia" pitchFamily="34" charset="-120"/>
              </a:rPr>
              <a:t>Adventure by Day. Relax at the Lodge by Night.</a:t>
            </a:r>
            <a:endParaRPr lang="en-US" sz="1250" dirty="0"/>
          </a:p>
        </p:txBody>
      </p:sp>
      <p:sp>
        <p:nvSpPr>
          <p:cNvPr id="69" name="Text 67"/>
          <p:cNvSpPr/>
          <p:nvPr/>
        </p:nvSpPr>
        <p:spPr>
          <a:xfrm>
            <a:off x="1143000" y="6062472"/>
            <a:ext cx="7132320" cy="146304"/>
          </a:xfrm>
          <a:prstGeom prst="rect">
            <a:avLst/>
          </a:prstGeom>
          <a:noFill/>
          <a:ln/>
        </p:spPr>
        <p:txBody>
          <a:bodyPr wrap="square" lIns="381" tIns="381" rIns="381" bIns="381" rtlCol="0" anchor="t">
            <a:normAutofit/>
          </a:bodyPr>
          <a:lstStyle/>
          <a:p>
            <a:pPr marL="0" indent="0" algn="l">
              <a:buNone/>
            </a:pPr>
            <a:r>
              <a:rPr lang="en-US" sz="580" dirty="0">
                <a:solidFill>
                  <a:srgbClr val="FFFFFF"/>
                </a:solidFill>
                <a:latin typeface="Arial" pitchFamily="34" charset="0"/>
                <a:ea typeface="Arial" pitchFamily="34" charset="-122"/>
                <a:cs typeface="Arial" pitchFamily="34" charset="-120"/>
              </a:rPr>
              <a:t>Spend the day exploring, then return to the lodge to recharge before your next island adventure.</a:t>
            </a:r>
            <a:endParaRPr lang="en-US" sz="580" dirty="0"/>
          </a:p>
        </p:txBody>
      </p:sp>
      <p:sp>
        <p:nvSpPr>
          <p:cNvPr id="70" name="Shape 68">
            <a:hlinkClick r:id="rId8" action="ppaction://hlinksldjump"/>
          </p:cNvPr>
          <p:cNvSpPr/>
          <p:nvPr/>
        </p:nvSpPr>
        <p:spPr>
          <a:xfrm>
            <a:off x="8366760" y="5806440"/>
            <a:ext cx="129844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1" name="Text 69">
            <a:hlinkClick r:id="rId8" action="ppaction://hlinksldjump"/>
          </p:cNvPr>
          <p:cNvSpPr/>
          <p:nvPr/>
        </p:nvSpPr>
        <p:spPr>
          <a:xfrm>
            <a:off x="8394192" y="5888736"/>
            <a:ext cx="124358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Reserve Your Room</a:t>
            </a:r>
            <a:endParaRPr lang="en-US" sz="640" dirty="0"/>
          </a:p>
        </p:txBody>
      </p:sp>
      <p:sp>
        <p:nvSpPr>
          <p:cNvPr id="72" name="Shape 70">
            <a:hlinkClick r:id="rId5" action="ppaction://hlinksldjump"/>
          </p:cNvPr>
          <p:cNvSpPr/>
          <p:nvPr/>
        </p:nvSpPr>
        <p:spPr>
          <a:xfrm>
            <a:off x="9802368" y="5806440"/>
            <a:ext cx="91440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73" name="Text 71">
            <a:hlinkClick r:id="rId5" action="ppaction://hlinksldjump"/>
          </p:cNvPr>
          <p:cNvSpPr/>
          <p:nvPr/>
        </p:nvSpPr>
        <p:spPr>
          <a:xfrm>
            <a:off x="9829800" y="5888736"/>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Contact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guests ask questions before or after booking while keeping booking and lookup paths visible.</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moffatbaylodge.com/contact.html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Shape 19"/>
          <p:cNvSpPr/>
          <p:nvPr/>
        </p:nvSpPr>
        <p:spPr>
          <a:xfrm>
            <a:off x="6611112" y="1627632"/>
            <a:ext cx="384048" cy="22860"/>
          </a:xfrm>
          <a:prstGeom prst="rect">
            <a:avLst/>
          </a:prstGeom>
          <a:solidFill>
            <a:srgbClr val="2F8694"/>
          </a:solidFill>
          <a:ln w="12700">
            <a:solidFill>
              <a:srgbClr val="2F8694"/>
            </a:solidFill>
            <a:prstDash val="solid"/>
          </a:ln>
        </p:spPr>
        <p:txBody>
          <a:bodyPr/>
          <a:lstStyle/>
          <a:p>
            <a:endParaRPr lang="en-US"/>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7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GET IN TOUCH</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Contact Moffat Bay Lodge</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Questions about rooms, activities, reservations, or your upcoming stay? Our lodge team is here to help.</a:t>
            </a:r>
            <a:endParaRPr lang="en-US" sz="840" dirty="0"/>
          </a:p>
        </p:txBody>
      </p:sp>
      <p:sp>
        <p:nvSpPr>
          <p:cNvPr id="41" name="Shape 39"/>
          <p:cNvSpPr/>
          <p:nvPr/>
        </p:nvSpPr>
        <p:spPr>
          <a:xfrm>
            <a:off x="813816" y="3337560"/>
            <a:ext cx="420624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2" name="Shape 40"/>
          <p:cNvSpPr/>
          <p:nvPr/>
        </p:nvSpPr>
        <p:spPr>
          <a:xfrm>
            <a:off x="822960" y="3337560"/>
            <a:ext cx="4206240" cy="54864"/>
          </a:xfrm>
          <a:prstGeom prst="rect">
            <a:avLst/>
          </a:prstGeom>
          <a:solidFill>
            <a:srgbClr val="2F8694"/>
          </a:solidFill>
          <a:ln w="12700">
            <a:solidFill>
              <a:srgbClr val="2F8694"/>
            </a:solidFill>
            <a:prstDash val="solid"/>
          </a:ln>
        </p:spPr>
        <p:txBody>
          <a:bodyPr/>
          <a:lstStyle/>
          <a:p>
            <a:endParaRPr lang="en-US"/>
          </a:p>
        </p:txBody>
      </p:sp>
      <p:sp>
        <p:nvSpPr>
          <p:cNvPr id="43" name="Text 41"/>
          <p:cNvSpPr/>
          <p:nvPr/>
        </p:nvSpPr>
        <p:spPr>
          <a:xfrm>
            <a:off x="987552" y="3502152"/>
            <a:ext cx="387705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Lodge Contact Details</a:t>
            </a:r>
            <a:endParaRPr lang="en-US" sz="1250" dirty="0"/>
          </a:p>
        </p:txBody>
      </p:sp>
      <p:sp>
        <p:nvSpPr>
          <p:cNvPr id="44" name="Text 42"/>
          <p:cNvSpPr/>
          <p:nvPr/>
        </p:nvSpPr>
        <p:spPr>
          <a:xfrm>
            <a:off x="987552" y="3840480"/>
            <a:ext cx="3877056" cy="2039112"/>
          </a:xfrm>
          <a:prstGeom prst="rect">
            <a:avLst/>
          </a:prstGeom>
          <a:noFill/>
          <a:ln/>
        </p:spPr>
        <p:txBody>
          <a:bodyPr wrap="square" lIns="381" tIns="381" rIns="381" bIns="381" rtlCol="0" anchor="t">
            <a:normAutofit/>
          </a:bodyPr>
          <a:lstStyle/>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Phone: (555) 410-2233</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Email: stay@moffatbaylodge.com</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Address: 14 Harbor Crest Road, Moffat Bay Island</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Front Desk Hours: 24/7</a:t>
            </a:r>
            <a:endParaRPr lang="en-US" sz="680" dirty="0"/>
          </a:p>
        </p:txBody>
      </p:sp>
      <p:sp>
        <p:nvSpPr>
          <p:cNvPr id="45" name="Shape 43">
            <a:hlinkClick r:id="rId5" action="ppaction://hlinksldjump"/>
          </p:cNvPr>
          <p:cNvSpPr/>
          <p:nvPr/>
        </p:nvSpPr>
        <p:spPr>
          <a:xfrm>
            <a:off x="1024128" y="5596128"/>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6" name="Text 44">
            <a:hlinkClick r:id="rId5" action="ppaction://hlinksldjump"/>
          </p:cNvPr>
          <p:cNvSpPr/>
          <p:nvPr/>
        </p:nvSpPr>
        <p:spPr>
          <a:xfrm>
            <a:off x="1051560" y="567842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47" name="Shape 45">
            <a:hlinkClick r:id="rId11" action="ppaction://hlinksldjump"/>
          </p:cNvPr>
          <p:cNvSpPr/>
          <p:nvPr/>
        </p:nvSpPr>
        <p:spPr>
          <a:xfrm>
            <a:off x="2029968" y="5596128"/>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8" name="Text 46">
            <a:hlinkClick r:id="rId11" action="ppaction://hlinksldjump"/>
          </p:cNvPr>
          <p:cNvSpPr/>
          <p:nvPr/>
        </p:nvSpPr>
        <p:spPr>
          <a:xfrm>
            <a:off x="2057400" y="5678424"/>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 Reservation</a:t>
            </a:r>
            <a:endParaRPr lang="en-US" sz="640" dirty="0"/>
          </a:p>
        </p:txBody>
      </p:sp>
      <p:sp>
        <p:nvSpPr>
          <p:cNvPr id="49" name="Shape 47"/>
          <p:cNvSpPr/>
          <p:nvPr/>
        </p:nvSpPr>
        <p:spPr>
          <a:xfrm>
            <a:off x="5394960" y="3337560"/>
            <a:ext cx="534924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50" name="Text 48"/>
          <p:cNvSpPr/>
          <p:nvPr/>
        </p:nvSpPr>
        <p:spPr>
          <a:xfrm>
            <a:off x="5623560" y="3566160"/>
            <a:ext cx="237744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Send an Inquiry</a:t>
            </a:r>
            <a:endParaRPr lang="en-US" sz="1300" dirty="0"/>
          </a:p>
        </p:txBody>
      </p:sp>
      <p:sp>
        <p:nvSpPr>
          <p:cNvPr id="51" name="Text 49"/>
          <p:cNvSpPr/>
          <p:nvPr/>
        </p:nvSpPr>
        <p:spPr>
          <a:xfrm>
            <a:off x="562356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Full Name</a:t>
            </a:r>
            <a:endParaRPr lang="en-US" sz="530" dirty="0"/>
          </a:p>
        </p:txBody>
      </p:sp>
      <p:sp>
        <p:nvSpPr>
          <p:cNvPr id="52" name="Shape 50"/>
          <p:cNvSpPr/>
          <p:nvPr/>
        </p:nvSpPr>
        <p:spPr>
          <a:xfrm>
            <a:off x="562356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569671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Your name</a:t>
            </a:r>
            <a:endParaRPr lang="en-US" sz="510" dirty="0"/>
          </a:p>
        </p:txBody>
      </p:sp>
      <p:sp>
        <p:nvSpPr>
          <p:cNvPr id="54" name="Text 52"/>
          <p:cNvSpPr/>
          <p:nvPr/>
        </p:nvSpPr>
        <p:spPr>
          <a:xfrm>
            <a:off x="822960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a:t>
            </a:r>
            <a:endParaRPr lang="en-US" sz="530" dirty="0"/>
          </a:p>
        </p:txBody>
      </p:sp>
      <p:sp>
        <p:nvSpPr>
          <p:cNvPr id="55" name="Shape 53"/>
          <p:cNvSpPr/>
          <p:nvPr/>
        </p:nvSpPr>
        <p:spPr>
          <a:xfrm>
            <a:off x="822960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830275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57" name="Text 55"/>
          <p:cNvSpPr/>
          <p:nvPr/>
        </p:nvSpPr>
        <p:spPr>
          <a:xfrm>
            <a:off x="5623560" y="4645152"/>
            <a:ext cx="49377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Message</a:t>
            </a:r>
            <a:endParaRPr lang="en-US" sz="530" dirty="0"/>
          </a:p>
        </p:txBody>
      </p:sp>
      <p:sp>
        <p:nvSpPr>
          <p:cNvPr id="58" name="Shape 56"/>
          <p:cNvSpPr/>
          <p:nvPr/>
        </p:nvSpPr>
        <p:spPr>
          <a:xfrm>
            <a:off x="5623560" y="4773168"/>
            <a:ext cx="4937760" cy="713232"/>
          </a:xfrm>
          <a:prstGeom prst="roundRect">
            <a:avLst>
              <a:gd name="adj" fmla="val 5128"/>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5696712" y="4864608"/>
            <a:ext cx="47914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How can we help?</a:t>
            </a:r>
            <a:endParaRPr lang="en-US" sz="510" dirty="0"/>
          </a:p>
        </p:txBody>
      </p:sp>
      <p:sp>
        <p:nvSpPr>
          <p:cNvPr id="60" name="Shape 58">
            <a:hlinkClick r:id="rId7" action="ppaction://hlinksldjump"/>
          </p:cNvPr>
          <p:cNvSpPr/>
          <p:nvPr/>
        </p:nvSpPr>
        <p:spPr>
          <a:xfrm>
            <a:off x="5623560" y="5577840"/>
            <a:ext cx="1170432"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7" action="ppaction://hlinksldjump"/>
          </p:cNvPr>
          <p:cNvSpPr/>
          <p:nvPr/>
        </p:nvSpPr>
        <p:spPr>
          <a:xfrm>
            <a:off x="5650992" y="5660136"/>
            <a:ext cx="11155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Send Message</a:t>
            </a:r>
            <a:endParaRPr lang="en-US" sz="6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Login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returning guests sign in before confirming or managing reservations.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moffatbaylodge.com/login.html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8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GUEST ACCESS</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Welcome Back</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Log in with your email and password to continue to your Moffat Bay Lodge reservation.</a:t>
            </a:r>
            <a:endParaRPr lang="en-US" sz="840" dirty="0"/>
          </a:p>
        </p:txBody>
      </p:sp>
      <p:sp>
        <p:nvSpPr>
          <p:cNvPr id="40" name="Shape 38"/>
          <p:cNvSpPr/>
          <p:nvPr/>
        </p:nvSpPr>
        <p:spPr>
          <a:xfrm>
            <a:off x="822960" y="3337560"/>
            <a:ext cx="4800600" cy="2423160"/>
          </a:xfrm>
          <a:prstGeom prst="roundRect">
            <a:avLst>
              <a:gd name="adj" fmla="val 377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10312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Login</a:t>
            </a:r>
            <a:endParaRPr lang="en-US" sz="1300" dirty="0"/>
          </a:p>
        </p:txBody>
      </p:sp>
      <p:sp>
        <p:nvSpPr>
          <p:cNvPr id="42" name="Text 40"/>
          <p:cNvSpPr/>
          <p:nvPr/>
        </p:nvSpPr>
        <p:spPr>
          <a:xfrm>
            <a:off x="1051560" y="3977640"/>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105656"/>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97096"/>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demo@moffatbay.com</a:t>
            </a:r>
            <a:endParaRPr lang="en-US" sz="510" dirty="0"/>
          </a:p>
        </p:txBody>
      </p:sp>
      <p:sp>
        <p:nvSpPr>
          <p:cNvPr id="45" name="Text 43"/>
          <p:cNvSpPr/>
          <p:nvPr/>
        </p:nvSpPr>
        <p:spPr>
          <a:xfrm>
            <a:off x="1051560" y="4636008"/>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46" name="Shape 44"/>
          <p:cNvSpPr/>
          <p:nvPr/>
        </p:nvSpPr>
        <p:spPr>
          <a:xfrm>
            <a:off x="1051560" y="4764024"/>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1124712" y="4855464"/>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48" name="Shape 46">
            <a:hlinkClick r:id="rId11" action="ppaction://hlinksldjump"/>
          </p:cNvPr>
          <p:cNvSpPr/>
          <p:nvPr/>
        </p:nvSpPr>
        <p:spPr>
          <a:xfrm>
            <a:off x="1051560" y="5303520"/>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9" name="Text 47">
            <a:hlinkClick r:id="rId11" action="ppaction://hlinksldjump"/>
          </p:cNvPr>
          <p:cNvSpPr/>
          <p:nvPr/>
        </p:nvSpPr>
        <p:spPr>
          <a:xfrm>
            <a:off x="1078992" y="5385816"/>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Login</a:t>
            </a:r>
            <a:endParaRPr lang="en-US" sz="640" dirty="0"/>
          </a:p>
        </p:txBody>
      </p:sp>
      <p:sp>
        <p:nvSpPr>
          <p:cNvPr id="50" name="Text 48"/>
          <p:cNvSpPr/>
          <p:nvPr/>
        </p:nvSpPr>
        <p:spPr>
          <a:xfrm>
            <a:off x="1965960" y="5376672"/>
            <a:ext cx="3291840" cy="118872"/>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Demo account: demo@moffatbay.com / DemoPass1</a:t>
            </a:r>
            <a:endParaRPr lang="en-US" sz="560" dirty="0"/>
          </a:p>
        </p:txBody>
      </p:sp>
      <p:sp>
        <p:nvSpPr>
          <p:cNvPr id="51" name="Shape 49"/>
          <p:cNvSpPr/>
          <p:nvPr/>
        </p:nvSpPr>
        <p:spPr>
          <a:xfrm>
            <a:off x="5989320" y="3337560"/>
            <a:ext cx="4754880" cy="2423160"/>
          </a:xfrm>
          <a:prstGeom prst="roundRect">
            <a:avLst>
              <a:gd name="adj" fmla="val 3774"/>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6153912" y="3502152"/>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New to Moffat Bay?</a:t>
            </a:r>
            <a:endParaRPr lang="en-US" sz="1250" dirty="0"/>
          </a:p>
        </p:txBody>
      </p:sp>
      <p:sp>
        <p:nvSpPr>
          <p:cNvPr id="53" name="Text 51"/>
          <p:cNvSpPr/>
          <p:nvPr/>
        </p:nvSpPr>
        <p:spPr>
          <a:xfrm>
            <a:off x="6153912" y="3840480"/>
            <a:ext cx="4425696" cy="17647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Create a free account to confirm a lodge reservation. You can browse rooms, rates, attractions, and other pages without signing in.</a:t>
            </a:r>
            <a:endParaRPr lang="en-US" sz="680" dirty="0"/>
          </a:p>
        </p:txBody>
      </p:sp>
      <p:sp>
        <p:nvSpPr>
          <p:cNvPr id="54" name="Shape 52">
            <a:hlinkClick r:id="rId10" action="ppaction://hlinksldjump"/>
          </p:cNvPr>
          <p:cNvSpPr/>
          <p:nvPr/>
        </p:nvSpPr>
        <p:spPr>
          <a:xfrm>
            <a:off x="6199632" y="5138928"/>
            <a:ext cx="11430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5" name="Text 53">
            <a:hlinkClick r:id="rId10" action="ppaction://hlinksldjump"/>
          </p:cNvPr>
          <p:cNvSpPr/>
          <p:nvPr/>
        </p:nvSpPr>
        <p:spPr>
          <a:xfrm>
            <a:off x="6227064" y="5221224"/>
            <a:ext cx="10881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56" name="Shape 54">
            <a:hlinkClick r:id="rId5" action="ppaction://hlinksldjump"/>
          </p:cNvPr>
          <p:cNvSpPr/>
          <p:nvPr/>
        </p:nvSpPr>
        <p:spPr>
          <a:xfrm>
            <a:off x="7479792" y="5138928"/>
            <a:ext cx="10515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7" name="Text 55">
            <a:hlinkClick r:id="rId5" action="ppaction://hlinksldjump"/>
          </p:cNvPr>
          <p:cNvSpPr/>
          <p:nvPr/>
        </p:nvSpPr>
        <p:spPr>
          <a:xfrm>
            <a:off x="7507224" y="5221224"/>
            <a:ext cx="9966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Browse Rooms</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Register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guest account details before booking confirmation and future lookup.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moffatbaylodge.com/register.html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9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CREATE AN ACCOUNT</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Register for Your Free Account</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Create an account to confirm reservations and return later to look up your stay.</a:t>
            </a:r>
            <a:endParaRPr lang="en-US" sz="840" dirty="0"/>
          </a:p>
        </p:txBody>
      </p:sp>
      <p:sp>
        <p:nvSpPr>
          <p:cNvPr id="40" name="Shape 38"/>
          <p:cNvSpPr/>
          <p:nvPr/>
        </p:nvSpPr>
        <p:spPr>
          <a:xfrm>
            <a:off x="822960" y="3337560"/>
            <a:ext cx="5486400" cy="2880360"/>
          </a:xfrm>
          <a:prstGeom prst="roundRect">
            <a:avLst>
              <a:gd name="adj" fmla="val 3175"/>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Guest Information</a:t>
            </a:r>
            <a:endParaRPr lang="en-US" sz="1300" dirty="0"/>
          </a:p>
        </p:txBody>
      </p:sp>
      <p:sp>
        <p:nvSpPr>
          <p:cNvPr id="42" name="Text 40"/>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45" name="Text 43"/>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Telephone</a:t>
            </a:r>
            <a:endParaRPr lang="en-US" sz="530" dirty="0"/>
          </a:p>
        </p:txBody>
      </p:sp>
      <p:sp>
        <p:nvSpPr>
          <p:cNvPr id="46" name="Shape 44"/>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(555) 123-4567</a:t>
            </a:r>
            <a:endParaRPr lang="en-US" sz="510" dirty="0"/>
          </a:p>
        </p:txBody>
      </p:sp>
      <p:sp>
        <p:nvSpPr>
          <p:cNvPr id="48" name="Text 46"/>
          <p:cNvSpPr/>
          <p:nvPr/>
        </p:nvSpPr>
        <p:spPr>
          <a:xfrm>
            <a:off x="105156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First Name</a:t>
            </a:r>
            <a:endParaRPr lang="en-US" sz="530" dirty="0"/>
          </a:p>
        </p:txBody>
      </p:sp>
      <p:sp>
        <p:nvSpPr>
          <p:cNvPr id="49" name="Shape 47"/>
          <p:cNvSpPr/>
          <p:nvPr/>
        </p:nvSpPr>
        <p:spPr>
          <a:xfrm>
            <a:off x="105156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0" name="Text 48"/>
          <p:cNvSpPr/>
          <p:nvPr/>
        </p:nvSpPr>
        <p:spPr>
          <a:xfrm>
            <a:off x="112471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First</a:t>
            </a:r>
            <a:endParaRPr lang="en-US" sz="510" dirty="0"/>
          </a:p>
        </p:txBody>
      </p:sp>
      <p:sp>
        <p:nvSpPr>
          <p:cNvPr id="51" name="Text 49"/>
          <p:cNvSpPr/>
          <p:nvPr/>
        </p:nvSpPr>
        <p:spPr>
          <a:xfrm>
            <a:off x="370332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Last Name</a:t>
            </a:r>
            <a:endParaRPr lang="en-US" sz="530" dirty="0"/>
          </a:p>
        </p:txBody>
      </p:sp>
      <p:sp>
        <p:nvSpPr>
          <p:cNvPr id="52" name="Shape 50"/>
          <p:cNvSpPr/>
          <p:nvPr/>
        </p:nvSpPr>
        <p:spPr>
          <a:xfrm>
            <a:off x="370332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377647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Last</a:t>
            </a:r>
            <a:endParaRPr lang="en-US" sz="510" dirty="0"/>
          </a:p>
        </p:txBody>
      </p:sp>
      <p:sp>
        <p:nvSpPr>
          <p:cNvPr id="54" name="Text 52"/>
          <p:cNvSpPr/>
          <p:nvPr/>
        </p:nvSpPr>
        <p:spPr>
          <a:xfrm>
            <a:off x="105156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55" name="Shape 53"/>
          <p:cNvSpPr/>
          <p:nvPr/>
        </p:nvSpPr>
        <p:spPr>
          <a:xfrm>
            <a:off x="105156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112471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57" name="Text 55"/>
          <p:cNvSpPr/>
          <p:nvPr/>
        </p:nvSpPr>
        <p:spPr>
          <a:xfrm>
            <a:off x="370332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Confirm Password</a:t>
            </a:r>
            <a:endParaRPr lang="en-US" sz="530" dirty="0"/>
          </a:p>
        </p:txBody>
      </p:sp>
      <p:sp>
        <p:nvSpPr>
          <p:cNvPr id="58" name="Shape 56"/>
          <p:cNvSpPr/>
          <p:nvPr/>
        </p:nvSpPr>
        <p:spPr>
          <a:xfrm>
            <a:off x="370332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377647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60" name="Shape 58">
            <a:hlinkClick r:id="rId8" action="ppaction://hlinksldjump"/>
          </p:cNvPr>
          <p:cNvSpPr/>
          <p:nvPr/>
        </p:nvSpPr>
        <p:spPr>
          <a:xfrm>
            <a:off x="1051560" y="5806440"/>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8" action="ppaction://hlinksldjump"/>
          </p:cNvPr>
          <p:cNvSpPr/>
          <p:nvPr/>
        </p:nvSpPr>
        <p:spPr>
          <a:xfrm>
            <a:off x="1078992" y="58887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62" name="Shape 60"/>
          <p:cNvSpPr/>
          <p:nvPr/>
        </p:nvSpPr>
        <p:spPr>
          <a:xfrm>
            <a:off x="6720840" y="3337560"/>
            <a:ext cx="4023360" cy="2880360"/>
          </a:xfrm>
          <a:prstGeom prst="roundRect">
            <a:avLst>
              <a:gd name="adj" fmla="val 3175"/>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Why Register?</a:t>
            </a:r>
            <a:endParaRPr lang="en-US" sz="1250" dirty="0"/>
          </a:p>
        </p:txBody>
      </p:sp>
      <p:sp>
        <p:nvSpPr>
          <p:cNvPr id="64" name="Text 62"/>
          <p:cNvSpPr/>
          <p:nvPr/>
        </p:nvSpPr>
        <p:spPr>
          <a:xfrm>
            <a:off x="6885432" y="3840480"/>
            <a:ext cx="3694176" cy="22219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Browse freely, then use your account when you are ready to confirm a reservation. Registration supports booking, confirming reservations, and reservation lookup.</a:t>
            </a:r>
            <a:endParaRPr lang="en-US" sz="680" dirty="0"/>
          </a:p>
        </p:txBody>
      </p:sp>
      <p:sp>
        <p:nvSpPr>
          <p:cNvPr id="65" name="Shape 63">
            <a:hlinkClick r:id="rId9" action="ppaction://hlinksldjump"/>
          </p:cNvPr>
          <p:cNvSpPr/>
          <p:nvPr/>
        </p:nvSpPr>
        <p:spPr>
          <a:xfrm>
            <a:off x="6949440" y="5650992"/>
            <a:ext cx="17830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6" name="Text 64">
            <a:hlinkClick r:id="rId9" action="ppaction://hlinksldjump"/>
          </p:cNvPr>
          <p:cNvSpPr/>
          <p:nvPr/>
        </p:nvSpPr>
        <p:spPr>
          <a:xfrm>
            <a:off x="6976872" y="5733288"/>
            <a:ext cx="17282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Already Have an Account?</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Book Your Stay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room, guest, and travel date details before reservation review.</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p:cNvSpPr/>
          <p:nvPr/>
        </p:nvSpPr>
        <p:spPr>
          <a:xfrm>
            <a:off x="7287768"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10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PLAN YOUR GETAWAY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Book Your Vacation</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Choose your room, guest count, and travel dates. Guests review the reservation before confirming it.</a:t>
            </a:r>
            <a:endParaRPr lang="en-US" sz="840" dirty="0"/>
          </a:p>
        </p:txBody>
      </p:sp>
      <p:sp>
        <p:nvSpPr>
          <p:cNvPr id="41" name="Shape 39"/>
          <p:cNvSpPr/>
          <p:nvPr/>
        </p:nvSpPr>
        <p:spPr>
          <a:xfrm>
            <a:off x="822960" y="3337560"/>
            <a:ext cx="548640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2" name="Text 40"/>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3" name="Text 41"/>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Room Size</a:t>
            </a:r>
            <a:endParaRPr lang="en-US" sz="530" dirty="0"/>
          </a:p>
        </p:txBody>
      </p:sp>
      <p:sp>
        <p:nvSpPr>
          <p:cNvPr id="44" name="Shape 42"/>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5" name="Text 43"/>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Queen ($135)</a:t>
            </a:r>
            <a:endParaRPr lang="en-US" sz="510" dirty="0"/>
          </a:p>
        </p:txBody>
      </p:sp>
      <p:sp>
        <p:nvSpPr>
          <p:cNvPr id="46" name="Text 44"/>
          <p:cNvSpPr/>
          <p:nvPr/>
        </p:nvSpPr>
        <p:spPr>
          <a:xfrm>
            <a:off x="3218688" y="4123944"/>
            <a:ext cx="109728" cy="91440"/>
          </a:xfrm>
          <a:prstGeom prst="rect">
            <a:avLst/>
          </a:prstGeom>
          <a:noFill/>
          <a:ln/>
        </p:spPr>
        <p:txBody>
          <a:bodyPr wrap="square" lIns="381" tIns="381" rIns="381" bIns="381" rtlCol="0" anchor="ctr">
            <a:normAutofit lnSpcReduction="10000"/>
          </a:bodyPr>
          <a:lstStyle/>
          <a:p>
            <a:pPr marL="0" indent="0" algn="ctr">
              <a:buNone/>
            </a:pPr>
            <a:r>
              <a:rPr lang="en-US" sz="600" dirty="0">
                <a:solidFill>
                  <a:srgbClr val="2A3B50"/>
                </a:solidFill>
                <a:latin typeface="Arial" pitchFamily="34" charset="0"/>
                <a:ea typeface="Arial" pitchFamily="34" charset="-122"/>
                <a:cs typeface="Arial" pitchFamily="34" charset="-120"/>
              </a:rPr>
              <a:t>⌄</a:t>
            </a:r>
            <a:endParaRPr lang="en-US" sz="600" dirty="0"/>
          </a:p>
        </p:txBody>
      </p:sp>
      <p:sp>
        <p:nvSpPr>
          <p:cNvPr id="47" name="Text 45"/>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Number of Guests</a:t>
            </a:r>
            <a:endParaRPr lang="en-US" sz="530" dirty="0"/>
          </a:p>
        </p:txBody>
      </p:sp>
      <p:sp>
        <p:nvSpPr>
          <p:cNvPr id="48" name="Shape 46"/>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9" name="Text 47"/>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2</a:t>
            </a:r>
            <a:endParaRPr lang="en-US" sz="510" dirty="0"/>
          </a:p>
        </p:txBody>
      </p:sp>
      <p:sp>
        <p:nvSpPr>
          <p:cNvPr id="50" name="Text 48"/>
          <p:cNvSpPr/>
          <p:nvPr/>
        </p:nvSpPr>
        <p:spPr>
          <a:xfrm>
            <a:off x="105156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Check-In Date</a:t>
            </a:r>
            <a:endParaRPr lang="en-US" sz="530" dirty="0"/>
          </a:p>
        </p:txBody>
      </p:sp>
      <p:sp>
        <p:nvSpPr>
          <p:cNvPr id="51" name="Shape 49"/>
          <p:cNvSpPr/>
          <p:nvPr/>
        </p:nvSpPr>
        <p:spPr>
          <a:xfrm>
            <a:off x="105156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2" name="Text 50"/>
          <p:cNvSpPr/>
          <p:nvPr/>
        </p:nvSpPr>
        <p:spPr>
          <a:xfrm>
            <a:off x="112471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3" name="Text 51"/>
          <p:cNvSpPr/>
          <p:nvPr/>
        </p:nvSpPr>
        <p:spPr>
          <a:xfrm>
            <a:off x="370332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Check-Out Date</a:t>
            </a:r>
            <a:endParaRPr lang="en-US" sz="530" dirty="0"/>
          </a:p>
        </p:txBody>
      </p:sp>
      <p:sp>
        <p:nvSpPr>
          <p:cNvPr id="54" name="Shape 52"/>
          <p:cNvSpPr/>
          <p:nvPr/>
        </p:nvSpPr>
        <p:spPr>
          <a:xfrm>
            <a:off x="370332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5" name="Text 53"/>
          <p:cNvSpPr/>
          <p:nvPr/>
        </p:nvSpPr>
        <p:spPr>
          <a:xfrm>
            <a:off x="377647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6" name="Shape 54">
            <a:hlinkClick r:id="rId13" action="ppaction://hlinksldjump"/>
          </p:cNvPr>
          <p:cNvSpPr/>
          <p:nvPr/>
        </p:nvSpPr>
        <p:spPr>
          <a:xfrm>
            <a:off x="1051560" y="5504688"/>
            <a:ext cx="148132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7" name="Text 55">
            <a:hlinkClick r:id="rId13" action="ppaction://hlinksldjump"/>
          </p:cNvPr>
          <p:cNvSpPr/>
          <p:nvPr/>
        </p:nvSpPr>
        <p:spPr>
          <a:xfrm>
            <a:off x="1078992" y="5586984"/>
            <a:ext cx="142646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3" action="ppaction://hlinksldjump">
                  <a:extLst>
                    <a:ext uri="{A12FA001-AC4F-418D-AE19-62706E023703}">
                      <ahyp:hlinkClr xmlns:ahyp="http://schemas.microsoft.com/office/drawing/2018/hyperlinkcolor" val="tx"/>
                    </a:ext>
                  </a:extLst>
                </a:hlinkClick>
              </a:rPr>
              <a:t>Review Reservation</a:t>
            </a:r>
            <a:endParaRPr lang="en-US" sz="640" dirty="0"/>
          </a:p>
        </p:txBody>
      </p:sp>
      <p:sp>
        <p:nvSpPr>
          <p:cNvPr id="58" name="Shape 56"/>
          <p:cNvSpPr/>
          <p:nvPr/>
        </p:nvSpPr>
        <p:spPr>
          <a:xfrm>
            <a:off x="6720840" y="3337560"/>
            <a:ext cx="402336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9" name="Shape 57"/>
          <p:cNvSpPr/>
          <p:nvPr/>
        </p:nvSpPr>
        <p:spPr>
          <a:xfrm>
            <a:off x="6720840" y="3337560"/>
            <a:ext cx="4023360" cy="54864"/>
          </a:xfrm>
          <a:prstGeom prst="rect">
            <a:avLst/>
          </a:prstGeom>
          <a:solidFill>
            <a:srgbClr val="2F8694"/>
          </a:solidFill>
          <a:ln w="12700">
            <a:solidFill>
              <a:srgbClr val="2F8694"/>
            </a:solidFill>
            <a:prstDash val="solid"/>
          </a:ln>
        </p:spPr>
        <p:txBody>
          <a:bodyPr/>
          <a:lstStyle/>
          <a:p>
            <a:endParaRPr lang="en-US"/>
          </a:p>
        </p:txBody>
      </p:sp>
      <p:sp>
        <p:nvSpPr>
          <p:cNvPr id="60" name="Text 58"/>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Before You Confirm</a:t>
            </a:r>
            <a:endParaRPr lang="en-US" sz="1250" dirty="0"/>
          </a:p>
        </p:txBody>
      </p:sp>
      <p:sp>
        <p:nvSpPr>
          <p:cNvPr id="61" name="Text 59"/>
          <p:cNvSpPr/>
          <p:nvPr/>
        </p:nvSpPr>
        <p:spPr>
          <a:xfrm>
            <a:off x="6885432" y="3840480"/>
            <a:ext cx="3694176" cy="203911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All rooms are at the same Moffat Bay Lodge location. The guest chooses a room type, not a separate property. Confirmation requires a free account and login.</a:t>
            </a:r>
            <a:endParaRPr lang="en-US" sz="680" dirty="0"/>
          </a:p>
        </p:txBody>
      </p:sp>
      <p:sp>
        <p:nvSpPr>
          <p:cNvPr id="62" name="Shape 60">
            <a:hlinkClick r:id="rId5" action="ppaction://hlinksldjump"/>
          </p:cNvPr>
          <p:cNvSpPr/>
          <p:nvPr/>
        </p:nvSpPr>
        <p:spPr>
          <a:xfrm>
            <a:off x="6949440" y="5413248"/>
            <a:ext cx="10972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3" name="Text 61">
            <a:hlinkClick r:id="rId5" action="ppaction://hlinksldjump"/>
          </p:cNvPr>
          <p:cNvSpPr/>
          <p:nvPr/>
        </p:nvSpPr>
        <p:spPr>
          <a:xfrm>
            <a:off x="6976872" y="5495544"/>
            <a:ext cx="10424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
        <p:nvSpPr>
          <p:cNvPr id="64" name="Shape 62">
            <a:hlinkClick r:id="rId9" action="ppaction://hlinksldjump"/>
          </p:cNvPr>
          <p:cNvSpPr/>
          <p:nvPr/>
        </p:nvSpPr>
        <p:spPr>
          <a:xfrm>
            <a:off x="8193024" y="5413248"/>
            <a:ext cx="713232"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5" name="Text 63">
            <a:hlinkClick r:id="rId9" action="ppaction://hlinksldjump"/>
          </p:cNvPr>
          <p:cNvSpPr/>
          <p:nvPr/>
        </p:nvSpPr>
        <p:spPr>
          <a:xfrm>
            <a:off x="8220456" y="5495544"/>
            <a:ext cx="6583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40" dirty="0"/>
          </a:p>
        </p:txBody>
      </p:sp>
      <p:sp>
        <p:nvSpPr>
          <p:cNvPr id="66" name="Shape 64">
            <a:hlinkClick r:id="rId10" action="ppaction://hlinksldjump"/>
          </p:cNvPr>
          <p:cNvSpPr/>
          <p:nvPr/>
        </p:nvSpPr>
        <p:spPr>
          <a:xfrm>
            <a:off x="9034272" y="5413248"/>
            <a:ext cx="86868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67" name="Text 65">
            <a:hlinkClick r:id="rId10" action="ppaction://hlinksldjump"/>
          </p:cNvPr>
          <p:cNvSpPr/>
          <p:nvPr/>
        </p:nvSpPr>
        <p:spPr>
          <a:xfrm>
            <a:off x="9061704" y="549554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40" dirty="0"/>
          </a:p>
        </p:txBody>
      </p:sp>
      <p:sp>
        <p:nvSpPr>
          <p:cNvPr id="68" name="Text 66">
            <a:hlinkClick r:id="rId11" action="ppaction://hlinksldjump"/>
          </p:cNvPr>
          <p:cNvSpPr/>
          <p:nvPr/>
        </p:nvSpPr>
        <p:spPr>
          <a:xfrm>
            <a:off x="6949440" y="5833872"/>
            <a:ext cx="2560320" cy="109728"/>
          </a:xfrm>
          <a:prstGeom prst="rect">
            <a:avLst/>
          </a:prstGeom>
          <a:noFill/>
          <a:ln/>
        </p:spPr>
        <p:txBody>
          <a:bodyPr wrap="square" lIns="381" tIns="381" rIns="381" bIns="381" rtlCol="0" anchor="ctr">
            <a:normAutofit/>
          </a:bodyPr>
          <a:lstStyle/>
          <a:p>
            <a:pPr marL="0" indent="0" algn="l">
              <a:buNone/>
            </a:pPr>
            <a:r>
              <a:rPr lang="en-US" sz="620" b="1" u="sng" dirty="0">
                <a:solidFill>
                  <a:srgbClr val="276F7B"/>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Already booked? Look up a reservation →</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Lookup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returning guests search reservations by ID or email address.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moffatbaylodge.com/reservation-lookup.html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11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FIND YOUR STAY</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Lookup</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Search by reservation ID or email address to view room type, guest count, dates, and reservation total.</a:t>
            </a:r>
            <a:endParaRPr lang="en-US" sz="840" dirty="0"/>
          </a:p>
        </p:txBody>
      </p:sp>
      <p:sp>
        <p:nvSpPr>
          <p:cNvPr id="40" name="Shape 38"/>
          <p:cNvSpPr/>
          <p:nvPr/>
        </p:nvSpPr>
        <p:spPr>
          <a:xfrm>
            <a:off x="82296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Search Reservations</a:t>
            </a:r>
            <a:endParaRPr lang="en-US" sz="1300" dirty="0"/>
          </a:p>
        </p:txBody>
      </p:sp>
      <p:sp>
        <p:nvSpPr>
          <p:cNvPr id="42" name="Text 40"/>
          <p:cNvSpPr/>
          <p:nvPr/>
        </p:nvSpPr>
        <p:spPr>
          <a:xfrm>
            <a:off x="1051560" y="4005072"/>
            <a:ext cx="42519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Reservation ID or Email</a:t>
            </a:r>
            <a:endParaRPr lang="en-US" sz="530" dirty="0"/>
          </a:p>
        </p:txBody>
      </p:sp>
      <p:sp>
        <p:nvSpPr>
          <p:cNvPr id="43" name="Shape 41"/>
          <p:cNvSpPr/>
          <p:nvPr/>
        </p:nvSpPr>
        <p:spPr>
          <a:xfrm>
            <a:off x="1051560" y="4133088"/>
            <a:ext cx="425196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224528"/>
            <a:ext cx="41056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Example: MBL-2201 or demo@moffatbay.com</a:t>
            </a:r>
            <a:endParaRPr lang="en-US" sz="510" dirty="0"/>
          </a:p>
        </p:txBody>
      </p:sp>
      <p:sp>
        <p:nvSpPr>
          <p:cNvPr id="45" name="Shape 43">
            <a:hlinkClick r:id="rId11" action="ppaction://hlinksldjump"/>
          </p:cNvPr>
          <p:cNvSpPr/>
          <p:nvPr/>
        </p:nvSpPr>
        <p:spPr>
          <a:xfrm>
            <a:off x="1051560" y="4736592"/>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6" name="Text 44">
            <a:hlinkClick r:id="rId11" action="ppaction://hlinksldjump"/>
          </p:cNvPr>
          <p:cNvSpPr/>
          <p:nvPr/>
        </p:nvSpPr>
        <p:spPr>
          <a:xfrm>
            <a:off x="1078992" y="4818888"/>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Search</a:t>
            </a:r>
            <a:endParaRPr lang="en-US" sz="640" dirty="0"/>
          </a:p>
        </p:txBody>
      </p:sp>
      <p:sp>
        <p:nvSpPr>
          <p:cNvPr id="47" name="Shape 45"/>
          <p:cNvSpPr/>
          <p:nvPr/>
        </p:nvSpPr>
        <p:spPr>
          <a:xfrm>
            <a:off x="598932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8" name="Text 46"/>
          <p:cNvSpPr/>
          <p:nvPr/>
        </p:nvSpPr>
        <p:spPr>
          <a:xfrm>
            <a:off x="621792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9" name="Text 47"/>
          <p:cNvSpPr/>
          <p:nvPr/>
        </p:nvSpPr>
        <p:spPr>
          <a:xfrm>
            <a:off x="6217920" y="3959352"/>
            <a:ext cx="4114800" cy="347472"/>
          </a:xfrm>
          <a:prstGeom prst="rect">
            <a:avLst/>
          </a:prstGeom>
          <a:noFill/>
          <a:ln/>
        </p:spPr>
        <p:txBody>
          <a:bodyPr wrap="square" lIns="381" tIns="381" rIns="381" bIns="381" rtlCol="0" anchor="t">
            <a:normAutofit/>
          </a:bodyPr>
          <a:lstStyle/>
          <a:p>
            <a:pPr marL="0" indent="0" algn="l">
              <a:buNone/>
            </a:pPr>
            <a:r>
              <a:rPr lang="en-US" sz="700" dirty="0">
                <a:solidFill>
                  <a:srgbClr val="2A3B50"/>
                </a:solidFill>
                <a:latin typeface="Arial" pitchFamily="34" charset="0"/>
                <a:ea typeface="Arial" pitchFamily="34" charset="-122"/>
                <a:cs typeface="Arial" pitchFamily="34" charset="-120"/>
              </a:rPr>
              <a:t>Run a search to display reservation details.</a:t>
            </a:r>
            <a:endParaRPr lang="en-US" sz="700" dirty="0"/>
          </a:p>
          <a:p>
            <a:pPr marL="0" indent="0" algn="l">
              <a:buNone/>
            </a:pPr>
            <a:r>
              <a:rPr lang="en-US" sz="700" dirty="0">
                <a:solidFill>
                  <a:srgbClr val="2A3B50"/>
                </a:solidFill>
                <a:latin typeface="Arial" pitchFamily="34" charset="0"/>
                <a:ea typeface="Arial" pitchFamily="34" charset="-122"/>
                <a:cs typeface="Arial" pitchFamily="34" charset="-120"/>
              </a:rPr>
              <a:t>Need to start a new reservation instead?</a:t>
            </a:r>
            <a:endParaRPr lang="en-US" sz="700" dirty="0"/>
          </a:p>
        </p:txBody>
      </p:sp>
      <p:sp>
        <p:nvSpPr>
          <p:cNvPr id="50" name="Shape 48">
            <a:hlinkClick r:id="rId5" action="ppaction://hlinksldjump"/>
          </p:cNvPr>
          <p:cNvSpPr/>
          <p:nvPr/>
        </p:nvSpPr>
        <p:spPr>
          <a:xfrm>
            <a:off x="6217920" y="4690872"/>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1" name="Text 49">
            <a:hlinkClick r:id="rId5" action="ppaction://hlinksldjump"/>
          </p:cNvPr>
          <p:cNvSpPr/>
          <p:nvPr/>
        </p:nvSpPr>
        <p:spPr>
          <a:xfrm>
            <a:off x="6245352" y="4773168"/>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52" name="Shape 50">
            <a:hlinkClick r:id="rId8" action="ppaction://hlinksldjump"/>
          </p:cNvPr>
          <p:cNvSpPr/>
          <p:nvPr/>
        </p:nvSpPr>
        <p:spPr>
          <a:xfrm>
            <a:off x="7223760" y="4690872"/>
            <a:ext cx="9144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3" name="Text 51">
            <a:hlinkClick r:id="rId8" action="ppaction://hlinksldjump"/>
          </p:cNvPr>
          <p:cNvSpPr/>
          <p:nvPr/>
        </p:nvSpPr>
        <p:spPr>
          <a:xfrm>
            <a:off x="7251192" y="4773168"/>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a Stay</a:t>
            </a:r>
            <a:endParaRPr lang="en-US" sz="640" dirty="0"/>
          </a:p>
        </p:txBody>
      </p:sp>
      <p:sp>
        <p:nvSpPr>
          <p:cNvPr id="54" name="Shape 52"/>
          <p:cNvSpPr/>
          <p:nvPr/>
        </p:nvSpPr>
        <p:spPr>
          <a:xfrm>
            <a:off x="822960" y="5806440"/>
            <a:ext cx="9921240" cy="475488"/>
          </a:xfrm>
          <a:prstGeom prst="roundRect">
            <a:avLst>
              <a:gd name="adj" fmla="val 19231"/>
            </a:avLst>
          </a:prstGeom>
          <a:solidFill>
            <a:srgbClr val="F5EFE5"/>
          </a:solidFill>
          <a:ln w="12700">
            <a:solidFill>
              <a:srgbClr val="E9DFCF"/>
            </a:solidFill>
            <a:prstDash val="solid"/>
          </a:ln>
        </p:spPr>
        <p:txBody>
          <a:bodyPr/>
          <a:lstStyle/>
          <a:p>
            <a:endParaRPr lang="en-US"/>
          </a:p>
        </p:txBody>
      </p:sp>
      <p:sp>
        <p:nvSpPr>
          <p:cNvPr id="55" name="Text 53"/>
          <p:cNvSpPr/>
          <p:nvPr/>
        </p:nvSpPr>
        <p:spPr>
          <a:xfrm>
            <a:off x="1051560" y="5961888"/>
            <a:ext cx="9326880" cy="118872"/>
          </a:xfrm>
          <a:prstGeom prst="rect">
            <a:avLst/>
          </a:prstGeom>
          <a:noFill/>
          <a:ln/>
        </p:spPr>
        <p:txBody>
          <a:bodyPr wrap="square" lIns="381" tIns="381" rIns="381" bIns="381" rtlCol="0" anchor="ctr">
            <a:normAutofit/>
          </a:bodyPr>
          <a:lstStyle/>
          <a:p>
            <a:pPr marL="0" indent="0" algn="l">
              <a:buNone/>
            </a:pPr>
            <a:r>
              <a:rPr lang="en-US" sz="700" dirty="0">
                <a:solidFill>
                  <a:srgbClr val="536273"/>
                </a:solidFill>
                <a:latin typeface="Arial" pitchFamily="34" charset="0"/>
                <a:ea typeface="Arial" pitchFamily="34" charset="-122"/>
                <a:cs typeface="Arial" pitchFamily="34" charset="-120"/>
              </a:rPr>
              <a:t>Lookup supports guests after booking and gives staff/professor a clear path to verify the reservation management flow.</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Summary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final review page before confirming or cancelling a reservation.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moffatbaylodge.com/reservation-summary.html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12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FINAL REVIEW</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Summary</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Review booking details before final confirmation. Guests can cancel to make changes or confirm the reservation.</a:t>
            </a:r>
            <a:endParaRPr lang="en-US" sz="840" dirty="0"/>
          </a:p>
        </p:txBody>
      </p:sp>
      <p:sp>
        <p:nvSpPr>
          <p:cNvPr id="40" name="Shape 38"/>
          <p:cNvSpPr/>
          <p:nvPr/>
        </p:nvSpPr>
        <p:spPr>
          <a:xfrm>
            <a:off x="822960" y="3337560"/>
            <a:ext cx="9921240" cy="2743200"/>
          </a:xfrm>
          <a:prstGeom prst="roundRect">
            <a:avLst>
              <a:gd name="adj" fmla="val 3333"/>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Shape 39"/>
          <p:cNvSpPr/>
          <p:nvPr/>
        </p:nvSpPr>
        <p:spPr>
          <a:xfrm>
            <a:off x="111556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2" name="Text 40"/>
          <p:cNvSpPr/>
          <p:nvPr/>
        </p:nvSpPr>
        <p:spPr>
          <a:xfrm>
            <a:off x="123444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Reservation ID</a:t>
            </a:r>
            <a:endParaRPr lang="en-US" sz="520" dirty="0"/>
          </a:p>
        </p:txBody>
      </p:sp>
      <p:sp>
        <p:nvSpPr>
          <p:cNvPr id="43" name="Text 41"/>
          <p:cNvSpPr/>
          <p:nvPr/>
        </p:nvSpPr>
        <p:spPr>
          <a:xfrm>
            <a:off x="262432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MBL-2201</a:t>
            </a:r>
            <a:endParaRPr lang="en-US" sz="700" dirty="0"/>
          </a:p>
        </p:txBody>
      </p:sp>
      <p:sp>
        <p:nvSpPr>
          <p:cNvPr id="44" name="Shape 42"/>
          <p:cNvSpPr/>
          <p:nvPr/>
        </p:nvSpPr>
        <p:spPr>
          <a:xfrm>
            <a:off x="577900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5" name="Text 43"/>
          <p:cNvSpPr/>
          <p:nvPr/>
        </p:nvSpPr>
        <p:spPr>
          <a:xfrm>
            <a:off x="589788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Room Type</a:t>
            </a:r>
            <a:endParaRPr lang="en-US" sz="520" dirty="0"/>
          </a:p>
        </p:txBody>
      </p:sp>
      <p:sp>
        <p:nvSpPr>
          <p:cNvPr id="46" name="Text 44"/>
          <p:cNvSpPr/>
          <p:nvPr/>
        </p:nvSpPr>
        <p:spPr>
          <a:xfrm>
            <a:off x="728776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Queen</a:t>
            </a:r>
            <a:endParaRPr lang="en-US" sz="700" dirty="0"/>
          </a:p>
        </p:txBody>
      </p:sp>
      <p:sp>
        <p:nvSpPr>
          <p:cNvPr id="47" name="Shape 45"/>
          <p:cNvSpPr/>
          <p:nvPr/>
        </p:nvSpPr>
        <p:spPr>
          <a:xfrm>
            <a:off x="111556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8" name="Text 46"/>
          <p:cNvSpPr/>
          <p:nvPr/>
        </p:nvSpPr>
        <p:spPr>
          <a:xfrm>
            <a:off x="123444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Guests</a:t>
            </a:r>
            <a:endParaRPr lang="en-US" sz="520" dirty="0"/>
          </a:p>
        </p:txBody>
      </p:sp>
      <p:sp>
        <p:nvSpPr>
          <p:cNvPr id="49" name="Text 47"/>
          <p:cNvSpPr/>
          <p:nvPr/>
        </p:nvSpPr>
        <p:spPr>
          <a:xfrm>
            <a:off x="262432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2</a:t>
            </a:r>
            <a:endParaRPr lang="en-US" sz="700" dirty="0"/>
          </a:p>
        </p:txBody>
      </p:sp>
      <p:sp>
        <p:nvSpPr>
          <p:cNvPr id="50" name="Shape 48"/>
          <p:cNvSpPr/>
          <p:nvPr/>
        </p:nvSpPr>
        <p:spPr>
          <a:xfrm>
            <a:off x="577900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1" name="Text 49"/>
          <p:cNvSpPr/>
          <p:nvPr/>
        </p:nvSpPr>
        <p:spPr>
          <a:xfrm>
            <a:off x="589788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Dates</a:t>
            </a:r>
            <a:endParaRPr lang="en-US" sz="520" dirty="0"/>
          </a:p>
        </p:txBody>
      </p:sp>
      <p:sp>
        <p:nvSpPr>
          <p:cNvPr id="52" name="Text 50"/>
          <p:cNvSpPr/>
          <p:nvPr/>
        </p:nvSpPr>
        <p:spPr>
          <a:xfrm>
            <a:off x="728776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09/06/2026 - 09/10/2026</a:t>
            </a:r>
            <a:endParaRPr lang="en-US" sz="700" dirty="0"/>
          </a:p>
        </p:txBody>
      </p:sp>
      <p:sp>
        <p:nvSpPr>
          <p:cNvPr id="53" name="Shape 51"/>
          <p:cNvSpPr/>
          <p:nvPr/>
        </p:nvSpPr>
        <p:spPr>
          <a:xfrm>
            <a:off x="111556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4" name="Text 52"/>
          <p:cNvSpPr/>
          <p:nvPr/>
        </p:nvSpPr>
        <p:spPr>
          <a:xfrm>
            <a:off x="123444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Nightly Rate</a:t>
            </a:r>
            <a:endParaRPr lang="en-US" sz="520" dirty="0"/>
          </a:p>
        </p:txBody>
      </p:sp>
      <p:sp>
        <p:nvSpPr>
          <p:cNvPr id="55" name="Text 53"/>
          <p:cNvSpPr/>
          <p:nvPr/>
        </p:nvSpPr>
        <p:spPr>
          <a:xfrm>
            <a:off x="262432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$135</a:t>
            </a:r>
            <a:endParaRPr lang="en-US" sz="700" dirty="0"/>
          </a:p>
        </p:txBody>
      </p:sp>
      <p:sp>
        <p:nvSpPr>
          <p:cNvPr id="56" name="Shape 54"/>
          <p:cNvSpPr/>
          <p:nvPr/>
        </p:nvSpPr>
        <p:spPr>
          <a:xfrm>
            <a:off x="577900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7" name="Text 55"/>
          <p:cNvSpPr/>
          <p:nvPr/>
        </p:nvSpPr>
        <p:spPr>
          <a:xfrm>
            <a:off x="589788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Estimated Total</a:t>
            </a:r>
            <a:endParaRPr lang="en-US" sz="520" dirty="0"/>
          </a:p>
        </p:txBody>
      </p:sp>
      <p:sp>
        <p:nvSpPr>
          <p:cNvPr id="58" name="Text 56"/>
          <p:cNvSpPr/>
          <p:nvPr/>
        </p:nvSpPr>
        <p:spPr>
          <a:xfrm>
            <a:off x="728776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$540</a:t>
            </a:r>
            <a:endParaRPr lang="en-US" sz="700" dirty="0"/>
          </a:p>
        </p:txBody>
      </p:sp>
      <p:sp>
        <p:nvSpPr>
          <p:cNvPr id="59" name="Shape 57">
            <a:hlinkClick r:id="rId8" action="ppaction://hlinksldjump"/>
          </p:cNvPr>
          <p:cNvSpPr/>
          <p:nvPr/>
        </p:nvSpPr>
        <p:spPr>
          <a:xfrm>
            <a:off x="1115568" y="5504688"/>
            <a:ext cx="8229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0" name="Text 58">
            <a:hlinkClick r:id="rId8" action="ppaction://hlinksldjump"/>
          </p:cNvPr>
          <p:cNvSpPr/>
          <p:nvPr/>
        </p:nvSpPr>
        <p:spPr>
          <a:xfrm>
            <a:off x="1143000" y="5586984"/>
            <a:ext cx="7680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Cancel</a:t>
            </a:r>
            <a:endParaRPr lang="en-US" sz="640" dirty="0"/>
          </a:p>
        </p:txBody>
      </p:sp>
      <p:sp>
        <p:nvSpPr>
          <p:cNvPr id="61" name="Shape 59">
            <a:hlinkClick r:id="rId11" action="ppaction://hlinksldjump"/>
          </p:cNvPr>
          <p:cNvSpPr/>
          <p:nvPr/>
        </p:nvSpPr>
        <p:spPr>
          <a:xfrm>
            <a:off x="2121408" y="5504688"/>
            <a:ext cx="150876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2" name="Text 60">
            <a:hlinkClick r:id="rId11" action="ppaction://hlinksldjump"/>
          </p:cNvPr>
          <p:cNvSpPr/>
          <p:nvPr/>
        </p:nvSpPr>
        <p:spPr>
          <a:xfrm>
            <a:off x="2148840" y="5586984"/>
            <a:ext cx="14538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Confirm Reservation</a:t>
            </a:r>
            <a:endParaRPr lang="en-US" sz="640" dirty="0"/>
          </a:p>
        </p:txBody>
      </p:sp>
      <p:sp>
        <p:nvSpPr>
          <p:cNvPr id="63" name="Shape 61"/>
          <p:cNvSpPr/>
          <p:nvPr/>
        </p:nvSpPr>
        <p:spPr>
          <a:xfrm>
            <a:off x="6903720" y="5413248"/>
            <a:ext cx="3520440" cy="384048"/>
          </a:xfrm>
          <a:prstGeom prst="roundRect">
            <a:avLst>
              <a:gd name="adj" fmla="val 14286"/>
            </a:avLst>
          </a:prstGeom>
          <a:solidFill>
            <a:srgbClr val="E7F3EC"/>
          </a:solidFill>
          <a:ln w="12700">
            <a:solidFill>
              <a:srgbClr val="E7F3EC"/>
            </a:solidFill>
            <a:prstDash val="solid"/>
          </a:ln>
        </p:spPr>
        <p:txBody>
          <a:bodyPr/>
          <a:lstStyle/>
          <a:p>
            <a:endParaRPr lang="en-US"/>
          </a:p>
        </p:txBody>
      </p:sp>
      <p:sp>
        <p:nvSpPr>
          <p:cNvPr id="64" name="Text 62"/>
          <p:cNvSpPr/>
          <p:nvPr/>
        </p:nvSpPr>
        <p:spPr>
          <a:xfrm>
            <a:off x="7086600" y="5559552"/>
            <a:ext cx="2926080" cy="100584"/>
          </a:xfrm>
          <a:prstGeom prst="rect">
            <a:avLst/>
          </a:prstGeom>
          <a:noFill/>
          <a:ln/>
        </p:spPr>
        <p:txBody>
          <a:bodyPr wrap="square" lIns="381" tIns="381" rIns="381" bIns="381" rtlCol="0" anchor="ctr">
            <a:normAutofit/>
          </a:bodyPr>
          <a:lstStyle/>
          <a:p>
            <a:pPr marL="0" indent="0" algn="l">
              <a:buNone/>
            </a:pPr>
            <a:r>
              <a:rPr lang="en-US" sz="620" b="1" dirty="0">
                <a:solidFill>
                  <a:srgbClr val="216C4D"/>
                </a:solidFill>
                <a:latin typeface="Arial" pitchFamily="34" charset="0"/>
                <a:ea typeface="Arial" pitchFamily="34" charset="-122"/>
                <a:cs typeface="Arial" pitchFamily="34" charset="-120"/>
              </a:rPr>
              <a:t>Success message appears after confirmation.</a:t>
            </a:r>
            <a:endParaRPr lang="en-US"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1888</Words>
  <Application>Microsoft Office PowerPoint</Application>
  <PresentationFormat>Widescreen</PresentationFormat>
  <Paragraphs>473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Tiffany Davidson</dc:creator>
  <cp:lastModifiedBy>Tiffany Davidson</cp:lastModifiedBy>
  <cp:revision>6</cp:revision>
  <dcterms:created xsi:type="dcterms:W3CDTF">2026-08-17T13:22:54Z</dcterms:created>
  <dcterms:modified xsi:type="dcterms:W3CDTF">2026-08-20T03:16:37Z</dcterms:modified>
</cp:coreProperties>
</file>