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3B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5DB15-7D6E-4472-B99D-9906CF1DE234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D076F5-3447-4DA2-8E99-5DA35D376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963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CE4A2-0155-A05C-AAF5-BBFDA9E37B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EC1CA4-16E4-B629-6F0E-0EEF4D7E5A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19F1BB-6298-3AAC-93AF-D5C8310B0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B29333-C17D-8F41-90EC-56CE4FA60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ADCD2F-0A04-79C3-4783-FCF699FCC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495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B91FB-ED08-5951-8A5A-D8944DBB8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9BB92D-9F22-E006-B20E-F27A6E23B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F411F8-2C5A-5B33-A3C5-986371A2B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90D87B-9377-76ED-C8F5-5191A5AEC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BEFA1-2E2D-A0A8-11AE-145BB097F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32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D72C3-5BAA-A10E-3285-67305AEF9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EBD943-089A-2C66-B80E-E40BAC83C6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0D70DF-B1E4-7642-0A89-B051BC901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907DA-71ED-6A8F-CF58-B8C6791AE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62E472-952E-4900-13EE-F620FDAFD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330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95B3-A267-9C5E-AC87-62423339E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F2F3C-C019-8721-948D-9F11E50C71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2C0271-09DA-6AC9-DF82-6C8E62FC3A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37CB97-D526-83AC-8B37-20B914263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8D21C6-D9DD-CEAE-D600-FDA731D09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3209A7-BA73-35C5-3761-AA1F8DDCD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903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0A059-DD14-D336-0962-488FFF1B7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77A254-7BAE-6B45-D89F-ED13E69884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86CAF9-9534-4079-6A93-6297526F6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36A7B-CE72-195E-25D3-D782EDE146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928A44-E64A-6698-34EC-B77B7BCA52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ABE73F-4645-0BA5-3E2E-BBB8FD4A5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A77963-35AF-9F83-B9C4-76724B810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E934C7-5539-36CE-9CDD-AD51B3D80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803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CE877-0C79-D784-B993-45D9241DA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2E4F0F-7A11-6C9E-D7D2-22D3414FC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6CC4B6-A626-C7C9-FFD3-7826791A2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D0ED10-94EC-C057-E8E0-EE91C0840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032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8FDF5-8F5F-1B44-A602-99BDDA5CE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7F3CE6-EE7E-5EE8-B6E1-990C6B867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54164-1DDA-18D3-BE82-9DA2528D0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9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E1C1C-88B1-6C82-1556-87AAC554C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3369C-9E32-2BCD-299A-B1C1AA961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A6EDEE-F977-CEF3-39D3-08D5C91BF7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849E5B-B917-5055-9035-6F4FB33A2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67E325-6406-F480-E79C-AE9351CFA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3084D0-5DD5-EBF6-3F02-32E16FC3C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7918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9A65-1700-5996-2381-8A9EC5B65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474CE2-285E-B301-8B3A-A85A564A14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BFF256-CB98-E565-A17F-E879CB6857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C385DB-42C3-E76D-ACFD-559961FF4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59BC7E-CC21-EA51-543C-DDD08C7B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010CE7-B052-F965-34DD-DFEF4A5B2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106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14261-9401-684A-C9AA-5DDAABC5C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971F7D-AA47-797B-5850-B2C57AA843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2746B1-EB72-477F-15EA-5DB3D75ED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ADC89-A98E-C277-E1E8-34CBF7F7D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0DC25-0B14-CC9B-D835-44A3382BE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119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261098-BE1A-D11A-2438-CA72428C02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9981C4-A98C-D95E-6D49-81B607F645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7BA21-BDDB-F033-BA91-E0C407E0D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7E778-C888-1CAA-F70C-5520A207D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043CA-CE61-38F9-4975-63A5330E5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253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5185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7CB8F2-7A74-A422-E451-534F9636D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F6F89-7765-EFBA-143F-42782B0B4B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0F67F-0DEC-A33D-1DD0-69F2A01D80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5FEBA2-C475-4F4F-B1DA-6AC3BCF2549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BB39D-98B6-C693-1053-BED240B6A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999B3C-FDCB-E0F9-A157-E97169C169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9185F2-FDE0-4379-9660-6AB1AB775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077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slide" Target="slide13.xml"/><Relationship Id="rId4" Type="http://schemas.openxmlformats.org/officeDocument/2006/relationships/slide" Target="slide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4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12" Type="http://schemas.openxmlformats.org/officeDocument/2006/relationships/slide" Target="slide1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12.xml"/><Relationship Id="rId11" Type="http://schemas.openxmlformats.org/officeDocument/2006/relationships/slide" Target="slide9.xml"/><Relationship Id="rId5" Type="http://schemas.openxmlformats.org/officeDocument/2006/relationships/slide" Target="slide10.xml"/><Relationship Id="rId10" Type="http://schemas.openxmlformats.org/officeDocument/2006/relationships/slide" Target="slide8.xml"/><Relationship Id="rId4" Type="http://schemas.openxmlformats.org/officeDocument/2006/relationships/slide" Target="slide5.xml"/><Relationship Id="rId9" Type="http://schemas.openxmlformats.org/officeDocument/2006/relationships/slide" Target="slide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11" Type="http://schemas.openxmlformats.org/officeDocument/2006/relationships/slide" Target="slide9.xml"/><Relationship Id="rId5" Type="http://schemas.openxmlformats.org/officeDocument/2006/relationships/slide" Target="slide5.xml"/><Relationship Id="rId10" Type="http://schemas.openxmlformats.org/officeDocument/2006/relationships/slide" Target="slide11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12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10" Type="http://schemas.openxmlformats.org/officeDocument/2006/relationships/slide" Target="slide12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slide" Target="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3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03504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Moffat Bay Lodge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94944" y="121615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Prototype + Landing Page Mockup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94944" y="1682495"/>
            <a:ext cx="4937760" cy="1414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9D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CSD-460 Red Team approval package</a:t>
            </a:r>
          </a:p>
          <a:p>
            <a:r>
              <a:rPr lang="en-US" sz="1150" dirty="0">
                <a:solidFill>
                  <a:srgbClr val="D9D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Matthew Rozendaal</a:t>
            </a:r>
          </a:p>
          <a:p>
            <a:r>
              <a:rPr lang="en-US" sz="1150" dirty="0">
                <a:solidFill>
                  <a:srgbClr val="D9D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Brayan Covarrubias</a:t>
            </a:r>
          </a:p>
          <a:p>
            <a:r>
              <a:rPr lang="en-US" sz="1150" dirty="0">
                <a:solidFill>
                  <a:srgbClr val="D9D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Rashai Robertson</a:t>
            </a:r>
          </a:p>
          <a:p>
            <a:r>
              <a:rPr lang="en-US" sz="1150" dirty="0">
                <a:solidFill>
                  <a:srgbClr val="D9D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Tiffany Davidson</a:t>
            </a:r>
          </a:p>
          <a:p>
            <a:pPr marL="0" indent="0">
              <a:buNone/>
            </a:pP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94944" y="5413248"/>
            <a:ext cx="768096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 pages included: Home, About, Rooms &amp; Rates, Attractions, Contact, Login, Register, Book Your Stay, Reservation Lookup, and Reservation Summary.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94944" y="5925312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D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click path: use the navigation buttons and CTAs on each page slide.</a:t>
            </a:r>
            <a:endParaRPr lang="en-US" sz="1100" dirty="0"/>
          </a:p>
        </p:txBody>
      </p:sp>
      <p:sp>
        <p:nvSpPr>
          <p:cNvPr id="7" name="Text 5">
            <a:hlinkClick r:id="rId3" action="ppaction://hlinksldjump"/>
          </p:cNvPr>
          <p:cNvSpPr/>
          <p:nvPr/>
        </p:nvSpPr>
        <p:spPr>
          <a:xfrm>
            <a:off x="8503920" y="868680"/>
            <a:ext cx="2468880" cy="1188720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u="sng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Landing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u="sng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Mockup</a:t>
            </a:r>
            <a:endParaRPr lang="en-US" sz="1900" dirty="0"/>
          </a:p>
        </p:txBody>
      </p:sp>
      <p:sp>
        <p:nvSpPr>
          <p:cNvPr id="8" name="Text 6">
            <a:hlinkClick r:id="rId4" action="ppaction://hlinksldjump"/>
          </p:cNvPr>
          <p:cNvSpPr/>
          <p:nvPr/>
        </p:nvSpPr>
        <p:spPr>
          <a:xfrm>
            <a:off x="8503920" y="2514600"/>
            <a:ext cx="2468880" cy="1188720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u="sng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Page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u="sng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Prototype</a:t>
            </a:r>
            <a:endParaRPr lang="en-US" sz="1900" dirty="0"/>
          </a:p>
        </p:txBody>
      </p:sp>
      <p:sp>
        <p:nvSpPr>
          <p:cNvPr id="9" name="Text 7">
            <a:hlinkClick r:id="rId5" action="ppaction://hlinksldjump"/>
          </p:cNvPr>
          <p:cNvSpPr/>
          <p:nvPr/>
        </p:nvSpPr>
        <p:spPr>
          <a:xfrm>
            <a:off x="8503920" y="4160520"/>
            <a:ext cx="24688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u="sng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Approval</a:t>
            </a:r>
            <a:endParaRPr lang="en-US" sz="1900" dirty="0"/>
          </a:p>
          <a:p>
            <a:pPr marL="0" indent="0" algn="ctr">
              <a:buNone/>
            </a:pPr>
            <a:r>
              <a:rPr lang="en-US" sz="1900" b="1" u="sng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Checklist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Site Flow + Prototype Map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as the approval walkthrough for the team lead or reviewer.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hlinkClick r:id="rId3" action="ppaction://hlinksldjump"/>
          </p:cNvPr>
          <p:cNvSpPr/>
          <p:nvPr/>
        </p:nvSpPr>
        <p:spPr>
          <a:xfrm>
            <a:off x="685800" y="1847088"/>
            <a:ext cx="1508760" cy="713232"/>
          </a:xfrm>
          <a:prstGeom prst="rect">
            <a:avLst/>
          </a:prstGeom>
          <a:solidFill>
            <a:srgbClr val="163B3A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Landing Page / Home</a:t>
            </a:r>
            <a:endParaRPr lang="en-US" sz="1050" dirty="0"/>
          </a:p>
        </p:txBody>
      </p:sp>
      <p:sp>
        <p:nvSpPr>
          <p:cNvPr id="6" name="Text 4">
            <a:hlinkClick r:id="rId4" action="ppaction://hlinksldjump"/>
          </p:cNvPr>
          <p:cNvSpPr/>
          <p:nvPr/>
        </p:nvSpPr>
        <p:spPr>
          <a:xfrm>
            <a:off x="2788920" y="1847088"/>
            <a:ext cx="1508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 &amp; Rates</a:t>
            </a:r>
            <a:endParaRPr lang="en-US" sz="1050" dirty="0"/>
          </a:p>
        </p:txBody>
      </p:sp>
      <p:sp>
        <p:nvSpPr>
          <p:cNvPr id="7" name="Text 5">
            <a:hlinkClick r:id="rId5" action="ppaction://hlinksldjump"/>
          </p:cNvPr>
          <p:cNvSpPr/>
          <p:nvPr/>
        </p:nvSpPr>
        <p:spPr>
          <a:xfrm>
            <a:off x="4892040" y="1847088"/>
            <a:ext cx="1508760" cy="713232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Your Stay</a:t>
            </a:r>
            <a:endParaRPr lang="en-US" sz="1050" dirty="0"/>
          </a:p>
        </p:txBody>
      </p:sp>
      <p:sp>
        <p:nvSpPr>
          <p:cNvPr id="8" name="Text 6">
            <a:hlinkClick r:id="rId6" action="ppaction://hlinksldjump"/>
          </p:cNvPr>
          <p:cNvSpPr/>
          <p:nvPr/>
        </p:nvSpPr>
        <p:spPr>
          <a:xfrm>
            <a:off x="6995160" y="1847088"/>
            <a:ext cx="1508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Reservation Summary</a:t>
            </a:r>
            <a:endParaRPr lang="en-US" sz="1050" dirty="0"/>
          </a:p>
        </p:txBody>
      </p:sp>
      <p:sp>
        <p:nvSpPr>
          <p:cNvPr id="9" name="Text 7">
            <a:hlinkClick r:id="rId7" action="ppaction://hlinksldjump"/>
          </p:cNvPr>
          <p:cNvSpPr/>
          <p:nvPr/>
        </p:nvSpPr>
        <p:spPr>
          <a:xfrm>
            <a:off x="9098280" y="1847088"/>
            <a:ext cx="1508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1050" dirty="0"/>
          </a:p>
        </p:txBody>
      </p:sp>
      <p:sp>
        <p:nvSpPr>
          <p:cNvPr id="10" name="Text 8">
            <a:hlinkClick r:id="rId8" action="ppaction://hlinksldjump"/>
          </p:cNvPr>
          <p:cNvSpPr/>
          <p:nvPr/>
        </p:nvSpPr>
        <p:spPr>
          <a:xfrm>
            <a:off x="1508760" y="3886200"/>
            <a:ext cx="1508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1050" dirty="0"/>
          </a:p>
        </p:txBody>
      </p:sp>
      <p:sp>
        <p:nvSpPr>
          <p:cNvPr id="11" name="Text 9">
            <a:hlinkClick r:id="rId9" action="ppaction://hlinksldjump"/>
          </p:cNvPr>
          <p:cNvSpPr/>
          <p:nvPr/>
        </p:nvSpPr>
        <p:spPr>
          <a:xfrm>
            <a:off x="3703320" y="3886200"/>
            <a:ext cx="1508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1050" dirty="0"/>
          </a:p>
        </p:txBody>
      </p:sp>
      <p:sp>
        <p:nvSpPr>
          <p:cNvPr id="12" name="Text 10">
            <a:hlinkClick r:id="rId10" action="ppaction://hlinksldjump"/>
          </p:cNvPr>
          <p:cNvSpPr/>
          <p:nvPr/>
        </p:nvSpPr>
        <p:spPr>
          <a:xfrm>
            <a:off x="5897880" y="3886200"/>
            <a:ext cx="1508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1050" dirty="0"/>
          </a:p>
        </p:txBody>
      </p:sp>
      <p:sp>
        <p:nvSpPr>
          <p:cNvPr id="13" name="Text 11">
            <a:hlinkClick r:id="rId11" action="ppaction://hlinksldjump"/>
          </p:cNvPr>
          <p:cNvSpPr/>
          <p:nvPr/>
        </p:nvSpPr>
        <p:spPr>
          <a:xfrm>
            <a:off x="8092440" y="3886200"/>
            <a:ext cx="1508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Register</a:t>
            </a:r>
            <a:endParaRPr lang="en-US" sz="1050" dirty="0"/>
          </a:p>
        </p:txBody>
      </p:sp>
      <p:sp>
        <p:nvSpPr>
          <p:cNvPr id="14" name="Text 12">
            <a:hlinkClick r:id="rId12" action="ppaction://hlinksldjump"/>
          </p:cNvPr>
          <p:cNvSpPr/>
          <p:nvPr/>
        </p:nvSpPr>
        <p:spPr>
          <a:xfrm>
            <a:off x="10287000" y="3886200"/>
            <a:ext cx="15087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Reservation Lookup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04288" y="2130552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407408" y="2130552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10528" y="2130552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13648" y="2130552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182112" y="4169664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376672" y="4169664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571232" y="4169664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765792" y="4169664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60120" y="5577840"/>
            <a:ext cx="102412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reviewer path: Home → Rooms &amp; Rates → Book Your Stay → Reservation Summary. Secondary paths support site information, account creation, lookup, attractions, and contact.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Site Flow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Landing Page Mockup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Realistic style mockup using the same colors, serif headings, navigation, cards, and CTAs from the built website.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66928" y="1152144"/>
            <a:ext cx="11027664" cy="502920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04672" y="130759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Moffat Bay Lodge</a:t>
            </a:r>
            <a:endParaRPr lang="en-US" sz="1200" dirty="0"/>
          </a:p>
        </p:txBody>
      </p:sp>
      <p:sp>
        <p:nvSpPr>
          <p:cNvPr id="7" name="Text 5">
            <a:hlinkClick r:id="rId3" action="ppaction://hlinksldjump"/>
          </p:cNvPr>
          <p:cNvSpPr/>
          <p:nvPr/>
        </p:nvSpPr>
        <p:spPr>
          <a:xfrm>
            <a:off x="4892040" y="132588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u="sng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750" dirty="0"/>
          </a:p>
        </p:txBody>
      </p:sp>
      <p:sp>
        <p:nvSpPr>
          <p:cNvPr id="8" name="Text 6">
            <a:hlinkClick r:id="rId4" action="ppaction://hlinksldjump"/>
          </p:cNvPr>
          <p:cNvSpPr/>
          <p:nvPr/>
        </p:nvSpPr>
        <p:spPr>
          <a:xfrm>
            <a:off x="5641848" y="132588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750" dirty="0"/>
          </a:p>
        </p:txBody>
      </p:sp>
      <p:sp>
        <p:nvSpPr>
          <p:cNvPr id="9" name="Text 7">
            <a:hlinkClick r:id="rId5" action="ppaction://hlinksldjump"/>
          </p:cNvPr>
          <p:cNvSpPr/>
          <p:nvPr/>
        </p:nvSpPr>
        <p:spPr>
          <a:xfrm>
            <a:off x="6391656" y="132588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 &amp; Rates</a:t>
            </a:r>
            <a:endParaRPr lang="en-US" sz="750" dirty="0"/>
          </a:p>
        </p:txBody>
      </p:sp>
      <p:sp>
        <p:nvSpPr>
          <p:cNvPr id="10" name="Text 8">
            <a:hlinkClick r:id="rId6" action="ppaction://hlinksldjump"/>
          </p:cNvPr>
          <p:cNvSpPr/>
          <p:nvPr/>
        </p:nvSpPr>
        <p:spPr>
          <a:xfrm>
            <a:off x="7351776" y="132588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750" dirty="0"/>
          </a:p>
        </p:txBody>
      </p:sp>
      <p:sp>
        <p:nvSpPr>
          <p:cNvPr id="11" name="Text 9">
            <a:hlinkClick r:id="rId7" action="ppaction://hlinksldjump"/>
          </p:cNvPr>
          <p:cNvSpPr/>
          <p:nvPr/>
        </p:nvSpPr>
        <p:spPr>
          <a:xfrm>
            <a:off x="8101584" y="132588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750" dirty="0"/>
          </a:p>
        </p:txBody>
      </p:sp>
      <p:sp>
        <p:nvSpPr>
          <p:cNvPr id="12" name="Text 10">
            <a:hlinkClick r:id="rId8" action="ppaction://hlinksldjump"/>
          </p:cNvPr>
          <p:cNvSpPr/>
          <p:nvPr/>
        </p:nvSpPr>
        <p:spPr>
          <a:xfrm>
            <a:off x="8851392" y="132588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750" dirty="0"/>
          </a:p>
        </p:txBody>
      </p:sp>
      <p:sp>
        <p:nvSpPr>
          <p:cNvPr id="13" name="Text 11">
            <a:hlinkClick r:id="rId9" action="ppaction://hlinksldjump"/>
          </p:cNvPr>
          <p:cNvSpPr/>
          <p:nvPr/>
        </p:nvSpPr>
        <p:spPr>
          <a:xfrm>
            <a:off x="10716768" y="1252728"/>
            <a:ext cx="713232" cy="256032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566928" y="1655064"/>
            <a:ext cx="11027664" cy="1865376"/>
          </a:xfrm>
          <a:prstGeom prst="rect">
            <a:avLst/>
          </a:prstGeom>
          <a:solidFill>
            <a:srgbClr val="51766D"/>
          </a:solidFill>
          <a:ln w="12700">
            <a:solidFill>
              <a:srgbClr val="51766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66928" y="1655064"/>
            <a:ext cx="11027664" cy="1865376"/>
          </a:xfrm>
          <a:prstGeom prst="rect">
            <a:avLst/>
          </a:prstGeom>
          <a:solidFill>
            <a:srgbClr val="163B3A">
              <a:alpha val="87000"/>
            </a:srgbClr>
          </a:solidFill>
          <a:ln w="12700">
            <a:solidFill>
              <a:srgbClr val="163B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87552" y="202996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QUIET ISLAND LODGING</a:t>
            </a:r>
            <a:endParaRPr lang="en-US" sz="780" dirty="0"/>
          </a:p>
        </p:txBody>
      </p:sp>
      <p:sp>
        <p:nvSpPr>
          <p:cNvPr id="17" name="Text 15"/>
          <p:cNvSpPr/>
          <p:nvPr/>
        </p:nvSpPr>
        <p:spPr>
          <a:xfrm>
            <a:off x="960120" y="226771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Escape to the Island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87552" y="279806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 at Moffat Bay Lodge with comfortable rooms, simple reservations, and island adventures right outside your door.</a:t>
            </a:r>
            <a:endParaRPr lang="en-US" sz="1120" dirty="0"/>
          </a:p>
        </p:txBody>
      </p:sp>
      <p:sp>
        <p:nvSpPr>
          <p:cNvPr id="19" name="Text 17">
            <a:hlinkClick r:id="rId9" action="ppaction://hlinksldjump"/>
          </p:cNvPr>
          <p:cNvSpPr/>
          <p:nvPr/>
        </p:nvSpPr>
        <p:spPr>
          <a:xfrm>
            <a:off x="987552" y="3172968"/>
            <a:ext cx="1115568" cy="29260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5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Your Stay</a:t>
            </a:r>
            <a:endParaRPr lang="en-US" sz="750" dirty="0"/>
          </a:p>
        </p:txBody>
      </p:sp>
      <p:sp>
        <p:nvSpPr>
          <p:cNvPr id="20" name="Text 18">
            <a:hlinkClick r:id="rId4" action="ppaction://hlinksldjump"/>
          </p:cNvPr>
          <p:cNvSpPr/>
          <p:nvPr/>
        </p:nvSpPr>
        <p:spPr>
          <a:xfrm>
            <a:off x="2267712" y="3172968"/>
            <a:ext cx="960120" cy="292608"/>
          </a:xfrm>
          <a:prstGeom prst="rect">
            <a:avLst/>
          </a:prstGeom>
          <a:solidFill>
            <a:srgbClr val="163B3A"/>
          </a:solidFill>
          <a:ln w="12700">
            <a:solidFill>
              <a:srgbClr val="FFFF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5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 More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246120" y="3877056"/>
            <a:ext cx="5715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the Room That Fits Your Trip</a:t>
            </a:r>
            <a:endParaRPr lang="en-US" sz="1900" dirty="0"/>
          </a:p>
        </p:txBody>
      </p:sp>
      <p:sp>
        <p:nvSpPr>
          <p:cNvPr id="22" name="Text 20">
            <a:hlinkClick r:id="rId5" action="ppaction://hlinksldjump"/>
          </p:cNvPr>
          <p:cNvSpPr/>
          <p:nvPr/>
        </p:nvSpPr>
        <p:spPr>
          <a:xfrm>
            <a:off x="987552" y="4370832"/>
            <a:ext cx="3108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 OPTION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Double Full Beds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Comfortable room details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$120 / night</a:t>
            </a:r>
            <a:endParaRPr lang="en-US" sz="840" dirty="0"/>
          </a:p>
        </p:txBody>
      </p:sp>
      <p:sp>
        <p:nvSpPr>
          <p:cNvPr id="23" name="Text 21">
            <a:hlinkClick r:id="rId5" action="ppaction://hlinksldjump"/>
          </p:cNvPr>
          <p:cNvSpPr/>
          <p:nvPr/>
        </p:nvSpPr>
        <p:spPr>
          <a:xfrm>
            <a:off x="4553712" y="4370832"/>
            <a:ext cx="3108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MOST POPULAR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Room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Comfortable room details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$140 / night</a:t>
            </a:r>
            <a:endParaRPr lang="en-US" sz="840" dirty="0"/>
          </a:p>
        </p:txBody>
      </p:sp>
      <p:sp>
        <p:nvSpPr>
          <p:cNvPr id="24" name="Text 22">
            <a:hlinkClick r:id="rId5" action="ppaction://hlinksldjump"/>
          </p:cNvPr>
          <p:cNvSpPr/>
          <p:nvPr/>
        </p:nvSpPr>
        <p:spPr>
          <a:xfrm>
            <a:off x="8119872" y="4370832"/>
            <a:ext cx="3108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 OPTION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Double Queen Beds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Comfortable room details</a:t>
            </a:r>
            <a:endParaRPr lang="en-US" sz="840" dirty="0"/>
          </a:p>
          <a:p>
            <a:pPr marL="0" indent="0" algn="l">
              <a:buNone/>
            </a:pPr>
            <a:r>
              <a:rPr lang="en-US" sz="840" u="sng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$160 / night</a:t>
            </a:r>
            <a:endParaRPr lang="en-US" sz="840" dirty="0"/>
          </a:p>
        </p:txBody>
      </p:sp>
      <p:sp>
        <p:nvSpPr>
          <p:cNvPr id="25" name="Text 23"/>
          <p:cNvSpPr/>
          <p:nvPr/>
        </p:nvSpPr>
        <p:spPr>
          <a:xfrm>
            <a:off x="566928" y="5641848"/>
            <a:ext cx="11027664" cy="43891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Adventure Is Right Outside Your Door   |   Hiking Trails   Kayaking   Whale Watching   Scuba Diving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Landing Page Mockup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Page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explain the lodge and guide visitors to rooms, reservations, and attractions.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moffatbaylodge.com/about.html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u="sng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1005840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Moffat Bay Lodge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05840" y="2926080"/>
            <a:ext cx="6309360" cy="329184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Comfortable Place to Call Home During Your Island Stay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59536" y="3474720"/>
            <a:ext cx="1874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Island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Lodging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008376" y="3474720"/>
            <a:ext cx="1874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You Need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Plan Your Stay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157216" y="3474720"/>
            <a:ext cx="1874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Stay. Explore.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43000" y="4882896"/>
            <a:ext cx="5760720" cy="548640"/>
          </a:xfrm>
          <a:prstGeom prst="rect">
            <a:avLst/>
          </a:prstGeom>
          <a:solidFill>
            <a:srgbClr val="EFE8DB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Visit Moffat Bay?  →  Rooms  |  Attractions  |  Book Now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trust by describing the lodge experience and sending guests to the next planning step.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Top navigation jumps to major pages.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Room and reservation CTAs continue the booking path.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Attractions link supports trip planning.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1" name="Text 29">
            <a:hlinkClick r:id="rId3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920" dirty="0"/>
          </a:p>
        </p:txBody>
      </p:sp>
      <p:sp>
        <p:nvSpPr>
          <p:cNvPr id="32" name="Text 30">
            <a:hlinkClick r:id="rId5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920" dirty="0"/>
          </a:p>
        </p:txBody>
      </p:sp>
      <p:sp>
        <p:nvSpPr>
          <p:cNvPr id="33" name="Text 31">
            <a:hlinkClick r:id="rId9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</a:t>
            </a:r>
            <a:endParaRPr lang="en-US" sz="920" dirty="0"/>
          </a:p>
        </p:txBody>
      </p:sp>
      <p:sp>
        <p:nvSpPr>
          <p:cNvPr id="34" name="Text 32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About Page Prototype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Rooms &amp; Rates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page prototype with clickable navigation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moffatbaylodge.com/rooms.html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u="sng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1005840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Rooms &amp; Rates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05840" y="2926080"/>
            <a:ext cx="6309360" cy="329184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the Right Room for Your Stay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59536" y="3474720"/>
            <a:ext cx="1874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Full Beds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 per night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008376" y="3474720"/>
            <a:ext cx="1874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Queen Room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$140 per night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157216" y="3474720"/>
            <a:ext cx="1874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Queen Beds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$160 per night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43000" y="4882896"/>
            <a:ext cx="5760720" cy="548640"/>
          </a:xfrm>
          <a:prstGeom prst="rect">
            <a:avLst/>
          </a:prstGeom>
          <a:solidFill>
            <a:srgbClr val="EFE8DB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Pricing. Easy Reservations.  →  Book Your Stay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Rooms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the guest compare room options and move directly into the reservation form.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Each room card links to Book Your Stay.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Pricing is visible before booking.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Final CTA reinforces simple reservations.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1" name="Text 29">
            <a:hlinkClick r:id="rId9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</a:t>
            </a:r>
            <a:endParaRPr lang="en-US" sz="920" dirty="0"/>
          </a:p>
        </p:txBody>
      </p:sp>
      <p:sp>
        <p:nvSpPr>
          <p:cNvPr id="32" name="Text 30">
            <a:hlinkClick r:id="rId6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920" dirty="0"/>
          </a:p>
        </p:txBody>
      </p:sp>
      <p:sp>
        <p:nvSpPr>
          <p:cNvPr id="33" name="Text 31">
            <a:hlinkClick r:id="rId3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920" dirty="0"/>
          </a:p>
        </p:txBody>
      </p:sp>
      <p:sp>
        <p:nvSpPr>
          <p:cNvPr id="34" name="Text 32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Rooms &amp; Rates Prototype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Attractions Page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page prototype with clickable navigation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moffatbaylodge.com/attractions.html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u="sng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1005840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Island Adventures Await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05840" y="2926080"/>
            <a:ext cx="6309360" cy="329184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Experience the Island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1248" y="3474720"/>
            <a:ext cx="148132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Hiking Trails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569464" y="3474720"/>
            <a:ext cx="148132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Kayaking</a:t>
            </a:r>
            <a:endParaRPr lang="en-US" sz="780" dirty="0"/>
          </a:p>
        </p:txBody>
      </p:sp>
      <p:sp>
        <p:nvSpPr>
          <p:cNvPr id="22" name="Text 20"/>
          <p:cNvSpPr/>
          <p:nvPr/>
        </p:nvSpPr>
        <p:spPr>
          <a:xfrm>
            <a:off x="4297680" y="3474720"/>
            <a:ext cx="148132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Whale Watching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6025896" y="3474720"/>
            <a:ext cx="148132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Scuba Diving</a:t>
            </a:r>
            <a:endParaRPr lang="en-US" sz="780" dirty="0"/>
          </a:p>
        </p:txBody>
      </p:sp>
      <p:sp>
        <p:nvSpPr>
          <p:cNvPr id="24" name="Text 22"/>
          <p:cNvSpPr/>
          <p:nvPr/>
        </p:nvSpPr>
        <p:spPr>
          <a:xfrm>
            <a:off x="1143000" y="4882896"/>
            <a:ext cx="5760720" cy="548640"/>
          </a:xfrm>
          <a:prstGeom prst="rect">
            <a:avLst/>
          </a:prstGeom>
          <a:solidFill>
            <a:srgbClr val="EFE8DB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Adventure by Day. Relax at the Lodge by Night.  →  Rooms  |  Book Now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Attractions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visitors that the lodge connects to a full island experience, not just a room.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Activity cards highlight things to do.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Rooms link helps users plan around activities.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Book Now completes the trip-planning path.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2" name="Text 30">
            <a:hlinkClick r:id="rId5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920" dirty="0"/>
          </a:p>
        </p:txBody>
      </p:sp>
      <p:sp>
        <p:nvSpPr>
          <p:cNvPr id="33" name="Text 31">
            <a:hlinkClick r:id="rId9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</a:t>
            </a:r>
            <a:endParaRPr lang="en-US" sz="920" dirty="0"/>
          </a:p>
        </p:txBody>
      </p:sp>
      <p:sp>
        <p:nvSpPr>
          <p:cNvPr id="34" name="Text 32">
            <a:hlinkClick r:id="rId7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Attractions Page Prototype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 Page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page prototype with clickable navigation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moffatbaylodge.com/contact.html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u="sng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841248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 Moffat Bay Lodge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2807208"/>
            <a:ext cx="2377440" cy="228600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Can We Help?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60120" y="317296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960120" y="358444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960120" y="399592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</a:t>
            </a:r>
            <a:endParaRPr lang="en-US" sz="750" dirty="0"/>
          </a:p>
        </p:txBody>
      </p:sp>
      <p:sp>
        <p:nvSpPr>
          <p:cNvPr id="23" name="Text 21">
            <a:hlinkClick r:id="rId7" action="ppaction://hlinksldjump"/>
          </p:cNvPr>
          <p:cNvSpPr/>
          <p:nvPr/>
        </p:nvSpPr>
        <p:spPr>
          <a:xfrm>
            <a:off x="960120" y="4453128"/>
            <a:ext cx="960120" cy="310896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Send Message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315968" y="2834640"/>
            <a:ext cx="2788920" cy="2194560"/>
          </a:xfrm>
          <a:prstGeom prst="rect">
            <a:avLst/>
          </a:prstGeom>
          <a:solidFill>
            <a:srgbClr val="FBF8F1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details are shown beside the form:</a:t>
            </a:r>
            <a:endParaRPr lang="en-US" sz="830" dirty="0"/>
          </a:p>
          <a:p>
            <a:pPr marL="0" indent="0" algn="l">
              <a:buNone/>
            </a:pP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</a:t>
            </a: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</a:t>
            </a: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830" dirty="0"/>
          </a:p>
          <a:p>
            <a:pPr marL="0" indent="0" algn="l">
              <a:buNone/>
            </a:pP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page also includes a booking CTA for guests ready to reserve.</a:t>
            </a:r>
            <a:endParaRPr lang="en-US" sz="830" dirty="0"/>
          </a:p>
        </p:txBody>
      </p:sp>
      <p:sp>
        <p:nvSpPr>
          <p:cNvPr id="25" name="Text 23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guests a simple way to ask questions before or after booking.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Guest completes contact form.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Email link supports direct contact.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Book Now CTA keeps the reservation path visible.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2" name="Text 30">
            <a:hlinkClick r:id="rId5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920" dirty="0"/>
          </a:p>
        </p:txBody>
      </p:sp>
      <p:sp>
        <p:nvSpPr>
          <p:cNvPr id="33" name="Text 31">
            <a:hlinkClick r:id="rId9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</a:t>
            </a:r>
            <a:endParaRPr lang="en-US" sz="920" dirty="0"/>
          </a:p>
        </p:txBody>
      </p:sp>
      <p:sp>
        <p:nvSpPr>
          <p:cNvPr id="34" name="Text 32">
            <a:hlinkClick r:id="rId3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Contact Page Prototype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Login Page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page prototype with clickable navigation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moffatbaylodge.com/login.html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u="sng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841248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Guest Login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2807208"/>
            <a:ext cx="2377440" cy="228600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 Your Account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60120" y="317296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Address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960120" y="358444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</a:t>
            </a:r>
            <a:endParaRPr lang="en-US" sz="750" dirty="0"/>
          </a:p>
        </p:txBody>
      </p:sp>
      <p:sp>
        <p:nvSpPr>
          <p:cNvPr id="22" name="Text 20">
            <a:hlinkClick r:id="rId10" action="ppaction://hlinksldjump"/>
          </p:cNvPr>
          <p:cNvSpPr/>
          <p:nvPr/>
        </p:nvSpPr>
        <p:spPr>
          <a:xfrm>
            <a:off x="960120" y="4041648"/>
            <a:ext cx="960120" cy="310896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315968" y="2834640"/>
            <a:ext cx="2788920" cy="2194560"/>
          </a:xfrm>
          <a:prstGeom prst="rect">
            <a:avLst/>
          </a:prstGeom>
          <a:solidFill>
            <a:srgbClr val="FBF8F1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links under the form:</a:t>
            </a:r>
            <a:endParaRPr lang="en-US" sz="830" dirty="0"/>
          </a:p>
          <a:p>
            <a:pPr marL="0" indent="0" algn="l">
              <a:buNone/>
            </a:pP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 account → Register</a:t>
            </a: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up reservation → Reservation Lookup</a:t>
            </a:r>
            <a:endParaRPr lang="en-US" sz="830" dirty="0"/>
          </a:p>
          <a:p>
            <a:pPr marL="0" indent="0" algn="l">
              <a:buNone/>
            </a:pP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supports reservation management.</a:t>
            </a:r>
            <a:endParaRPr lang="en-US" sz="830" dirty="0"/>
          </a:p>
        </p:txBody>
      </p:sp>
      <p:sp>
        <p:nvSpPr>
          <p:cNvPr id="24" name="Text 22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returning guests access reservations and continue planning another visit.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Login button routes to Reservation Lookup in the prototype.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Register link supports new guests.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Lookup link supports existing reservations.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1" name="Text 29">
            <a:hlinkClick r:id="rId11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1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Register</a:t>
            </a:r>
            <a:endParaRPr lang="en-US" sz="920" dirty="0"/>
          </a:p>
        </p:txBody>
      </p:sp>
      <p:sp>
        <p:nvSpPr>
          <p:cNvPr id="32" name="Text 30">
            <a:hlinkClick r:id="rId10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Lookup</a:t>
            </a:r>
            <a:endParaRPr lang="en-US" sz="920" dirty="0"/>
          </a:p>
        </p:txBody>
      </p:sp>
      <p:sp>
        <p:nvSpPr>
          <p:cNvPr id="33" name="Text 31">
            <a:hlinkClick r:id="rId9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</a:t>
            </a:r>
            <a:endParaRPr lang="en-US" sz="920" dirty="0"/>
          </a:p>
        </p:txBody>
      </p:sp>
      <p:sp>
        <p:nvSpPr>
          <p:cNvPr id="34" name="Text 32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Login Page Prototype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 Page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page prototype with clickable navigation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moffatbaylodge.com/register.html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u="sng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841248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Create Your Account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2807208"/>
            <a:ext cx="2377440" cy="228600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Guest Registration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60120" y="317296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Name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960120" y="358444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Name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960120" y="399592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Address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60120" y="440740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960120" y="481888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Password</a:t>
            </a:r>
            <a:endParaRPr lang="en-US" sz="750" dirty="0"/>
          </a:p>
        </p:txBody>
      </p:sp>
      <p:sp>
        <p:nvSpPr>
          <p:cNvPr id="25" name="Text 23">
            <a:hlinkClick r:id="rId9" action="ppaction://hlinksldjump"/>
          </p:cNvPr>
          <p:cNvSpPr/>
          <p:nvPr/>
        </p:nvSpPr>
        <p:spPr>
          <a:xfrm>
            <a:off x="960120" y="5276088"/>
            <a:ext cx="960120" cy="310896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Create Account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315968" y="2834640"/>
            <a:ext cx="2788920" cy="2194560"/>
          </a:xfrm>
          <a:prstGeom prst="rect">
            <a:avLst/>
          </a:prstGeom>
          <a:solidFill>
            <a:srgbClr val="FBF8F1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account flow supports booking and future reservation access. Returning guests can go back to Login.</a:t>
            </a:r>
            <a:endParaRPr lang="en-US" sz="830" dirty="0"/>
          </a:p>
        </p:txBody>
      </p:sp>
      <p:sp>
        <p:nvSpPr>
          <p:cNvPr id="27" name="Text 25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guest account details before they manage or make a reservation.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Create Account button moves user toward booking.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Login link helps returning guests.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Room and booking CTAs stay visible.</a:t>
            </a:r>
            <a:endParaRPr lang="en-US" sz="1020" dirty="0"/>
          </a:p>
        </p:txBody>
      </p:sp>
      <p:sp>
        <p:nvSpPr>
          <p:cNvPr id="33" name="Text 31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4" name="Text 32">
            <a:hlinkClick r:id="rId8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920" dirty="0"/>
          </a:p>
        </p:txBody>
      </p:sp>
      <p:sp>
        <p:nvSpPr>
          <p:cNvPr id="35" name="Text 33">
            <a:hlinkClick r:id="rId5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920" dirty="0"/>
          </a:p>
        </p:txBody>
      </p:sp>
      <p:sp>
        <p:nvSpPr>
          <p:cNvPr id="36" name="Text 34">
            <a:hlinkClick r:id="rId9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</a:t>
            </a:r>
            <a:endParaRPr lang="en-US" sz="920" dirty="0"/>
          </a:p>
        </p:txBody>
      </p:sp>
      <p:sp>
        <p:nvSpPr>
          <p:cNvPr id="37" name="Text 35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Register Page Prototype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 Your Stay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page prototype with clickable navigation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moffatbaylodge.com/reservation.html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841248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 Your Stay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2807208"/>
            <a:ext cx="2377440" cy="228600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Your Stay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60120" y="317296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Type dropdown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960120" y="358444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Guests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960120" y="399592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Check-in Date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60120" y="440740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Check-out Date</a:t>
            </a:r>
            <a:endParaRPr lang="en-US" sz="750" dirty="0"/>
          </a:p>
        </p:txBody>
      </p:sp>
      <p:sp>
        <p:nvSpPr>
          <p:cNvPr id="24" name="Text 22">
            <a:hlinkClick r:id="rId10" action="ppaction://hlinksldjump"/>
          </p:cNvPr>
          <p:cNvSpPr/>
          <p:nvPr/>
        </p:nvSpPr>
        <p:spPr>
          <a:xfrm>
            <a:off x="960120" y="4864608"/>
            <a:ext cx="960120" cy="310896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Review Reservation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315968" y="2834640"/>
            <a:ext cx="2788920" cy="2194560"/>
          </a:xfrm>
          <a:prstGeom prst="rect">
            <a:avLst/>
          </a:prstGeom>
          <a:solidFill>
            <a:srgbClr val="FBF8F1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helper content:</a:t>
            </a:r>
            <a:endParaRPr lang="en-US" sz="830" dirty="0"/>
          </a:p>
          <a:p>
            <a:pPr marL="0" indent="0" algn="l">
              <a:buNone/>
            </a:pP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Room</a:t>
            </a: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Your Dates</a:t>
            </a: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Your Stay</a:t>
            </a:r>
            <a:endParaRPr lang="en-US" sz="830" dirty="0"/>
          </a:p>
          <a:p>
            <a:pPr marL="0" indent="0" algn="l">
              <a:buNone/>
            </a:pPr>
            <a:endParaRPr lang="en-US" sz="830" dirty="0"/>
          </a:p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Login/Register links support guest accounts.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the required reservation details and send the guest to the summary screen for review.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Room Type connects back to Rooms &amp; Rates.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Review Reservation links to Summary.</a:t>
            </a:r>
            <a:endParaRPr lang="en-US" sz="1020" dirty="0"/>
          </a:p>
        </p:txBody>
      </p:sp>
      <p:sp>
        <p:nvSpPr>
          <p:cNvPr id="31" name="Text 29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Login/Register links support account access.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3" name="Text 31">
            <a:hlinkClick r:id="rId10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Summary</a:t>
            </a:r>
            <a:endParaRPr lang="en-US" sz="920" dirty="0"/>
          </a:p>
        </p:txBody>
      </p:sp>
      <p:sp>
        <p:nvSpPr>
          <p:cNvPr id="34" name="Text 32">
            <a:hlinkClick r:id="rId5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920" dirty="0"/>
          </a:p>
        </p:txBody>
      </p:sp>
      <p:sp>
        <p:nvSpPr>
          <p:cNvPr id="35" name="Text 33">
            <a:hlinkClick r:id="rId8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Book Your Stay Prototype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Reservation Lookup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page prototype with clickable navigation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moffatbaylodge.com/reservation-lookup.html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b="1" u="sng" dirty="0">
                <a:solidFill>
                  <a:srgbClr val="D4A55D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841248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Reservation Lookup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2807208"/>
            <a:ext cx="2377440" cy="228600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Your Reservation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60120" y="3172968"/>
            <a:ext cx="292608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BBAF9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or Reservation Number</a:t>
            </a:r>
            <a:endParaRPr lang="en-US" sz="750" dirty="0"/>
          </a:p>
        </p:txBody>
      </p:sp>
      <p:sp>
        <p:nvSpPr>
          <p:cNvPr id="21" name="Text 19">
            <a:hlinkClick r:id="rId10" action="ppaction://hlinksldjump"/>
          </p:cNvPr>
          <p:cNvSpPr/>
          <p:nvPr/>
        </p:nvSpPr>
        <p:spPr>
          <a:xfrm>
            <a:off x="960120" y="3630168"/>
            <a:ext cx="960120" cy="310896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View Reservation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315968" y="2834640"/>
            <a:ext cx="2788920" cy="2194560"/>
          </a:xfrm>
          <a:prstGeom prst="rect">
            <a:avLst/>
          </a:prstGeom>
          <a:solidFill>
            <a:srgbClr val="FBF8F1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3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page supports guests who need to review an existing booking without starting over.</a:t>
            </a:r>
            <a:endParaRPr lang="en-US" sz="830" dirty="0"/>
          </a:p>
        </p:txBody>
      </p:sp>
      <p:sp>
        <p:nvSpPr>
          <p:cNvPr id="23" name="Text 21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Lookup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guests find their current reservation and open the reservation summary.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Search input accepts email or reservation number.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View Reservation links to Summary.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New booking links route back to Book Your Stay.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0" name="Text 28">
            <a:hlinkClick r:id="rId10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Summary</a:t>
            </a:r>
            <a:endParaRPr lang="en-US" sz="920" dirty="0"/>
          </a:p>
        </p:txBody>
      </p:sp>
      <p:sp>
        <p:nvSpPr>
          <p:cNvPr id="31" name="Text 29">
            <a:hlinkClick r:id="rId9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</a:t>
            </a:r>
            <a:endParaRPr lang="en-US" sz="920" dirty="0"/>
          </a:p>
        </p:txBody>
      </p:sp>
      <p:sp>
        <p:nvSpPr>
          <p:cNvPr id="32" name="Text 30">
            <a:hlinkClick r:id="rId5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920" dirty="0"/>
          </a:p>
        </p:txBody>
      </p:sp>
      <p:sp>
        <p:nvSpPr>
          <p:cNvPr id="33" name="Text 31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Reservation Lookup Prototype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Reservation Summary Prototype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Functional page prototype with clickable navigation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93776" y="1078992"/>
            <a:ext cx="7333488" cy="5157216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088136"/>
            <a:ext cx="7315200" cy="310896"/>
          </a:xfrm>
          <a:prstGeom prst="rect">
            <a:avLst/>
          </a:prstGeom>
          <a:solidFill>
            <a:srgbClr val="EDEDED"/>
          </a:solidFill>
          <a:ln w="12700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76656" y="1170432"/>
            <a:ext cx="53035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A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●  ●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325880" y="116128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moffatbaylodge.com/reservation-summary.html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566928" y="1207008"/>
            <a:ext cx="7178040" cy="530352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>
            <a:hlinkClick r:id="rId3" action="ppaction://hlinksldjump"/>
          </p:cNvPr>
          <p:cNvSpPr/>
          <p:nvPr/>
        </p:nvSpPr>
        <p:spPr>
          <a:xfrm>
            <a:off x="777240" y="13716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Moffat Bay Lodge</a:t>
            </a:r>
            <a:endParaRPr lang="en-US" sz="1050" dirty="0"/>
          </a:p>
        </p:txBody>
      </p:sp>
      <p:sp>
        <p:nvSpPr>
          <p:cNvPr id="11" name="Text 9">
            <a:hlinkClick r:id="rId3" action="ppaction://hlinksldjump"/>
          </p:cNvPr>
          <p:cNvSpPr/>
          <p:nvPr/>
        </p:nvSpPr>
        <p:spPr>
          <a:xfrm>
            <a:off x="254203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640" dirty="0"/>
          </a:p>
        </p:txBody>
      </p:sp>
      <p:sp>
        <p:nvSpPr>
          <p:cNvPr id="12" name="Text 10">
            <a:hlinkClick r:id="rId4" action="ppaction://hlinksldjump"/>
          </p:cNvPr>
          <p:cNvSpPr/>
          <p:nvPr/>
        </p:nvSpPr>
        <p:spPr>
          <a:xfrm>
            <a:off x="3108960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</a:t>
            </a:r>
            <a:endParaRPr lang="en-US" sz="640" dirty="0"/>
          </a:p>
        </p:txBody>
      </p:sp>
      <p:sp>
        <p:nvSpPr>
          <p:cNvPr id="13" name="Text 11">
            <a:hlinkClick r:id="rId5" action="ppaction://hlinksldjump"/>
          </p:cNvPr>
          <p:cNvSpPr/>
          <p:nvPr/>
        </p:nvSpPr>
        <p:spPr>
          <a:xfrm>
            <a:off x="3675888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640" dirty="0"/>
          </a:p>
        </p:txBody>
      </p:sp>
      <p:sp>
        <p:nvSpPr>
          <p:cNvPr id="14" name="Text 12">
            <a:hlinkClick r:id="rId6" action="ppaction://hlinksldjump"/>
          </p:cNvPr>
          <p:cNvSpPr/>
          <p:nvPr/>
        </p:nvSpPr>
        <p:spPr>
          <a:xfrm>
            <a:off x="4242816" y="1371600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640" dirty="0"/>
          </a:p>
        </p:txBody>
      </p:sp>
      <p:sp>
        <p:nvSpPr>
          <p:cNvPr id="15" name="Text 13">
            <a:hlinkClick r:id="rId7" action="ppaction://hlinksldjump"/>
          </p:cNvPr>
          <p:cNvSpPr/>
          <p:nvPr/>
        </p:nvSpPr>
        <p:spPr>
          <a:xfrm>
            <a:off x="4992624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640" dirty="0"/>
          </a:p>
        </p:txBody>
      </p:sp>
      <p:sp>
        <p:nvSpPr>
          <p:cNvPr id="16" name="Text 14">
            <a:hlinkClick r:id="rId8" action="ppaction://hlinksldjump"/>
          </p:cNvPr>
          <p:cNvSpPr/>
          <p:nvPr/>
        </p:nvSpPr>
        <p:spPr>
          <a:xfrm>
            <a:off x="5559552" y="137160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Login</a:t>
            </a:r>
            <a:endParaRPr lang="en-US" sz="640" dirty="0"/>
          </a:p>
        </p:txBody>
      </p:sp>
      <p:sp>
        <p:nvSpPr>
          <p:cNvPr id="17" name="Text 15">
            <a:hlinkClick r:id="rId9" action="ppaction://hlinksldjump"/>
          </p:cNvPr>
          <p:cNvSpPr/>
          <p:nvPr/>
        </p:nvSpPr>
        <p:spPr>
          <a:xfrm>
            <a:off x="6784848" y="1325880"/>
            <a:ext cx="640080" cy="24688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64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Now</a:t>
            </a:r>
            <a:endParaRPr lang="en-US" sz="640" dirty="0"/>
          </a:p>
        </p:txBody>
      </p:sp>
      <p:sp>
        <p:nvSpPr>
          <p:cNvPr id="18" name="Text 16"/>
          <p:cNvSpPr/>
          <p:nvPr/>
        </p:nvSpPr>
        <p:spPr>
          <a:xfrm>
            <a:off x="566928" y="1737360"/>
            <a:ext cx="7178040" cy="777240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2540" tIns="2540" rIns="2540" bIns="2540" rtlCol="0" anchor="ctr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Reservation Summary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2770632"/>
            <a:ext cx="2834640" cy="15179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 Details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Type: Queen Room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Guests: 2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Check-in: Selected date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Check-out: Selected date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4069080" y="2770632"/>
            <a:ext cx="2788920" cy="987552"/>
          </a:xfrm>
          <a:prstGeom prst="rect">
            <a:avLst/>
          </a:prstGeom>
          <a:solidFill>
            <a:srgbClr val="FBF8F1"/>
          </a:solidFill>
          <a:ln w="12700">
            <a:solidFill>
              <a:srgbClr val="DED8C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Confirm?</a:t>
            </a:r>
            <a:endParaRPr lang="en-US" sz="840" dirty="0"/>
          </a:p>
          <a:p>
            <a:pPr marL="0" indent="0" algn="l">
              <a:buNone/>
            </a:pPr>
            <a:r>
              <a:rPr lang="en-US" sz="84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reservation details and contact the lodge with questions.</a:t>
            </a:r>
            <a:endParaRPr lang="en-US" sz="840" dirty="0"/>
          </a:p>
        </p:txBody>
      </p:sp>
      <p:sp>
        <p:nvSpPr>
          <p:cNvPr id="21" name="Text 19">
            <a:hlinkClick r:id="rId9" action="ppaction://hlinksldjump"/>
          </p:cNvPr>
          <p:cNvSpPr/>
          <p:nvPr/>
        </p:nvSpPr>
        <p:spPr>
          <a:xfrm>
            <a:off x="4069080" y="3968496"/>
            <a:ext cx="1115568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Edit Reservation</a:t>
            </a:r>
            <a:endParaRPr lang="en-US" sz="700" dirty="0"/>
          </a:p>
        </p:txBody>
      </p:sp>
      <p:sp>
        <p:nvSpPr>
          <p:cNvPr id="22" name="Text 20">
            <a:hlinkClick r:id="rId5" action="ppaction://hlinksldjump"/>
          </p:cNvPr>
          <p:cNvSpPr/>
          <p:nvPr/>
        </p:nvSpPr>
        <p:spPr>
          <a:xfrm>
            <a:off x="5376672" y="3968496"/>
            <a:ext cx="1115568" cy="310896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7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Return to Rooms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914400" y="4718304"/>
            <a:ext cx="5943600" cy="502920"/>
          </a:xfrm>
          <a:prstGeom prst="rect">
            <a:avLst/>
          </a:prstGeom>
          <a:solidFill>
            <a:srgbClr val="EFE8DB"/>
          </a:solidFill>
          <a:ln w="12700">
            <a:solidFill>
              <a:srgbClr val="DED8C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33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Island Adventure Is Waiting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83880" y="113385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183880" y="1572768"/>
            <a:ext cx="345643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guest’s selected room, dates, and stay details before final approval or follow-up.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18388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interactions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11312" y="2761488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Edit Reservation returns to booking form.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8211312" y="3090672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Rooms link lets the guest compare options again.</a:t>
            </a:r>
            <a:endParaRPr lang="en-US" sz="1020" dirty="0"/>
          </a:p>
        </p:txBody>
      </p:sp>
      <p:sp>
        <p:nvSpPr>
          <p:cNvPr id="29" name="Text 27"/>
          <p:cNvSpPr/>
          <p:nvPr/>
        </p:nvSpPr>
        <p:spPr>
          <a:xfrm>
            <a:off x="8211312" y="3419856"/>
            <a:ext cx="3246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Attractions CTA supports trip planning after booking.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183880" y="4187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links</a:t>
            </a:r>
            <a:endParaRPr lang="en-US" sz="1100" dirty="0"/>
          </a:p>
        </p:txBody>
      </p:sp>
      <p:sp>
        <p:nvSpPr>
          <p:cNvPr id="31" name="Text 29">
            <a:hlinkClick r:id="rId9" action="ppaction://hlinksldjump"/>
          </p:cNvPr>
          <p:cNvSpPr/>
          <p:nvPr/>
        </p:nvSpPr>
        <p:spPr>
          <a:xfrm>
            <a:off x="8183880" y="4498848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Edit</a:t>
            </a:r>
            <a:endParaRPr lang="en-US" sz="920" dirty="0"/>
          </a:p>
        </p:txBody>
      </p:sp>
      <p:sp>
        <p:nvSpPr>
          <p:cNvPr id="32" name="Text 30">
            <a:hlinkClick r:id="rId5" action="ppaction://hlinksldjump"/>
          </p:cNvPr>
          <p:cNvSpPr/>
          <p:nvPr/>
        </p:nvSpPr>
        <p:spPr>
          <a:xfrm>
            <a:off x="8183880" y="4928616"/>
            <a:ext cx="1371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Rooms</a:t>
            </a:r>
            <a:endParaRPr lang="en-US" sz="920" dirty="0"/>
          </a:p>
        </p:txBody>
      </p:sp>
      <p:sp>
        <p:nvSpPr>
          <p:cNvPr id="33" name="Text 31">
            <a:hlinkClick r:id="rId6" action="ppaction://hlinksldjump"/>
          </p:cNvPr>
          <p:cNvSpPr/>
          <p:nvPr/>
        </p:nvSpPr>
        <p:spPr>
          <a:xfrm>
            <a:off x="8183880" y="5358384"/>
            <a:ext cx="1371600" cy="310896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92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Attractions</a:t>
            </a:r>
            <a:endParaRPr lang="en-US" sz="920" dirty="0"/>
          </a:p>
        </p:txBody>
      </p:sp>
      <p:sp>
        <p:nvSpPr>
          <p:cNvPr id="34" name="Text 32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Reservation Summary Prototype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Submission + Approval Checklist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slide to make sure the assignment requirements are covered before uploading.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02920" y="950976"/>
            <a:ext cx="11155680" cy="0"/>
          </a:xfrm>
          <a:prstGeom prst="line">
            <a:avLst/>
          </a:prstGeom>
          <a:noFill/>
          <a:ln w="12700">
            <a:solidFill>
              <a:srgbClr val="DED8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298448"/>
            <a:ext cx="4800600" cy="384048"/>
          </a:xfrm>
          <a:prstGeom prst="rect">
            <a:avLst/>
          </a:prstGeom>
          <a:solidFill>
            <a:srgbClr val="163B3A"/>
          </a:solidFill>
          <a:ln w="12700">
            <a:solidFill>
              <a:srgbClr val="163B3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Included in this prototype deck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1920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Realistic Landing Page mockup with color, layout, and font choices.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23317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Functional prototype slides for every website page built.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27432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Clickable navigation and CTA buttons inside the PowerPoint.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3154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User flow map for team approval walkthrough.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356616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Notes for page goals, key interactions, and approval discussion.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46520" y="1298448"/>
            <a:ext cx="4663440" cy="384048"/>
          </a:xfrm>
          <a:prstGeom prst="rect">
            <a:avLst/>
          </a:prstGeom>
          <a:solidFill>
            <a:srgbClr val="D4A55D"/>
          </a:solidFill>
          <a:ln w="12700">
            <a:solidFill>
              <a:srgbClr val="D4A55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3B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submission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1920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Update team Kanban board by the end of the week.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56832" y="2331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Schedule prototype/mockup approval appointment.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56832" y="2743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Zip prototype/mockup files for submission.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56832" y="3154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Attach ZIP file in the module assignment.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56832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Paste GitHub repository URL in the comments area.</a:t>
            </a:r>
            <a:endParaRPr lang="en-US" sz="1200" dirty="0"/>
          </a:p>
        </p:txBody>
      </p:sp>
      <p:sp>
        <p:nvSpPr>
          <p:cNvPr id="17" name="Text 15">
            <a:hlinkClick r:id="rId3" action="ppaction://hlinksldjump"/>
          </p:cNvPr>
          <p:cNvSpPr/>
          <p:nvPr/>
        </p:nvSpPr>
        <p:spPr>
          <a:xfrm>
            <a:off x="4846320" y="5422392"/>
            <a:ext cx="1554480" cy="384048"/>
          </a:xfrm>
          <a:prstGeom prst="rect">
            <a:avLst/>
          </a:prstGeom>
          <a:solidFill>
            <a:srgbClr val="163B3A"/>
          </a:solidFill>
          <a:ln>
            <a:solidFill>
              <a:srgbClr val="163B3A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 to Flow Map</a:t>
            </a:r>
            <a:endParaRPr lang="en-US" sz="1000" dirty="0"/>
          </a:p>
        </p:txBody>
      </p:sp>
      <p:sp>
        <p:nvSpPr>
          <p:cNvPr id="18" name="Text 16">
            <a:hlinkClick r:id="rId4" action="ppaction://hlinksldjump"/>
          </p:cNvPr>
          <p:cNvSpPr/>
          <p:nvPr/>
        </p:nvSpPr>
        <p:spPr>
          <a:xfrm>
            <a:off x="6629400" y="5422392"/>
            <a:ext cx="1554480" cy="384048"/>
          </a:xfrm>
          <a:prstGeom prst="rect">
            <a:avLst/>
          </a:prstGeom>
          <a:solidFill>
            <a:srgbClr val="D4A55D"/>
          </a:solidFill>
          <a:ln>
            <a:solidFill>
              <a:srgbClr val="D4A55D">
                <a:alpha val="0"/>
              </a:srgbClr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00" b="1" u="sng" dirty="0">
                <a:solidFill>
                  <a:srgbClr val="163B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 Prototype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47104"/>
            <a:ext cx="5303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D6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Moffat Bay Lodge Prototype | Submission Checklist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1558</Words>
  <Application>Microsoft Office PowerPoint</Application>
  <PresentationFormat>Widescreen</PresentationFormat>
  <Paragraphs>395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Tiffany Davidson</dc:creator>
  <cp:lastModifiedBy>Tiffany Davidson</cp:lastModifiedBy>
  <cp:revision>2</cp:revision>
  <dcterms:created xsi:type="dcterms:W3CDTF">2026-08-17T13:22:54Z</dcterms:created>
  <dcterms:modified xsi:type="dcterms:W3CDTF">2026-08-17T13:33:00Z</dcterms:modified>
</cp:coreProperties>
</file>