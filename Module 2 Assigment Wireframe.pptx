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5EFE5"/>
    <a:srgbClr val="132133"/>
    <a:srgbClr val="163B3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78" d="100"/>
          <a:sy n="78" d="100"/>
        </p:scale>
        <p:origin x="154"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635DB15-7D6E-4472-B99D-9906CF1DE234}" type="datetimeFigureOut">
              <a:rPr lang="en-US" smtClean="0"/>
              <a:t>8/19/2026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4D076F5-3447-4DA2-8E99-5DA35D376766}" type="slidenum">
              <a:rPr lang="en-US" smtClean="0"/>
              <a:t>‹#›</a:t>
            </a:fld>
            <a:endParaRPr lang="en-US"/>
          </a:p>
        </p:txBody>
      </p:sp>
    </p:spTree>
    <p:extLst>
      <p:ext uri="{BB962C8B-B14F-4D97-AF65-F5344CB8AC3E}">
        <p14:creationId xmlns:p14="http://schemas.microsoft.com/office/powerpoint/2010/main" val="62396383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3CE4A2-0155-A05C-AAF5-BBFDA9E37B2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EEC1CA4-16E4-B629-6F0E-0EEF4D7E5A6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3419F1BB-6298-3AAC-93AF-D5C8310B0446}"/>
              </a:ext>
            </a:extLst>
          </p:cNvPr>
          <p:cNvSpPr>
            <a:spLocks noGrp="1"/>
          </p:cNvSpPr>
          <p:nvPr>
            <p:ph type="dt" sz="half" idx="10"/>
          </p:nvPr>
        </p:nvSpPr>
        <p:spPr/>
        <p:txBody>
          <a:bodyPr/>
          <a:lstStyle/>
          <a:p>
            <a:fld id="{DD5FEBA2-C475-4F4F-B1DA-6AC3BCF25491}" type="datetimeFigureOut">
              <a:rPr lang="en-US" smtClean="0"/>
              <a:t>8/19/2026</a:t>
            </a:fld>
            <a:endParaRPr lang="en-US"/>
          </a:p>
        </p:txBody>
      </p:sp>
      <p:sp>
        <p:nvSpPr>
          <p:cNvPr id="5" name="Footer Placeholder 4">
            <a:extLst>
              <a:ext uri="{FF2B5EF4-FFF2-40B4-BE49-F238E27FC236}">
                <a16:creationId xmlns:a16="http://schemas.microsoft.com/office/drawing/2014/main" id="{61B29333-C17D-8F41-90EC-56CE4FA6013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AADCD2F-0A04-79C3-4783-FCF699FCCCEC}"/>
              </a:ext>
            </a:extLst>
          </p:cNvPr>
          <p:cNvSpPr>
            <a:spLocks noGrp="1"/>
          </p:cNvSpPr>
          <p:nvPr>
            <p:ph type="sldNum" sz="quarter" idx="12"/>
          </p:nvPr>
        </p:nvSpPr>
        <p:spPr/>
        <p:txBody>
          <a:bodyPr/>
          <a:lstStyle/>
          <a:p>
            <a:fld id="{909185F2-FDE0-4379-9660-6AB1AB775FC0}" type="slidenum">
              <a:rPr lang="en-US" smtClean="0"/>
              <a:t>‹#›</a:t>
            </a:fld>
            <a:endParaRPr lang="en-US"/>
          </a:p>
        </p:txBody>
      </p:sp>
    </p:spTree>
    <p:extLst>
      <p:ext uri="{BB962C8B-B14F-4D97-AF65-F5344CB8AC3E}">
        <p14:creationId xmlns:p14="http://schemas.microsoft.com/office/powerpoint/2010/main" val="158549537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9B91FB-ED08-5951-8A5A-D8944DBB896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E9BB92D-9F22-E006-B20E-F27A6E23BAF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8F411F8-2C5A-5B33-A3C5-986371A2BFB0}"/>
              </a:ext>
            </a:extLst>
          </p:cNvPr>
          <p:cNvSpPr>
            <a:spLocks noGrp="1"/>
          </p:cNvSpPr>
          <p:nvPr>
            <p:ph type="dt" sz="half" idx="10"/>
          </p:nvPr>
        </p:nvSpPr>
        <p:spPr/>
        <p:txBody>
          <a:bodyPr/>
          <a:lstStyle/>
          <a:p>
            <a:fld id="{DD5FEBA2-C475-4F4F-B1DA-6AC3BCF25491}" type="datetimeFigureOut">
              <a:rPr lang="en-US" smtClean="0"/>
              <a:t>8/19/2026</a:t>
            </a:fld>
            <a:endParaRPr lang="en-US"/>
          </a:p>
        </p:txBody>
      </p:sp>
      <p:sp>
        <p:nvSpPr>
          <p:cNvPr id="5" name="Footer Placeholder 4">
            <a:extLst>
              <a:ext uri="{FF2B5EF4-FFF2-40B4-BE49-F238E27FC236}">
                <a16:creationId xmlns:a16="http://schemas.microsoft.com/office/drawing/2014/main" id="{3890D87B-9377-76ED-C8F5-5191A5AEC55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C7BEFA1-2E2D-A0A8-11AE-145BB097F5E6}"/>
              </a:ext>
            </a:extLst>
          </p:cNvPr>
          <p:cNvSpPr>
            <a:spLocks noGrp="1"/>
          </p:cNvSpPr>
          <p:nvPr>
            <p:ph type="sldNum" sz="quarter" idx="12"/>
          </p:nvPr>
        </p:nvSpPr>
        <p:spPr/>
        <p:txBody>
          <a:bodyPr/>
          <a:lstStyle/>
          <a:p>
            <a:fld id="{909185F2-FDE0-4379-9660-6AB1AB775FC0}" type="slidenum">
              <a:rPr lang="en-US" smtClean="0"/>
              <a:t>‹#›</a:t>
            </a:fld>
            <a:endParaRPr lang="en-US"/>
          </a:p>
        </p:txBody>
      </p:sp>
    </p:spTree>
    <p:extLst>
      <p:ext uri="{BB962C8B-B14F-4D97-AF65-F5344CB8AC3E}">
        <p14:creationId xmlns:p14="http://schemas.microsoft.com/office/powerpoint/2010/main" val="7363268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8D72C3-5BAA-A10E-3285-67305AEF927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DAEBD943-089A-2C66-B80E-E40BAC83C62D}"/>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20D70DF-B1E4-7642-0A89-B051BC90175E}"/>
              </a:ext>
            </a:extLst>
          </p:cNvPr>
          <p:cNvSpPr>
            <a:spLocks noGrp="1"/>
          </p:cNvSpPr>
          <p:nvPr>
            <p:ph type="dt" sz="half" idx="10"/>
          </p:nvPr>
        </p:nvSpPr>
        <p:spPr/>
        <p:txBody>
          <a:bodyPr/>
          <a:lstStyle/>
          <a:p>
            <a:fld id="{DD5FEBA2-C475-4F4F-B1DA-6AC3BCF25491}" type="datetimeFigureOut">
              <a:rPr lang="en-US" smtClean="0"/>
              <a:t>8/19/2026</a:t>
            </a:fld>
            <a:endParaRPr lang="en-US"/>
          </a:p>
        </p:txBody>
      </p:sp>
      <p:sp>
        <p:nvSpPr>
          <p:cNvPr id="5" name="Footer Placeholder 4">
            <a:extLst>
              <a:ext uri="{FF2B5EF4-FFF2-40B4-BE49-F238E27FC236}">
                <a16:creationId xmlns:a16="http://schemas.microsoft.com/office/drawing/2014/main" id="{25E907DA-71ED-6A8F-CF58-B8C6791AEFD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A62E472-952E-4900-13EE-F620FDAFDF48}"/>
              </a:ext>
            </a:extLst>
          </p:cNvPr>
          <p:cNvSpPr>
            <a:spLocks noGrp="1"/>
          </p:cNvSpPr>
          <p:nvPr>
            <p:ph type="sldNum" sz="quarter" idx="12"/>
          </p:nvPr>
        </p:nvSpPr>
        <p:spPr/>
        <p:txBody>
          <a:bodyPr/>
          <a:lstStyle/>
          <a:p>
            <a:fld id="{909185F2-FDE0-4379-9660-6AB1AB775FC0}" type="slidenum">
              <a:rPr lang="en-US" smtClean="0"/>
              <a:t>‹#›</a:t>
            </a:fld>
            <a:endParaRPr lang="en-US"/>
          </a:p>
        </p:txBody>
      </p:sp>
    </p:spTree>
    <p:extLst>
      <p:ext uri="{BB962C8B-B14F-4D97-AF65-F5344CB8AC3E}">
        <p14:creationId xmlns:p14="http://schemas.microsoft.com/office/powerpoint/2010/main" val="23673309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0B95B3-A267-9C5E-AC87-62423339E1B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CAF2F3C-C019-8721-948D-9F11E50C714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52C0271-09DA-6AC9-DF82-6C8E62FC3A6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D37CB97-D526-83AC-8B37-20B914263C48}"/>
              </a:ext>
            </a:extLst>
          </p:cNvPr>
          <p:cNvSpPr>
            <a:spLocks noGrp="1"/>
          </p:cNvSpPr>
          <p:nvPr>
            <p:ph type="dt" sz="half" idx="10"/>
          </p:nvPr>
        </p:nvSpPr>
        <p:spPr/>
        <p:txBody>
          <a:bodyPr/>
          <a:lstStyle/>
          <a:p>
            <a:fld id="{DD5FEBA2-C475-4F4F-B1DA-6AC3BCF25491}" type="datetimeFigureOut">
              <a:rPr lang="en-US" smtClean="0"/>
              <a:t>8/19/2026</a:t>
            </a:fld>
            <a:endParaRPr lang="en-US"/>
          </a:p>
        </p:txBody>
      </p:sp>
      <p:sp>
        <p:nvSpPr>
          <p:cNvPr id="6" name="Footer Placeholder 5">
            <a:extLst>
              <a:ext uri="{FF2B5EF4-FFF2-40B4-BE49-F238E27FC236}">
                <a16:creationId xmlns:a16="http://schemas.microsoft.com/office/drawing/2014/main" id="{F58D21C6-D9DD-CEAE-D600-FDA731D09B3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23209A7-BA73-35C5-3761-AA1F8DDCDC3E}"/>
              </a:ext>
            </a:extLst>
          </p:cNvPr>
          <p:cNvSpPr>
            <a:spLocks noGrp="1"/>
          </p:cNvSpPr>
          <p:nvPr>
            <p:ph type="sldNum" sz="quarter" idx="12"/>
          </p:nvPr>
        </p:nvSpPr>
        <p:spPr/>
        <p:txBody>
          <a:bodyPr/>
          <a:lstStyle/>
          <a:p>
            <a:fld id="{909185F2-FDE0-4379-9660-6AB1AB775FC0}" type="slidenum">
              <a:rPr lang="en-US" smtClean="0"/>
              <a:t>‹#›</a:t>
            </a:fld>
            <a:endParaRPr lang="en-US"/>
          </a:p>
        </p:txBody>
      </p:sp>
    </p:spTree>
    <p:extLst>
      <p:ext uri="{BB962C8B-B14F-4D97-AF65-F5344CB8AC3E}">
        <p14:creationId xmlns:p14="http://schemas.microsoft.com/office/powerpoint/2010/main" val="422690356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30A059-DD14-D336-0962-488FFF1B731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9D77A254-7BAE-6B45-D89F-ED13E69884A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A86CAF9-9534-4079-6A93-6297526F67E0}"/>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6E836A7B-CE72-195E-25D3-D782EDE1461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8928A44-E64A-6698-34EC-B77B7BCA52E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1ABE73F-4645-0BA5-3E2E-BBB8FD4A5AC1}"/>
              </a:ext>
            </a:extLst>
          </p:cNvPr>
          <p:cNvSpPr>
            <a:spLocks noGrp="1"/>
          </p:cNvSpPr>
          <p:nvPr>
            <p:ph type="dt" sz="half" idx="10"/>
          </p:nvPr>
        </p:nvSpPr>
        <p:spPr/>
        <p:txBody>
          <a:bodyPr/>
          <a:lstStyle/>
          <a:p>
            <a:fld id="{DD5FEBA2-C475-4F4F-B1DA-6AC3BCF25491}" type="datetimeFigureOut">
              <a:rPr lang="en-US" smtClean="0"/>
              <a:t>8/19/2026</a:t>
            </a:fld>
            <a:endParaRPr lang="en-US"/>
          </a:p>
        </p:txBody>
      </p:sp>
      <p:sp>
        <p:nvSpPr>
          <p:cNvPr id="8" name="Footer Placeholder 7">
            <a:extLst>
              <a:ext uri="{FF2B5EF4-FFF2-40B4-BE49-F238E27FC236}">
                <a16:creationId xmlns:a16="http://schemas.microsoft.com/office/drawing/2014/main" id="{01A77963-35AF-9F83-B9C4-76724B810AC5}"/>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C3E934C7-5539-36CE-9CDD-AD51B3D80AE7}"/>
              </a:ext>
            </a:extLst>
          </p:cNvPr>
          <p:cNvSpPr>
            <a:spLocks noGrp="1"/>
          </p:cNvSpPr>
          <p:nvPr>
            <p:ph type="sldNum" sz="quarter" idx="12"/>
          </p:nvPr>
        </p:nvSpPr>
        <p:spPr/>
        <p:txBody>
          <a:bodyPr/>
          <a:lstStyle/>
          <a:p>
            <a:fld id="{909185F2-FDE0-4379-9660-6AB1AB775FC0}" type="slidenum">
              <a:rPr lang="en-US" smtClean="0"/>
              <a:t>‹#›</a:t>
            </a:fld>
            <a:endParaRPr lang="en-US"/>
          </a:p>
        </p:txBody>
      </p:sp>
    </p:spTree>
    <p:extLst>
      <p:ext uri="{BB962C8B-B14F-4D97-AF65-F5344CB8AC3E}">
        <p14:creationId xmlns:p14="http://schemas.microsoft.com/office/powerpoint/2010/main" val="356780300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7CE877-0C79-D784-B993-45D9241DA3D9}"/>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EB2E4F0F-7A11-6C9E-D7D2-22D3414FCFC8}"/>
              </a:ext>
            </a:extLst>
          </p:cNvPr>
          <p:cNvSpPr>
            <a:spLocks noGrp="1"/>
          </p:cNvSpPr>
          <p:nvPr>
            <p:ph type="dt" sz="half" idx="10"/>
          </p:nvPr>
        </p:nvSpPr>
        <p:spPr/>
        <p:txBody>
          <a:bodyPr/>
          <a:lstStyle/>
          <a:p>
            <a:fld id="{DD5FEBA2-C475-4F4F-B1DA-6AC3BCF25491}" type="datetimeFigureOut">
              <a:rPr lang="en-US" smtClean="0"/>
              <a:t>8/19/2026</a:t>
            </a:fld>
            <a:endParaRPr lang="en-US"/>
          </a:p>
        </p:txBody>
      </p:sp>
      <p:sp>
        <p:nvSpPr>
          <p:cNvPr id="4" name="Footer Placeholder 3">
            <a:extLst>
              <a:ext uri="{FF2B5EF4-FFF2-40B4-BE49-F238E27FC236}">
                <a16:creationId xmlns:a16="http://schemas.microsoft.com/office/drawing/2014/main" id="{386CC4B6-A626-C7C9-FFD3-7826791A258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CD0ED10-94EC-C057-E8E0-EE91C0840C7D}"/>
              </a:ext>
            </a:extLst>
          </p:cNvPr>
          <p:cNvSpPr>
            <a:spLocks noGrp="1"/>
          </p:cNvSpPr>
          <p:nvPr>
            <p:ph type="sldNum" sz="quarter" idx="12"/>
          </p:nvPr>
        </p:nvSpPr>
        <p:spPr/>
        <p:txBody>
          <a:bodyPr/>
          <a:lstStyle/>
          <a:p>
            <a:fld id="{909185F2-FDE0-4379-9660-6AB1AB775FC0}" type="slidenum">
              <a:rPr lang="en-US" smtClean="0"/>
              <a:t>‹#›</a:t>
            </a:fld>
            <a:endParaRPr lang="en-US"/>
          </a:p>
        </p:txBody>
      </p:sp>
    </p:spTree>
    <p:extLst>
      <p:ext uri="{BB962C8B-B14F-4D97-AF65-F5344CB8AC3E}">
        <p14:creationId xmlns:p14="http://schemas.microsoft.com/office/powerpoint/2010/main" val="102103208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988FDF5-8F5F-1B44-A602-99BDDA5CE2C8}"/>
              </a:ext>
            </a:extLst>
          </p:cNvPr>
          <p:cNvSpPr>
            <a:spLocks noGrp="1"/>
          </p:cNvSpPr>
          <p:nvPr>
            <p:ph type="dt" sz="half" idx="10"/>
          </p:nvPr>
        </p:nvSpPr>
        <p:spPr/>
        <p:txBody>
          <a:bodyPr/>
          <a:lstStyle/>
          <a:p>
            <a:fld id="{DD5FEBA2-C475-4F4F-B1DA-6AC3BCF25491}" type="datetimeFigureOut">
              <a:rPr lang="en-US" smtClean="0"/>
              <a:t>8/19/2026</a:t>
            </a:fld>
            <a:endParaRPr lang="en-US"/>
          </a:p>
        </p:txBody>
      </p:sp>
      <p:sp>
        <p:nvSpPr>
          <p:cNvPr id="3" name="Footer Placeholder 2">
            <a:extLst>
              <a:ext uri="{FF2B5EF4-FFF2-40B4-BE49-F238E27FC236}">
                <a16:creationId xmlns:a16="http://schemas.microsoft.com/office/drawing/2014/main" id="{267F3CE6-EE7E-5EE8-B6E1-990C6B86731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2D154164-1DDA-18D3-BE82-9DA2528D0026}"/>
              </a:ext>
            </a:extLst>
          </p:cNvPr>
          <p:cNvSpPr>
            <a:spLocks noGrp="1"/>
          </p:cNvSpPr>
          <p:nvPr>
            <p:ph type="sldNum" sz="quarter" idx="12"/>
          </p:nvPr>
        </p:nvSpPr>
        <p:spPr/>
        <p:txBody>
          <a:bodyPr/>
          <a:lstStyle/>
          <a:p>
            <a:fld id="{909185F2-FDE0-4379-9660-6AB1AB775FC0}" type="slidenum">
              <a:rPr lang="en-US" smtClean="0"/>
              <a:t>‹#›</a:t>
            </a:fld>
            <a:endParaRPr lang="en-US"/>
          </a:p>
        </p:txBody>
      </p:sp>
    </p:spTree>
    <p:extLst>
      <p:ext uri="{BB962C8B-B14F-4D97-AF65-F5344CB8AC3E}">
        <p14:creationId xmlns:p14="http://schemas.microsoft.com/office/powerpoint/2010/main" val="2296967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FE1C1C-88B1-6C82-1556-87AAC554C40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DE3369C-9E32-2BCD-299A-B1C1AA9617F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FA6EDEE-F977-CEF3-39D3-08D5C91BF7B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A849E5B-B917-5055-9035-6F4FB33A2765}"/>
              </a:ext>
            </a:extLst>
          </p:cNvPr>
          <p:cNvSpPr>
            <a:spLocks noGrp="1"/>
          </p:cNvSpPr>
          <p:nvPr>
            <p:ph type="dt" sz="half" idx="10"/>
          </p:nvPr>
        </p:nvSpPr>
        <p:spPr/>
        <p:txBody>
          <a:bodyPr/>
          <a:lstStyle/>
          <a:p>
            <a:fld id="{DD5FEBA2-C475-4F4F-B1DA-6AC3BCF25491}" type="datetimeFigureOut">
              <a:rPr lang="en-US" smtClean="0"/>
              <a:t>8/19/2026</a:t>
            </a:fld>
            <a:endParaRPr lang="en-US"/>
          </a:p>
        </p:txBody>
      </p:sp>
      <p:sp>
        <p:nvSpPr>
          <p:cNvPr id="6" name="Footer Placeholder 5">
            <a:extLst>
              <a:ext uri="{FF2B5EF4-FFF2-40B4-BE49-F238E27FC236}">
                <a16:creationId xmlns:a16="http://schemas.microsoft.com/office/drawing/2014/main" id="{A467E325-6406-F480-E79C-AE9351CFA15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E3084D0-5DD5-EBF6-3F02-32E16FC3C894}"/>
              </a:ext>
            </a:extLst>
          </p:cNvPr>
          <p:cNvSpPr>
            <a:spLocks noGrp="1"/>
          </p:cNvSpPr>
          <p:nvPr>
            <p:ph type="sldNum" sz="quarter" idx="12"/>
          </p:nvPr>
        </p:nvSpPr>
        <p:spPr/>
        <p:txBody>
          <a:bodyPr/>
          <a:lstStyle/>
          <a:p>
            <a:fld id="{909185F2-FDE0-4379-9660-6AB1AB775FC0}" type="slidenum">
              <a:rPr lang="en-US" smtClean="0"/>
              <a:t>‹#›</a:t>
            </a:fld>
            <a:endParaRPr lang="en-US"/>
          </a:p>
        </p:txBody>
      </p:sp>
    </p:spTree>
    <p:extLst>
      <p:ext uri="{BB962C8B-B14F-4D97-AF65-F5344CB8AC3E}">
        <p14:creationId xmlns:p14="http://schemas.microsoft.com/office/powerpoint/2010/main" val="248179181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E69A65-1700-5996-2381-8A9EC5B65BD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93474CE2-285E-B301-8B3A-A85A564A140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D8BFF256-CB98-E565-A17F-E879CB68576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FC385DB-42C3-E76D-ACFD-559961FF480E}"/>
              </a:ext>
            </a:extLst>
          </p:cNvPr>
          <p:cNvSpPr>
            <a:spLocks noGrp="1"/>
          </p:cNvSpPr>
          <p:nvPr>
            <p:ph type="dt" sz="half" idx="10"/>
          </p:nvPr>
        </p:nvSpPr>
        <p:spPr/>
        <p:txBody>
          <a:bodyPr/>
          <a:lstStyle/>
          <a:p>
            <a:fld id="{DD5FEBA2-C475-4F4F-B1DA-6AC3BCF25491}" type="datetimeFigureOut">
              <a:rPr lang="en-US" smtClean="0"/>
              <a:t>8/19/2026</a:t>
            </a:fld>
            <a:endParaRPr lang="en-US"/>
          </a:p>
        </p:txBody>
      </p:sp>
      <p:sp>
        <p:nvSpPr>
          <p:cNvPr id="6" name="Footer Placeholder 5">
            <a:extLst>
              <a:ext uri="{FF2B5EF4-FFF2-40B4-BE49-F238E27FC236}">
                <a16:creationId xmlns:a16="http://schemas.microsoft.com/office/drawing/2014/main" id="{DB59BC7E-CC21-EA51-543C-DDD08C7BC86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C010CE7-B052-F965-34DD-DFEF4A5B2D64}"/>
              </a:ext>
            </a:extLst>
          </p:cNvPr>
          <p:cNvSpPr>
            <a:spLocks noGrp="1"/>
          </p:cNvSpPr>
          <p:nvPr>
            <p:ph type="sldNum" sz="quarter" idx="12"/>
          </p:nvPr>
        </p:nvSpPr>
        <p:spPr/>
        <p:txBody>
          <a:bodyPr/>
          <a:lstStyle/>
          <a:p>
            <a:fld id="{909185F2-FDE0-4379-9660-6AB1AB775FC0}" type="slidenum">
              <a:rPr lang="en-US" smtClean="0"/>
              <a:t>‹#›</a:t>
            </a:fld>
            <a:endParaRPr lang="en-US"/>
          </a:p>
        </p:txBody>
      </p:sp>
    </p:spTree>
    <p:extLst>
      <p:ext uri="{BB962C8B-B14F-4D97-AF65-F5344CB8AC3E}">
        <p14:creationId xmlns:p14="http://schemas.microsoft.com/office/powerpoint/2010/main" val="291110606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D14261-9401-684A-C9AA-5DDAABC5C304}"/>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6971F7D-AA47-797B-5850-B2C57AA8438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72746B1-EB72-477F-15EA-5DB3D75ED5F6}"/>
              </a:ext>
            </a:extLst>
          </p:cNvPr>
          <p:cNvSpPr>
            <a:spLocks noGrp="1"/>
          </p:cNvSpPr>
          <p:nvPr>
            <p:ph type="dt" sz="half" idx="10"/>
          </p:nvPr>
        </p:nvSpPr>
        <p:spPr/>
        <p:txBody>
          <a:bodyPr/>
          <a:lstStyle/>
          <a:p>
            <a:fld id="{DD5FEBA2-C475-4F4F-B1DA-6AC3BCF25491}" type="datetimeFigureOut">
              <a:rPr lang="en-US" smtClean="0"/>
              <a:t>8/19/2026</a:t>
            </a:fld>
            <a:endParaRPr lang="en-US"/>
          </a:p>
        </p:txBody>
      </p:sp>
      <p:sp>
        <p:nvSpPr>
          <p:cNvPr id="5" name="Footer Placeholder 4">
            <a:extLst>
              <a:ext uri="{FF2B5EF4-FFF2-40B4-BE49-F238E27FC236}">
                <a16:creationId xmlns:a16="http://schemas.microsoft.com/office/drawing/2014/main" id="{8C0ADC89-A98E-C277-E1E8-34CBF7F7D67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880DC25-0B14-CC9B-D835-44A3382BE75F}"/>
              </a:ext>
            </a:extLst>
          </p:cNvPr>
          <p:cNvSpPr>
            <a:spLocks noGrp="1"/>
          </p:cNvSpPr>
          <p:nvPr>
            <p:ph type="sldNum" sz="quarter" idx="12"/>
          </p:nvPr>
        </p:nvSpPr>
        <p:spPr/>
        <p:txBody>
          <a:bodyPr/>
          <a:lstStyle/>
          <a:p>
            <a:fld id="{909185F2-FDE0-4379-9660-6AB1AB775FC0}" type="slidenum">
              <a:rPr lang="en-US" smtClean="0"/>
              <a:t>‹#›</a:t>
            </a:fld>
            <a:endParaRPr lang="en-US"/>
          </a:p>
        </p:txBody>
      </p:sp>
    </p:spTree>
    <p:extLst>
      <p:ext uri="{BB962C8B-B14F-4D97-AF65-F5344CB8AC3E}">
        <p14:creationId xmlns:p14="http://schemas.microsoft.com/office/powerpoint/2010/main" val="142011915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8261098-BE1A-D11A-2438-CA72428C0247}"/>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1A9981C4-A98C-D95E-6D49-81B607F6459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FA7BA21-BDDB-F033-BA91-E0C407E0D946}"/>
              </a:ext>
            </a:extLst>
          </p:cNvPr>
          <p:cNvSpPr>
            <a:spLocks noGrp="1"/>
          </p:cNvSpPr>
          <p:nvPr>
            <p:ph type="dt" sz="half" idx="10"/>
          </p:nvPr>
        </p:nvSpPr>
        <p:spPr/>
        <p:txBody>
          <a:bodyPr/>
          <a:lstStyle/>
          <a:p>
            <a:fld id="{DD5FEBA2-C475-4F4F-B1DA-6AC3BCF25491}" type="datetimeFigureOut">
              <a:rPr lang="en-US" smtClean="0"/>
              <a:t>8/19/2026</a:t>
            </a:fld>
            <a:endParaRPr lang="en-US"/>
          </a:p>
        </p:txBody>
      </p:sp>
      <p:sp>
        <p:nvSpPr>
          <p:cNvPr id="5" name="Footer Placeholder 4">
            <a:extLst>
              <a:ext uri="{FF2B5EF4-FFF2-40B4-BE49-F238E27FC236}">
                <a16:creationId xmlns:a16="http://schemas.microsoft.com/office/drawing/2014/main" id="{4C37E778-C888-1CAA-F70C-5520A207D15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63043CA-CE61-38F9-4975-63A5330E510A}"/>
              </a:ext>
            </a:extLst>
          </p:cNvPr>
          <p:cNvSpPr>
            <a:spLocks noGrp="1"/>
          </p:cNvSpPr>
          <p:nvPr>
            <p:ph type="sldNum" sz="quarter" idx="12"/>
          </p:nvPr>
        </p:nvSpPr>
        <p:spPr/>
        <p:txBody>
          <a:bodyPr/>
          <a:lstStyle/>
          <a:p>
            <a:fld id="{909185F2-FDE0-4379-9660-6AB1AB775FC0}" type="slidenum">
              <a:rPr lang="en-US" smtClean="0"/>
              <a:t>‹#›</a:t>
            </a:fld>
            <a:endParaRPr lang="en-US"/>
          </a:p>
        </p:txBody>
      </p:sp>
    </p:spTree>
    <p:extLst>
      <p:ext uri="{BB962C8B-B14F-4D97-AF65-F5344CB8AC3E}">
        <p14:creationId xmlns:p14="http://schemas.microsoft.com/office/powerpoint/2010/main" val="26862538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43928109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37CB8F2-7A74-A422-E451-534F9636D55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343F6F89-7765-EFBA-143F-42782B0B4B3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D20F67F-0DEC-A33D-1DD0-69F2A01D801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DD5FEBA2-C475-4F4F-B1DA-6AC3BCF25491}" type="datetimeFigureOut">
              <a:rPr lang="en-US" smtClean="0"/>
              <a:t>8/19/2026</a:t>
            </a:fld>
            <a:endParaRPr lang="en-US"/>
          </a:p>
        </p:txBody>
      </p:sp>
      <p:sp>
        <p:nvSpPr>
          <p:cNvPr id="5" name="Footer Placeholder 4">
            <a:extLst>
              <a:ext uri="{FF2B5EF4-FFF2-40B4-BE49-F238E27FC236}">
                <a16:creationId xmlns:a16="http://schemas.microsoft.com/office/drawing/2014/main" id="{04ABB39D-98B6-C693-1053-BED240B6A3D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33999B3C-FDCB-E0F9-A157-E97169C1693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09185F2-FDE0-4379-9660-6AB1AB775FC0}" type="slidenum">
              <a:rPr lang="en-US" smtClean="0"/>
              <a:t>‹#›</a:t>
            </a:fld>
            <a:endParaRPr lang="en-US"/>
          </a:p>
        </p:txBody>
      </p:sp>
    </p:spTree>
    <p:extLst>
      <p:ext uri="{BB962C8B-B14F-4D97-AF65-F5344CB8AC3E}">
        <p14:creationId xmlns:p14="http://schemas.microsoft.com/office/powerpoint/2010/main" val="229907738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 Target="slide2.xml"/><Relationship Id="rId7" Type="http://schemas.openxmlformats.org/officeDocument/2006/relationships/slide" Target="slide11.xml"/><Relationship Id="rId2" Type="http://schemas.openxmlformats.org/officeDocument/2006/relationships/notesSlide" Target="../notesSlides/notesSlide1.xml"/><Relationship Id="rId1" Type="http://schemas.openxmlformats.org/officeDocument/2006/relationships/slideLayout" Target="../slideLayouts/slideLayout12.xml"/><Relationship Id="rId6" Type="http://schemas.openxmlformats.org/officeDocument/2006/relationships/slide" Target="slide10.xml"/><Relationship Id="rId5" Type="http://schemas.openxmlformats.org/officeDocument/2006/relationships/slide" Target="slide5.xml"/><Relationship Id="rId4" Type="http://schemas.openxmlformats.org/officeDocument/2006/relationships/slide" Target="slide3.xml"/></Relationships>
</file>

<file path=ppt/slides/_rels/slide2.xml.rels><?xml version="1.0" encoding="UTF-8" standalone="yes"?>
<Relationships xmlns="http://schemas.openxmlformats.org/package/2006/relationships"><Relationship Id="rId8" Type="http://schemas.openxmlformats.org/officeDocument/2006/relationships/slide" Target="slide6.xml"/><Relationship Id="rId3" Type="http://schemas.openxmlformats.org/officeDocument/2006/relationships/slide" Target="slide3.xml"/><Relationship Id="rId7" Type="http://schemas.openxmlformats.org/officeDocument/2006/relationships/slide" Target="slide4.xml"/><Relationship Id="rId12" Type="http://schemas.openxmlformats.org/officeDocument/2006/relationships/slide" Target="slide2.xml"/><Relationship Id="rId2" Type="http://schemas.openxmlformats.org/officeDocument/2006/relationships/notesSlide" Target="../notesSlides/notesSlide2.xml"/><Relationship Id="rId1" Type="http://schemas.openxmlformats.org/officeDocument/2006/relationships/slideLayout" Target="../slideLayouts/slideLayout12.xml"/><Relationship Id="rId6" Type="http://schemas.openxmlformats.org/officeDocument/2006/relationships/slide" Target="slide12.xml"/><Relationship Id="rId11" Type="http://schemas.openxmlformats.org/officeDocument/2006/relationships/slide" Target="slide11.xml"/><Relationship Id="rId5" Type="http://schemas.openxmlformats.org/officeDocument/2006/relationships/slide" Target="slide10.xml"/><Relationship Id="rId10" Type="http://schemas.openxmlformats.org/officeDocument/2006/relationships/slide" Target="slide8.xml"/><Relationship Id="rId4" Type="http://schemas.openxmlformats.org/officeDocument/2006/relationships/slide" Target="slide5.xml"/><Relationship Id="rId9" Type="http://schemas.openxmlformats.org/officeDocument/2006/relationships/slide" Target="slide7.xml"/></Relationships>
</file>

<file path=ppt/slides/_rels/slide3.xml.rels><?xml version="1.0" encoding="UTF-8" standalone="yes"?>
<Relationships xmlns="http://schemas.openxmlformats.org/package/2006/relationships"><Relationship Id="rId8" Type="http://schemas.openxmlformats.org/officeDocument/2006/relationships/slide" Target="slide10.xml"/><Relationship Id="rId3" Type="http://schemas.openxmlformats.org/officeDocument/2006/relationships/slide" Target="slide3.xml"/><Relationship Id="rId7" Type="http://schemas.openxmlformats.org/officeDocument/2006/relationships/slide" Target="slide7.xml"/><Relationship Id="rId12" Type="http://schemas.openxmlformats.org/officeDocument/2006/relationships/slide" Target="slide2.xml"/><Relationship Id="rId2" Type="http://schemas.openxmlformats.org/officeDocument/2006/relationships/notesSlide" Target="../notesSlides/notesSlide3.xml"/><Relationship Id="rId1" Type="http://schemas.openxmlformats.org/officeDocument/2006/relationships/slideLayout" Target="../slideLayouts/slideLayout12.xml"/><Relationship Id="rId6" Type="http://schemas.openxmlformats.org/officeDocument/2006/relationships/slide" Target="slide6.xml"/><Relationship Id="rId11" Type="http://schemas.openxmlformats.org/officeDocument/2006/relationships/slide" Target="slide11.xml"/><Relationship Id="rId5" Type="http://schemas.openxmlformats.org/officeDocument/2006/relationships/slide" Target="slide5.xml"/><Relationship Id="rId10" Type="http://schemas.openxmlformats.org/officeDocument/2006/relationships/slide" Target="slide9.xml"/><Relationship Id="rId4" Type="http://schemas.openxmlformats.org/officeDocument/2006/relationships/slide" Target="slide4.xml"/><Relationship Id="rId9" Type="http://schemas.openxmlformats.org/officeDocument/2006/relationships/slide" Target="slide8.xml"/></Relationships>
</file>

<file path=ppt/slides/_rels/slide4.xml.rels><?xml version="1.0" encoding="UTF-8" standalone="yes"?>
<Relationships xmlns="http://schemas.openxmlformats.org/package/2006/relationships"><Relationship Id="rId8" Type="http://schemas.openxmlformats.org/officeDocument/2006/relationships/slide" Target="slide10.xml"/><Relationship Id="rId3" Type="http://schemas.openxmlformats.org/officeDocument/2006/relationships/slide" Target="slide3.xml"/><Relationship Id="rId7" Type="http://schemas.openxmlformats.org/officeDocument/2006/relationships/slide" Target="slide7.xml"/><Relationship Id="rId12" Type="http://schemas.openxmlformats.org/officeDocument/2006/relationships/slide" Target="slide2.xml"/><Relationship Id="rId2" Type="http://schemas.openxmlformats.org/officeDocument/2006/relationships/notesSlide" Target="../notesSlides/notesSlide4.xml"/><Relationship Id="rId1" Type="http://schemas.openxmlformats.org/officeDocument/2006/relationships/slideLayout" Target="../slideLayouts/slideLayout12.xml"/><Relationship Id="rId6" Type="http://schemas.openxmlformats.org/officeDocument/2006/relationships/slide" Target="slide6.xml"/><Relationship Id="rId11" Type="http://schemas.openxmlformats.org/officeDocument/2006/relationships/slide" Target="slide11.xml"/><Relationship Id="rId5" Type="http://schemas.openxmlformats.org/officeDocument/2006/relationships/slide" Target="slide5.xml"/><Relationship Id="rId10" Type="http://schemas.openxmlformats.org/officeDocument/2006/relationships/slide" Target="slide9.xml"/><Relationship Id="rId4" Type="http://schemas.openxmlformats.org/officeDocument/2006/relationships/slide" Target="slide4.xml"/><Relationship Id="rId9" Type="http://schemas.openxmlformats.org/officeDocument/2006/relationships/slide" Target="slide8.xml"/></Relationships>
</file>

<file path=ppt/slides/_rels/slide5.xml.rels><?xml version="1.0" encoding="UTF-8" standalone="yes"?>
<Relationships xmlns="http://schemas.openxmlformats.org/package/2006/relationships"><Relationship Id="rId8" Type="http://schemas.openxmlformats.org/officeDocument/2006/relationships/slide" Target="slide10.xml"/><Relationship Id="rId3" Type="http://schemas.openxmlformats.org/officeDocument/2006/relationships/slide" Target="slide3.xml"/><Relationship Id="rId7" Type="http://schemas.openxmlformats.org/officeDocument/2006/relationships/slide" Target="slide7.xml"/><Relationship Id="rId12" Type="http://schemas.openxmlformats.org/officeDocument/2006/relationships/slide" Target="slide2.xml"/><Relationship Id="rId2" Type="http://schemas.openxmlformats.org/officeDocument/2006/relationships/notesSlide" Target="../notesSlides/notesSlide5.xml"/><Relationship Id="rId1" Type="http://schemas.openxmlformats.org/officeDocument/2006/relationships/slideLayout" Target="../slideLayouts/slideLayout12.xml"/><Relationship Id="rId6" Type="http://schemas.openxmlformats.org/officeDocument/2006/relationships/slide" Target="slide6.xml"/><Relationship Id="rId11" Type="http://schemas.openxmlformats.org/officeDocument/2006/relationships/slide" Target="slide11.xml"/><Relationship Id="rId5" Type="http://schemas.openxmlformats.org/officeDocument/2006/relationships/slide" Target="slide5.xml"/><Relationship Id="rId10" Type="http://schemas.openxmlformats.org/officeDocument/2006/relationships/slide" Target="slide9.xml"/><Relationship Id="rId4" Type="http://schemas.openxmlformats.org/officeDocument/2006/relationships/slide" Target="slide4.xml"/><Relationship Id="rId9" Type="http://schemas.openxmlformats.org/officeDocument/2006/relationships/slide" Target="slide8.xml"/></Relationships>
</file>

<file path=ppt/slides/_rels/slide6.xml.rels><?xml version="1.0" encoding="UTF-8" standalone="yes"?>
<Relationships xmlns="http://schemas.openxmlformats.org/package/2006/relationships"><Relationship Id="rId8" Type="http://schemas.openxmlformats.org/officeDocument/2006/relationships/slide" Target="slide10.xml"/><Relationship Id="rId3" Type="http://schemas.openxmlformats.org/officeDocument/2006/relationships/slide" Target="slide3.xml"/><Relationship Id="rId7" Type="http://schemas.openxmlformats.org/officeDocument/2006/relationships/slide" Target="slide7.xml"/><Relationship Id="rId12" Type="http://schemas.openxmlformats.org/officeDocument/2006/relationships/slide" Target="slide2.xml"/><Relationship Id="rId2" Type="http://schemas.openxmlformats.org/officeDocument/2006/relationships/notesSlide" Target="../notesSlides/notesSlide6.xml"/><Relationship Id="rId1" Type="http://schemas.openxmlformats.org/officeDocument/2006/relationships/slideLayout" Target="../slideLayouts/slideLayout12.xml"/><Relationship Id="rId6" Type="http://schemas.openxmlformats.org/officeDocument/2006/relationships/slide" Target="slide6.xml"/><Relationship Id="rId11" Type="http://schemas.openxmlformats.org/officeDocument/2006/relationships/slide" Target="slide11.xml"/><Relationship Id="rId5" Type="http://schemas.openxmlformats.org/officeDocument/2006/relationships/slide" Target="slide5.xml"/><Relationship Id="rId10" Type="http://schemas.openxmlformats.org/officeDocument/2006/relationships/slide" Target="slide9.xml"/><Relationship Id="rId4" Type="http://schemas.openxmlformats.org/officeDocument/2006/relationships/slide" Target="slide4.xml"/><Relationship Id="rId9" Type="http://schemas.openxmlformats.org/officeDocument/2006/relationships/slide" Target="slide8.xml"/></Relationships>
</file>

<file path=ppt/slides/_rels/slide7.xml.rels><?xml version="1.0" encoding="UTF-8" standalone="yes"?>
<Relationships xmlns="http://schemas.openxmlformats.org/package/2006/relationships"><Relationship Id="rId8" Type="http://schemas.openxmlformats.org/officeDocument/2006/relationships/slide" Target="slide10.xml"/><Relationship Id="rId3" Type="http://schemas.openxmlformats.org/officeDocument/2006/relationships/slide" Target="slide3.xml"/><Relationship Id="rId7" Type="http://schemas.openxmlformats.org/officeDocument/2006/relationships/slide" Target="slide7.xml"/><Relationship Id="rId12" Type="http://schemas.openxmlformats.org/officeDocument/2006/relationships/slide" Target="slide2.xml"/><Relationship Id="rId2" Type="http://schemas.openxmlformats.org/officeDocument/2006/relationships/notesSlide" Target="../notesSlides/notesSlide7.xml"/><Relationship Id="rId1" Type="http://schemas.openxmlformats.org/officeDocument/2006/relationships/slideLayout" Target="../slideLayouts/slideLayout12.xml"/><Relationship Id="rId6" Type="http://schemas.openxmlformats.org/officeDocument/2006/relationships/slide" Target="slide6.xml"/><Relationship Id="rId11" Type="http://schemas.openxmlformats.org/officeDocument/2006/relationships/slide" Target="slide11.xml"/><Relationship Id="rId5" Type="http://schemas.openxmlformats.org/officeDocument/2006/relationships/slide" Target="slide5.xml"/><Relationship Id="rId10" Type="http://schemas.openxmlformats.org/officeDocument/2006/relationships/slide" Target="slide9.xml"/><Relationship Id="rId4" Type="http://schemas.openxmlformats.org/officeDocument/2006/relationships/slide" Target="slide4.xml"/><Relationship Id="rId9" Type="http://schemas.openxmlformats.org/officeDocument/2006/relationships/slide" Target="slide8.xml"/></Relationships>
</file>

<file path=ppt/slides/_rels/slide8.xml.rels><?xml version="1.0" encoding="UTF-8" standalone="yes"?>
<Relationships xmlns="http://schemas.openxmlformats.org/package/2006/relationships"><Relationship Id="rId8" Type="http://schemas.openxmlformats.org/officeDocument/2006/relationships/slide" Target="slide10.xml"/><Relationship Id="rId3" Type="http://schemas.openxmlformats.org/officeDocument/2006/relationships/slide" Target="slide3.xml"/><Relationship Id="rId7" Type="http://schemas.openxmlformats.org/officeDocument/2006/relationships/slide" Target="slide7.xml"/><Relationship Id="rId12" Type="http://schemas.openxmlformats.org/officeDocument/2006/relationships/slide" Target="slide2.xml"/><Relationship Id="rId2" Type="http://schemas.openxmlformats.org/officeDocument/2006/relationships/notesSlide" Target="../notesSlides/notesSlide8.xml"/><Relationship Id="rId1" Type="http://schemas.openxmlformats.org/officeDocument/2006/relationships/slideLayout" Target="../slideLayouts/slideLayout12.xml"/><Relationship Id="rId6" Type="http://schemas.openxmlformats.org/officeDocument/2006/relationships/slide" Target="slide6.xml"/><Relationship Id="rId11" Type="http://schemas.openxmlformats.org/officeDocument/2006/relationships/slide" Target="slide11.xml"/><Relationship Id="rId5" Type="http://schemas.openxmlformats.org/officeDocument/2006/relationships/slide" Target="slide5.xml"/><Relationship Id="rId10" Type="http://schemas.openxmlformats.org/officeDocument/2006/relationships/slide" Target="slide9.xml"/><Relationship Id="rId4" Type="http://schemas.openxmlformats.org/officeDocument/2006/relationships/slide" Target="slide4.xml"/><Relationship Id="rId9" Type="http://schemas.openxmlformats.org/officeDocument/2006/relationships/slide" Target="slide8.xml"/></Relationships>
</file>

<file path=ppt/slides/_rels/slide9.xml.rels><?xml version="1.0" encoding="UTF-8" standalone="yes"?>
<Relationships xmlns="http://schemas.openxmlformats.org/package/2006/relationships"><Relationship Id="rId8" Type="http://schemas.openxmlformats.org/officeDocument/2006/relationships/slide" Target="slide10.xml"/><Relationship Id="rId3" Type="http://schemas.openxmlformats.org/officeDocument/2006/relationships/slide" Target="slide3.xml"/><Relationship Id="rId7" Type="http://schemas.openxmlformats.org/officeDocument/2006/relationships/slide" Target="slide7.xml"/><Relationship Id="rId12" Type="http://schemas.openxmlformats.org/officeDocument/2006/relationships/slide" Target="slide2.xml"/><Relationship Id="rId2" Type="http://schemas.openxmlformats.org/officeDocument/2006/relationships/notesSlide" Target="../notesSlides/notesSlide9.xml"/><Relationship Id="rId1" Type="http://schemas.openxmlformats.org/officeDocument/2006/relationships/slideLayout" Target="../slideLayouts/slideLayout12.xml"/><Relationship Id="rId6" Type="http://schemas.openxmlformats.org/officeDocument/2006/relationships/slide" Target="slide6.xml"/><Relationship Id="rId11" Type="http://schemas.openxmlformats.org/officeDocument/2006/relationships/slide" Target="slide11.xml"/><Relationship Id="rId5" Type="http://schemas.openxmlformats.org/officeDocument/2006/relationships/slide" Target="slide5.xml"/><Relationship Id="rId10" Type="http://schemas.openxmlformats.org/officeDocument/2006/relationships/slide" Target="slide9.xml"/><Relationship Id="rId4" Type="http://schemas.openxmlformats.org/officeDocument/2006/relationships/slide" Target="slide4.xml"/><Relationship Id="rId9" Type="http://schemas.openxmlformats.org/officeDocument/2006/relationships/slide" Target="slide8.xml"/></Relationships>
</file>

<file path=ppt/slides/_rels/slide10.xml.rels><?xml version="1.0" encoding="UTF-8" standalone="yes"?>
<Relationships xmlns="http://schemas.openxmlformats.org/package/2006/relationships"><Relationship Id="rId8" Type="http://schemas.openxmlformats.org/officeDocument/2006/relationships/slide" Target="slide10.xml"/><Relationship Id="rId13" Type="http://schemas.openxmlformats.org/officeDocument/2006/relationships/slide" Target="slide12.xml"/><Relationship Id="rId3" Type="http://schemas.openxmlformats.org/officeDocument/2006/relationships/slide" Target="slide3.xml"/><Relationship Id="rId7" Type="http://schemas.openxmlformats.org/officeDocument/2006/relationships/slide" Target="slide7.xml"/><Relationship Id="rId12" Type="http://schemas.openxmlformats.org/officeDocument/2006/relationships/slide" Target="slide2.xml"/><Relationship Id="rId2" Type="http://schemas.openxmlformats.org/officeDocument/2006/relationships/notesSlide" Target="../notesSlides/notesSlide10.xml"/><Relationship Id="rId1" Type="http://schemas.openxmlformats.org/officeDocument/2006/relationships/slideLayout" Target="../slideLayouts/slideLayout12.xml"/><Relationship Id="rId6" Type="http://schemas.openxmlformats.org/officeDocument/2006/relationships/slide" Target="slide6.xml"/><Relationship Id="rId11" Type="http://schemas.openxmlformats.org/officeDocument/2006/relationships/slide" Target="slide11.xml"/><Relationship Id="rId5" Type="http://schemas.openxmlformats.org/officeDocument/2006/relationships/slide" Target="slide5.xml"/><Relationship Id="rId10" Type="http://schemas.openxmlformats.org/officeDocument/2006/relationships/slide" Target="slide9.xml"/><Relationship Id="rId4" Type="http://schemas.openxmlformats.org/officeDocument/2006/relationships/slide" Target="slide4.xml"/><Relationship Id="rId9" Type="http://schemas.openxmlformats.org/officeDocument/2006/relationships/slide" Target="slide8.xml"/></Relationships>
</file>

<file path=ppt/slides/_rels/slide11.xml.rels><?xml version="1.0" encoding="UTF-8" standalone="yes"?>
<Relationships xmlns="http://schemas.openxmlformats.org/package/2006/relationships"><Relationship Id="rId8" Type="http://schemas.openxmlformats.org/officeDocument/2006/relationships/slide" Target="slide10.xml"/><Relationship Id="rId3" Type="http://schemas.openxmlformats.org/officeDocument/2006/relationships/slide" Target="slide3.xml"/><Relationship Id="rId7" Type="http://schemas.openxmlformats.org/officeDocument/2006/relationships/slide" Target="slide7.xml"/><Relationship Id="rId12" Type="http://schemas.openxmlformats.org/officeDocument/2006/relationships/slide" Target="slide2.xml"/><Relationship Id="rId2" Type="http://schemas.openxmlformats.org/officeDocument/2006/relationships/notesSlide" Target="../notesSlides/notesSlide11.xml"/><Relationship Id="rId1" Type="http://schemas.openxmlformats.org/officeDocument/2006/relationships/slideLayout" Target="../slideLayouts/slideLayout12.xml"/><Relationship Id="rId6" Type="http://schemas.openxmlformats.org/officeDocument/2006/relationships/slide" Target="slide6.xml"/><Relationship Id="rId11" Type="http://schemas.openxmlformats.org/officeDocument/2006/relationships/slide" Target="slide11.xml"/><Relationship Id="rId5" Type="http://schemas.openxmlformats.org/officeDocument/2006/relationships/slide" Target="slide5.xml"/><Relationship Id="rId10" Type="http://schemas.openxmlformats.org/officeDocument/2006/relationships/slide" Target="slide9.xml"/><Relationship Id="rId4" Type="http://schemas.openxmlformats.org/officeDocument/2006/relationships/slide" Target="slide4.xml"/><Relationship Id="rId9" Type="http://schemas.openxmlformats.org/officeDocument/2006/relationships/slide" Target="slide8.xml"/></Relationships>
</file>

<file path=ppt/slides/_rels/slide12.xml.rels><?xml version="1.0" encoding="UTF-8" standalone="yes"?>
<Relationships xmlns="http://schemas.openxmlformats.org/package/2006/relationships"><Relationship Id="rId8" Type="http://schemas.openxmlformats.org/officeDocument/2006/relationships/slide" Target="slide10.xml"/><Relationship Id="rId3" Type="http://schemas.openxmlformats.org/officeDocument/2006/relationships/slide" Target="slide3.xml"/><Relationship Id="rId7" Type="http://schemas.openxmlformats.org/officeDocument/2006/relationships/slide" Target="slide7.xml"/><Relationship Id="rId12" Type="http://schemas.openxmlformats.org/officeDocument/2006/relationships/slide" Target="slide2.xml"/><Relationship Id="rId2" Type="http://schemas.openxmlformats.org/officeDocument/2006/relationships/notesSlide" Target="../notesSlides/notesSlide12.xml"/><Relationship Id="rId1" Type="http://schemas.openxmlformats.org/officeDocument/2006/relationships/slideLayout" Target="../slideLayouts/slideLayout12.xml"/><Relationship Id="rId6" Type="http://schemas.openxmlformats.org/officeDocument/2006/relationships/slide" Target="slide6.xml"/><Relationship Id="rId11" Type="http://schemas.openxmlformats.org/officeDocument/2006/relationships/slide" Target="slide11.xml"/><Relationship Id="rId5" Type="http://schemas.openxmlformats.org/officeDocument/2006/relationships/slide" Target="slide5.xml"/><Relationship Id="rId10" Type="http://schemas.openxmlformats.org/officeDocument/2006/relationships/slide" Target="slide9.xml"/><Relationship Id="rId4" Type="http://schemas.openxmlformats.org/officeDocument/2006/relationships/slide" Target="slide4.xml"/><Relationship Id="rId9" Type="http://schemas.openxmlformats.org/officeDocument/2006/relationships/slide" Target="slide8.xml"/></Relationships>
</file>

<file path=ppt/slides/_rels/slide13.xml.rels><?xml version="1.0" encoding="UTF-8" standalone="yes"?>
<Relationships xmlns="http://schemas.openxmlformats.org/package/2006/relationships"><Relationship Id="rId3" Type="http://schemas.openxmlformats.org/officeDocument/2006/relationships/slide" Target="slide2.xml"/><Relationship Id="rId7" Type="http://schemas.openxmlformats.org/officeDocument/2006/relationships/slide" Target="slide11.xml"/><Relationship Id="rId2" Type="http://schemas.openxmlformats.org/officeDocument/2006/relationships/notesSlide" Target="../notesSlides/notesSlide13.xml"/><Relationship Id="rId1" Type="http://schemas.openxmlformats.org/officeDocument/2006/relationships/slideLayout" Target="../slideLayouts/slideLayout12.xml"/><Relationship Id="rId6" Type="http://schemas.openxmlformats.org/officeDocument/2006/relationships/slide" Target="slide10.xml"/><Relationship Id="rId5" Type="http://schemas.openxmlformats.org/officeDocument/2006/relationships/slide" Target="slide5.xml"/><Relationship Id="rId4" Type="http://schemas.openxmlformats.org/officeDocument/2006/relationships/slide" Target="slide3.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5EFE5"/>
        </a:solidFill>
        <a:effectLst/>
      </p:bgPr>
    </p:bg>
    <p:spTree>
      <p:nvGrpSpPr>
        <p:cNvPr id="1" name=""/>
        <p:cNvGrpSpPr/>
        <p:nvPr/>
      </p:nvGrpSpPr>
      <p:grpSpPr>
        <a:xfrm>
          <a:off x="0" y="0"/>
          <a:ext cx="0" cy="0"/>
          <a:chOff x="0" y="0"/>
          <a:chExt cx="0" cy="0"/>
        </a:xfrm>
      </p:grpSpPr>
      <p:sp>
        <p:nvSpPr>
          <p:cNvPr id="2" name="Shape 0"/>
          <p:cNvSpPr/>
          <p:nvPr/>
        </p:nvSpPr>
        <p:spPr>
          <a:xfrm>
            <a:off x="566928" y="420624"/>
            <a:ext cx="603504" cy="603504"/>
          </a:xfrm>
          <a:prstGeom prst="ellipse">
            <a:avLst/>
          </a:prstGeom>
          <a:solidFill>
            <a:srgbClr val="276F7B"/>
          </a:solidFill>
          <a:ln w="12700">
            <a:solidFill>
              <a:srgbClr val="276F7B"/>
            </a:solidFill>
            <a:prstDash val="solid"/>
          </a:ln>
        </p:spPr>
        <p:txBody>
          <a:bodyPr/>
          <a:lstStyle/>
          <a:p>
            <a:endParaRPr lang="en-US"/>
          </a:p>
        </p:txBody>
      </p:sp>
      <p:sp>
        <p:nvSpPr>
          <p:cNvPr id="3" name="Text 1"/>
          <p:cNvSpPr/>
          <p:nvPr/>
        </p:nvSpPr>
        <p:spPr>
          <a:xfrm>
            <a:off x="566928" y="557784"/>
            <a:ext cx="603504" cy="219456"/>
          </a:xfrm>
          <a:prstGeom prst="rect">
            <a:avLst/>
          </a:prstGeom>
          <a:noFill/>
          <a:ln/>
        </p:spPr>
        <p:txBody>
          <a:bodyPr wrap="square" lIns="381" tIns="381" rIns="381" bIns="381" rtlCol="0" anchor="ctr">
            <a:normAutofit fontScale="92500" lnSpcReduction="20000"/>
          </a:bodyPr>
          <a:lstStyle/>
          <a:p>
            <a:pPr marL="0" indent="0" algn="ctr">
              <a:buNone/>
            </a:pPr>
            <a:r>
              <a:rPr lang="en-US" sz="1800" b="1" dirty="0">
                <a:solidFill>
                  <a:srgbClr val="FFFFFF"/>
                </a:solidFill>
                <a:latin typeface="Georgia" pitchFamily="34" charset="0"/>
                <a:ea typeface="Georgia" pitchFamily="34" charset="-122"/>
                <a:cs typeface="Georgia" pitchFamily="34" charset="-120"/>
              </a:rPr>
              <a:t>MB</a:t>
            </a:r>
            <a:endParaRPr lang="en-US" sz="1800" dirty="0"/>
          </a:p>
        </p:txBody>
      </p:sp>
      <p:sp>
        <p:nvSpPr>
          <p:cNvPr id="4" name="Text 2"/>
          <p:cNvSpPr/>
          <p:nvPr/>
        </p:nvSpPr>
        <p:spPr>
          <a:xfrm>
            <a:off x="1353312" y="420624"/>
            <a:ext cx="3657600" cy="329184"/>
          </a:xfrm>
          <a:prstGeom prst="rect">
            <a:avLst/>
          </a:prstGeom>
          <a:noFill/>
          <a:ln/>
        </p:spPr>
        <p:txBody>
          <a:bodyPr wrap="square" lIns="381" tIns="381" rIns="381" bIns="381" rtlCol="0" anchor="ctr">
            <a:normAutofit/>
          </a:bodyPr>
          <a:lstStyle/>
          <a:p>
            <a:pPr marL="0" indent="0" algn="l">
              <a:buNone/>
            </a:pPr>
            <a:r>
              <a:rPr lang="en-US" sz="1500" b="1" dirty="0">
                <a:solidFill>
                  <a:srgbClr val="132133"/>
                </a:solidFill>
                <a:latin typeface="Arial" pitchFamily="34" charset="0"/>
                <a:ea typeface="Arial" pitchFamily="34" charset="-122"/>
                <a:cs typeface="Arial" pitchFamily="34" charset="-120"/>
              </a:rPr>
              <a:t>Moffat Bay Lodge</a:t>
            </a:r>
            <a:endParaRPr lang="en-US" sz="1500" dirty="0"/>
          </a:p>
        </p:txBody>
      </p:sp>
      <p:sp>
        <p:nvSpPr>
          <p:cNvPr id="5" name="Text 3"/>
          <p:cNvSpPr/>
          <p:nvPr/>
        </p:nvSpPr>
        <p:spPr>
          <a:xfrm>
            <a:off x="1353312" y="795528"/>
            <a:ext cx="4572000" cy="201168"/>
          </a:xfrm>
          <a:prstGeom prst="rect">
            <a:avLst/>
          </a:prstGeom>
          <a:noFill/>
          <a:ln/>
        </p:spPr>
        <p:txBody>
          <a:bodyPr wrap="square" lIns="381" tIns="381" rIns="381" bIns="381" rtlCol="0" anchor="ctr">
            <a:normAutofit/>
          </a:bodyPr>
          <a:lstStyle/>
          <a:p>
            <a:pPr marL="0" indent="0" algn="l">
              <a:buNone/>
            </a:pPr>
            <a:r>
              <a:rPr lang="en-US" sz="950" dirty="0">
                <a:solidFill>
                  <a:srgbClr val="536273"/>
                </a:solidFill>
                <a:latin typeface="Arial" pitchFamily="34" charset="0"/>
                <a:ea typeface="Arial" pitchFamily="34" charset="-122"/>
                <a:cs typeface="Arial" pitchFamily="34" charset="-120"/>
              </a:rPr>
              <a:t>Functional Prototype + Landing Page Mockup</a:t>
            </a:r>
            <a:endParaRPr lang="en-US" sz="950" dirty="0"/>
          </a:p>
        </p:txBody>
      </p:sp>
      <p:sp>
        <p:nvSpPr>
          <p:cNvPr id="6" name="Text 4"/>
          <p:cNvSpPr/>
          <p:nvPr/>
        </p:nvSpPr>
        <p:spPr>
          <a:xfrm>
            <a:off x="658368" y="1691640"/>
            <a:ext cx="7132320" cy="530352"/>
          </a:xfrm>
          <a:prstGeom prst="rect">
            <a:avLst/>
          </a:prstGeom>
          <a:noFill/>
          <a:ln/>
        </p:spPr>
        <p:txBody>
          <a:bodyPr wrap="square" lIns="381" tIns="381" rIns="381" bIns="381" rtlCol="0" anchor="ctr">
            <a:normAutofit/>
          </a:bodyPr>
          <a:lstStyle/>
          <a:p>
            <a:pPr marL="0" indent="0" algn="l">
              <a:buNone/>
            </a:pPr>
            <a:r>
              <a:rPr lang="en-US" sz="2750" dirty="0">
                <a:solidFill>
                  <a:srgbClr val="132133"/>
                </a:solidFill>
                <a:latin typeface="Georgia" pitchFamily="34" charset="0"/>
                <a:ea typeface="Georgia" pitchFamily="34" charset="-122"/>
                <a:cs typeface="Georgia" pitchFamily="34" charset="-120"/>
              </a:rPr>
              <a:t>Navigational Wireframe PowerPoint</a:t>
            </a:r>
            <a:endParaRPr lang="en-US" sz="2750" dirty="0"/>
          </a:p>
        </p:txBody>
      </p:sp>
      <p:sp>
        <p:nvSpPr>
          <p:cNvPr id="8" name="Shape 6"/>
          <p:cNvSpPr/>
          <p:nvPr/>
        </p:nvSpPr>
        <p:spPr>
          <a:xfrm>
            <a:off x="694944" y="3054096"/>
            <a:ext cx="4663440" cy="1417320"/>
          </a:xfrm>
          <a:prstGeom prst="roundRect">
            <a:avLst>
              <a:gd name="adj" fmla="val 7742"/>
            </a:avLst>
          </a:prstGeom>
          <a:solidFill>
            <a:srgbClr val="FFFFFF">
              <a:alpha val="92000"/>
            </a:srgbClr>
          </a:solidFill>
          <a:ln w="12700">
            <a:solidFill>
              <a:srgbClr val="E9DFCF"/>
            </a:solidFill>
            <a:prstDash val="solid"/>
          </a:ln>
          <a:effectLst>
            <a:outerShdw blurRad="12700" dist="8890" dir="2700000" algn="bl" rotWithShape="0">
              <a:srgbClr val="132133">
                <a:alpha val="8000"/>
              </a:srgbClr>
            </a:outerShdw>
          </a:effectLst>
        </p:spPr>
        <p:txBody>
          <a:bodyPr/>
          <a:lstStyle/>
          <a:p>
            <a:endParaRPr lang="en-US"/>
          </a:p>
        </p:txBody>
      </p:sp>
      <p:sp>
        <p:nvSpPr>
          <p:cNvPr id="9" name="Text 7"/>
          <p:cNvSpPr/>
          <p:nvPr/>
        </p:nvSpPr>
        <p:spPr>
          <a:xfrm>
            <a:off x="941832" y="3273552"/>
            <a:ext cx="4023360" cy="228600"/>
          </a:xfrm>
          <a:prstGeom prst="rect">
            <a:avLst/>
          </a:prstGeom>
          <a:noFill/>
          <a:ln/>
        </p:spPr>
        <p:txBody>
          <a:bodyPr wrap="square" lIns="381" tIns="381" rIns="381" bIns="381" rtlCol="0" anchor="ctr">
            <a:normAutofit/>
          </a:bodyPr>
          <a:lstStyle/>
          <a:p>
            <a:pPr marL="0" indent="0" algn="l">
              <a:buNone/>
            </a:pPr>
            <a:r>
              <a:rPr lang="en-US" sz="1300" b="1" dirty="0">
                <a:solidFill>
                  <a:srgbClr val="132133"/>
                </a:solidFill>
                <a:latin typeface="Arial" pitchFamily="34" charset="0"/>
                <a:ea typeface="Arial" pitchFamily="34" charset="-122"/>
                <a:cs typeface="Arial" pitchFamily="34" charset="-120"/>
              </a:rPr>
              <a:t>Red Team</a:t>
            </a:r>
            <a:endParaRPr lang="en-US" sz="1300" dirty="0"/>
          </a:p>
        </p:txBody>
      </p:sp>
      <p:sp>
        <p:nvSpPr>
          <p:cNvPr id="10" name="Text 8"/>
          <p:cNvSpPr/>
          <p:nvPr/>
        </p:nvSpPr>
        <p:spPr>
          <a:xfrm>
            <a:off x="950976" y="3602736"/>
            <a:ext cx="3931920" cy="713232"/>
          </a:xfrm>
          <a:prstGeom prst="rect">
            <a:avLst/>
          </a:prstGeom>
          <a:noFill/>
          <a:ln/>
        </p:spPr>
        <p:txBody>
          <a:bodyPr wrap="square" lIns="381" tIns="381" rIns="381" bIns="381" rtlCol="0" anchor="t">
            <a:normAutofit/>
          </a:bodyPr>
          <a:lstStyle/>
          <a:p>
            <a:pPr marL="0" indent="0" algn="l">
              <a:buNone/>
            </a:pPr>
            <a:r>
              <a:rPr lang="en-US" sz="1100" dirty="0">
                <a:solidFill>
                  <a:srgbClr val="2A3B50"/>
                </a:solidFill>
                <a:latin typeface="Arial" pitchFamily="34" charset="0"/>
                <a:ea typeface="Arial" pitchFamily="34" charset="-122"/>
                <a:cs typeface="Arial" pitchFamily="34" charset="-120"/>
              </a:rPr>
              <a:t>Matthew Rozendaal</a:t>
            </a:r>
            <a:endParaRPr lang="en-US" sz="1100" dirty="0"/>
          </a:p>
          <a:p>
            <a:pPr marL="0" indent="0" algn="l">
              <a:buNone/>
            </a:pPr>
            <a:r>
              <a:rPr lang="en-US" sz="1100" dirty="0">
                <a:solidFill>
                  <a:srgbClr val="2A3B50"/>
                </a:solidFill>
                <a:latin typeface="Arial" pitchFamily="34" charset="0"/>
                <a:ea typeface="Arial" pitchFamily="34" charset="-122"/>
                <a:cs typeface="Arial" pitchFamily="34" charset="-120"/>
              </a:rPr>
              <a:t>Brayan Covarrubias</a:t>
            </a:r>
            <a:endParaRPr lang="en-US" sz="1100" dirty="0"/>
          </a:p>
          <a:p>
            <a:pPr marL="0" indent="0" algn="l">
              <a:buNone/>
            </a:pPr>
            <a:r>
              <a:rPr lang="en-US" sz="1100" dirty="0">
                <a:solidFill>
                  <a:srgbClr val="2A3B50"/>
                </a:solidFill>
                <a:latin typeface="Arial" pitchFamily="34" charset="0"/>
                <a:ea typeface="Arial" pitchFamily="34" charset="-122"/>
                <a:cs typeface="Arial" pitchFamily="34" charset="-120"/>
              </a:rPr>
              <a:t>Rashai Robertson</a:t>
            </a:r>
            <a:endParaRPr lang="en-US" sz="1100" dirty="0"/>
          </a:p>
          <a:p>
            <a:pPr marL="0" indent="0" algn="l">
              <a:buNone/>
            </a:pPr>
            <a:r>
              <a:rPr lang="en-US" sz="1100" dirty="0">
                <a:solidFill>
                  <a:srgbClr val="2A3B50"/>
                </a:solidFill>
                <a:latin typeface="Arial" pitchFamily="34" charset="0"/>
                <a:ea typeface="Arial" pitchFamily="34" charset="-122"/>
                <a:cs typeface="Arial" pitchFamily="34" charset="-120"/>
              </a:rPr>
              <a:t>Tiffany Davidson</a:t>
            </a:r>
            <a:endParaRPr lang="en-US" sz="1100" dirty="0"/>
          </a:p>
        </p:txBody>
      </p:sp>
      <p:sp>
        <p:nvSpPr>
          <p:cNvPr id="11" name="Shape 9"/>
          <p:cNvSpPr/>
          <p:nvPr/>
        </p:nvSpPr>
        <p:spPr>
          <a:xfrm>
            <a:off x="6629400" y="1170432"/>
            <a:ext cx="4663440" cy="4526280"/>
          </a:xfrm>
          <a:prstGeom prst="roundRect">
            <a:avLst>
              <a:gd name="adj" fmla="val 3636"/>
            </a:avLst>
          </a:prstGeom>
          <a:solidFill>
            <a:srgbClr val="FFFFFF">
              <a:alpha val="90000"/>
            </a:srgbClr>
          </a:solidFill>
          <a:ln w="12700">
            <a:solidFill>
              <a:srgbClr val="E9DFCF"/>
            </a:solidFill>
            <a:prstDash val="solid"/>
          </a:ln>
          <a:effectLst>
            <a:outerShdw blurRad="25400" dist="12700" dir="2700000" algn="bl" rotWithShape="0">
              <a:srgbClr val="132133">
                <a:alpha val="12000"/>
              </a:srgbClr>
            </a:outerShdw>
          </a:effectLst>
        </p:spPr>
        <p:txBody>
          <a:bodyPr/>
          <a:lstStyle/>
          <a:p>
            <a:endParaRPr lang="en-US"/>
          </a:p>
        </p:txBody>
      </p:sp>
      <p:sp>
        <p:nvSpPr>
          <p:cNvPr id="12" name="Shape 10"/>
          <p:cNvSpPr/>
          <p:nvPr/>
        </p:nvSpPr>
        <p:spPr>
          <a:xfrm>
            <a:off x="6903720" y="1417320"/>
            <a:ext cx="4114800" cy="3977640"/>
          </a:xfrm>
          <a:prstGeom prst="roundRect">
            <a:avLst>
              <a:gd name="adj" fmla="val 1839"/>
            </a:avLst>
          </a:prstGeom>
          <a:solidFill>
            <a:srgbClr val="FFFAF2"/>
          </a:solidFill>
          <a:ln w="12700">
            <a:solidFill>
              <a:srgbClr val="E9DFCF"/>
            </a:solidFill>
            <a:prstDash val="solid"/>
          </a:ln>
        </p:spPr>
        <p:txBody>
          <a:bodyPr/>
          <a:lstStyle/>
          <a:p>
            <a:endParaRPr lang="en-US"/>
          </a:p>
        </p:txBody>
      </p:sp>
      <p:sp>
        <p:nvSpPr>
          <p:cNvPr id="13" name="Shape 11"/>
          <p:cNvSpPr/>
          <p:nvPr/>
        </p:nvSpPr>
        <p:spPr>
          <a:xfrm>
            <a:off x="6903720" y="1417320"/>
            <a:ext cx="4114800" cy="384048"/>
          </a:xfrm>
          <a:prstGeom prst="rect">
            <a:avLst/>
          </a:prstGeom>
          <a:solidFill>
            <a:srgbClr val="FFFFFF"/>
          </a:solidFill>
          <a:ln w="12700">
            <a:solidFill>
              <a:srgbClr val="E9DFCF"/>
            </a:solidFill>
            <a:prstDash val="solid"/>
          </a:ln>
        </p:spPr>
        <p:txBody>
          <a:bodyPr/>
          <a:lstStyle/>
          <a:p>
            <a:endParaRPr lang="en-US"/>
          </a:p>
        </p:txBody>
      </p:sp>
      <p:sp>
        <p:nvSpPr>
          <p:cNvPr id="17" name="Shape 15"/>
          <p:cNvSpPr/>
          <p:nvPr/>
        </p:nvSpPr>
        <p:spPr>
          <a:xfrm>
            <a:off x="6903720" y="1801368"/>
            <a:ext cx="4114800" cy="384048"/>
          </a:xfrm>
          <a:prstGeom prst="rect">
            <a:avLst/>
          </a:prstGeom>
          <a:solidFill>
            <a:srgbClr val="FAF5EC"/>
          </a:solidFill>
          <a:ln w="12700">
            <a:solidFill>
              <a:srgbClr val="E9DFCF"/>
            </a:solidFill>
            <a:prstDash val="solid"/>
          </a:ln>
        </p:spPr>
        <p:txBody>
          <a:bodyPr/>
          <a:lstStyle/>
          <a:p>
            <a:endParaRPr lang="en-US"/>
          </a:p>
        </p:txBody>
      </p:sp>
      <p:sp>
        <p:nvSpPr>
          <p:cNvPr id="18" name="Shape 16"/>
          <p:cNvSpPr/>
          <p:nvPr/>
        </p:nvSpPr>
        <p:spPr>
          <a:xfrm>
            <a:off x="7114032" y="1892808"/>
            <a:ext cx="201168" cy="201168"/>
          </a:xfrm>
          <a:prstGeom prst="ellipse">
            <a:avLst/>
          </a:prstGeom>
          <a:solidFill>
            <a:srgbClr val="276F7B"/>
          </a:solidFill>
          <a:ln w="12700">
            <a:solidFill>
              <a:srgbClr val="276F7B"/>
            </a:solidFill>
            <a:prstDash val="solid"/>
          </a:ln>
        </p:spPr>
        <p:txBody>
          <a:bodyPr/>
          <a:lstStyle/>
          <a:p>
            <a:endParaRPr lang="en-US"/>
          </a:p>
        </p:txBody>
      </p:sp>
      <p:sp>
        <p:nvSpPr>
          <p:cNvPr id="19" name="Text 17"/>
          <p:cNvSpPr/>
          <p:nvPr/>
        </p:nvSpPr>
        <p:spPr>
          <a:xfrm>
            <a:off x="7114032" y="1929384"/>
            <a:ext cx="201168" cy="73152"/>
          </a:xfrm>
          <a:prstGeom prst="rect">
            <a:avLst/>
          </a:prstGeom>
          <a:noFill/>
          <a:ln/>
        </p:spPr>
        <p:txBody>
          <a:bodyPr wrap="square" lIns="381" tIns="381" rIns="381" bIns="381" rtlCol="0" anchor="ctr">
            <a:normAutofit lnSpcReduction="10000"/>
          </a:bodyPr>
          <a:lstStyle/>
          <a:p>
            <a:pPr marL="0" indent="0" algn="ctr">
              <a:buNone/>
            </a:pPr>
            <a:r>
              <a:rPr lang="en-US" sz="500" b="1" dirty="0">
                <a:solidFill>
                  <a:srgbClr val="FFFFFF"/>
                </a:solidFill>
                <a:latin typeface="Georgia" pitchFamily="34" charset="0"/>
                <a:ea typeface="Georgia" pitchFamily="34" charset="-122"/>
                <a:cs typeface="Georgia" pitchFamily="34" charset="-120"/>
              </a:rPr>
              <a:t>MB</a:t>
            </a:r>
            <a:endParaRPr lang="en-US" sz="500" dirty="0"/>
          </a:p>
        </p:txBody>
      </p:sp>
      <p:sp>
        <p:nvSpPr>
          <p:cNvPr id="20" name="Text 18"/>
          <p:cNvSpPr/>
          <p:nvPr/>
        </p:nvSpPr>
        <p:spPr>
          <a:xfrm>
            <a:off x="7388352" y="1920240"/>
            <a:ext cx="1170432" cy="82296"/>
          </a:xfrm>
          <a:prstGeom prst="rect">
            <a:avLst/>
          </a:prstGeom>
          <a:noFill/>
          <a:ln/>
        </p:spPr>
        <p:txBody>
          <a:bodyPr wrap="square" lIns="381" tIns="381" rIns="381" bIns="381" rtlCol="0" anchor="ctr">
            <a:normAutofit/>
          </a:bodyPr>
          <a:lstStyle/>
          <a:p>
            <a:pPr marL="0" indent="0" algn="l">
              <a:buNone/>
            </a:pPr>
            <a:r>
              <a:rPr lang="en-US" sz="520" b="1" dirty="0">
                <a:solidFill>
                  <a:srgbClr val="132133"/>
                </a:solidFill>
                <a:latin typeface="Arial" pitchFamily="34" charset="0"/>
                <a:ea typeface="Arial" pitchFamily="34" charset="-122"/>
                <a:cs typeface="Arial" pitchFamily="34" charset="-120"/>
              </a:rPr>
              <a:t>MOFFAT BAY LODGE</a:t>
            </a:r>
            <a:endParaRPr lang="en-US" sz="520" dirty="0"/>
          </a:p>
        </p:txBody>
      </p:sp>
      <p:sp>
        <p:nvSpPr>
          <p:cNvPr id="21" name="Text 19"/>
          <p:cNvSpPr/>
          <p:nvPr/>
        </p:nvSpPr>
        <p:spPr>
          <a:xfrm>
            <a:off x="8796528" y="1929384"/>
            <a:ext cx="384048" cy="73152"/>
          </a:xfrm>
          <a:prstGeom prst="rect">
            <a:avLst/>
          </a:prstGeom>
          <a:noFill/>
          <a:ln/>
        </p:spPr>
        <p:txBody>
          <a:bodyPr wrap="square" lIns="381" tIns="381" rIns="381" bIns="381" rtlCol="0" anchor="ctr">
            <a:normAutofit lnSpcReduction="10000"/>
          </a:bodyPr>
          <a:lstStyle/>
          <a:p>
            <a:pPr marL="0" indent="0" algn="ctr">
              <a:buNone/>
            </a:pPr>
            <a:r>
              <a:rPr lang="en-US" sz="490" b="1" dirty="0">
                <a:solidFill>
                  <a:srgbClr val="276F7B"/>
                </a:solidFill>
                <a:latin typeface="Arial" pitchFamily="34" charset="0"/>
                <a:ea typeface="Arial" pitchFamily="34" charset="-122"/>
                <a:cs typeface="Arial" pitchFamily="34" charset="-120"/>
              </a:rPr>
              <a:t>Home</a:t>
            </a:r>
            <a:endParaRPr lang="en-US" sz="490" dirty="0"/>
          </a:p>
        </p:txBody>
      </p:sp>
      <p:sp>
        <p:nvSpPr>
          <p:cNvPr id="22" name="Text 20"/>
          <p:cNvSpPr/>
          <p:nvPr/>
        </p:nvSpPr>
        <p:spPr>
          <a:xfrm>
            <a:off x="9299448" y="1929384"/>
            <a:ext cx="384048" cy="73152"/>
          </a:xfrm>
          <a:prstGeom prst="rect">
            <a:avLst/>
          </a:prstGeom>
          <a:noFill/>
          <a:ln/>
        </p:spPr>
        <p:txBody>
          <a:bodyPr wrap="square" lIns="381" tIns="381" rIns="381" bIns="381" rtlCol="0" anchor="ctr">
            <a:normAutofit lnSpcReduction="10000"/>
          </a:bodyPr>
          <a:lstStyle/>
          <a:p>
            <a:pPr marL="0" indent="0" algn="ctr">
              <a:buNone/>
            </a:pPr>
            <a:r>
              <a:rPr lang="en-US" sz="490" b="1" dirty="0">
                <a:solidFill>
                  <a:srgbClr val="2A3B50"/>
                </a:solidFill>
                <a:latin typeface="Arial" pitchFamily="34" charset="0"/>
                <a:ea typeface="Arial" pitchFamily="34" charset="-122"/>
                <a:cs typeface="Arial" pitchFamily="34" charset="-120"/>
              </a:rPr>
              <a:t>Rooms</a:t>
            </a:r>
            <a:endParaRPr lang="en-US" sz="490" dirty="0"/>
          </a:p>
        </p:txBody>
      </p:sp>
      <p:sp>
        <p:nvSpPr>
          <p:cNvPr id="23" name="Text 21"/>
          <p:cNvSpPr/>
          <p:nvPr/>
        </p:nvSpPr>
        <p:spPr>
          <a:xfrm>
            <a:off x="9802368" y="1929384"/>
            <a:ext cx="384048" cy="73152"/>
          </a:xfrm>
          <a:prstGeom prst="rect">
            <a:avLst/>
          </a:prstGeom>
          <a:noFill/>
          <a:ln/>
        </p:spPr>
        <p:txBody>
          <a:bodyPr wrap="square" lIns="381" tIns="381" rIns="381" bIns="381" rtlCol="0" anchor="ctr">
            <a:normAutofit lnSpcReduction="10000"/>
          </a:bodyPr>
          <a:lstStyle/>
          <a:p>
            <a:pPr marL="0" indent="0" algn="ctr">
              <a:buNone/>
            </a:pPr>
            <a:r>
              <a:rPr lang="en-US" sz="490" b="1" dirty="0">
                <a:solidFill>
                  <a:srgbClr val="2A3B50"/>
                </a:solidFill>
                <a:latin typeface="Arial" pitchFamily="34" charset="0"/>
                <a:ea typeface="Arial" pitchFamily="34" charset="-122"/>
                <a:cs typeface="Arial" pitchFamily="34" charset="-120"/>
              </a:rPr>
              <a:t>Book</a:t>
            </a:r>
            <a:endParaRPr lang="en-US" sz="490" dirty="0"/>
          </a:p>
        </p:txBody>
      </p:sp>
      <p:sp>
        <p:nvSpPr>
          <p:cNvPr id="24" name="Shape 22"/>
          <p:cNvSpPr/>
          <p:nvPr/>
        </p:nvSpPr>
        <p:spPr>
          <a:xfrm>
            <a:off x="7269480" y="2606040"/>
            <a:ext cx="1627632" cy="960120"/>
          </a:xfrm>
          <a:prstGeom prst="roundRect">
            <a:avLst>
              <a:gd name="adj" fmla="val 9524"/>
            </a:avLst>
          </a:prstGeom>
          <a:solidFill>
            <a:srgbClr val="FFFFFF"/>
          </a:solidFill>
          <a:ln w="12700">
            <a:solidFill>
              <a:srgbClr val="E9DFCF"/>
            </a:solidFill>
            <a:prstDash val="solid"/>
          </a:ln>
        </p:spPr>
        <p:txBody>
          <a:bodyPr/>
          <a:lstStyle/>
          <a:p>
            <a:endParaRPr lang="en-US"/>
          </a:p>
        </p:txBody>
      </p:sp>
      <p:sp>
        <p:nvSpPr>
          <p:cNvPr id="25" name="Text 23"/>
          <p:cNvSpPr/>
          <p:nvPr/>
        </p:nvSpPr>
        <p:spPr>
          <a:xfrm>
            <a:off x="7424928" y="2761488"/>
            <a:ext cx="1353312" cy="146304"/>
          </a:xfrm>
          <a:prstGeom prst="rect">
            <a:avLst/>
          </a:prstGeom>
          <a:noFill/>
          <a:ln/>
        </p:spPr>
        <p:txBody>
          <a:bodyPr wrap="square" lIns="381" tIns="381" rIns="381" bIns="381" rtlCol="0" anchor="ctr">
            <a:normAutofit/>
          </a:bodyPr>
          <a:lstStyle/>
          <a:p>
            <a:pPr marL="0" indent="0" algn="l">
              <a:buNone/>
            </a:pPr>
            <a:r>
              <a:rPr lang="en-US" sz="680" b="1" dirty="0">
                <a:solidFill>
                  <a:srgbClr val="276F7B"/>
                </a:solidFill>
                <a:latin typeface="Arial" pitchFamily="34" charset="0"/>
                <a:ea typeface="Arial" pitchFamily="34" charset="-122"/>
                <a:cs typeface="Arial" pitchFamily="34" charset="-120"/>
              </a:rPr>
              <a:t>WELCOME TO MOFFAT BAY</a:t>
            </a:r>
            <a:endParaRPr lang="en-US" sz="680" dirty="0"/>
          </a:p>
        </p:txBody>
      </p:sp>
      <p:sp>
        <p:nvSpPr>
          <p:cNvPr id="26" name="Text 24"/>
          <p:cNvSpPr/>
          <p:nvPr/>
        </p:nvSpPr>
        <p:spPr>
          <a:xfrm>
            <a:off x="7424928" y="2962656"/>
            <a:ext cx="1353312" cy="256032"/>
          </a:xfrm>
          <a:prstGeom prst="rect">
            <a:avLst/>
          </a:prstGeom>
          <a:noFill/>
          <a:ln/>
        </p:spPr>
        <p:txBody>
          <a:bodyPr wrap="square" lIns="381" tIns="381" rIns="381" bIns="381" rtlCol="0" anchor="ctr">
            <a:normAutofit/>
          </a:bodyPr>
          <a:lstStyle/>
          <a:p>
            <a:pPr marL="0" indent="0" algn="l">
              <a:buNone/>
            </a:pPr>
            <a:r>
              <a:rPr lang="en-US" sz="950" dirty="0">
                <a:solidFill>
                  <a:srgbClr val="132133"/>
                </a:solidFill>
                <a:latin typeface="Georgia" pitchFamily="34" charset="0"/>
                <a:ea typeface="Georgia" pitchFamily="34" charset="-122"/>
                <a:cs typeface="Georgia" pitchFamily="34" charset="-120"/>
              </a:rPr>
              <a:t>One Island. One Lodge.</a:t>
            </a:r>
            <a:endParaRPr lang="en-US" sz="950" dirty="0"/>
          </a:p>
        </p:txBody>
      </p:sp>
      <p:sp>
        <p:nvSpPr>
          <p:cNvPr id="27" name="Text 25"/>
          <p:cNvSpPr/>
          <p:nvPr/>
        </p:nvSpPr>
        <p:spPr>
          <a:xfrm>
            <a:off x="7424928" y="3200400"/>
            <a:ext cx="1353312" cy="228600"/>
          </a:xfrm>
          <a:prstGeom prst="rect">
            <a:avLst/>
          </a:prstGeom>
          <a:noFill/>
          <a:ln/>
        </p:spPr>
        <p:txBody>
          <a:bodyPr wrap="square" lIns="381" tIns="381" rIns="381" bIns="381" rtlCol="0" anchor="t">
            <a:normAutofit/>
          </a:bodyPr>
          <a:lstStyle/>
          <a:p>
            <a:pPr marL="0" indent="0" algn="l">
              <a:buNone/>
            </a:pPr>
            <a:r>
              <a:rPr lang="en-US" sz="460" dirty="0">
                <a:solidFill>
                  <a:srgbClr val="2A3B50"/>
                </a:solidFill>
                <a:latin typeface="Arial" pitchFamily="34" charset="0"/>
                <a:ea typeface="Arial" pitchFamily="34" charset="-122"/>
                <a:cs typeface="Arial" pitchFamily="34" charset="-120"/>
              </a:rPr>
              <a:t>Comfortable lodging and island adventure in one simple reservation flow.</a:t>
            </a:r>
            <a:endParaRPr lang="en-US" sz="460" dirty="0"/>
          </a:p>
        </p:txBody>
      </p:sp>
      <p:sp>
        <p:nvSpPr>
          <p:cNvPr id="28" name="Shape 26"/>
          <p:cNvSpPr/>
          <p:nvPr/>
        </p:nvSpPr>
        <p:spPr>
          <a:xfrm>
            <a:off x="9079992" y="2606040"/>
            <a:ext cx="1444752" cy="960120"/>
          </a:xfrm>
          <a:prstGeom prst="roundRect">
            <a:avLst>
              <a:gd name="adj" fmla="val 9524"/>
            </a:avLst>
          </a:prstGeom>
          <a:solidFill>
            <a:srgbClr val="132133"/>
          </a:solidFill>
          <a:ln w="12700">
            <a:solidFill>
              <a:srgbClr val="132133"/>
            </a:solidFill>
            <a:prstDash val="solid"/>
          </a:ln>
        </p:spPr>
        <p:txBody>
          <a:bodyPr/>
          <a:lstStyle/>
          <a:p>
            <a:endParaRPr lang="en-US"/>
          </a:p>
        </p:txBody>
      </p:sp>
      <p:sp>
        <p:nvSpPr>
          <p:cNvPr id="29" name="Text 27"/>
          <p:cNvSpPr/>
          <p:nvPr/>
        </p:nvSpPr>
        <p:spPr>
          <a:xfrm>
            <a:off x="9217152" y="3081528"/>
            <a:ext cx="1133856" cy="137160"/>
          </a:xfrm>
          <a:prstGeom prst="rect">
            <a:avLst/>
          </a:prstGeom>
          <a:noFill/>
          <a:ln/>
        </p:spPr>
        <p:txBody>
          <a:bodyPr wrap="square" lIns="381" tIns="381" rIns="381" bIns="381" rtlCol="0" anchor="ctr">
            <a:normAutofit/>
          </a:bodyPr>
          <a:lstStyle/>
          <a:p>
            <a:pPr marL="0" indent="0" algn="ctr">
              <a:buNone/>
            </a:pPr>
            <a:r>
              <a:rPr lang="en-US" sz="700" dirty="0">
                <a:solidFill>
                  <a:srgbClr val="FFFFFF"/>
                </a:solidFill>
                <a:latin typeface="Georgia" pitchFamily="34" charset="0"/>
                <a:ea typeface="Georgia" pitchFamily="34" charset="-122"/>
                <a:cs typeface="Georgia" pitchFamily="34" charset="-120"/>
              </a:rPr>
              <a:t>Salt Air and Quiet Water</a:t>
            </a:r>
            <a:endParaRPr lang="en-US" sz="700" dirty="0"/>
          </a:p>
        </p:txBody>
      </p:sp>
      <p:sp>
        <p:nvSpPr>
          <p:cNvPr id="30" name="Shape 28">
            <a:hlinkClick r:id="rId3" action="ppaction://hlinksldjump"/>
          </p:cNvPr>
          <p:cNvSpPr/>
          <p:nvPr/>
        </p:nvSpPr>
        <p:spPr>
          <a:xfrm>
            <a:off x="713232" y="4892040"/>
            <a:ext cx="1463040" cy="310896"/>
          </a:xfrm>
          <a:prstGeom prst="roundRect">
            <a:avLst>
              <a:gd name="adj" fmla="val 35294"/>
            </a:avLst>
          </a:prstGeom>
          <a:solidFill>
            <a:srgbClr val="CDA059"/>
          </a:solidFill>
          <a:ln w="12700">
            <a:solidFill>
              <a:srgbClr val="CDA059">
                <a:alpha val="0"/>
              </a:srgbClr>
            </a:solidFill>
            <a:prstDash val="solid"/>
          </a:ln>
        </p:spPr>
        <p:txBody>
          <a:bodyPr/>
          <a:lstStyle/>
          <a:p>
            <a:endParaRPr lang="en-US"/>
          </a:p>
        </p:txBody>
      </p:sp>
      <p:sp>
        <p:nvSpPr>
          <p:cNvPr id="31" name="Text 29">
            <a:hlinkClick r:id="rId3" action="ppaction://hlinksldjump"/>
          </p:cNvPr>
          <p:cNvSpPr/>
          <p:nvPr/>
        </p:nvSpPr>
        <p:spPr>
          <a:xfrm>
            <a:off x="740664" y="4974336"/>
            <a:ext cx="1408176" cy="109728"/>
          </a:xfrm>
          <a:prstGeom prst="rect">
            <a:avLst/>
          </a:prstGeom>
          <a:noFill/>
          <a:ln/>
        </p:spPr>
        <p:txBody>
          <a:bodyPr wrap="square" lIns="381" tIns="381" rIns="381" bIns="381" rtlCol="0" anchor="ctr">
            <a:normAutofit/>
          </a:bodyPr>
          <a:lstStyle/>
          <a:p>
            <a:pPr marL="0" indent="0" algn="ctr">
              <a:buNone/>
            </a:pPr>
            <a:r>
              <a:rPr lang="en-US" sz="640" b="1" u="sng" dirty="0">
                <a:solidFill>
                  <a:srgbClr val="132133"/>
                </a:solidFill>
                <a:latin typeface="Arial" pitchFamily="34" charset="0"/>
                <a:ea typeface="Arial" pitchFamily="34" charset="-122"/>
                <a:cs typeface="Arial" pitchFamily="34" charset="-120"/>
                <a:hlinkClick r:id="rId3" action="ppaction://hlinksldjump">
                  <a:extLst>
                    <a:ext uri="{A12FA001-AC4F-418D-AE19-62706E023703}">
                      <ahyp:hlinkClr xmlns:ahyp="http://schemas.microsoft.com/office/drawing/2018/hyperlinkcolor" val="tx"/>
                    </a:ext>
                  </a:extLst>
                </a:hlinkClick>
              </a:rPr>
              <a:t>Start Walkthrough</a:t>
            </a:r>
            <a:endParaRPr lang="en-US" sz="640" dirty="0"/>
          </a:p>
        </p:txBody>
      </p:sp>
      <p:sp>
        <p:nvSpPr>
          <p:cNvPr id="32" name="Shape 30">
            <a:hlinkClick r:id="rId4" action="ppaction://hlinksldjump"/>
          </p:cNvPr>
          <p:cNvSpPr/>
          <p:nvPr/>
        </p:nvSpPr>
        <p:spPr>
          <a:xfrm>
            <a:off x="2331720" y="4892040"/>
            <a:ext cx="1234440" cy="310896"/>
          </a:xfrm>
          <a:prstGeom prst="roundRect">
            <a:avLst>
              <a:gd name="adj" fmla="val 35294"/>
            </a:avLst>
          </a:prstGeom>
          <a:solidFill>
            <a:srgbClr val="132133"/>
          </a:solidFill>
          <a:ln w="12700">
            <a:solidFill>
              <a:srgbClr val="132133">
                <a:alpha val="0"/>
              </a:srgbClr>
            </a:solidFill>
            <a:prstDash val="solid"/>
          </a:ln>
        </p:spPr>
        <p:txBody>
          <a:bodyPr/>
          <a:lstStyle/>
          <a:p>
            <a:endParaRPr lang="en-US"/>
          </a:p>
        </p:txBody>
      </p:sp>
      <p:sp>
        <p:nvSpPr>
          <p:cNvPr id="33" name="Text 31">
            <a:hlinkClick r:id="rId4" action="ppaction://hlinksldjump"/>
          </p:cNvPr>
          <p:cNvSpPr/>
          <p:nvPr/>
        </p:nvSpPr>
        <p:spPr>
          <a:xfrm>
            <a:off x="2359152" y="4974336"/>
            <a:ext cx="1179576" cy="109728"/>
          </a:xfrm>
          <a:prstGeom prst="rect">
            <a:avLst/>
          </a:prstGeom>
          <a:noFill/>
          <a:ln/>
        </p:spPr>
        <p:txBody>
          <a:bodyPr wrap="square" lIns="381" tIns="381" rIns="381" bIns="381" rtlCol="0" anchor="ctr">
            <a:normAutofit/>
          </a:bodyPr>
          <a:lstStyle/>
          <a:p>
            <a:pPr marL="0" indent="0" algn="ctr">
              <a:buNone/>
            </a:pPr>
            <a:r>
              <a:rPr lang="en-US" sz="640" b="1" u="sng" dirty="0">
                <a:solidFill>
                  <a:srgbClr val="FFFFFF"/>
                </a:solidFill>
                <a:latin typeface="Arial" pitchFamily="34" charset="0"/>
                <a:ea typeface="Arial" pitchFamily="34" charset="-122"/>
                <a:cs typeface="Arial" pitchFamily="34" charset="-120"/>
                <a:hlinkClick r:id="rId4" action="ppaction://hlinksldjump">
                  <a:extLst>
                    <a:ext uri="{A12FA001-AC4F-418D-AE19-62706E023703}">
                      <ahyp:hlinkClr xmlns:ahyp="http://schemas.microsoft.com/office/drawing/2018/hyperlinkcolor" val="tx"/>
                    </a:ext>
                  </a:extLst>
                </a:hlinkClick>
              </a:rPr>
              <a:t>Jump to Home</a:t>
            </a:r>
            <a:endParaRPr lang="en-US" sz="640" dirty="0"/>
          </a:p>
        </p:txBody>
      </p:sp>
      <p:sp>
        <p:nvSpPr>
          <p:cNvPr id="34" name="Text 32"/>
          <p:cNvSpPr/>
          <p:nvPr/>
        </p:nvSpPr>
        <p:spPr>
          <a:xfrm>
            <a:off x="713232" y="5760720"/>
            <a:ext cx="6400800" cy="274320"/>
          </a:xfrm>
          <a:prstGeom prst="rect">
            <a:avLst/>
          </a:prstGeom>
          <a:noFill/>
          <a:ln/>
        </p:spPr>
        <p:txBody>
          <a:bodyPr wrap="square" lIns="381" tIns="381" rIns="381" bIns="381" rtlCol="0" anchor="ctr">
            <a:normAutofit/>
          </a:bodyPr>
          <a:lstStyle/>
          <a:p>
            <a:pPr marL="0" indent="0" algn="l">
              <a:buNone/>
            </a:pPr>
            <a:r>
              <a:rPr lang="en-US" sz="900" dirty="0">
                <a:solidFill>
                  <a:srgbClr val="536273"/>
                </a:solidFill>
                <a:latin typeface="Arial" pitchFamily="34" charset="0"/>
                <a:ea typeface="Arial" pitchFamily="34" charset="-122"/>
                <a:cs typeface="Arial" pitchFamily="34" charset="-120"/>
              </a:rPr>
              <a:t>Approval-ready package: page mockups, booking flow, page purposes, and clickable prototype links.</a:t>
            </a:r>
            <a:endParaRPr lang="en-US" sz="900" dirty="0"/>
          </a:p>
        </p:txBody>
      </p:sp>
      <p:sp>
        <p:nvSpPr>
          <p:cNvPr id="35" name="Text 33"/>
          <p:cNvSpPr/>
          <p:nvPr/>
        </p:nvSpPr>
        <p:spPr>
          <a:xfrm>
            <a:off x="502920" y="6510528"/>
            <a:ext cx="6400800" cy="201168"/>
          </a:xfrm>
          <a:prstGeom prst="rect">
            <a:avLst/>
          </a:prstGeom>
          <a:noFill/>
          <a:ln/>
        </p:spPr>
        <p:txBody>
          <a:bodyPr wrap="square" lIns="381" tIns="381" rIns="381" bIns="381" rtlCol="0" anchor="ctr">
            <a:normAutofit/>
          </a:bodyPr>
          <a:lstStyle/>
          <a:p>
            <a:pPr marL="0" indent="0" algn="l">
              <a:buNone/>
            </a:pPr>
            <a:r>
              <a:rPr lang="en-US" sz="710" dirty="0">
                <a:solidFill>
                  <a:srgbClr val="536273"/>
                </a:solidFill>
                <a:latin typeface="Arial" pitchFamily="34" charset="0"/>
                <a:ea typeface="Arial" pitchFamily="34" charset="-122"/>
                <a:cs typeface="Arial" pitchFamily="34" charset="-120"/>
              </a:rPr>
              <a:t>Slide 1 | Editable components | Use Slide Show mode to click through the prototype</a:t>
            </a:r>
            <a:endParaRPr lang="en-US" sz="710" dirty="0"/>
          </a:p>
        </p:txBody>
      </p:sp>
      <p:sp>
        <p:nvSpPr>
          <p:cNvPr id="36" name="Shape 34">
            <a:hlinkClick r:id="rId4" action="ppaction://hlinksldjump"/>
          </p:cNvPr>
          <p:cNvSpPr/>
          <p:nvPr/>
        </p:nvSpPr>
        <p:spPr>
          <a:xfrm>
            <a:off x="7635240" y="6455664"/>
            <a:ext cx="749808" cy="283464"/>
          </a:xfrm>
          <a:prstGeom prst="roundRect">
            <a:avLst>
              <a:gd name="adj" fmla="val 25806"/>
            </a:avLst>
          </a:prstGeom>
          <a:solidFill>
            <a:srgbClr val="FFFFFF">
              <a:alpha val="30000"/>
            </a:srgbClr>
          </a:solidFill>
          <a:ln w="12700">
            <a:solidFill>
              <a:srgbClr val="536273">
                <a:alpha val="50000"/>
              </a:srgbClr>
            </a:solidFill>
            <a:prstDash val="solid"/>
          </a:ln>
        </p:spPr>
        <p:txBody>
          <a:bodyPr/>
          <a:lstStyle/>
          <a:p>
            <a:endParaRPr lang="en-US"/>
          </a:p>
        </p:txBody>
      </p:sp>
      <p:sp>
        <p:nvSpPr>
          <p:cNvPr id="37" name="Text 35">
            <a:hlinkClick r:id="rId4" action="ppaction://hlinksldjump"/>
          </p:cNvPr>
          <p:cNvSpPr/>
          <p:nvPr/>
        </p:nvSpPr>
        <p:spPr>
          <a:xfrm>
            <a:off x="7653528" y="6483096"/>
            <a:ext cx="713232" cy="182880"/>
          </a:xfrm>
          <a:prstGeom prst="rect">
            <a:avLst/>
          </a:prstGeom>
          <a:noFill/>
          <a:ln/>
        </p:spPr>
        <p:txBody>
          <a:bodyPr wrap="square" lIns="381" tIns="381" rIns="381" bIns="381" rtlCol="0" anchor="ctr">
            <a:normAutofit/>
          </a:bodyPr>
          <a:lstStyle/>
          <a:p>
            <a:pPr marL="0" indent="0" algn="ctr">
              <a:buNone/>
            </a:pPr>
            <a:r>
              <a:rPr lang="en-US" sz="800" b="1" u="sng" dirty="0">
                <a:solidFill>
                  <a:srgbClr val="2A3B50"/>
                </a:solidFill>
                <a:latin typeface="Arial" pitchFamily="34" charset="0"/>
                <a:ea typeface="Arial" pitchFamily="34" charset="-122"/>
                <a:cs typeface="Arial" pitchFamily="34" charset="-120"/>
                <a:hlinkClick r:id="rId4" action="ppaction://hlinksldjump">
                  <a:extLst>
                    <a:ext uri="{A12FA001-AC4F-418D-AE19-62706E023703}">
                      <ahyp:hlinkClr xmlns:ahyp="http://schemas.microsoft.com/office/drawing/2018/hyperlinkcolor" val="tx"/>
                    </a:ext>
                  </a:extLst>
                </a:hlinkClick>
              </a:rPr>
              <a:t>Home</a:t>
            </a:r>
            <a:endParaRPr lang="en-US" sz="800" dirty="0"/>
          </a:p>
        </p:txBody>
      </p:sp>
      <p:sp>
        <p:nvSpPr>
          <p:cNvPr id="38" name="Shape 36">
            <a:hlinkClick r:id="rId5" action="ppaction://hlinksldjump"/>
          </p:cNvPr>
          <p:cNvSpPr/>
          <p:nvPr/>
        </p:nvSpPr>
        <p:spPr>
          <a:xfrm>
            <a:off x="8476488" y="6455664"/>
            <a:ext cx="749808" cy="283464"/>
          </a:xfrm>
          <a:prstGeom prst="roundRect">
            <a:avLst>
              <a:gd name="adj" fmla="val 25806"/>
            </a:avLst>
          </a:prstGeom>
          <a:solidFill>
            <a:srgbClr val="FFFFFF">
              <a:alpha val="30000"/>
            </a:srgbClr>
          </a:solidFill>
          <a:ln w="12700">
            <a:solidFill>
              <a:srgbClr val="536273">
                <a:alpha val="50000"/>
              </a:srgbClr>
            </a:solidFill>
            <a:prstDash val="solid"/>
          </a:ln>
        </p:spPr>
        <p:txBody>
          <a:bodyPr/>
          <a:lstStyle/>
          <a:p>
            <a:endParaRPr lang="en-US"/>
          </a:p>
        </p:txBody>
      </p:sp>
      <p:sp>
        <p:nvSpPr>
          <p:cNvPr id="39" name="Text 37">
            <a:hlinkClick r:id="rId5" action="ppaction://hlinksldjump"/>
          </p:cNvPr>
          <p:cNvSpPr/>
          <p:nvPr/>
        </p:nvSpPr>
        <p:spPr>
          <a:xfrm>
            <a:off x="8494776" y="6483096"/>
            <a:ext cx="713232" cy="182880"/>
          </a:xfrm>
          <a:prstGeom prst="rect">
            <a:avLst/>
          </a:prstGeom>
          <a:noFill/>
          <a:ln/>
        </p:spPr>
        <p:txBody>
          <a:bodyPr wrap="square" lIns="381" tIns="381" rIns="381" bIns="381" rtlCol="0" anchor="ctr">
            <a:normAutofit/>
          </a:bodyPr>
          <a:lstStyle/>
          <a:p>
            <a:pPr marL="0" indent="0" algn="ctr">
              <a:buNone/>
            </a:pPr>
            <a:r>
              <a:rPr lang="en-US" sz="800" b="1" u="sng" dirty="0">
                <a:solidFill>
                  <a:srgbClr val="2A3B50"/>
                </a:solidFill>
                <a:latin typeface="Arial" pitchFamily="34" charset="0"/>
                <a:ea typeface="Arial" pitchFamily="34" charset="-122"/>
                <a:cs typeface="Arial" pitchFamily="34" charset="-120"/>
                <a:hlinkClick r:id="rId5" action="ppaction://hlinksldjump">
                  <a:extLst>
                    <a:ext uri="{A12FA001-AC4F-418D-AE19-62706E023703}">
                      <ahyp:hlinkClr xmlns:ahyp="http://schemas.microsoft.com/office/drawing/2018/hyperlinkcolor" val="tx"/>
                    </a:ext>
                  </a:extLst>
                </a:hlinkClick>
              </a:rPr>
              <a:t>Rooms</a:t>
            </a:r>
            <a:endParaRPr lang="en-US" sz="800" dirty="0"/>
          </a:p>
        </p:txBody>
      </p:sp>
      <p:sp>
        <p:nvSpPr>
          <p:cNvPr id="40" name="Shape 38">
            <a:hlinkClick r:id="rId6" action="ppaction://hlinksldjump"/>
          </p:cNvPr>
          <p:cNvSpPr/>
          <p:nvPr/>
        </p:nvSpPr>
        <p:spPr>
          <a:xfrm>
            <a:off x="9317736" y="6455664"/>
            <a:ext cx="749808" cy="283464"/>
          </a:xfrm>
          <a:prstGeom prst="roundRect">
            <a:avLst>
              <a:gd name="adj" fmla="val 25806"/>
            </a:avLst>
          </a:prstGeom>
          <a:solidFill>
            <a:srgbClr val="FFFFFF">
              <a:alpha val="30000"/>
            </a:srgbClr>
          </a:solidFill>
          <a:ln w="12700">
            <a:solidFill>
              <a:srgbClr val="536273">
                <a:alpha val="50000"/>
              </a:srgbClr>
            </a:solidFill>
            <a:prstDash val="solid"/>
          </a:ln>
        </p:spPr>
        <p:txBody>
          <a:bodyPr/>
          <a:lstStyle/>
          <a:p>
            <a:endParaRPr lang="en-US"/>
          </a:p>
        </p:txBody>
      </p:sp>
      <p:sp>
        <p:nvSpPr>
          <p:cNvPr id="41" name="Text 39">
            <a:hlinkClick r:id="rId6" action="ppaction://hlinksldjump"/>
          </p:cNvPr>
          <p:cNvSpPr/>
          <p:nvPr/>
        </p:nvSpPr>
        <p:spPr>
          <a:xfrm>
            <a:off x="9336024" y="6483096"/>
            <a:ext cx="713232" cy="182880"/>
          </a:xfrm>
          <a:prstGeom prst="rect">
            <a:avLst/>
          </a:prstGeom>
          <a:noFill/>
          <a:ln/>
        </p:spPr>
        <p:txBody>
          <a:bodyPr wrap="square" lIns="381" tIns="381" rIns="381" bIns="381" rtlCol="0" anchor="ctr">
            <a:normAutofit/>
          </a:bodyPr>
          <a:lstStyle/>
          <a:p>
            <a:pPr marL="0" indent="0" algn="ctr">
              <a:buNone/>
            </a:pPr>
            <a:r>
              <a:rPr lang="en-US" sz="800" b="1" u="sng" dirty="0">
                <a:solidFill>
                  <a:srgbClr val="2A3B50"/>
                </a:solidFill>
                <a:latin typeface="Arial" pitchFamily="34" charset="0"/>
                <a:ea typeface="Arial" pitchFamily="34" charset="-122"/>
                <a:cs typeface="Arial" pitchFamily="34" charset="-120"/>
                <a:hlinkClick r:id="rId6" action="ppaction://hlinksldjump">
                  <a:extLst>
                    <a:ext uri="{A12FA001-AC4F-418D-AE19-62706E023703}">
                      <ahyp:hlinkClr xmlns:ahyp="http://schemas.microsoft.com/office/drawing/2018/hyperlinkcolor" val="tx"/>
                    </a:ext>
                  </a:extLst>
                </a:hlinkClick>
              </a:rPr>
              <a:t>Book</a:t>
            </a:r>
            <a:endParaRPr lang="en-US" sz="800" dirty="0"/>
          </a:p>
        </p:txBody>
      </p:sp>
      <p:sp>
        <p:nvSpPr>
          <p:cNvPr id="42" name="Shape 40">
            <a:hlinkClick r:id="rId7" action="ppaction://hlinksldjump"/>
          </p:cNvPr>
          <p:cNvSpPr/>
          <p:nvPr/>
        </p:nvSpPr>
        <p:spPr>
          <a:xfrm>
            <a:off x="10158984" y="6455664"/>
            <a:ext cx="749808" cy="283464"/>
          </a:xfrm>
          <a:prstGeom prst="roundRect">
            <a:avLst>
              <a:gd name="adj" fmla="val 25806"/>
            </a:avLst>
          </a:prstGeom>
          <a:solidFill>
            <a:srgbClr val="FFFFFF">
              <a:alpha val="30000"/>
            </a:srgbClr>
          </a:solidFill>
          <a:ln w="12700">
            <a:solidFill>
              <a:srgbClr val="536273">
                <a:alpha val="50000"/>
              </a:srgbClr>
            </a:solidFill>
            <a:prstDash val="solid"/>
          </a:ln>
        </p:spPr>
        <p:txBody>
          <a:bodyPr/>
          <a:lstStyle/>
          <a:p>
            <a:endParaRPr lang="en-US"/>
          </a:p>
        </p:txBody>
      </p:sp>
      <p:sp>
        <p:nvSpPr>
          <p:cNvPr id="43" name="Text 41">
            <a:hlinkClick r:id="rId7" action="ppaction://hlinksldjump"/>
          </p:cNvPr>
          <p:cNvSpPr/>
          <p:nvPr/>
        </p:nvSpPr>
        <p:spPr>
          <a:xfrm>
            <a:off x="10177272" y="6483096"/>
            <a:ext cx="713232" cy="182880"/>
          </a:xfrm>
          <a:prstGeom prst="rect">
            <a:avLst/>
          </a:prstGeom>
          <a:noFill/>
          <a:ln/>
        </p:spPr>
        <p:txBody>
          <a:bodyPr wrap="square" lIns="381" tIns="381" rIns="381" bIns="381" rtlCol="0" anchor="ctr">
            <a:normAutofit/>
          </a:bodyPr>
          <a:lstStyle/>
          <a:p>
            <a:pPr marL="0" indent="0" algn="ctr">
              <a:buNone/>
            </a:pPr>
            <a:r>
              <a:rPr lang="en-US" sz="800" b="1" u="sng" dirty="0">
                <a:solidFill>
                  <a:srgbClr val="2A3B50"/>
                </a:solidFill>
                <a:latin typeface="Arial" pitchFamily="34" charset="0"/>
                <a:ea typeface="Arial" pitchFamily="34" charset="-122"/>
                <a:cs typeface="Arial" pitchFamily="34" charset="-120"/>
                <a:hlinkClick r:id="rId7" action="ppaction://hlinksldjump">
                  <a:extLst>
                    <a:ext uri="{A12FA001-AC4F-418D-AE19-62706E023703}">
                      <ahyp:hlinkClr xmlns:ahyp="http://schemas.microsoft.com/office/drawing/2018/hyperlinkcolor" val="tx"/>
                    </a:ext>
                  </a:extLst>
                </a:hlinkClick>
              </a:rPr>
              <a:t>Lookup</a:t>
            </a:r>
            <a:endParaRPr lang="en-US" sz="800" dirty="0"/>
          </a:p>
        </p:txBody>
      </p:sp>
      <p:sp>
        <p:nvSpPr>
          <p:cNvPr id="44" name="Shape 42">
            <a:hlinkClick r:id="rId3" action="ppaction://hlinksldjump"/>
          </p:cNvPr>
          <p:cNvSpPr/>
          <p:nvPr/>
        </p:nvSpPr>
        <p:spPr>
          <a:xfrm>
            <a:off x="11000232" y="6455664"/>
            <a:ext cx="868680" cy="283464"/>
          </a:xfrm>
          <a:prstGeom prst="roundRect">
            <a:avLst>
              <a:gd name="adj" fmla="val 25806"/>
            </a:avLst>
          </a:prstGeom>
          <a:solidFill>
            <a:srgbClr val="132133"/>
          </a:solidFill>
          <a:ln w="12700">
            <a:solidFill>
              <a:srgbClr val="132133">
                <a:alpha val="0"/>
              </a:srgbClr>
            </a:solidFill>
            <a:prstDash val="solid"/>
          </a:ln>
        </p:spPr>
        <p:txBody>
          <a:bodyPr/>
          <a:lstStyle/>
          <a:p>
            <a:endParaRPr lang="en-US"/>
          </a:p>
        </p:txBody>
      </p:sp>
      <p:sp>
        <p:nvSpPr>
          <p:cNvPr id="45" name="Text 43">
            <a:hlinkClick r:id="rId3" action="ppaction://hlinksldjump"/>
          </p:cNvPr>
          <p:cNvSpPr/>
          <p:nvPr/>
        </p:nvSpPr>
        <p:spPr>
          <a:xfrm>
            <a:off x="11018520" y="6483096"/>
            <a:ext cx="832104" cy="182880"/>
          </a:xfrm>
          <a:prstGeom prst="rect">
            <a:avLst/>
          </a:prstGeom>
          <a:noFill/>
          <a:ln/>
        </p:spPr>
        <p:txBody>
          <a:bodyPr wrap="square" lIns="381" tIns="381" rIns="381" bIns="381" rtlCol="0" anchor="ctr">
            <a:normAutofit/>
          </a:bodyPr>
          <a:lstStyle/>
          <a:p>
            <a:pPr marL="0" indent="0" algn="ctr">
              <a:buNone/>
            </a:pPr>
            <a:r>
              <a:rPr lang="en-US" sz="770" b="1" u="sng" dirty="0">
                <a:solidFill>
                  <a:srgbClr val="FFFFFF"/>
                </a:solidFill>
                <a:latin typeface="Arial" pitchFamily="34" charset="0"/>
                <a:ea typeface="Arial" pitchFamily="34" charset="-122"/>
                <a:cs typeface="Arial" pitchFamily="34" charset="-120"/>
                <a:hlinkClick r:id="rId3" action="ppaction://hlinksldjump">
                  <a:extLst>
                    <a:ext uri="{A12FA001-AC4F-418D-AE19-62706E023703}">
                      <ahyp:hlinkClr xmlns:ahyp="http://schemas.microsoft.com/office/drawing/2018/hyperlinkcolor" val="tx"/>
                    </a:ext>
                  </a:extLst>
                </a:hlinkClick>
              </a:rPr>
              <a:t>Site Flow</a:t>
            </a:r>
            <a:endParaRPr lang="en-US" sz="77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28600"/>
            <a:ext cx="5943600" cy="365760"/>
          </a:xfrm>
          <a:prstGeom prst="rect">
            <a:avLst/>
          </a:prstGeom>
          <a:noFill/>
          <a:ln/>
        </p:spPr>
        <p:txBody>
          <a:bodyPr wrap="square" lIns="381" tIns="381" rIns="381" bIns="381" rtlCol="0" anchor="ctr">
            <a:normAutofit/>
          </a:bodyPr>
          <a:lstStyle/>
          <a:p>
            <a:pPr marL="0" indent="0" algn="l">
              <a:buNone/>
            </a:pPr>
            <a:r>
              <a:rPr lang="en-US" sz="2000" b="1" dirty="0">
                <a:solidFill>
                  <a:srgbClr val="132133"/>
                </a:solidFill>
                <a:latin typeface="Georgia" pitchFamily="34" charset="0"/>
                <a:ea typeface="Georgia" pitchFamily="34" charset="-122"/>
                <a:cs typeface="Georgia" pitchFamily="34" charset="-120"/>
              </a:rPr>
              <a:t>Site Flow + Prototype Map</a:t>
            </a:r>
            <a:endParaRPr lang="en-US" sz="2000" dirty="0"/>
          </a:p>
        </p:txBody>
      </p:sp>
      <p:sp>
        <p:nvSpPr>
          <p:cNvPr id="3" name="Text 1"/>
          <p:cNvSpPr/>
          <p:nvPr/>
        </p:nvSpPr>
        <p:spPr>
          <a:xfrm>
            <a:off x="512064" y="630936"/>
            <a:ext cx="6492240" cy="228600"/>
          </a:xfrm>
          <a:prstGeom prst="rect">
            <a:avLst/>
          </a:prstGeom>
          <a:noFill/>
          <a:ln/>
        </p:spPr>
        <p:txBody>
          <a:bodyPr wrap="square" lIns="381" tIns="381" rIns="381" bIns="381" rtlCol="0" anchor="ctr">
            <a:normAutofit/>
          </a:bodyPr>
          <a:lstStyle/>
          <a:p>
            <a:pPr marL="0" indent="0" algn="l">
              <a:buNone/>
            </a:pPr>
            <a:r>
              <a:rPr lang="en-US" sz="850" dirty="0">
                <a:solidFill>
                  <a:srgbClr val="536273"/>
                </a:solidFill>
                <a:latin typeface="Arial" pitchFamily="34" charset="0"/>
                <a:ea typeface="Arial" pitchFamily="34" charset="-122"/>
                <a:cs typeface="Arial" pitchFamily="34" charset="-120"/>
              </a:rPr>
              <a:t>Approval walkthrough for the Moffat Bay Lodge navigation and reservation path.</a:t>
            </a:r>
            <a:endParaRPr lang="en-US" sz="850" dirty="0"/>
          </a:p>
        </p:txBody>
      </p:sp>
      <p:sp>
        <p:nvSpPr>
          <p:cNvPr id="4" name="Text 2"/>
          <p:cNvSpPr/>
          <p:nvPr/>
        </p:nvSpPr>
        <p:spPr>
          <a:xfrm>
            <a:off x="8823960" y="256032"/>
            <a:ext cx="2743200" cy="228600"/>
          </a:xfrm>
          <a:prstGeom prst="rect">
            <a:avLst/>
          </a:prstGeom>
          <a:noFill/>
          <a:ln/>
        </p:spPr>
        <p:txBody>
          <a:bodyPr wrap="square" lIns="381" tIns="381" rIns="381" bIns="381" rtlCol="0" anchor="ctr">
            <a:normAutofit/>
          </a:bodyPr>
          <a:lstStyle/>
          <a:p>
            <a:pPr marL="0" indent="0" algn="r">
              <a:buNone/>
            </a:pPr>
            <a:r>
              <a:rPr lang="en-US" sz="800" b="1" dirty="0">
                <a:solidFill>
                  <a:srgbClr val="536273"/>
                </a:solidFill>
                <a:latin typeface="Arial" pitchFamily="34" charset="0"/>
                <a:ea typeface="Arial" pitchFamily="34" charset="-122"/>
                <a:cs typeface="Arial" pitchFamily="34" charset="-120"/>
              </a:rPr>
              <a:t>Moffat Bay Lodge Prototype</a:t>
            </a:r>
            <a:endParaRPr lang="en-US" sz="800" dirty="0"/>
          </a:p>
        </p:txBody>
      </p:sp>
      <p:sp>
        <p:nvSpPr>
          <p:cNvPr id="5" name="Shape 3"/>
          <p:cNvSpPr/>
          <p:nvPr/>
        </p:nvSpPr>
        <p:spPr>
          <a:xfrm>
            <a:off x="2103120" y="2084832"/>
            <a:ext cx="1810512" cy="0"/>
          </a:xfrm>
          <a:prstGeom prst="line">
            <a:avLst/>
          </a:prstGeom>
          <a:noFill/>
          <a:ln w="16510">
            <a:solidFill>
              <a:srgbClr val="276F7B"/>
            </a:solidFill>
            <a:prstDash val="solid"/>
            <a:headEnd type="none"/>
            <a:tailEnd type="triangle"/>
          </a:ln>
        </p:spPr>
        <p:txBody>
          <a:bodyPr/>
          <a:lstStyle/>
          <a:p>
            <a:endParaRPr lang="en-US"/>
          </a:p>
        </p:txBody>
      </p:sp>
      <p:sp>
        <p:nvSpPr>
          <p:cNvPr id="6" name="Shape 4"/>
          <p:cNvSpPr/>
          <p:nvPr/>
        </p:nvSpPr>
        <p:spPr>
          <a:xfrm>
            <a:off x="5074920" y="2084832"/>
            <a:ext cx="1801368" cy="0"/>
          </a:xfrm>
          <a:prstGeom prst="line">
            <a:avLst/>
          </a:prstGeom>
          <a:noFill/>
          <a:ln w="16510">
            <a:solidFill>
              <a:srgbClr val="276F7B"/>
            </a:solidFill>
            <a:prstDash val="solid"/>
            <a:headEnd type="none"/>
            <a:tailEnd type="triangle"/>
          </a:ln>
        </p:spPr>
        <p:txBody>
          <a:bodyPr/>
          <a:lstStyle/>
          <a:p>
            <a:endParaRPr lang="en-US"/>
          </a:p>
        </p:txBody>
      </p:sp>
      <p:sp>
        <p:nvSpPr>
          <p:cNvPr id="7" name="Shape 5"/>
          <p:cNvSpPr/>
          <p:nvPr/>
        </p:nvSpPr>
        <p:spPr>
          <a:xfrm>
            <a:off x="8046720" y="2084832"/>
            <a:ext cx="1508760" cy="0"/>
          </a:xfrm>
          <a:prstGeom prst="line">
            <a:avLst/>
          </a:prstGeom>
          <a:noFill/>
          <a:ln w="16510">
            <a:solidFill>
              <a:srgbClr val="276F7B"/>
            </a:solidFill>
            <a:prstDash val="solid"/>
            <a:headEnd type="none"/>
            <a:tailEnd type="triangle"/>
          </a:ln>
        </p:spPr>
        <p:txBody>
          <a:bodyPr/>
          <a:lstStyle/>
          <a:p>
            <a:endParaRPr lang="en-US"/>
          </a:p>
        </p:txBody>
      </p:sp>
      <p:sp>
        <p:nvSpPr>
          <p:cNvPr id="8" name="Shape 6"/>
          <p:cNvSpPr/>
          <p:nvPr/>
        </p:nvSpPr>
        <p:spPr>
          <a:xfrm>
            <a:off x="2743200" y="2788920"/>
            <a:ext cx="0" cy="1005840"/>
          </a:xfrm>
          <a:prstGeom prst="line">
            <a:avLst/>
          </a:prstGeom>
          <a:noFill/>
          <a:ln w="16510">
            <a:solidFill>
              <a:srgbClr val="276F7B"/>
            </a:solidFill>
            <a:prstDash val="solid"/>
            <a:headEnd type="none"/>
            <a:tailEnd type="triangle"/>
          </a:ln>
        </p:spPr>
        <p:txBody>
          <a:bodyPr/>
          <a:lstStyle/>
          <a:p>
            <a:endParaRPr lang="en-US"/>
          </a:p>
        </p:txBody>
      </p:sp>
      <p:sp>
        <p:nvSpPr>
          <p:cNvPr id="9" name="Shape 7"/>
          <p:cNvSpPr/>
          <p:nvPr/>
        </p:nvSpPr>
        <p:spPr>
          <a:xfrm>
            <a:off x="2743200" y="3794760"/>
            <a:ext cx="1828800" cy="0"/>
          </a:xfrm>
          <a:prstGeom prst="line">
            <a:avLst/>
          </a:prstGeom>
          <a:noFill/>
          <a:ln w="16510">
            <a:solidFill>
              <a:srgbClr val="276F7B"/>
            </a:solidFill>
            <a:prstDash val="solid"/>
            <a:headEnd type="none"/>
            <a:tailEnd type="triangle"/>
          </a:ln>
        </p:spPr>
        <p:txBody>
          <a:bodyPr/>
          <a:lstStyle/>
          <a:p>
            <a:endParaRPr lang="en-US"/>
          </a:p>
        </p:txBody>
      </p:sp>
      <p:sp>
        <p:nvSpPr>
          <p:cNvPr id="10" name="Shape 8"/>
          <p:cNvSpPr/>
          <p:nvPr/>
        </p:nvSpPr>
        <p:spPr>
          <a:xfrm>
            <a:off x="5760720" y="3794760"/>
            <a:ext cx="1600200" cy="0"/>
          </a:xfrm>
          <a:prstGeom prst="line">
            <a:avLst/>
          </a:prstGeom>
          <a:noFill/>
          <a:ln w="16510">
            <a:solidFill>
              <a:srgbClr val="276F7B"/>
            </a:solidFill>
            <a:prstDash val="solid"/>
            <a:headEnd type="none"/>
            <a:tailEnd type="triangle"/>
          </a:ln>
        </p:spPr>
        <p:txBody>
          <a:bodyPr/>
          <a:lstStyle/>
          <a:p>
            <a:endParaRPr lang="en-US"/>
          </a:p>
        </p:txBody>
      </p:sp>
      <p:sp>
        <p:nvSpPr>
          <p:cNvPr id="11" name="Shape 9"/>
          <p:cNvSpPr/>
          <p:nvPr/>
        </p:nvSpPr>
        <p:spPr>
          <a:xfrm>
            <a:off x="8549640" y="3794760"/>
            <a:ext cx="1307592" cy="0"/>
          </a:xfrm>
          <a:prstGeom prst="line">
            <a:avLst/>
          </a:prstGeom>
          <a:noFill/>
          <a:ln w="16510">
            <a:solidFill>
              <a:srgbClr val="276F7B"/>
            </a:solidFill>
            <a:prstDash val="solid"/>
            <a:headEnd type="none"/>
            <a:tailEnd type="triangle"/>
          </a:ln>
        </p:spPr>
        <p:txBody>
          <a:bodyPr/>
          <a:lstStyle/>
          <a:p>
            <a:endParaRPr lang="en-US"/>
          </a:p>
        </p:txBody>
      </p:sp>
      <p:sp>
        <p:nvSpPr>
          <p:cNvPr id="12" name="Shape 10">
            <a:hlinkClick r:id="rId3" action="ppaction://hlinksldjump"/>
          </p:cNvPr>
          <p:cNvSpPr/>
          <p:nvPr/>
        </p:nvSpPr>
        <p:spPr>
          <a:xfrm>
            <a:off x="914400" y="1755648"/>
            <a:ext cx="1325880" cy="658368"/>
          </a:xfrm>
          <a:prstGeom prst="roundRect">
            <a:avLst>
              <a:gd name="adj" fmla="val 16667"/>
            </a:avLst>
          </a:prstGeom>
          <a:solidFill>
            <a:srgbClr val="CDA059"/>
          </a:solidFill>
          <a:ln w="12700">
            <a:solidFill>
              <a:srgbClr val="CDA059"/>
            </a:solidFill>
            <a:prstDash val="solid"/>
          </a:ln>
          <a:effectLst>
            <a:outerShdw blurRad="12700" dist="8890" dir="2700000" algn="bl" rotWithShape="0">
              <a:srgbClr val="132133">
                <a:alpha val="8000"/>
              </a:srgbClr>
            </a:outerShdw>
          </a:effectLst>
        </p:spPr>
        <p:txBody>
          <a:bodyPr/>
          <a:lstStyle/>
          <a:p>
            <a:endParaRPr lang="en-US"/>
          </a:p>
        </p:txBody>
      </p:sp>
      <p:sp>
        <p:nvSpPr>
          <p:cNvPr id="13" name="Text 11">
            <a:hlinkClick r:id="rId3" action="ppaction://hlinksldjump"/>
          </p:cNvPr>
          <p:cNvSpPr/>
          <p:nvPr/>
        </p:nvSpPr>
        <p:spPr>
          <a:xfrm>
            <a:off x="987552" y="1965960"/>
            <a:ext cx="1179576" cy="155448"/>
          </a:xfrm>
          <a:prstGeom prst="rect">
            <a:avLst/>
          </a:prstGeom>
          <a:noFill/>
          <a:ln/>
        </p:spPr>
        <p:txBody>
          <a:bodyPr wrap="square" lIns="381" tIns="381" rIns="381" bIns="381" rtlCol="0" anchor="ctr">
            <a:normAutofit/>
          </a:bodyPr>
          <a:lstStyle/>
          <a:p>
            <a:pPr marL="0" indent="0" algn="ctr">
              <a:buNone/>
            </a:pPr>
            <a:r>
              <a:rPr lang="en-US" sz="900" b="1" u="sng" dirty="0">
                <a:solidFill>
                  <a:srgbClr val="132133"/>
                </a:solidFill>
                <a:latin typeface="Arial" pitchFamily="34" charset="0"/>
                <a:ea typeface="Arial" pitchFamily="34" charset="-122"/>
                <a:cs typeface="Arial" pitchFamily="34" charset="-120"/>
                <a:hlinkClick r:id="rId3" action="ppaction://hlinksldjump">
                  <a:extLst>
                    <a:ext uri="{A12FA001-AC4F-418D-AE19-62706E023703}">
                      <ahyp:hlinkClr xmlns:ahyp="http://schemas.microsoft.com/office/drawing/2018/hyperlinkcolor" val="tx"/>
                    </a:ext>
                  </a:extLst>
                </a:hlinkClick>
              </a:rPr>
              <a:t>Landing / Home</a:t>
            </a:r>
            <a:endParaRPr lang="en-US" sz="900" dirty="0"/>
          </a:p>
        </p:txBody>
      </p:sp>
      <p:sp>
        <p:nvSpPr>
          <p:cNvPr id="14" name="Shape 12">
            <a:hlinkClick r:id="rId4" action="ppaction://hlinksldjump"/>
          </p:cNvPr>
          <p:cNvSpPr/>
          <p:nvPr/>
        </p:nvSpPr>
        <p:spPr>
          <a:xfrm>
            <a:off x="3703320" y="1755648"/>
            <a:ext cx="1417320" cy="658368"/>
          </a:xfrm>
          <a:prstGeom prst="roundRect">
            <a:avLst>
              <a:gd name="adj" fmla="val 16667"/>
            </a:avLst>
          </a:prstGeom>
          <a:solidFill>
            <a:srgbClr val="FFFFFF"/>
          </a:solidFill>
          <a:ln w="12700">
            <a:solidFill>
              <a:srgbClr val="276F7B"/>
            </a:solidFill>
            <a:prstDash val="solid"/>
          </a:ln>
          <a:effectLst>
            <a:outerShdw blurRad="12700" dist="8890" dir="2700000" algn="bl" rotWithShape="0">
              <a:srgbClr val="132133">
                <a:alpha val="8000"/>
              </a:srgbClr>
            </a:outerShdw>
          </a:effectLst>
        </p:spPr>
        <p:txBody>
          <a:bodyPr/>
          <a:lstStyle/>
          <a:p>
            <a:endParaRPr lang="en-US"/>
          </a:p>
        </p:txBody>
      </p:sp>
      <p:sp>
        <p:nvSpPr>
          <p:cNvPr id="15" name="Text 13">
            <a:hlinkClick r:id="rId4" action="ppaction://hlinksldjump"/>
          </p:cNvPr>
          <p:cNvSpPr/>
          <p:nvPr/>
        </p:nvSpPr>
        <p:spPr>
          <a:xfrm>
            <a:off x="3776472" y="1965960"/>
            <a:ext cx="1271016" cy="155448"/>
          </a:xfrm>
          <a:prstGeom prst="rect">
            <a:avLst/>
          </a:prstGeom>
          <a:noFill/>
          <a:ln/>
        </p:spPr>
        <p:txBody>
          <a:bodyPr wrap="square" lIns="381" tIns="381" rIns="381" bIns="381" rtlCol="0" anchor="ctr">
            <a:normAutofit/>
          </a:bodyPr>
          <a:lstStyle/>
          <a:p>
            <a:pPr marL="0" indent="0" algn="ctr">
              <a:buNone/>
            </a:pPr>
            <a:r>
              <a:rPr lang="en-US" sz="900" b="1" u="sng" dirty="0">
                <a:solidFill>
                  <a:srgbClr val="132133"/>
                </a:solidFill>
                <a:latin typeface="Arial" pitchFamily="34" charset="0"/>
                <a:ea typeface="Arial" pitchFamily="34" charset="-122"/>
                <a:cs typeface="Arial" pitchFamily="34" charset="-120"/>
                <a:hlinkClick r:id="rId4" action="ppaction://hlinksldjump">
                  <a:extLst>
                    <a:ext uri="{A12FA001-AC4F-418D-AE19-62706E023703}">
                      <ahyp:hlinkClr xmlns:ahyp="http://schemas.microsoft.com/office/drawing/2018/hyperlinkcolor" val="tx"/>
                    </a:ext>
                  </a:extLst>
                </a:hlinkClick>
              </a:rPr>
              <a:t>Rooms &amp; Pricing</a:t>
            </a:r>
            <a:endParaRPr lang="en-US" sz="900" dirty="0"/>
          </a:p>
        </p:txBody>
      </p:sp>
      <p:sp>
        <p:nvSpPr>
          <p:cNvPr id="16" name="Shape 14">
            <a:hlinkClick r:id="rId5" action="ppaction://hlinksldjump"/>
          </p:cNvPr>
          <p:cNvSpPr/>
          <p:nvPr/>
        </p:nvSpPr>
        <p:spPr>
          <a:xfrm>
            <a:off x="6656832" y="1755648"/>
            <a:ext cx="1325880" cy="658368"/>
          </a:xfrm>
          <a:prstGeom prst="roundRect">
            <a:avLst>
              <a:gd name="adj" fmla="val 16667"/>
            </a:avLst>
          </a:prstGeom>
          <a:solidFill>
            <a:srgbClr val="132133"/>
          </a:solidFill>
          <a:ln w="12700">
            <a:solidFill>
              <a:srgbClr val="132133"/>
            </a:solidFill>
            <a:prstDash val="solid"/>
          </a:ln>
          <a:effectLst>
            <a:outerShdw blurRad="12700" dist="8890" dir="2700000" algn="bl" rotWithShape="0">
              <a:srgbClr val="132133">
                <a:alpha val="8000"/>
              </a:srgbClr>
            </a:outerShdw>
          </a:effectLst>
        </p:spPr>
        <p:txBody>
          <a:bodyPr/>
          <a:lstStyle/>
          <a:p>
            <a:endParaRPr lang="en-US"/>
          </a:p>
        </p:txBody>
      </p:sp>
      <p:sp>
        <p:nvSpPr>
          <p:cNvPr id="17" name="Text 15">
            <a:hlinkClick r:id="rId5" action="ppaction://hlinksldjump"/>
          </p:cNvPr>
          <p:cNvSpPr/>
          <p:nvPr/>
        </p:nvSpPr>
        <p:spPr>
          <a:xfrm>
            <a:off x="6729984" y="1965960"/>
            <a:ext cx="1179576" cy="155448"/>
          </a:xfrm>
          <a:prstGeom prst="rect">
            <a:avLst/>
          </a:prstGeom>
          <a:noFill/>
          <a:ln/>
        </p:spPr>
        <p:txBody>
          <a:bodyPr wrap="square" lIns="381" tIns="381" rIns="381" bIns="381" rtlCol="0" anchor="ctr">
            <a:normAutofit/>
          </a:bodyPr>
          <a:lstStyle/>
          <a:p>
            <a:pPr marL="0" indent="0" algn="ctr">
              <a:buNone/>
            </a:pPr>
            <a:r>
              <a:rPr lang="en-US" sz="900" b="1" u="sng" dirty="0">
                <a:solidFill>
                  <a:srgbClr val="FFFFFF"/>
                </a:solidFill>
                <a:latin typeface="Arial" pitchFamily="34" charset="0"/>
                <a:ea typeface="Arial" pitchFamily="34" charset="-122"/>
                <a:cs typeface="Arial" pitchFamily="34" charset="-120"/>
                <a:hlinkClick r:id="rId5" action="ppaction://hlinksldjump">
                  <a:extLst>
                    <a:ext uri="{A12FA001-AC4F-418D-AE19-62706E023703}">
                      <ahyp:hlinkClr xmlns:ahyp="http://schemas.microsoft.com/office/drawing/2018/hyperlinkcolor" val="tx"/>
                    </a:ext>
                  </a:extLst>
                </a:hlinkClick>
              </a:rPr>
              <a:t>Book Your Stay</a:t>
            </a:r>
            <a:endParaRPr lang="en-US" sz="900" dirty="0"/>
          </a:p>
        </p:txBody>
      </p:sp>
      <p:sp>
        <p:nvSpPr>
          <p:cNvPr id="18" name="Shape 16">
            <a:hlinkClick r:id="rId6" action="ppaction://hlinksldjump"/>
          </p:cNvPr>
          <p:cNvSpPr/>
          <p:nvPr/>
        </p:nvSpPr>
        <p:spPr>
          <a:xfrm>
            <a:off x="9372600" y="1755648"/>
            <a:ext cx="1600200" cy="658368"/>
          </a:xfrm>
          <a:prstGeom prst="roundRect">
            <a:avLst>
              <a:gd name="adj" fmla="val 16667"/>
            </a:avLst>
          </a:prstGeom>
          <a:solidFill>
            <a:srgbClr val="CDA059"/>
          </a:solidFill>
          <a:ln w="12700">
            <a:solidFill>
              <a:srgbClr val="CDA059"/>
            </a:solidFill>
            <a:prstDash val="solid"/>
          </a:ln>
          <a:effectLst>
            <a:outerShdw blurRad="12700" dist="8890" dir="2700000" algn="bl" rotWithShape="0">
              <a:srgbClr val="132133">
                <a:alpha val="8000"/>
              </a:srgbClr>
            </a:outerShdw>
          </a:effectLst>
        </p:spPr>
        <p:txBody>
          <a:bodyPr/>
          <a:lstStyle/>
          <a:p>
            <a:endParaRPr lang="en-US"/>
          </a:p>
        </p:txBody>
      </p:sp>
      <p:sp>
        <p:nvSpPr>
          <p:cNvPr id="19" name="Text 17">
            <a:hlinkClick r:id="rId6" action="ppaction://hlinksldjump"/>
          </p:cNvPr>
          <p:cNvSpPr/>
          <p:nvPr/>
        </p:nvSpPr>
        <p:spPr>
          <a:xfrm>
            <a:off x="9445752" y="1965960"/>
            <a:ext cx="1453896" cy="155448"/>
          </a:xfrm>
          <a:prstGeom prst="rect">
            <a:avLst/>
          </a:prstGeom>
          <a:noFill/>
          <a:ln/>
        </p:spPr>
        <p:txBody>
          <a:bodyPr wrap="square" lIns="381" tIns="381" rIns="381" bIns="381" rtlCol="0" anchor="ctr">
            <a:normAutofit/>
          </a:bodyPr>
          <a:lstStyle/>
          <a:p>
            <a:pPr marL="0" indent="0" algn="ctr">
              <a:buNone/>
            </a:pPr>
            <a:r>
              <a:rPr lang="en-US" sz="900" b="1" u="sng" dirty="0">
                <a:solidFill>
                  <a:srgbClr val="132133"/>
                </a:solidFill>
                <a:latin typeface="Arial" pitchFamily="34" charset="0"/>
                <a:ea typeface="Arial" pitchFamily="34" charset="-122"/>
                <a:cs typeface="Arial" pitchFamily="34" charset="-120"/>
                <a:hlinkClick r:id="rId6" action="ppaction://hlinksldjump">
                  <a:extLst>
                    <a:ext uri="{A12FA001-AC4F-418D-AE19-62706E023703}">
                      <ahyp:hlinkClr xmlns:ahyp="http://schemas.microsoft.com/office/drawing/2018/hyperlinkcolor" val="tx"/>
                    </a:ext>
                  </a:extLst>
                </a:hlinkClick>
              </a:rPr>
              <a:t>Reservation Summary</a:t>
            </a:r>
            <a:endParaRPr lang="en-US" sz="900" dirty="0"/>
          </a:p>
        </p:txBody>
      </p:sp>
      <p:sp>
        <p:nvSpPr>
          <p:cNvPr id="20" name="Shape 18">
            <a:hlinkClick r:id="rId7" action="ppaction://hlinksldjump"/>
          </p:cNvPr>
          <p:cNvSpPr/>
          <p:nvPr/>
        </p:nvSpPr>
        <p:spPr>
          <a:xfrm>
            <a:off x="2011680" y="3474720"/>
            <a:ext cx="1234440" cy="658368"/>
          </a:xfrm>
          <a:prstGeom prst="roundRect">
            <a:avLst>
              <a:gd name="adj" fmla="val 16667"/>
            </a:avLst>
          </a:prstGeom>
          <a:solidFill>
            <a:srgbClr val="FFFFFF"/>
          </a:solidFill>
          <a:ln w="12700">
            <a:solidFill>
              <a:srgbClr val="276F7B"/>
            </a:solidFill>
            <a:prstDash val="solid"/>
          </a:ln>
          <a:effectLst>
            <a:outerShdw blurRad="12700" dist="8890" dir="2700000" algn="bl" rotWithShape="0">
              <a:srgbClr val="132133">
                <a:alpha val="8000"/>
              </a:srgbClr>
            </a:outerShdw>
          </a:effectLst>
        </p:spPr>
        <p:txBody>
          <a:bodyPr/>
          <a:lstStyle/>
          <a:p>
            <a:endParaRPr lang="en-US"/>
          </a:p>
        </p:txBody>
      </p:sp>
      <p:sp>
        <p:nvSpPr>
          <p:cNvPr id="21" name="Text 19">
            <a:hlinkClick r:id="rId7" action="ppaction://hlinksldjump"/>
          </p:cNvPr>
          <p:cNvSpPr/>
          <p:nvPr/>
        </p:nvSpPr>
        <p:spPr>
          <a:xfrm>
            <a:off x="2084832" y="3685032"/>
            <a:ext cx="1088136" cy="155448"/>
          </a:xfrm>
          <a:prstGeom prst="rect">
            <a:avLst/>
          </a:prstGeom>
          <a:noFill/>
          <a:ln/>
        </p:spPr>
        <p:txBody>
          <a:bodyPr wrap="square" lIns="381" tIns="381" rIns="381" bIns="381" rtlCol="0" anchor="ctr">
            <a:normAutofit/>
          </a:bodyPr>
          <a:lstStyle/>
          <a:p>
            <a:pPr marL="0" indent="0" algn="ctr">
              <a:buNone/>
            </a:pPr>
            <a:r>
              <a:rPr lang="en-US" sz="900" b="1" u="sng" dirty="0">
                <a:solidFill>
                  <a:srgbClr val="132133"/>
                </a:solidFill>
                <a:latin typeface="Arial" pitchFamily="34" charset="0"/>
                <a:ea typeface="Arial" pitchFamily="34" charset="-122"/>
                <a:cs typeface="Arial" pitchFamily="34" charset="-120"/>
                <a:hlinkClick r:id="rId7" action="ppaction://hlinksldjump">
                  <a:extLst>
                    <a:ext uri="{A12FA001-AC4F-418D-AE19-62706E023703}">
                      <ahyp:hlinkClr xmlns:ahyp="http://schemas.microsoft.com/office/drawing/2018/hyperlinkcolor" val="tx"/>
                    </a:ext>
                  </a:extLst>
                </a:hlinkClick>
              </a:rPr>
              <a:t>About</a:t>
            </a:r>
            <a:endParaRPr lang="en-US" sz="900" dirty="0"/>
          </a:p>
        </p:txBody>
      </p:sp>
      <p:sp>
        <p:nvSpPr>
          <p:cNvPr id="22" name="Shape 20">
            <a:hlinkClick r:id="rId8" action="ppaction://hlinksldjump"/>
          </p:cNvPr>
          <p:cNvSpPr/>
          <p:nvPr/>
        </p:nvSpPr>
        <p:spPr>
          <a:xfrm>
            <a:off x="4315968" y="3474720"/>
            <a:ext cx="1417320" cy="658368"/>
          </a:xfrm>
          <a:prstGeom prst="roundRect">
            <a:avLst>
              <a:gd name="adj" fmla="val 16667"/>
            </a:avLst>
          </a:prstGeom>
          <a:solidFill>
            <a:srgbClr val="FFFFFF"/>
          </a:solidFill>
          <a:ln w="12700">
            <a:solidFill>
              <a:srgbClr val="276F7B"/>
            </a:solidFill>
            <a:prstDash val="solid"/>
          </a:ln>
          <a:effectLst>
            <a:outerShdw blurRad="12700" dist="8890" dir="2700000" algn="bl" rotWithShape="0">
              <a:srgbClr val="132133">
                <a:alpha val="8000"/>
              </a:srgbClr>
            </a:outerShdw>
          </a:effectLst>
        </p:spPr>
        <p:txBody>
          <a:bodyPr/>
          <a:lstStyle/>
          <a:p>
            <a:endParaRPr lang="en-US"/>
          </a:p>
        </p:txBody>
      </p:sp>
      <p:sp>
        <p:nvSpPr>
          <p:cNvPr id="23" name="Text 21">
            <a:hlinkClick r:id="rId8" action="ppaction://hlinksldjump"/>
          </p:cNvPr>
          <p:cNvSpPr/>
          <p:nvPr/>
        </p:nvSpPr>
        <p:spPr>
          <a:xfrm>
            <a:off x="4389120" y="3685032"/>
            <a:ext cx="1271016" cy="155448"/>
          </a:xfrm>
          <a:prstGeom prst="rect">
            <a:avLst/>
          </a:prstGeom>
          <a:noFill/>
          <a:ln/>
        </p:spPr>
        <p:txBody>
          <a:bodyPr wrap="square" lIns="381" tIns="381" rIns="381" bIns="381" rtlCol="0" anchor="ctr">
            <a:normAutofit/>
          </a:bodyPr>
          <a:lstStyle/>
          <a:p>
            <a:pPr marL="0" indent="0" algn="ctr">
              <a:buNone/>
            </a:pPr>
            <a:r>
              <a:rPr lang="en-US" sz="900" b="1" u="sng" dirty="0">
                <a:solidFill>
                  <a:srgbClr val="132133"/>
                </a:solidFill>
                <a:latin typeface="Arial" pitchFamily="34" charset="0"/>
                <a:ea typeface="Arial" pitchFamily="34" charset="-122"/>
                <a:cs typeface="Arial" pitchFamily="34" charset="-120"/>
                <a:hlinkClick r:id="rId8" action="ppaction://hlinksldjump">
                  <a:extLst>
                    <a:ext uri="{A12FA001-AC4F-418D-AE19-62706E023703}">
                      <ahyp:hlinkClr xmlns:ahyp="http://schemas.microsoft.com/office/drawing/2018/hyperlinkcolor" val="tx"/>
                    </a:ext>
                  </a:extLst>
                </a:hlinkClick>
              </a:rPr>
              <a:t>Attractions</a:t>
            </a:r>
            <a:endParaRPr lang="en-US" sz="900" dirty="0"/>
          </a:p>
        </p:txBody>
      </p:sp>
      <p:sp>
        <p:nvSpPr>
          <p:cNvPr id="24" name="Shape 22">
            <a:hlinkClick r:id="rId9" action="ppaction://hlinksldjump"/>
          </p:cNvPr>
          <p:cNvSpPr/>
          <p:nvPr/>
        </p:nvSpPr>
        <p:spPr>
          <a:xfrm>
            <a:off x="7159752" y="3474720"/>
            <a:ext cx="1234440" cy="658368"/>
          </a:xfrm>
          <a:prstGeom prst="roundRect">
            <a:avLst>
              <a:gd name="adj" fmla="val 16667"/>
            </a:avLst>
          </a:prstGeom>
          <a:solidFill>
            <a:srgbClr val="FFFFFF"/>
          </a:solidFill>
          <a:ln w="12700">
            <a:solidFill>
              <a:srgbClr val="276F7B"/>
            </a:solidFill>
            <a:prstDash val="solid"/>
          </a:ln>
          <a:effectLst>
            <a:outerShdw blurRad="12700" dist="8890" dir="2700000" algn="bl" rotWithShape="0">
              <a:srgbClr val="132133">
                <a:alpha val="8000"/>
              </a:srgbClr>
            </a:outerShdw>
          </a:effectLst>
        </p:spPr>
        <p:txBody>
          <a:bodyPr/>
          <a:lstStyle/>
          <a:p>
            <a:endParaRPr lang="en-US"/>
          </a:p>
        </p:txBody>
      </p:sp>
      <p:sp>
        <p:nvSpPr>
          <p:cNvPr id="25" name="Text 23">
            <a:hlinkClick r:id="rId9" action="ppaction://hlinksldjump"/>
          </p:cNvPr>
          <p:cNvSpPr/>
          <p:nvPr/>
        </p:nvSpPr>
        <p:spPr>
          <a:xfrm>
            <a:off x="7232904" y="3685032"/>
            <a:ext cx="1088136" cy="155448"/>
          </a:xfrm>
          <a:prstGeom prst="rect">
            <a:avLst/>
          </a:prstGeom>
          <a:noFill/>
          <a:ln/>
        </p:spPr>
        <p:txBody>
          <a:bodyPr wrap="square" lIns="381" tIns="381" rIns="381" bIns="381" rtlCol="0" anchor="ctr">
            <a:normAutofit/>
          </a:bodyPr>
          <a:lstStyle/>
          <a:p>
            <a:pPr marL="0" indent="0" algn="ctr">
              <a:buNone/>
            </a:pPr>
            <a:r>
              <a:rPr lang="en-US" sz="900" b="1" u="sng" dirty="0">
                <a:solidFill>
                  <a:srgbClr val="132133"/>
                </a:solidFill>
                <a:latin typeface="Arial" pitchFamily="34" charset="0"/>
                <a:ea typeface="Arial" pitchFamily="34" charset="-122"/>
                <a:cs typeface="Arial" pitchFamily="34" charset="-120"/>
                <a:hlinkClick r:id="rId9" action="ppaction://hlinksldjump">
                  <a:extLst>
                    <a:ext uri="{A12FA001-AC4F-418D-AE19-62706E023703}">
                      <ahyp:hlinkClr xmlns:ahyp="http://schemas.microsoft.com/office/drawing/2018/hyperlinkcolor" val="tx"/>
                    </a:ext>
                  </a:extLst>
                </a:hlinkClick>
              </a:rPr>
              <a:t>Contact</a:t>
            </a:r>
            <a:endParaRPr lang="en-US" sz="900" dirty="0"/>
          </a:p>
        </p:txBody>
      </p:sp>
      <p:sp>
        <p:nvSpPr>
          <p:cNvPr id="26" name="Shape 24">
            <a:hlinkClick r:id="rId10" action="ppaction://hlinksldjump"/>
          </p:cNvPr>
          <p:cNvSpPr/>
          <p:nvPr/>
        </p:nvSpPr>
        <p:spPr>
          <a:xfrm>
            <a:off x="9582912" y="3474720"/>
            <a:ext cx="1508760" cy="658368"/>
          </a:xfrm>
          <a:prstGeom prst="roundRect">
            <a:avLst>
              <a:gd name="adj" fmla="val 16667"/>
            </a:avLst>
          </a:prstGeom>
          <a:solidFill>
            <a:srgbClr val="132133"/>
          </a:solidFill>
          <a:ln w="12700">
            <a:solidFill>
              <a:srgbClr val="132133"/>
            </a:solidFill>
            <a:prstDash val="solid"/>
          </a:ln>
          <a:effectLst>
            <a:outerShdw blurRad="12700" dist="8890" dir="2700000" algn="bl" rotWithShape="0">
              <a:srgbClr val="132133">
                <a:alpha val="8000"/>
              </a:srgbClr>
            </a:outerShdw>
          </a:effectLst>
        </p:spPr>
        <p:txBody>
          <a:bodyPr/>
          <a:lstStyle/>
          <a:p>
            <a:endParaRPr lang="en-US"/>
          </a:p>
        </p:txBody>
      </p:sp>
      <p:sp>
        <p:nvSpPr>
          <p:cNvPr id="27" name="Text 25">
            <a:hlinkClick r:id="rId10" action="ppaction://hlinksldjump"/>
          </p:cNvPr>
          <p:cNvSpPr/>
          <p:nvPr/>
        </p:nvSpPr>
        <p:spPr>
          <a:xfrm>
            <a:off x="9656064" y="3685032"/>
            <a:ext cx="1362456" cy="155448"/>
          </a:xfrm>
          <a:prstGeom prst="rect">
            <a:avLst/>
          </a:prstGeom>
          <a:noFill/>
          <a:ln/>
        </p:spPr>
        <p:txBody>
          <a:bodyPr wrap="square" lIns="381" tIns="381" rIns="381" bIns="381" rtlCol="0" anchor="ctr">
            <a:normAutofit/>
          </a:bodyPr>
          <a:lstStyle/>
          <a:p>
            <a:pPr marL="0" indent="0" algn="ctr">
              <a:buNone/>
            </a:pPr>
            <a:r>
              <a:rPr lang="en-US" sz="900" b="1" u="sng" dirty="0">
                <a:solidFill>
                  <a:srgbClr val="FFFFFF"/>
                </a:solidFill>
                <a:latin typeface="Arial" pitchFamily="34" charset="0"/>
                <a:ea typeface="Arial" pitchFamily="34" charset="-122"/>
                <a:cs typeface="Arial" pitchFamily="34" charset="-120"/>
                <a:hlinkClick r:id="rId10" action="ppaction://hlinksldjump">
                  <a:extLst>
                    <a:ext uri="{A12FA001-AC4F-418D-AE19-62706E023703}">
                      <ahyp:hlinkClr xmlns:ahyp="http://schemas.microsoft.com/office/drawing/2018/hyperlinkcolor" val="tx"/>
                    </a:ext>
                  </a:extLst>
                </a:hlinkClick>
              </a:rPr>
              <a:t>Login / Register</a:t>
            </a:r>
            <a:endParaRPr lang="en-US" sz="900" dirty="0"/>
          </a:p>
        </p:txBody>
      </p:sp>
      <p:sp>
        <p:nvSpPr>
          <p:cNvPr id="28" name="Shape 26">
            <a:hlinkClick r:id="rId11" action="ppaction://hlinksldjump"/>
          </p:cNvPr>
          <p:cNvSpPr/>
          <p:nvPr/>
        </p:nvSpPr>
        <p:spPr>
          <a:xfrm>
            <a:off x="9372600" y="4983480"/>
            <a:ext cx="1691640" cy="658368"/>
          </a:xfrm>
          <a:prstGeom prst="roundRect">
            <a:avLst>
              <a:gd name="adj" fmla="val 16667"/>
            </a:avLst>
          </a:prstGeom>
          <a:solidFill>
            <a:srgbClr val="FFFFFF"/>
          </a:solidFill>
          <a:ln w="12700">
            <a:solidFill>
              <a:srgbClr val="276F7B"/>
            </a:solidFill>
            <a:prstDash val="solid"/>
          </a:ln>
          <a:effectLst>
            <a:outerShdw blurRad="12700" dist="8890" dir="2700000" algn="bl" rotWithShape="0">
              <a:srgbClr val="132133">
                <a:alpha val="8000"/>
              </a:srgbClr>
            </a:outerShdw>
          </a:effectLst>
        </p:spPr>
        <p:txBody>
          <a:bodyPr/>
          <a:lstStyle/>
          <a:p>
            <a:endParaRPr lang="en-US"/>
          </a:p>
        </p:txBody>
      </p:sp>
      <p:sp>
        <p:nvSpPr>
          <p:cNvPr id="29" name="Text 27">
            <a:hlinkClick r:id="rId11" action="ppaction://hlinksldjump"/>
          </p:cNvPr>
          <p:cNvSpPr/>
          <p:nvPr/>
        </p:nvSpPr>
        <p:spPr>
          <a:xfrm>
            <a:off x="9445752" y="5193792"/>
            <a:ext cx="1545336" cy="155448"/>
          </a:xfrm>
          <a:prstGeom prst="rect">
            <a:avLst/>
          </a:prstGeom>
          <a:noFill/>
          <a:ln/>
        </p:spPr>
        <p:txBody>
          <a:bodyPr wrap="square" lIns="381" tIns="381" rIns="381" bIns="381" rtlCol="0" anchor="ctr">
            <a:normAutofit/>
          </a:bodyPr>
          <a:lstStyle/>
          <a:p>
            <a:pPr marL="0" indent="0" algn="ctr">
              <a:buNone/>
            </a:pPr>
            <a:r>
              <a:rPr lang="en-US" sz="900" b="1" u="sng" dirty="0">
                <a:solidFill>
                  <a:srgbClr val="132133"/>
                </a:solidFill>
                <a:latin typeface="Arial" pitchFamily="34" charset="0"/>
                <a:ea typeface="Arial" pitchFamily="34" charset="-122"/>
                <a:cs typeface="Arial" pitchFamily="34" charset="-120"/>
                <a:hlinkClick r:id="rId11" action="ppaction://hlinksldjump">
                  <a:extLst>
                    <a:ext uri="{A12FA001-AC4F-418D-AE19-62706E023703}">
                      <ahyp:hlinkClr xmlns:ahyp="http://schemas.microsoft.com/office/drawing/2018/hyperlinkcolor" val="tx"/>
                    </a:ext>
                  </a:extLst>
                </a:hlinkClick>
              </a:rPr>
              <a:t>Reservation Lookup</a:t>
            </a:r>
            <a:endParaRPr lang="en-US" sz="900" dirty="0"/>
          </a:p>
        </p:txBody>
      </p:sp>
      <p:sp>
        <p:nvSpPr>
          <p:cNvPr id="30" name="Shape 28"/>
          <p:cNvSpPr/>
          <p:nvPr/>
        </p:nvSpPr>
        <p:spPr>
          <a:xfrm>
            <a:off x="713232" y="4800600"/>
            <a:ext cx="7040880" cy="868680"/>
          </a:xfrm>
          <a:prstGeom prst="roundRect">
            <a:avLst>
              <a:gd name="adj" fmla="val 12632"/>
            </a:avLst>
          </a:prstGeom>
          <a:solidFill>
            <a:srgbClr val="FFFFFF">
              <a:alpha val="88000"/>
            </a:srgbClr>
          </a:solidFill>
          <a:ln w="12700">
            <a:solidFill>
              <a:srgbClr val="E9DFCF"/>
            </a:solidFill>
            <a:prstDash val="solid"/>
          </a:ln>
        </p:spPr>
        <p:txBody>
          <a:bodyPr/>
          <a:lstStyle/>
          <a:p>
            <a:endParaRPr lang="en-US"/>
          </a:p>
        </p:txBody>
      </p:sp>
      <p:sp>
        <p:nvSpPr>
          <p:cNvPr id="31" name="Text 29"/>
          <p:cNvSpPr/>
          <p:nvPr/>
        </p:nvSpPr>
        <p:spPr>
          <a:xfrm>
            <a:off x="896112" y="5047488"/>
            <a:ext cx="6675120" cy="292608"/>
          </a:xfrm>
          <a:prstGeom prst="rect">
            <a:avLst/>
          </a:prstGeom>
          <a:noFill/>
          <a:ln/>
        </p:spPr>
        <p:txBody>
          <a:bodyPr wrap="square" lIns="381" tIns="381" rIns="381" bIns="381" rtlCol="0" anchor="t">
            <a:normAutofit lnSpcReduction="10000"/>
          </a:bodyPr>
          <a:lstStyle/>
          <a:p>
            <a:pPr marL="0" indent="0" algn="l">
              <a:buNone/>
            </a:pPr>
            <a:r>
              <a:rPr lang="en-US" sz="1000" dirty="0">
                <a:solidFill>
                  <a:srgbClr val="2A3B50"/>
                </a:solidFill>
                <a:latin typeface="Arial" pitchFamily="34" charset="0"/>
                <a:ea typeface="Arial" pitchFamily="34" charset="-122"/>
                <a:cs typeface="Arial" pitchFamily="34" charset="-120"/>
              </a:rPr>
              <a:t>Primary reviewer path: Home → Rooms &amp; Pricing → Book Your Stay → Reservation Summary. Secondary paths support lodge information, activities, contact, account creation, and reservation lookup.</a:t>
            </a:r>
            <a:endParaRPr lang="en-US" sz="1000" dirty="0"/>
          </a:p>
        </p:txBody>
      </p:sp>
      <p:sp>
        <p:nvSpPr>
          <p:cNvPr id="32" name="Text 30"/>
          <p:cNvSpPr/>
          <p:nvPr/>
        </p:nvSpPr>
        <p:spPr>
          <a:xfrm>
            <a:off x="502920" y="6510528"/>
            <a:ext cx="6400800" cy="201168"/>
          </a:xfrm>
          <a:prstGeom prst="rect">
            <a:avLst/>
          </a:prstGeom>
          <a:noFill/>
          <a:ln/>
        </p:spPr>
        <p:txBody>
          <a:bodyPr wrap="square" lIns="381" tIns="381" rIns="381" bIns="381" rtlCol="0" anchor="ctr">
            <a:normAutofit/>
          </a:bodyPr>
          <a:lstStyle/>
          <a:p>
            <a:pPr marL="0" indent="0" algn="l">
              <a:buNone/>
            </a:pPr>
            <a:r>
              <a:rPr lang="en-US" sz="710" dirty="0">
                <a:solidFill>
                  <a:srgbClr val="536273"/>
                </a:solidFill>
                <a:latin typeface="Arial" pitchFamily="34" charset="0"/>
                <a:ea typeface="Arial" pitchFamily="34" charset="-122"/>
                <a:cs typeface="Arial" pitchFamily="34" charset="-120"/>
              </a:rPr>
              <a:t>Slide 2 | Editable components | Use Slide Show mode to click through the prototype</a:t>
            </a:r>
            <a:endParaRPr lang="en-US" sz="710" dirty="0"/>
          </a:p>
        </p:txBody>
      </p:sp>
      <p:sp>
        <p:nvSpPr>
          <p:cNvPr id="33" name="Shape 31">
            <a:hlinkClick r:id="rId3" action="ppaction://hlinksldjump"/>
          </p:cNvPr>
          <p:cNvSpPr/>
          <p:nvPr/>
        </p:nvSpPr>
        <p:spPr>
          <a:xfrm>
            <a:off x="7635240" y="6455664"/>
            <a:ext cx="749808" cy="283464"/>
          </a:xfrm>
          <a:prstGeom prst="roundRect">
            <a:avLst>
              <a:gd name="adj" fmla="val 25806"/>
            </a:avLst>
          </a:prstGeom>
          <a:solidFill>
            <a:srgbClr val="FFFFFF">
              <a:alpha val="30000"/>
            </a:srgbClr>
          </a:solidFill>
          <a:ln w="12700">
            <a:solidFill>
              <a:srgbClr val="536273">
                <a:alpha val="50000"/>
              </a:srgbClr>
            </a:solidFill>
            <a:prstDash val="solid"/>
          </a:ln>
        </p:spPr>
        <p:txBody>
          <a:bodyPr/>
          <a:lstStyle/>
          <a:p>
            <a:endParaRPr lang="en-US"/>
          </a:p>
        </p:txBody>
      </p:sp>
      <p:sp>
        <p:nvSpPr>
          <p:cNvPr id="34" name="Text 32">
            <a:hlinkClick r:id="rId3" action="ppaction://hlinksldjump"/>
          </p:cNvPr>
          <p:cNvSpPr/>
          <p:nvPr/>
        </p:nvSpPr>
        <p:spPr>
          <a:xfrm>
            <a:off x="7653528" y="6483096"/>
            <a:ext cx="713232" cy="182880"/>
          </a:xfrm>
          <a:prstGeom prst="rect">
            <a:avLst/>
          </a:prstGeom>
          <a:noFill/>
          <a:ln/>
        </p:spPr>
        <p:txBody>
          <a:bodyPr wrap="square" lIns="381" tIns="381" rIns="381" bIns="381" rtlCol="0" anchor="ctr">
            <a:normAutofit/>
          </a:bodyPr>
          <a:lstStyle/>
          <a:p>
            <a:pPr marL="0" indent="0" algn="ctr">
              <a:buNone/>
            </a:pPr>
            <a:r>
              <a:rPr lang="en-US" sz="800" b="1" u="sng" dirty="0">
                <a:solidFill>
                  <a:srgbClr val="2A3B50"/>
                </a:solidFill>
                <a:latin typeface="Arial" pitchFamily="34" charset="0"/>
                <a:ea typeface="Arial" pitchFamily="34" charset="-122"/>
                <a:cs typeface="Arial" pitchFamily="34" charset="-120"/>
                <a:hlinkClick r:id="rId3" action="ppaction://hlinksldjump">
                  <a:extLst>
                    <a:ext uri="{A12FA001-AC4F-418D-AE19-62706E023703}">
                      <ahyp:hlinkClr xmlns:ahyp="http://schemas.microsoft.com/office/drawing/2018/hyperlinkcolor" val="tx"/>
                    </a:ext>
                  </a:extLst>
                </a:hlinkClick>
              </a:rPr>
              <a:t>Home</a:t>
            </a:r>
            <a:endParaRPr lang="en-US" sz="800" dirty="0"/>
          </a:p>
        </p:txBody>
      </p:sp>
      <p:sp>
        <p:nvSpPr>
          <p:cNvPr id="35" name="Shape 33">
            <a:hlinkClick r:id="rId4" action="ppaction://hlinksldjump"/>
          </p:cNvPr>
          <p:cNvSpPr/>
          <p:nvPr/>
        </p:nvSpPr>
        <p:spPr>
          <a:xfrm>
            <a:off x="8476488" y="6455664"/>
            <a:ext cx="749808" cy="283464"/>
          </a:xfrm>
          <a:prstGeom prst="roundRect">
            <a:avLst>
              <a:gd name="adj" fmla="val 25806"/>
            </a:avLst>
          </a:prstGeom>
          <a:solidFill>
            <a:srgbClr val="FFFFFF">
              <a:alpha val="30000"/>
            </a:srgbClr>
          </a:solidFill>
          <a:ln w="12700">
            <a:solidFill>
              <a:srgbClr val="536273">
                <a:alpha val="50000"/>
              </a:srgbClr>
            </a:solidFill>
            <a:prstDash val="solid"/>
          </a:ln>
        </p:spPr>
        <p:txBody>
          <a:bodyPr/>
          <a:lstStyle/>
          <a:p>
            <a:endParaRPr lang="en-US"/>
          </a:p>
        </p:txBody>
      </p:sp>
      <p:sp>
        <p:nvSpPr>
          <p:cNvPr id="36" name="Text 34">
            <a:hlinkClick r:id="rId4" action="ppaction://hlinksldjump"/>
          </p:cNvPr>
          <p:cNvSpPr/>
          <p:nvPr/>
        </p:nvSpPr>
        <p:spPr>
          <a:xfrm>
            <a:off x="8494776" y="6483096"/>
            <a:ext cx="713232" cy="182880"/>
          </a:xfrm>
          <a:prstGeom prst="rect">
            <a:avLst/>
          </a:prstGeom>
          <a:noFill/>
          <a:ln/>
        </p:spPr>
        <p:txBody>
          <a:bodyPr wrap="square" lIns="381" tIns="381" rIns="381" bIns="381" rtlCol="0" anchor="ctr">
            <a:normAutofit/>
          </a:bodyPr>
          <a:lstStyle/>
          <a:p>
            <a:pPr marL="0" indent="0" algn="ctr">
              <a:buNone/>
            </a:pPr>
            <a:r>
              <a:rPr lang="en-US" sz="800" b="1" u="sng" dirty="0">
                <a:solidFill>
                  <a:srgbClr val="2A3B50"/>
                </a:solidFill>
                <a:latin typeface="Arial" pitchFamily="34" charset="0"/>
                <a:ea typeface="Arial" pitchFamily="34" charset="-122"/>
                <a:cs typeface="Arial" pitchFamily="34" charset="-120"/>
                <a:hlinkClick r:id="rId4" action="ppaction://hlinksldjump">
                  <a:extLst>
                    <a:ext uri="{A12FA001-AC4F-418D-AE19-62706E023703}">
                      <ahyp:hlinkClr xmlns:ahyp="http://schemas.microsoft.com/office/drawing/2018/hyperlinkcolor" val="tx"/>
                    </a:ext>
                  </a:extLst>
                </a:hlinkClick>
              </a:rPr>
              <a:t>Rooms</a:t>
            </a:r>
            <a:endParaRPr lang="en-US" sz="800" dirty="0"/>
          </a:p>
        </p:txBody>
      </p:sp>
      <p:sp>
        <p:nvSpPr>
          <p:cNvPr id="37" name="Shape 35">
            <a:hlinkClick r:id="rId5" action="ppaction://hlinksldjump"/>
          </p:cNvPr>
          <p:cNvSpPr/>
          <p:nvPr/>
        </p:nvSpPr>
        <p:spPr>
          <a:xfrm>
            <a:off x="9317736" y="6455664"/>
            <a:ext cx="749808" cy="283464"/>
          </a:xfrm>
          <a:prstGeom prst="roundRect">
            <a:avLst>
              <a:gd name="adj" fmla="val 25806"/>
            </a:avLst>
          </a:prstGeom>
          <a:solidFill>
            <a:srgbClr val="FFFFFF">
              <a:alpha val="30000"/>
            </a:srgbClr>
          </a:solidFill>
          <a:ln w="12700">
            <a:solidFill>
              <a:srgbClr val="536273">
                <a:alpha val="50000"/>
              </a:srgbClr>
            </a:solidFill>
            <a:prstDash val="solid"/>
          </a:ln>
        </p:spPr>
        <p:txBody>
          <a:bodyPr/>
          <a:lstStyle/>
          <a:p>
            <a:endParaRPr lang="en-US"/>
          </a:p>
        </p:txBody>
      </p:sp>
      <p:sp>
        <p:nvSpPr>
          <p:cNvPr id="38" name="Text 36">
            <a:hlinkClick r:id="rId5" action="ppaction://hlinksldjump"/>
          </p:cNvPr>
          <p:cNvSpPr/>
          <p:nvPr/>
        </p:nvSpPr>
        <p:spPr>
          <a:xfrm>
            <a:off x="9336024" y="6483096"/>
            <a:ext cx="713232" cy="182880"/>
          </a:xfrm>
          <a:prstGeom prst="rect">
            <a:avLst/>
          </a:prstGeom>
          <a:noFill/>
          <a:ln/>
        </p:spPr>
        <p:txBody>
          <a:bodyPr wrap="square" lIns="381" tIns="381" rIns="381" bIns="381" rtlCol="0" anchor="ctr">
            <a:normAutofit/>
          </a:bodyPr>
          <a:lstStyle/>
          <a:p>
            <a:pPr marL="0" indent="0" algn="ctr">
              <a:buNone/>
            </a:pPr>
            <a:r>
              <a:rPr lang="en-US" sz="800" b="1" u="sng" dirty="0">
                <a:solidFill>
                  <a:srgbClr val="2A3B50"/>
                </a:solidFill>
                <a:latin typeface="Arial" pitchFamily="34" charset="0"/>
                <a:ea typeface="Arial" pitchFamily="34" charset="-122"/>
                <a:cs typeface="Arial" pitchFamily="34" charset="-120"/>
                <a:hlinkClick r:id="rId5" action="ppaction://hlinksldjump">
                  <a:extLst>
                    <a:ext uri="{A12FA001-AC4F-418D-AE19-62706E023703}">
                      <ahyp:hlinkClr xmlns:ahyp="http://schemas.microsoft.com/office/drawing/2018/hyperlinkcolor" val="tx"/>
                    </a:ext>
                  </a:extLst>
                </a:hlinkClick>
              </a:rPr>
              <a:t>Book</a:t>
            </a:r>
            <a:endParaRPr lang="en-US" sz="800" dirty="0"/>
          </a:p>
        </p:txBody>
      </p:sp>
      <p:sp>
        <p:nvSpPr>
          <p:cNvPr id="39" name="Shape 37">
            <a:hlinkClick r:id="rId11" action="ppaction://hlinksldjump"/>
          </p:cNvPr>
          <p:cNvSpPr/>
          <p:nvPr/>
        </p:nvSpPr>
        <p:spPr>
          <a:xfrm>
            <a:off x="10158984" y="6455664"/>
            <a:ext cx="749808" cy="283464"/>
          </a:xfrm>
          <a:prstGeom prst="roundRect">
            <a:avLst>
              <a:gd name="adj" fmla="val 25806"/>
            </a:avLst>
          </a:prstGeom>
          <a:solidFill>
            <a:srgbClr val="FFFFFF">
              <a:alpha val="30000"/>
            </a:srgbClr>
          </a:solidFill>
          <a:ln w="12700">
            <a:solidFill>
              <a:srgbClr val="536273">
                <a:alpha val="50000"/>
              </a:srgbClr>
            </a:solidFill>
            <a:prstDash val="solid"/>
          </a:ln>
        </p:spPr>
        <p:txBody>
          <a:bodyPr/>
          <a:lstStyle/>
          <a:p>
            <a:endParaRPr lang="en-US"/>
          </a:p>
        </p:txBody>
      </p:sp>
      <p:sp>
        <p:nvSpPr>
          <p:cNvPr id="40" name="Text 38">
            <a:hlinkClick r:id="rId11" action="ppaction://hlinksldjump"/>
          </p:cNvPr>
          <p:cNvSpPr/>
          <p:nvPr/>
        </p:nvSpPr>
        <p:spPr>
          <a:xfrm>
            <a:off x="10177272" y="6483096"/>
            <a:ext cx="713232" cy="182880"/>
          </a:xfrm>
          <a:prstGeom prst="rect">
            <a:avLst/>
          </a:prstGeom>
          <a:noFill/>
          <a:ln/>
        </p:spPr>
        <p:txBody>
          <a:bodyPr wrap="square" lIns="381" tIns="381" rIns="381" bIns="381" rtlCol="0" anchor="ctr">
            <a:normAutofit/>
          </a:bodyPr>
          <a:lstStyle/>
          <a:p>
            <a:pPr marL="0" indent="0" algn="ctr">
              <a:buNone/>
            </a:pPr>
            <a:r>
              <a:rPr lang="en-US" sz="800" b="1" u="sng" dirty="0">
                <a:solidFill>
                  <a:srgbClr val="2A3B50"/>
                </a:solidFill>
                <a:latin typeface="Arial" pitchFamily="34" charset="0"/>
                <a:ea typeface="Arial" pitchFamily="34" charset="-122"/>
                <a:cs typeface="Arial" pitchFamily="34" charset="-120"/>
                <a:hlinkClick r:id="rId11" action="ppaction://hlinksldjump">
                  <a:extLst>
                    <a:ext uri="{A12FA001-AC4F-418D-AE19-62706E023703}">
                      <ahyp:hlinkClr xmlns:ahyp="http://schemas.microsoft.com/office/drawing/2018/hyperlinkcolor" val="tx"/>
                    </a:ext>
                  </a:extLst>
                </a:hlinkClick>
              </a:rPr>
              <a:t>Lookup</a:t>
            </a:r>
            <a:endParaRPr lang="en-US" sz="800" dirty="0"/>
          </a:p>
        </p:txBody>
      </p:sp>
      <p:sp>
        <p:nvSpPr>
          <p:cNvPr id="41" name="Shape 39">
            <a:hlinkClick r:id="rId12" action="ppaction://hlinksldjump"/>
          </p:cNvPr>
          <p:cNvSpPr/>
          <p:nvPr/>
        </p:nvSpPr>
        <p:spPr>
          <a:xfrm>
            <a:off x="11000232" y="6455664"/>
            <a:ext cx="868680" cy="283464"/>
          </a:xfrm>
          <a:prstGeom prst="roundRect">
            <a:avLst>
              <a:gd name="adj" fmla="val 25806"/>
            </a:avLst>
          </a:prstGeom>
          <a:solidFill>
            <a:srgbClr val="132133"/>
          </a:solidFill>
          <a:ln w="12700">
            <a:solidFill>
              <a:srgbClr val="132133">
                <a:alpha val="0"/>
              </a:srgbClr>
            </a:solidFill>
            <a:prstDash val="solid"/>
          </a:ln>
        </p:spPr>
        <p:txBody>
          <a:bodyPr/>
          <a:lstStyle/>
          <a:p>
            <a:endParaRPr lang="en-US"/>
          </a:p>
        </p:txBody>
      </p:sp>
      <p:sp>
        <p:nvSpPr>
          <p:cNvPr id="42" name="Text 40">
            <a:hlinkClick r:id="rId12" action="ppaction://hlinksldjump"/>
          </p:cNvPr>
          <p:cNvSpPr/>
          <p:nvPr/>
        </p:nvSpPr>
        <p:spPr>
          <a:xfrm>
            <a:off x="11018520" y="6483096"/>
            <a:ext cx="832104" cy="182880"/>
          </a:xfrm>
          <a:prstGeom prst="rect">
            <a:avLst/>
          </a:prstGeom>
          <a:noFill/>
          <a:ln/>
        </p:spPr>
        <p:txBody>
          <a:bodyPr wrap="square" lIns="381" tIns="381" rIns="381" bIns="381" rtlCol="0" anchor="ctr">
            <a:normAutofit/>
          </a:bodyPr>
          <a:lstStyle/>
          <a:p>
            <a:pPr marL="0" indent="0" algn="ctr">
              <a:buNone/>
            </a:pPr>
            <a:r>
              <a:rPr lang="en-US" sz="770" b="1" u="sng" dirty="0">
                <a:solidFill>
                  <a:srgbClr val="FFFFFF"/>
                </a:solidFill>
                <a:latin typeface="Arial" pitchFamily="34" charset="0"/>
                <a:ea typeface="Arial" pitchFamily="34" charset="-122"/>
                <a:cs typeface="Arial" pitchFamily="34" charset="-120"/>
                <a:hlinkClick r:id="rId12" action="ppaction://hlinksldjump">
                  <a:extLst>
                    <a:ext uri="{A12FA001-AC4F-418D-AE19-62706E023703}">
                      <ahyp:hlinkClr xmlns:ahyp="http://schemas.microsoft.com/office/drawing/2018/hyperlinkcolor" val="tx"/>
                    </a:ext>
                  </a:extLst>
                </a:hlinkClick>
              </a:rPr>
              <a:t>Site Flow</a:t>
            </a:r>
            <a:endParaRPr lang="en-US" sz="77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28600"/>
            <a:ext cx="5943600" cy="365760"/>
          </a:xfrm>
          <a:prstGeom prst="rect">
            <a:avLst/>
          </a:prstGeom>
          <a:noFill/>
          <a:ln/>
        </p:spPr>
        <p:txBody>
          <a:bodyPr wrap="square" lIns="381" tIns="381" rIns="381" bIns="381" rtlCol="0" anchor="ctr">
            <a:normAutofit/>
          </a:bodyPr>
          <a:lstStyle/>
          <a:p>
            <a:pPr marL="0" indent="0" algn="l">
              <a:buNone/>
            </a:pPr>
            <a:r>
              <a:rPr lang="en-US" sz="2000" b="1" dirty="0">
                <a:solidFill>
                  <a:srgbClr val="132133"/>
                </a:solidFill>
                <a:latin typeface="Georgia" pitchFamily="34" charset="0"/>
                <a:ea typeface="Georgia" pitchFamily="34" charset="-122"/>
                <a:cs typeface="Georgia" pitchFamily="34" charset="-120"/>
              </a:rPr>
              <a:t>Landing Page Mockup</a:t>
            </a:r>
            <a:endParaRPr lang="en-US" sz="2000" dirty="0"/>
          </a:p>
        </p:txBody>
      </p:sp>
      <p:sp>
        <p:nvSpPr>
          <p:cNvPr id="3" name="Text 1"/>
          <p:cNvSpPr/>
          <p:nvPr/>
        </p:nvSpPr>
        <p:spPr>
          <a:xfrm>
            <a:off x="512064" y="630936"/>
            <a:ext cx="6492240" cy="228600"/>
          </a:xfrm>
          <a:prstGeom prst="rect">
            <a:avLst/>
          </a:prstGeom>
          <a:noFill/>
          <a:ln/>
        </p:spPr>
        <p:txBody>
          <a:bodyPr wrap="square" lIns="381" tIns="381" rIns="381" bIns="381" rtlCol="0" anchor="ctr">
            <a:normAutofit/>
          </a:bodyPr>
          <a:lstStyle/>
          <a:p>
            <a:pPr marL="0" indent="0" algn="l">
              <a:buNone/>
            </a:pPr>
            <a:r>
              <a:rPr lang="en-US" sz="850" dirty="0">
                <a:solidFill>
                  <a:srgbClr val="536273"/>
                </a:solidFill>
                <a:latin typeface="Arial" pitchFamily="34" charset="0"/>
                <a:ea typeface="Arial" pitchFamily="34" charset="-122"/>
                <a:cs typeface="Arial" pitchFamily="34" charset="-120"/>
              </a:rPr>
              <a:t>Realistic mockup of the website home page with header, hero, room cards, CTAs, and activity section.</a:t>
            </a:r>
            <a:endParaRPr lang="en-US" sz="850" dirty="0"/>
          </a:p>
        </p:txBody>
      </p:sp>
      <p:sp>
        <p:nvSpPr>
          <p:cNvPr id="4" name="Text 2"/>
          <p:cNvSpPr/>
          <p:nvPr/>
        </p:nvSpPr>
        <p:spPr>
          <a:xfrm>
            <a:off x="8823960" y="256032"/>
            <a:ext cx="2743200" cy="228600"/>
          </a:xfrm>
          <a:prstGeom prst="rect">
            <a:avLst/>
          </a:prstGeom>
          <a:noFill/>
          <a:ln/>
        </p:spPr>
        <p:txBody>
          <a:bodyPr wrap="square" lIns="381" tIns="381" rIns="381" bIns="381" rtlCol="0" anchor="ctr">
            <a:normAutofit/>
          </a:bodyPr>
          <a:lstStyle/>
          <a:p>
            <a:pPr marL="0" indent="0" algn="r">
              <a:buNone/>
            </a:pPr>
            <a:r>
              <a:rPr lang="en-US" sz="800" b="1" dirty="0">
                <a:solidFill>
                  <a:srgbClr val="536273"/>
                </a:solidFill>
                <a:latin typeface="Arial" pitchFamily="34" charset="0"/>
                <a:ea typeface="Arial" pitchFamily="34" charset="-122"/>
                <a:cs typeface="Arial" pitchFamily="34" charset="-120"/>
              </a:rPr>
              <a:t>Moffat Bay Lodge Prototype</a:t>
            </a:r>
            <a:endParaRPr lang="en-US" sz="800" dirty="0"/>
          </a:p>
        </p:txBody>
      </p:sp>
      <p:sp>
        <p:nvSpPr>
          <p:cNvPr id="5" name="Shape 3"/>
          <p:cNvSpPr/>
          <p:nvPr/>
        </p:nvSpPr>
        <p:spPr>
          <a:xfrm>
            <a:off x="502920" y="896112"/>
            <a:ext cx="11201400" cy="5440680"/>
          </a:xfrm>
          <a:prstGeom prst="roundRect">
            <a:avLst>
              <a:gd name="adj" fmla="val 1513"/>
            </a:avLst>
          </a:prstGeom>
          <a:solidFill>
            <a:srgbClr val="FFFAF2"/>
          </a:solidFill>
          <a:ln w="12700">
            <a:solidFill>
              <a:srgbClr val="E9DFCF"/>
            </a:solidFill>
            <a:prstDash val="solid"/>
          </a:ln>
          <a:effectLst>
            <a:outerShdw blurRad="25400" dist="12700" dir="2700000" algn="bl" rotWithShape="0">
              <a:srgbClr val="132133">
                <a:alpha val="10000"/>
              </a:srgbClr>
            </a:outerShdw>
          </a:effectLst>
        </p:spPr>
        <p:txBody>
          <a:bodyPr/>
          <a:lstStyle/>
          <a:p>
            <a:endParaRPr lang="en-US"/>
          </a:p>
        </p:txBody>
      </p:sp>
      <p:sp>
        <p:nvSpPr>
          <p:cNvPr id="6" name="Shape 4"/>
          <p:cNvSpPr/>
          <p:nvPr/>
        </p:nvSpPr>
        <p:spPr>
          <a:xfrm>
            <a:off x="502920" y="896112"/>
            <a:ext cx="11201400" cy="384048"/>
          </a:xfrm>
          <a:prstGeom prst="rect">
            <a:avLst/>
          </a:prstGeom>
          <a:solidFill>
            <a:srgbClr val="FFFFFF"/>
          </a:solidFill>
          <a:ln w="12700">
            <a:solidFill>
              <a:srgbClr val="E9DFCF"/>
            </a:solidFill>
            <a:prstDash val="solid"/>
          </a:ln>
        </p:spPr>
        <p:txBody>
          <a:bodyPr/>
          <a:lstStyle/>
          <a:p>
            <a:endParaRPr lang="en-US"/>
          </a:p>
        </p:txBody>
      </p:sp>
      <p:sp>
        <p:nvSpPr>
          <p:cNvPr id="10" name="Shape 8"/>
          <p:cNvSpPr/>
          <p:nvPr/>
        </p:nvSpPr>
        <p:spPr>
          <a:xfrm>
            <a:off x="1280160" y="987552"/>
            <a:ext cx="3657600" cy="192024"/>
          </a:xfrm>
          <a:prstGeom prst="roundRect">
            <a:avLst>
              <a:gd name="adj" fmla="val 28571"/>
            </a:avLst>
          </a:prstGeom>
          <a:solidFill>
            <a:srgbClr val="F5EFE5"/>
          </a:solidFill>
          <a:ln w="12700">
            <a:solidFill>
              <a:srgbClr val="E9DFCF">
                <a:alpha val="80000"/>
              </a:srgbClr>
            </a:solidFill>
            <a:prstDash val="solid"/>
          </a:ln>
        </p:spPr>
        <p:txBody>
          <a:bodyPr/>
          <a:lstStyle/>
          <a:p>
            <a:endParaRPr lang="en-US"/>
          </a:p>
        </p:txBody>
      </p:sp>
      <p:sp>
        <p:nvSpPr>
          <p:cNvPr id="11" name="Text 9"/>
          <p:cNvSpPr/>
          <p:nvPr/>
        </p:nvSpPr>
        <p:spPr>
          <a:xfrm>
            <a:off x="1408176" y="1014984"/>
            <a:ext cx="3337560" cy="109728"/>
          </a:xfrm>
          <a:prstGeom prst="rect">
            <a:avLst/>
          </a:prstGeom>
          <a:noFill/>
          <a:ln/>
        </p:spPr>
        <p:txBody>
          <a:bodyPr wrap="square" lIns="381" tIns="381" rIns="381" bIns="381" rtlCol="0" anchor="ctr">
            <a:normAutofit/>
          </a:bodyPr>
          <a:lstStyle/>
          <a:p>
            <a:pPr marL="0" indent="0" algn="l">
              <a:buNone/>
            </a:pPr>
            <a:r>
              <a:rPr lang="en-US" sz="550" dirty="0">
                <a:solidFill>
                  <a:srgbClr val="536273"/>
                </a:solidFill>
                <a:latin typeface="Arial" pitchFamily="34" charset="0"/>
                <a:ea typeface="Arial" pitchFamily="34" charset="-122"/>
                <a:cs typeface="Arial" pitchFamily="34" charset="-120"/>
              </a:rPr>
              <a:t>moffatbaylodge.com/index.html</a:t>
            </a:r>
            <a:endParaRPr lang="en-US" sz="550" dirty="0"/>
          </a:p>
        </p:txBody>
      </p:sp>
      <p:sp>
        <p:nvSpPr>
          <p:cNvPr id="12" name="Shape 10"/>
          <p:cNvSpPr/>
          <p:nvPr/>
        </p:nvSpPr>
        <p:spPr>
          <a:xfrm>
            <a:off x="502920" y="1280160"/>
            <a:ext cx="11201400" cy="530352"/>
          </a:xfrm>
          <a:prstGeom prst="rect">
            <a:avLst/>
          </a:prstGeom>
          <a:solidFill>
            <a:srgbClr val="FAF5EC"/>
          </a:solidFill>
          <a:ln w="12700">
            <a:solidFill>
              <a:srgbClr val="E9DFCF">
                <a:alpha val="90000"/>
              </a:srgbClr>
            </a:solidFill>
            <a:prstDash val="solid"/>
          </a:ln>
        </p:spPr>
        <p:txBody>
          <a:bodyPr/>
          <a:lstStyle/>
          <a:p>
            <a:endParaRPr lang="en-US"/>
          </a:p>
        </p:txBody>
      </p:sp>
      <p:sp>
        <p:nvSpPr>
          <p:cNvPr id="13" name="Shape 11"/>
          <p:cNvSpPr/>
          <p:nvPr/>
        </p:nvSpPr>
        <p:spPr>
          <a:xfrm>
            <a:off x="731520" y="1399032"/>
            <a:ext cx="256032" cy="256032"/>
          </a:xfrm>
          <a:prstGeom prst="ellipse">
            <a:avLst/>
          </a:prstGeom>
          <a:solidFill>
            <a:srgbClr val="276F7B"/>
          </a:solidFill>
          <a:ln w="12700">
            <a:solidFill>
              <a:srgbClr val="276F7B"/>
            </a:solidFill>
            <a:prstDash val="solid"/>
          </a:ln>
        </p:spPr>
        <p:txBody>
          <a:bodyPr/>
          <a:lstStyle/>
          <a:p>
            <a:endParaRPr lang="en-US"/>
          </a:p>
        </p:txBody>
      </p:sp>
      <p:sp>
        <p:nvSpPr>
          <p:cNvPr id="14" name="Text 12"/>
          <p:cNvSpPr/>
          <p:nvPr/>
        </p:nvSpPr>
        <p:spPr>
          <a:xfrm>
            <a:off x="731520" y="1426464"/>
            <a:ext cx="256032" cy="109728"/>
          </a:xfrm>
          <a:prstGeom prst="rect">
            <a:avLst/>
          </a:prstGeom>
          <a:noFill/>
          <a:ln/>
        </p:spPr>
        <p:txBody>
          <a:bodyPr wrap="square" lIns="381" tIns="381" rIns="381" bIns="381" rtlCol="0" anchor="ctr">
            <a:normAutofit/>
          </a:bodyPr>
          <a:lstStyle/>
          <a:p>
            <a:pPr marL="0" indent="0" algn="ctr">
              <a:buNone/>
            </a:pPr>
            <a:r>
              <a:rPr lang="en-US" sz="700" b="1" dirty="0">
                <a:solidFill>
                  <a:srgbClr val="FFFFFF"/>
                </a:solidFill>
                <a:latin typeface="Georgia" pitchFamily="34" charset="0"/>
                <a:ea typeface="Georgia" pitchFamily="34" charset="-122"/>
                <a:cs typeface="Georgia" pitchFamily="34" charset="-120"/>
              </a:rPr>
              <a:t>MB</a:t>
            </a:r>
            <a:endParaRPr lang="en-US" sz="700" dirty="0"/>
          </a:p>
        </p:txBody>
      </p:sp>
      <p:sp>
        <p:nvSpPr>
          <p:cNvPr id="15" name="Text 13"/>
          <p:cNvSpPr/>
          <p:nvPr/>
        </p:nvSpPr>
        <p:spPr>
          <a:xfrm>
            <a:off x="1069848" y="1435608"/>
            <a:ext cx="1691640" cy="118872"/>
          </a:xfrm>
          <a:prstGeom prst="rect">
            <a:avLst/>
          </a:prstGeom>
          <a:noFill/>
          <a:ln/>
        </p:spPr>
        <p:txBody>
          <a:bodyPr wrap="square" lIns="381" tIns="381" rIns="381" bIns="381" rtlCol="0" anchor="ctr">
            <a:normAutofit/>
          </a:bodyPr>
          <a:lstStyle/>
          <a:p>
            <a:pPr marL="0" indent="0" algn="l">
              <a:buNone/>
            </a:pPr>
            <a:r>
              <a:rPr lang="en-US" sz="680" b="1" dirty="0">
                <a:solidFill>
                  <a:srgbClr val="132133"/>
                </a:solidFill>
                <a:latin typeface="Arial" pitchFamily="34" charset="0"/>
                <a:ea typeface="Arial" pitchFamily="34" charset="-122"/>
                <a:cs typeface="Arial" pitchFamily="34" charset="-120"/>
              </a:rPr>
              <a:t>MOFFAT BAY LODGE</a:t>
            </a:r>
            <a:endParaRPr lang="en-US" sz="680" dirty="0"/>
          </a:p>
        </p:txBody>
      </p:sp>
      <p:sp>
        <p:nvSpPr>
          <p:cNvPr id="16" name="Text 14">
            <a:hlinkClick r:id="rId3" action="ppaction://hlinksldjump"/>
          </p:cNvPr>
          <p:cNvSpPr/>
          <p:nvPr/>
        </p:nvSpPr>
        <p:spPr>
          <a:xfrm>
            <a:off x="3291840" y="1453896"/>
            <a:ext cx="402336" cy="118872"/>
          </a:xfrm>
          <a:prstGeom prst="rect">
            <a:avLst/>
          </a:prstGeom>
          <a:noFill/>
          <a:ln/>
        </p:spPr>
        <p:txBody>
          <a:bodyPr wrap="square" lIns="381" tIns="381" rIns="381" bIns="381" rtlCol="0" anchor="ctr">
            <a:normAutofit/>
          </a:bodyPr>
          <a:lstStyle/>
          <a:p>
            <a:pPr marL="0" indent="0" algn="ctr">
              <a:buNone/>
            </a:pPr>
            <a:r>
              <a:rPr lang="en-US" sz="640" b="1" u="sng" dirty="0">
                <a:solidFill>
                  <a:srgbClr val="276F7B"/>
                </a:solidFill>
                <a:latin typeface="Arial" pitchFamily="34" charset="0"/>
                <a:ea typeface="Arial" pitchFamily="34" charset="-122"/>
                <a:cs typeface="Arial" pitchFamily="34" charset="-120"/>
                <a:hlinkClick r:id="rId3" action="ppaction://hlinksldjump">
                  <a:extLst>
                    <a:ext uri="{A12FA001-AC4F-418D-AE19-62706E023703}">
                      <ahyp:hlinkClr xmlns:ahyp="http://schemas.microsoft.com/office/drawing/2018/hyperlinkcolor" val="tx"/>
                    </a:ext>
                  </a:extLst>
                </a:hlinkClick>
              </a:rPr>
              <a:t>Home</a:t>
            </a:r>
            <a:endParaRPr lang="en-US" sz="640" dirty="0"/>
          </a:p>
        </p:txBody>
      </p:sp>
      <p:sp>
        <p:nvSpPr>
          <p:cNvPr id="17" name="Shape 15"/>
          <p:cNvSpPr/>
          <p:nvPr/>
        </p:nvSpPr>
        <p:spPr>
          <a:xfrm>
            <a:off x="3337560" y="1627632"/>
            <a:ext cx="310896" cy="22860"/>
          </a:xfrm>
          <a:prstGeom prst="rect">
            <a:avLst/>
          </a:prstGeom>
          <a:solidFill>
            <a:srgbClr val="2F8694"/>
          </a:solidFill>
          <a:ln w="12700">
            <a:solidFill>
              <a:srgbClr val="2F8694"/>
            </a:solidFill>
            <a:prstDash val="solid"/>
          </a:ln>
        </p:spPr>
        <p:txBody>
          <a:bodyPr/>
          <a:lstStyle/>
          <a:p>
            <a:endParaRPr lang="en-US"/>
          </a:p>
        </p:txBody>
      </p:sp>
      <p:sp>
        <p:nvSpPr>
          <p:cNvPr id="18" name="Text 16">
            <a:hlinkClick r:id="rId4" action="ppaction://hlinksldjump"/>
          </p:cNvPr>
          <p:cNvSpPr/>
          <p:nvPr/>
        </p:nvSpPr>
        <p:spPr>
          <a:xfrm>
            <a:off x="3895344" y="1453896"/>
            <a:ext cx="420624" cy="118872"/>
          </a:xfrm>
          <a:prstGeom prst="rect">
            <a:avLst/>
          </a:prstGeom>
          <a:noFill/>
          <a:ln/>
        </p:spPr>
        <p:txBody>
          <a:bodyPr wrap="square" lIns="381" tIns="381" rIns="381" bIns="381" rtlCol="0" anchor="ctr">
            <a:normAutofit/>
          </a:bodyPr>
          <a:lstStyle/>
          <a:p>
            <a:pPr marL="0" indent="0" algn="ctr">
              <a:buNone/>
            </a:pPr>
            <a:r>
              <a:rPr lang="en-US" sz="640" b="1" u="sng" dirty="0">
                <a:solidFill>
                  <a:srgbClr val="2A3B50"/>
                </a:solidFill>
                <a:latin typeface="Arial" pitchFamily="34" charset="0"/>
                <a:ea typeface="Arial" pitchFamily="34" charset="-122"/>
                <a:cs typeface="Arial" pitchFamily="34" charset="-120"/>
                <a:hlinkClick r:id="rId4" action="ppaction://hlinksldjump">
                  <a:extLst>
                    <a:ext uri="{A12FA001-AC4F-418D-AE19-62706E023703}">
                      <ahyp:hlinkClr xmlns:ahyp="http://schemas.microsoft.com/office/drawing/2018/hyperlinkcolor" val="tx"/>
                    </a:ext>
                  </a:extLst>
                </a:hlinkClick>
              </a:rPr>
              <a:t>About</a:t>
            </a:r>
            <a:endParaRPr lang="en-US" sz="640" dirty="0"/>
          </a:p>
        </p:txBody>
      </p:sp>
      <p:sp>
        <p:nvSpPr>
          <p:cNvPr id="19" name="Text 17">
            <a:hlinkClick r:id="rId5" action="ppaction://hlinksldjump"/>
          </p:cNvPr>
          <p:cNvSpPr/>
          <p:nvPr/>
        </p:nvSpPr>
        <p:spPr>
          <a:xfrm>
            <a:off x="4517136" y="1453896"/>
            <a:ext cx="960120" cy="118872"/>
          </a:xfrm>
          <a:prstGeom prst="rect">
            <a:avLst/>
          </a:prstGeom>
          <a:noFill/>
          <a:ln/>
        </p:spPr>
        <p:txBody>
          <a:bodyPr wrap="square" lIns="381" tIns="381" rIns="381" bIns="381" rtlCol="0" anchor="ctr">
            <a:normAutofit/>
          </a:bodyPr>
          <a:lstStyle/>
          <a:p>
            <a:pPr marL="0" indent="0" algn="ctr">
              <a:buNone/>
            </a:pPr>
            <a:r>
              <a:rPr lang="en-US" sz="640" b="1" u="sng" dirty="0">
                <a:solidFill>
                  <a:srgbClr val="2A3B50"/>
                </a:solidFill>
                <a:latin typeface="Arial" pitchFamily="34" charset="0"/>
                <a:ea typeface="Arial" pitchFamily="34" charset="-122"/>
                <a:cs typeface="Arial" pitchFamily="34" charset="-120"/>
                <a:hlinkClick r:id="rId5" action="ppaction://hlinksldjump">
                  <a:extLst>
                    <a:ext uri="{A12FA001-AC4F-418D-AE19-62706E023703}">
                      <ahyp:hlinkClr xmlns:ahyp="http://schemas.microsoft.com/office/drawing/2018/hyperlinkcolor" val="tx"/>
                    </a:ext>
                  </a:extLst>
                </a:hlinkClick>
              </a:rPr>
              <a:t>Rooms &amp; Pricing</a:t>
            </a:r>
            <a:endParaRPr lang="en-US" sz="640" dirty="0"/>
          </a:p>
        </p:txBody>
      </p:sp>
      <p:sp>
        <p:nvSpPr>
          <p:cNvPr id="20" name="Text 18">
            <a:hlinkClick r:id="rId6" action="ppaction://hlinksldjump"/>
          </p:cNvPr>
          <p:cNvSpPr/>
          <p:nvPr/>
        </p:nvSpPr>
        <p:spPr>
          <a:xfrm>
            <a:off x="5678424" y="1453896"/>
            <a:ext cx="685800" cy="118872"/>
          </a:xfrm>
          <a:prstGeom prst="rect">
            <a:avLst/>
          </a:prstGeom>
          <a:noFill/>
          <a:ln/>
        </p:spPr>
        <p:txBody>
          <a:bodyPr wrap="square" lIns="381" tIns="381" rIns="381" bIns="381" rtlCol="0" anchor="ctr">
            <a:normAutofit/>
          </a:bodyPr>
          <a:lstStyle/>
          <a:p>
            <a:pPr marL="0" indent="0" algn="ctr">
              <a:buNone/>
            </a:pPr>
            <a:r>
              <a:rPr lang="en-US" sz="640" b="1" u="sng" dirty="0">
                <a:solidFill>
                  <a:srgbClr val="2A3B50"/>
                </a:solidFill>
                <a:latin typeface="Arial" pitchFamily="34" charset="0"/>
                <a:ea typeface="Arial" pitchFamily="34" charset="-122"/>
                <a:cs typeface="Arial" pitchFamily="34" charset="-120"/>
                <a:hlinkClick r:id="rId6" action="ppaction://hlinksldjump">
                  <a:extLst>
                    <a:ext uri="{A12FA001-AC4F-418D-AE19-62706E023703}">
                      <ahyp:hlinkClr xmlns:ahyp="http://schemas.microsoft.com/office/drawing/2018/hyperlinkcolor" val="tx"/>
                    </a:ext>
                  </a:extLst>
                </a:hlinkClick>
              </a:rPr>
              <a:t>Attractions</a:t>
            </a:r>
            <a:endParaRPr lang="en-US" sz="640" dirty="0"/>
          </a:p>
        </p:txBody>
      </p:sp>
      <p:sp>
        <p:nvSpPr>
          <p:cNvPr id="21" name="Text 19">
            <a:hlinkClick r:id="rId7" action="ppaction://hlinksldjump"/>
          </p:cNvPr>
          <p:cNvSpPr/>
          <p:nvPr/>
        </p:nvSpPr>
        <p:spPr>
          <a:xfrm>
            <a:off x="6565392" y="1453896"/>
            <a:ext cx="475488" cy="118872"/>
          </a:xfrm>
          <a:prstGeom prst="rect">
            <a:avLst/>
          </a:prstGeom>
          <a:noFill/>
          <a:ln/>
        </p:spPr>
        <p:txBody>
          <a:bodyPr wrap="square" lIns="381" tIns="381" rIns="381" bIns="381" rtlCol="0" anchor="ctr">
            <a:normAutofit/>
          </a:bodyPr>
          <a:lstStyle/>
          <a:p>
            <a:pPr marL="0" indent="0" algn="ctr">
              <a:buNone/>
            </a:pPr>
            <a:r>
              <a:rPr lang="en-US" sz="640" b="1" u="sng" dirty="0">
                <a:solidFill>
                  <a:srgbClr val="2A3B50"/>
                </a:solidFill>
                <a:latin typeface="Arial" pitchFamily="34" charset="0"/>
                <a:ea typeface="Arial" pitchFamily="34" charset="-122"/>
                <a:cs typeface="Arial" pitchFamily="34" charset="-120"/>
                <a:hlinkClick r:id="rId7" action="ppaction://hlinksldjump">
                  <a:extLst>
                    <a:ext uri="{A12FA001-AC4F-418D-AE19-62706E023703}">
                      <ahyp:hlinkClr xmlns:ahyp="http://schemas.microsoft.com/office/drawing/2018/hyperlinkcolor" val="tx"/>
                    </a:ext>
                  </a:extLst>
                </a:hlinkClick>
              </a:rPr>
              <a:t>Contact</a:t>
            </a:r>
            <a:endParaRPr lang="en-US" sz="640" dirty="0"/>
          </a:p>
        </p:txBody>
      </p:sp>
      <p:sp>
        <p:nvSpPr>
          <p:cNvPr id="22" name="Text 20">
            <a:hlinkClick r:id="rId8" action="ppaction://hlinksldjump"/>
          </p:cNvPr>
          <p:cNvSpPr/>
          <p:nvPr/>
        </p:nvSpPr>
        <p:spPr>
          <a:xfrm>
            <a:off x="7242048" y="1453896"/>
            <a:ext cx="420624" cy="118872"/>
          </a:xfrm>
          <a:prstGeom prst="rect">
            <a:avLst/>
          </a:prstGeom>
          <a:noFill/>
          <a:ln/>
        </p:spPr>
        <p:txBody>
          <a:bodyPr wrap="square" lIns="381" tIns="381" rIns="381" bIns="381" rtlCol="0" anchor="ctr">
            <a:normAutofit/>
          </a:bodyPr>
          <a:lstStyle/>
          <a:p>
            <a:pPr marL="0" indent="0" algn="ctr">
              <a:buNone/>
            </a:pPr>
            <a:r>
              <a:rPr lang="en-US" sz="640" b="1" u="sng" dirty="0">
                <a:solidFill>
                  <a:srgbClr val="2A3B50"/>
                </a:solidFill>
                <a:latin typeface="Arial" pitchFamily="34" charset="0"/>
                <a:ea typeface="Arial" pitchFamily="34" charset="-122"/>
                <a:cs typeface="Arial" pitchFamily="34" charset="-120"/>
                <a:hlinkClick r:id="rId8" action="ppaction://hlinksldjump">
                  <a:extLst>
                    <a:ext uri="{A12FA001-AC4F-418D-AE19-62706E023703}">
                      <ahyp:hlinkClr xmlns:ahyp="http://schemas.microsoft.com/office/drawing/2018/hyperlinkcolor" val="tx"/>
                    </a:ext>
                  </a:extLst>
                </a:hlinkClick>
              </a:rPr>
              <a:t>Book</a:t>
            </a:r>
            <a:endParaRPr lang="en-US" sz="640" dirty="0"/>
          </a:p>
        </p:txBody>
      </p:sp>
      <p:sp>
        <p:nvSpPr>
          <p:cNvPr id="23" name="Shape 21">
            <a:hlinkClick r:id="rId9" action="ppaction://hlinksldjump"/>
          </p:cNvPr>
          <p:cNvSpPr/>
          <p:nvPr/>
        </p:nvSpPr>
        <p:spPr>
          <a:xfrm>
            <a:off x="10378440" y="1417320"/>
            <a:ext cx="530352" cy="283464"/>
          </a:xfrm>
          <a:prstGeom prst="roundRect">
            <a:avLst>
              <a:gd name="adj" fmla="val 25806"/>
            </a:avLst>
          </a:prstGeom>
          <a:solidFill>
            <a:srgbClr val="132133"/>
          </a:solidFill>
          <a:ln w="12700">
            <a:solidFill>
              <a:srgbClr val="132133">
                <a:alpha val="0"/>
              </a:srgbClr>
            </a:solidFill>
            <a:prstDash val="solid"/>
          </a:ln>
        </p:spPr>
        <p:txBody>
          <a:bodyPr/>
          <a:lstStyle/>
          <a:p>
            <a:endParaRPr lang="en-US"/>
          </a:p>
        </p:txBody>
      </p:sp>
      <p:sp>
        <p:nvSpPr>
          <p:cNvPr id="24" name="Text 22">
            <a:hlinkClick r:id="rId9" action="ppaction://hlinksldjump"/>
          </p:cNvPr>
          <p:cNvSpPr/>
          <p:nvPr/>
        </p:nvSpPr>
        <p:spPr>
          <a:xfrm>
            <a:off x="10396728" y="1444752"/>
            <a:ext cx="493776" cy="182880"/>
          </a:xfrm>
          <a:prstGeom prst="rect">
            <a:avLst/>
          </a:prstGeom>
          <a:noFill/>
          <a:ln/>
        </p:spPr>
        <p:txBody>
          <a:bodyPr wrap="square" lIns="381" tIns="381" rIns="381" bIns="381" rtlCol="0" anchor="ctr">
            <a:normAutofit/>
          </a:bodyPr>
          <a:lstStyle/>
          <a:p>
            <a:pPr marL="0" indent="0" algn="ctr">
              <a:buNone/>
            </a:pPr>
            <a:r>
              <a:rPr lang="en-US" sz="600" b="1" u="sng" dirty="0">
                <a:solidFill>
                  <a:srgbClr val="FFFFFF"/>
                </a:solidFill>
                <a:latin typeface="Arial" pitchFamily="34" charset="0"/>
                <a:ea typeface="Arial" pitchFamily="34" charset="-122"/>
                <a:cs typeface="Arial" pitchFamily="34" charset="-120"/>
                <a:hlinkClick r:id="rId9" action="ppaction://hlinksldjump">
                  <a:extLst>
                    <a:ext uri="{A12FA001-AC4F-418D-AE19-62706E023703}">
                      <ahyp:hlinkClr xmlns:ahyp="http://schemas.microsoft.com/office/drawing/2018/hyperlinkcolor" val="tx"/>
                    </a:ext>
                  </a:extLst>
                </a:hlinkClick>
              </a:rPr>
              <a:t>Login</a:t>
            </a:r>
            <a:endParaRPr lang="en-US" sz="600" dirty="0"/>
          </a:p>
        </p:txBody>
      </p:sp>
      <p:sp>
        <p:nvSpPr>
          <p:cNvPr id="25" name="Shape 23">
            <a:hlinkClick r:id="rId10" action="ppaction://hlinksldjump"/>
          </p:cNvPr>
          <p:cNvSpPr/>
          <p:nvPr/>
        </p:nvSpPr>
        <p:spPr>
          <a:xfrm>
            <a:off x="10991088" y="1417320"/>
            <a:ext cx="585216" cy="283464"/>
          </a:xfrm>
          <a:prstGeom prst="roundRect">
            <a:avLst>
              <a:gd name="adj" fmla="val 25806"/>
            </a:avLst>
          </a:prstGeom>
          <a:solidFill>
            <a:srgbClr val="276F7B"/>
          </a:solidFill>
          <a:ln w="12700">
            <a:solidFill>
              <a:srgbClr val="276F7B">
                <a:alpha val="0"/>
              </a:srgbClr>
            </a:solidFill>
            <a:prstDash val="solid"/>
          </a:ln>
        </p:spPr>
        <p:txBody>
          <a:bodyPr/>
          <a:lstStyle/>
          <a:p>
            <a:endParaRPr lang="en-US"/>
          </a:p>
        </p:txBody>
      </p:sp>
      <p:sp>
        <p:nvSpPr>
          <p:cNvPr id="26" name="Text 24">
            <a:hlinkClick r:id="rId10" action="ppaction://hlinksldjump"/>
          </p:cNvPr>
          <p:cNvSpPr/>
          <p:nvPr/>
        </p:nvSpPr>
        <p:spPr>
          <a:xfrm>
            <a:off x="11009376" y="1444752"/>
            <a:ext cx="548640" cy="182880"/>
          </a:xfrm>
          <a:prstGeom prst="rect">
            <a:avLst/>
          </a:prstGeom>
          <a:noFill/>
          <a:ln/>
        </p:spPr>
        <p:txBody>
          <a:bodyPr wrap="square" lIns="381" tIns="381" rIns="381" bIns="381" rtlCol="0" anchor="ctr">
            <a:normAutofit/>
          </a:bodyPr>
          <a:lstStyle/>
          <a:p>
            <a:pPr marL="0" indent="0" algn="ctr">
              <a:buNone/>
            </a:pPr>
            <a:r>
              <a:rPr lang="en-US" sz="600" b="1" u="sng" dirty="0">
                <a:solidFill>
                  <a:srgbClr val="FFFFFF"/>
                </a:solidFill>
                <a:latin typeface="Arial" pitchFamily="34" charset="0"/>
                <a:ea typeface="Arial" pitchFamily="34" charset="-122"/>
                <a:cs typeface="Arial" pitchFamily="34" charset="-120"/>
                <a:hlinkClick r:id="rId10" action="ppaction://hlinksldjump">
                  <a:extLst>
                    <a:ext uri="{A12FA001-AC4F-418D-AE19-62706E023703}">
                      <ahyp:hlinkClr xmlns:ahyp="http://schemas.microsoft.com/office/drawing/2018/hyperlinkcolor" val="tx"/>
                    </a:ext>
                  </a:extLst>
                </a:hlinkClick>
              </a:rPr>
              <a:t>Register</a:t>
            </a:r>
            <a:endParaRPr lang="en-US" sz="600" dirty="0"/>
          </a:p>
        </p:txBody>
      </p:sp>
      <p:sp>
        <p:nvSpPr>
          <p:cNvPr id="27" name="Text 25"/>
          <p:cNvSpPr/>
          <p:nvPr/>
        </p:nvSpPr>
        <p:spPr>
          <a:xfrm>
            <a:off x="502920" y="6510528"/>
            <a:ext cx="6400800" cy="201168"/>
          </a:xfrm>
          <a:prstGeom prst="rect">
            <a:avLst/>
          </a:prstGeom>
          <a:noFill/>
          <a:ln/>
        </p:spPr>
        <p:txBody>
          <a:bodyPr wrap="square" lIns="381" tIns="381" rIns="381" bIns="381" rtlCol="0" anchor="ctr">
            <a:normAutofit/>
          </a:bodyPr>
          <a:lstStyle/>
          <a:p>
            <a:pPr marL="0" indent="0" algn="l">
              <a:buNone/>
            </a:pPr>
            <a:r>
              <a:rPr lang="en-US" sz="710" dirty="0">
                <a:solidFill>
                  <a:srgbClr val="536273"/>
                </a:solidFill>
                <a:latin typeface="Arial" pitchFamily="34" charset="0"/>
                <a:ea typeface="Arial" pitchFamily="34" charset="-122"/>
                <a:cs typeface="Arial" pitchFamily="34" charset="-120"/>
              </a:rPr>
              <a:t>Slide 3 | Editable components | Use Slide Show mode to click through the prototype</a:t>
            </a:r>
            <a:endParaRPr lang="en-US" sz="710" dirty="0"/>
          </a:p>
        </p:txBody>
      </p:sp>
      <p:sp>
        <p:nvSpPr>
          <p:cNvPr id="28" name="Shape 26">
            <a:hlinkClick r:id="rId3" action="ppaction://hlinksldjump"/>
          </p:cNvPr>
          <p:cNvSpPr/>
          <p:nvPr/>
        </p:nvSpPr>
        <p:spPr>
          <a:xfrm>
            <a:off x="7635240" y="6455664"/>
            <a:ext cx="749808" cy="283464"/>
          </a:xfrm>
          <a:prstGeom prst="roundRect">
            <a:avLst>
              <a:gd name="adj" fmla="val 25806"/>
            </a:avLst>
          </a:prstGeom>
          <a:solidFill>
            <a:srgbClr val="FFFFFF">
              <a:alpha val="30000"/>
            </a:srgbClr>
          </a:solidFill>
          <a:ln w="12700">
            <a:solidFill>
              <a:srgbClr val="536273">
                <a:alpha val="50000"/>
              </a:srgbClr>
            </a:solidFill>
            <a:prstDash val="solid"/>
          </a:ln>
        </p:spPr>
        <p:txBody>
          <a:bodyPr/>
          <a:lstStyle/>
          <a:p>
            <a:endParaRPr lang="en-US"/>
          </a:p>
        </p:txBody>
      </p:sp>
      <p:sp>
        <p:nvSpPr>
          <p:cNvPr id="29" name="Text 27">
            <a:hlinkClick r:id="rId3" action="ppaction://hlinksldjump"/>
          </p:cNvPr>
          <p:cNvSpPr/>
          <p:nvPr/>
        </p:nvSpPr>
        <p:spPr>
          <a:xfrm>
            <a:off x="7653528" y="6483096"/>
            <a:ext cx="713232" cy="182880"/>
          </a:xfrm>
          <a:prstGeom prst="rect">
            <a:avLst/>
          </a:prstGeom>
          <a:noFill/>
          <a:ln/>
        </p:spPr>
        <p:txBody>
          <a:bodyPr wrap="square" lIns="381" tIns="381" rIns="381" bIns="381" rtlCol="0" anchor="ctr">
            <a:normAutofit/>
          </a:bodyPr>
          <a:lstStyle/>
          <a:p>
            <a:pPr marL="0" indent="0" algn="ctr">
              <a:buNone/>
            </a:pPr>
            <a:r>
              <a:rPr lang="en-US" sz="800" b="1" u="sng" dirty="0">
                <a:solidFill>
                  <a:srgbClr val="2A3B50"/>
                </a:solidFill>
                <a:latin typeface="Arial" pitchFamily="34" charset="0"/>
                <a:ea typeface="Arial" pitchFamily="34" charset="-122"/>
                <a:cs typeface="Arial" pitchFamily="34" charset="-120"/>
                <a:hlinkClick r:id="rId3" action="ppaction://hlinksldjump">
                  <a:extLst>
                    <a:ext uri="{A12FA001-AC4F-418D-AE19-62706E023703}">
                      <ahyp:hlinkClr xmlns:ahyp="http://schemas.microsoft.com/office/drawing/2018/hyperlinkcolor" val="tx"/>
                    </a:ext>
                  </a:extLst>
                </a:hlinkClick>
              </a:rPr>
              <a:t>Home</a:t>
            </a:r>
            <a:endParaRPr lang="en-US" sz="800" dirty="0"/>
          </a:p>
        </p:txBody>
      </p:sp>
      <p:sp>
        <p:nvSpPr>
          <p:cNvPr id="30" name="Shape 28">
            <a:hlinkClick r:id="rId5" action="ppaction://hlinksldjump"/>
          </p:cNvPr>
          <p:cNvSpPr/>
          <p:nvPr/>
        </p:nvSpPr>
        <p:spPr>
          <a:xfrm>
            <a:off x="8476488" y="6455664"/>
            <a:ext cx="749808" cy="283464"/>
          </a:xfrm>
          <a:prstGeom prst="roundRect">
            <a:avLst>
              <a:gd name="adj" fmla="val 25806"/>
            </a:avLst>
          </a:prstGeom>
          <a:solidFill>
            <a:srgbClr val="FFFFFF">
              <a:alpha val="30000"/>
            </a:srgbClr>
          </a:solidFill>
          <a:ln w="12700">
            <a:solidFill>
              <a:srgbClr val="536273">
                <a:alpha val="50000"/>
              </a:srgbClr>
            </a:solidFill>
            <a:prstDash val="solid"/>
          </a:ln>
        </p:spPr>
        <p:txBody>
          <a:bodyPr/>
          <a:lstStyle/>
          <a:p>
            <a:endParaRPr lang="en-US"/>
          </a:p>
        </p:txBody>
      </p:sp>
      <p:sp>
        <p:nvSpPr>
          <p:cNvPr id="31" name="Text 29">
            <a:hlinkClick r:id="rId5" action="ppaction://hlinksldjump"/>
          </p:cNvPr>
          <p:cNvSpPr/>
          <p:nvPr/>
        </p:nvSpPr>
        <p:spPr>
          <a:xfrm>
            <a:off x="8494776" y="6483096"/>
            <a:ext cx="713232" cy="182880"/>
          </a:xfrm>
          <a:prstGeom prst="rect">
            <a:avLst/>
          </a:prstGeom>
          <a:noFill/>
          <a:ln/>
        </p:spPr>
        <p:txBody>
          <a:bodyPr wrap="square" lIns="381" tIns="381" rIns="381" bIns="381" rtlCol="0" anchor="ctr">
            <a:normAutofit/>
          </a:bodyPr>
          <a:lstStyle/>
          <a:p>
            <a:pPr marL="0" indent="0" algn="ctr">
              <a:buNone/>
            </a:pPr>
            <a:r>
              <a:rPr lang="en-US" sz="800" b="1" u="sng" dirty="0">
                <a:solidFill>
                  <a:srgbClr val="2A3B50"/>
                </a:solidFill>
                <a:latin typeface="Arial" pitchFamily="34" charset="0"/>
                <a:ea typeface="Arial" pitchFamily="34" charset="-122"/>
                <a:cs typeface="Arial" pitchFamily="34" charset="-120"/>
                <a:hlinkClick r:id="rId5" action="ppaction://hlinksldjump">
                  <a:extLst>
                    <a:ext uri="{A12FA001-AC4F-418D-AE19-62706E023703}">
                      <ahyp:hlinkClr xmlns:ahyp="http://schemas.microsoft.com/office/drawing/2018/hyperlinkcolor" val="tx"/>
                    </a:ext>
                  </a:extLst>
                </a:hlinkClick>
              </a:rPr>
              <a:t>Rooms</a:t>
            </a:r>
            <a:endParaRPr lang="en-US" sz="800" dirty="0"/>
          </a:p>
        </p:txBody>
      </p:sp>
      <p:sp>
        <p:nvSpPr>
          <p:cNvPr id="32" name="Shape 30">
            <a:hlinkClick r:id="rId8" action="ppaction://hlinksldjump"/>
          </p:cNvPr>
          <p:cNvSpPr/>
          <p:nvPr/>
        </p:nvSpPr>
        <p:spPr>
          <a:xfrm>
            <a:off x="9317736" y="6455664"/>
            <a:ext cx="749808" cy="283464"/>
          </a:xfrm>
          <a:prstGeom prst="roundRect">
            <a:avLst>
              <a:gd name="adj" fmla="val 25806"/>
            </a:avLst>
          </a:prstGeom>
          <a:solidFill>
            <a:srgbClr val="FFFFFF">
              <a:alpha val="30000"/>
            </a:srgbClr>
          </a:solidFill>
          <a:ln w="12700">
            <a:solidFill>
              <a:srgbClr val="536273">
                <a:alpha val="50000"/>
              </a:srgbClr>
            </a:solidFill>
            <a:prstDash val="solid"/>
          </a:ln>
        </p:spPr>
        <p:txBody>
          <a:bodyPr/>
          <a:lstStyle/>
          <a:p>
            <a:endParaRPr lang="en-US"/>
          </a:p>
        </p:txBody>
      </p:sp>
      <p:sp>
        <p:nvSpPr>
          <p:cNvPr id="33" name="Text 31">
            <a:hlinkClick r:id="rId8" action="ppaction://hlinksldjump"/>
          </p:cNvPr>
          <p:cNvSpPr/>
          <p:nvPr/>
        </p:nvSpPr>
        <p:spPr>
          <a:xfrm>
            <a:off x="9336024" y="6483096"/>
            <a:ext cx="713232" cy="182880"/>
          </a:xfrm>
          <a:prstGeom prst="rect">
            <a:avLst/>
          </a:prstGeom>
          <a:noFill/>
          <a:ln/>
        </p:spPr>
        <p:txBody>
          <a:bodyPr wrap="square" lIns="381" tIns="381" rIns="381" bIns="381" rtlCol="0" anchor="ctr">
            <a:normAutofit/>
          </a:bodyPr>
          <a:lstStyle/>
          <a:p>
            <a:pPr marL="0" indent="0" algn="ctr">
              <a:buNone/>
            </a:pPr>
            <a:r>
              <a:rPr lang="en-US" sz="800" b="1" u="sng" dirty="0">
                <a:solidFill>
                  <a:srgbClr val="2A3B50"/>
                </a:solidFill>
                <a:latin typeface="Arial" pitchFamily="34" charset="0"/>
                <a:ea typeface="Arial" pitchFamily="34" charset="-122"/>
                <a:cs typeface="Arial" pitchFamily="34" charset="-120"/>
                <a:hlinkClick r:id="rId8" action="ppaction://hlinksldjump">
                  <a:extLst>
                    <a:ext uri="{A12FA001-AC4F-418D-AE19-62706E023703}">
                      <ahyp:hlinkClr xmlns:ahyp="http://schemas.microsoft.com/office/drawing/2018/hyperlinkcolor" val="tx"/>
                    </a:ext>
                  </a:extLst>
                </a:hlinkClick>
              </a:rPr>
              <a:t>Book</a:t>
            </a:r>
            <a:endParaRPr lang="en-US" sz="800" dirty="0"/>
          </a:p>
        </p:txBody>
      </p:sp>
      <p:sp>
        <p:nvSpPr>
          <p:cNvPr id="34" name="Shape 32">
            <a:hlinkClick r:id="rId11" action="ppaction://hlinksldjump"/>
          </p:cNvPr>
          <p:cNvSpPr/>
          <p:nvPr/>
        </p:nvSpPr>
        <p:spPr>
          <a:xfrm>
            <a:off x="10158984" y="6455664"/>
            <a:ext cx="749808" cy="283464"/>
          </a:xfrm>
          <a:prstGeom prst="roundRect">
            <a:avLst>
              <a:gd name="adj" fmla="val 25806"/>
            </a:avLst>
          </a:prstGeom>
          <a:solidFill>
            <a:srgbClr val="FFFFFF">
              <a:alpha val="30000"/>
            </a:srgbClr>
          </a:solidFill>
          <a:ln w="12700">
            <a:solidFill>
              <a:srgbClr val="536273">
                <a:alpha val="50000"/>
              </a:srgbClr>
            </a:solidFill>
            <a:prstDash val="solid"/>
          </a:ln>
        </p:spPr>
        <p:txBody>
          <a:bodyPr/>
          <a:lstStyle/>
          <a:p>
            <a:endParaRPr lang="en-US"/>
          </a:p>
        </p:txBody>
      </p:sp>
      <p:sp>
        <p:nvSpPr>
          <p:cNvPr id="35" name="Text 33">
            <a:hlinkClick r:id="rId11" action="ppaction://hlinksldjump"/>
          </p:cNvPr>
          <p:cNvSpPr/>
          <p:nvPr/>
        </p:nvSpPr>
        <p:spPr>
          <a:xfrm>
            <a:off x="10177272" y="6483096"/>
            <a:ext cx="713232" cy="182880"/>
          </a:xfrm>
          <a:prstGeom prst="rect">
            <a:avLst/>
          </a:prstGeom>
          <a:noFill/>
          <a:ln/>
        </p:spPr>
        <p:txBody>
          <a:bodyPr wrap="square" lIns="381" tIns="381" rIns="381" bIns="381" rtlCol="0" anchor="ctr">
            <a:normAutofit/>
          </a:bodyPr>
          <a:lstStyle/>
          <a:p>
            <a:pPr marL="0" indent="0" algn="ctr">
              <a:buNone/>
            </a:pPr>
            <a:r>
              <a:rPr lang="en-US" sz="800" b="1" u="sng" dirty="0">
                <a:solidFill>
                  <a:srgbClr val="2A3B50"/>
                </a:solidFill>
                <a:latin typeface="Arial" pitchFamily="34" charset="0"/>
                <a:ea typeface="Arial" pitchFamily="34" charset="-122"/>
                <a:cs typeface="Arial" pitchFamily="34" charset="-120"/>
                <a:hlinkClick r:id="rId11" action="ppaction://hlinksldjump">
                  <a:extLst>
                    <a:ext uri="{A12FA001-AC4F-418D-AE19-62706E023703}">
                      <ahyp:hlinkClr xmlns:ahyp="http://schemas.microsoft.com/office/drawing/2018/hyperlinkcolor" val="tx"/>
                    </a:ext>
                  </a:extLst>
                </a:hlinkClick>
              </a:rPr>
              <a:t>Lookup</a:t>
            </a:r>
            <a:endParaRPr lang="en-US" sz="800" dirty="0"/>
          </a:p>
        </p:txBody>
      </p:sp>
      <p:sp>
        <p:nvSpPr>
          <p:cNvPr id="36" name="Shape 34">
            <a:hlinkClick r:id="rId12" action="ppaction://hlinksldjump"/>
          </p:cNvPr>
          <p:cNvSpPr/>
          <p:nvPr/>
        </p:nvSpPr>
        <p:spPr>
          <a:xfrm>
            <a:off x="11000232" y="6455664"/>
            <a:ext cx="868680" cy="283464"/>
          </a:xfrm>
          <a:prstGeom prst="roundRect">
            <a:avLst>
              <a:gd name="adj" fmla="val 25806"/>
            </a:avLst>
          </a:prstGeom>
          <a:solidFill>
            <a:srgbClr val="132133"/>
          </a:solidFill>
          <a:ln w="12700">
            <a:solidFill>
              <a:srgbClr val="132133">
                <a:alpha val="0"/>
              </a:srgbClr>
            </a:solidFill>
            <a:prstDash val="solid"/>
          </a:ln>
        </p:spPr>
        <p:txBody>
          <a:bodyPr/>
          <a:lstStyle/>
          <a:p>
            <a:endParaRPr lang="en-US"/>
          </a:p>
        </p:txBody>
      </p:sp>
      <p:sp>
        <p:nvSpPr>
          <p:cNvPr id="37" name="Text 35">
            <a:hlinkClick r:id="rId12" action="ppaction://hlinksldjump"/>
          </p:cNvPr>
          <p:cNvSpPr/>
          <p:nvPr/>
        </p:nvSpPr>
        <p:spPr>
          <a:xfrm>
            <a:off x="11018520" y="6483096"/>
            <a:ext cx="832104" cy="182880"/>
          </a:xfrm>
          <a:prstGeom prst="rect">
            <a:avLst/>
          </a:prstGeom>
          <a:noFill/>
          <a:ln/>
        </p:spPr>
        <p:txBody>
          <a:bodyPr wrap="square" lIns="381" tIns="381" rIns="381" bIns="381" rtlCol="0" anchor="ctr">
            <a:normAutofit/>
          </a:bodyPr>
          <a:lstStyle/>
          <a:p>
            <a:pPr marL="0" indent="0" algn="ctr">
              <a:buNone/>
            </a:pPr>
            <a:r>
              <a:rPr lang="en-US" sz="770" b="1" u="sng" dirty="0">
                <a:solidFill>
                  <a:srgbClr val="FFFFFF"/>
                </a:solidFill>
                <a:latin typeface="Arial" pitchFamily="34" charset="0"/>
                <a:ea typeface="Arial" pitchFamily="34" charset="-122"/>
                <a:cs typeface="Arial" pitchFamily="34" charset="-120"/>
                <a:hlinkClick r:id="rId12" action="ppaction://hlinksldjump">
                  <a:extLst>
                    <a:ext uri="{A12FA001-AC4F-418D-AE19-62706E023703}">
                      <ahyp:hlinkClr xmlns:ahyp="http://schemas.microsoft.com/office/drawing/2018/hyperlinkcolor" val="tx"/>
                    </a:ext>
                  </a:extLst>
                </a:hlinkClick>
              </a:rPr>
              <a:t>Site Flow</a:t>
            </a:r>
            <a:endParaRPr lang="en-US" sz="770" dirty="0"/>
          </a:p>
        </p:txBody>
      </p:sp>
      <p:sp>
        <p:nvSpPr>
          <p:cNvPr id="38" name="Shape 36"/>
          <p:cNvSpPr/>
          <p:nvPr/>
        </p:nvSpPr>
        <p:spPr>
          <a:xfrm>
            <a:off x="822960" y="2130552"/>
            <a:ext cx="5212080" cy="1664208"/>
          </a:xfrm>
          <a:prstGeom prst="roundRect">
            <a:avLst>
              <a:gd name="adj" fmla="val 8791"/>
            </a:avLst>
          </a:prstGeom>
          <a:solidFill>
            <a:srgbClr val="FFFFFF">
              <a:alpha val="92000"/>
            </a:srgbClr>
          </a:solidFill>
          <a:ln w="12700">
            <a:solidFill>
              <a:srgbClr val="E9DFCF">
                <a:alpha val="70000"/>
              </a:srgbClr>
            </a:solidFill>
            <a:prstDash val="solid"/>
          </a:ln>
          <a:effectLst>
            <a:outerShdw blurRad="12700" dist="10160" dir="2700000" algn="bl" rotWithShape="0">
              <a:srgbClr val="132133">
                <a:alpha val="8000"/>
              </a:srgbClr>
            </a:outerShdw>
          </a:effectLst>
        </p:spPr>
        <p:txBody>
          <a:bodyPr/>
          <a:lstStyle/>
          <a:p>
            <a:endParaRPr lang="en-US"/>
          </a:p>
        </p:txBody>
      </p:sp>
      <p:sp>
        <p:nvSpPr>
          <p:cNvPr id="39" name="Text 37"/>
          <p:cNvSpPr/>
          <p:nvPr/>
        </p:nvSpPr>
        <p:spPr>
          <a:xfrm>
            <a:off x="1051560" y="2359152"/>
            <a:ext cx="4663440" cy="146304"/>
          </a:xfrm>
          <a:prstGeom prst="rect">
            <a:avLst/>
          </a:prstGeom>
          <a:noFill/>
          <a:ln/>
        </p:spPr>
        <p:txBody>
          <a:bodyPr wrap="square" lIns="381" tIns="381" rIns="381" bIns="381" rtlCol="0" anchor="ctr">
            <a:normAutofit/>
          </a:bodyPr>
          <a:lstStyle/>
          <a:p>
            <a:pPr marL="0" indent="0" algn="l">
              <a:buNone/>
            </a:pPr>
            <a:r>
              <a:rPr lang="en-US" sz="680" b="1" dirty="0">
                <a:solidFill>
                  <a:srgbClr val="276F7B"/>
                </a:solidFill>
                <a:latin typeface="Arial" pitchFamily="34" charset="0"/>
                <a:ea typeface="Arial" pitchFamily="34" charset="-122"/>
                <a:cs typeface="Arial" pitchFamily="34" charset="-120"/>
              </a:rPr>
              <a:t>WELCOME TO MOFFAT BAY</a:t>
            </a:r>
            <a:endParaRPr lang="en-US" sz="680" dirty="0"/>
          </a:p>
        </p:txBody>
      </p:sp>
      <p:sp>
        <p:nvSpPr>
          <p:cNvPr id="40" name="Text 38"/>
          <p:cNvSpPr/>
          <p:nvPr/>
        </p:nvSpPr>
        <p:spPr>
          <a:xfrm>
            <a:off x="1051560" y="2560320"/>
            <a:ext cx="4663440" cy="420624"/>
          </a:xfrm>
          <a:prstGeom prst="rect">
            <a:avLst/>
          </a:prstGeom>
          <a:noFill/>
          <a:ln/>
        </p:spPr>
        <p:txBody>
          <a:bodyPr wrap="square" lIns="381" tIns="381" rIns="381" bIns="381" rtlCol="0" anchor="ctr">
            <a:normAutofit fontScale="92500"/>
          </a:bodyPr>
          <a:lstStyle/>
          <a:p>
            <a:pPr marL="0" indent="0" algn="l">
              <a:buNone/>
            </a:pPr>
            <a:r>
              <a:rPr lang="en-US" sz="2000" dirty="0">
                <a:solidFill>
                  <a:srgbClr val="132133"/>
                </a:solidFill>
                <a:latin typeface="Georgia" pitchFamily="34" charset="0"/>
                <a:ea typeface="Georgia" pitchFamily="34" charset="-122"/>
                <a:cs typeface="Georgia" pitchFamily="34" charset="-120"/>
              </a:rPr>
              <a:t>One Island. One Lodge. Endless Adventure.</a:t>
            </a:r>
            <a:endParaRPr lang="en-US" sz="2000" dirty="0"/>
          </a:p>
        </p:txBody>
      </p:sp>
      <p:sp>
        <p:nvSpPr>
          <p:cNvPr id="41" name="Text 39"/>
          <p:cNvSpPr/>
          <p:nvPr/>
        </p:nvSpPr>
        <p:spPr>
          <a:xfrm>
            <a:off x="1051560" y="3054096"/>
            <a:ext cx="4663440" cy="320040"/>
          </a:xfrm>
          <a:prstGeom prst="rect">
            <a:avLst/>
          </a:prstGeom>
          <a:noFill/>
          <a:ln/>
        </p:spPr>
        <p:txBody>
          <a:bodyPr wrap="square" lIns="381" tIns="381" rIns="381" bIns="381" rtlCol="0" anchor="t">
            <a:normAutofit/>
          </a:bodyPr>
          <a:lstStyle/>
          <a:p>
            <a:pPr marL="0" indent="0" algn="l">
              <a:buNone/>
            </a:pPr>
            <a:r>
              <a:rPr lang="en-US" sz="840" dirty="0">
                <a:solidFill>
                  <a:srgbClr val="2A3B50"/>
                </a:solidFill>
                <a:latin typeface="Arial" pitchFamily="34" charset="0"/>
                <a:ea typeface="Arial" pitchFamily="34" charset="-122"/>
                <a:cs typeface="Arial" pitchFamily="34" charset="-120"/>
              </a:rPr>
              <a:t>Comfortable lodging, coastal adventure, and a simple reservation experience come together at one island retreat.</a:t>
            </a:r>
            <a:endParaRPr lang="en-US" sz="840" dirty="0"/>
          </a:p>
        </p:txBody>
      </p:sp>
      <p:sp>
        <p:nvSpPr>
          <p:cNvPr id="42" name="Shape 40">
            <a:hlinkClick r:id="rId8" action="ppaction://hlinksldjump"/>
          </p:cNvPr>
          <p:cNvSpPr/>
          <p:nvPr/>
        </p:nvSpPr>
        <p:spPr>
          <a:xfrm>
            <a:off x="1051560" y="3392424"/>
            <a:ext cx="1133856" cy="310896"/>
          </a:xfrm>
          <a:prstGeom prst="roundRect">
            <a:avLst>
              <a:gd name="adj" fmla="val 35294"/>
            </a:avLst>
          </a:prstGeom>
          <a:solidFill>
            <a:srgbClr val="CDA059"/>
          </a:solidFill>
          <a:ln w="12700">
            <a:solidFill>
              <a:srgbClr val="CDA059">
                <a:alpha val="0"/>
              </a:srgbClr>
            </a:solidFill>
            <a:prstDash val="solid"/>
          </a:ln>
        </p:spPr>
        <p:txBody>
          <a:bodyPr/>
          <a:lstStyle/>
          <a:p>
            <a:endParaRPr lang="en-US"/>
          </a:p>
        </p:txBody>
      </p:sp>
      <p:sp>
        <p:nvSpPr>
          <p:cNvPr id="43" name="Text 41">
            <a:hlinkClick r:id="rId8" action="ppaction://hlinksldjump"/>
          </p:cNvPr>
          <p:cNvSpPr/>
          <p:nvPr/>
        </p:nvSpPr>
        <p:spPr>
          <a:xfrm>
            <a:off x="1078992" y="3474720"/>
            <a:ext cx="1078992" cy="109728"/>
          </a:xfrm>
          <a:prstGeom prst="rect">
            <a:avLst/>
          </a:prstGeom>
          <a:noFill/>
          <a:ln/>
        </p:spPr>
        <p:txBody>
          <a:bodyPr wrap="square" lIns="381" tIns="381" rIns="381" bIns="381" rtlCol="0" anchor="ctr">
            <a:normAutofit/>
          </a:bodyPr>
          <a:lstStyle/>
          <a:p>
            <a:pPr marL="0" indent="0" algn="ctr">
              <a:buNone/>
            </a:pPr>
            <a:r>
              <a:rPr lang="en-US" sz="640" b="1" u="sng" dirty="0">
                <a:solidFill>
                  <a:srgbClr val="132133"/>
                </a:solidFill>
                <a:latin typeface="Arial" pitchFamily="34" charset="0"/>
                <a:ea typeface="Arial" pitchFamily="34" charset="-122"/>
                <a:cs typeface="Arial" pitchFamily="34" charset="-120"/>
                <a:hlinkClick r:id="rId8" action="ppaction://hlinksldjump">
                  <a:extLst>
                    <a:ext uri="{A12FA001-AC4F-418D-AE19-62706E023703}">
                      <ahyp:hlinkClr xmlns:ahyp="http://schemas.microsoft.com/office/drawing/2018/hyperlinkcolor" val="tx"/>
                    </a:ext>
                  </a:extLst>
                </a:hlinkClick>
              </a:rPr>
              <a:t>Book Your Stay</a:t>
            </a:r>
            <a:endParaRPr lang="en-US" sz="640" dirty="0"/>
          </a:p>
        </p:txBody>
      </p:sp>
      <p:sp>
        <p:nvSpPr>
          <p:cNvPr id="44" name="Shape 42">
            <a:hlinkClick r:id="rId5" action="ppaction://hlinksldjump"/>
          </p:cNvPr>
          <p:cNvSpPr/>
          <p:nvPr/>
        </p:nvSpPr>
        <p:spPr>
          <a:xfrm>
            <a:off x="2331720" y="3392424"/>
            <a:ext cx="1225296" cy="310896"/>
          </a:xfrm>
          <a:prstGeom prst="roundRect">
            <a:avLst>
              <a:gd name="adj" fmla="val 35294"/>
            </a:avLst>
          </a:prstGeom>
          <a:solidFill>
            <a:srgbClr val="132133"/>
          </a:solidFill>
          <a:ln w="12700">
            <a:solidFill>
              <a:srgbClr val="132133">
                <a:alpha val="0"/>
              </a:srgbClr>
            </a:solidFill>
            <a:prstDash val="solid"/>
          </a:ln>
        </p:spPr>
        <p:txBody>
          <a:bodyPr/>
          <a:lstStyle/>
          <a:p>
            <a:endParaRPr lang="en-US"/>
          </a:p>
        </p:txBody>
      </p:sp>
      <p:sp>
        <p:nvSpPr>
          <p:cNvPr id="45" name="Text 43">
            <a:hlinkClick r:id="rId5" action="ppaction://hlinksldjump"/>
          </p:cNvPr>
          <p:cNvSpPr/>
          <p:nvPr/>
        </p:nvSpPr>
        <p:spPr>
          <a:xfrm>
            <a:off x="2359152" y="3474720"/>
            <a:ext cx="1170432" cy="109728"/>
          </a:xfrm>
          <a:prstGeom prst="rect">
            <a:avLst/>
          </a:prstGeom>
          <a:noFill/>
          <a:ln/>
        </p:spPr>
        <p:txBody>
          <a:bodyPr wrap="square" lIns="381" tIns="381" rIns="381" bIns="381" rtlCol="0" anchor="ctr">
            <a:normAutofit/>
          </a:bodyPr>
          <a:lstStyle/>
          <a:p>
            <a:pPr marL="0" indent="0" algn="ctr">
              <a:buNone/>
            </a:pPr>
            <a:r>
              <a:rPr lang="en-US" sz="640" b="1" u="sng" dirty="0">
                <a:solidFill>
                  <a:srgbClr val="FFFFFF"/>
                </a:solidFill>
                <a:latin typeface="Arial" pitchFamily="34" charset="0"/>
                <a:ea typeface="Arial" pitchFamily="34" charset="-122"/>
                <a:cs typeface="Arial" pitchFamily="34" charset="-120"/>
                <a:hlinkClick r:id="rId5" action="ppaction://hlinksldjump">
                  <a:extLst>
                    <a:ext uri="{A12FA001-AC4F-418D-AE19-62706E023703}">
                      <ahyp:hlinkClr xmlns:ahyp="http://schemas.microsoft.com/office/drawing/2018/hyperlinkcolor" val="tx"/>
                    </a:ext>
                  </a:extLst>
                </a:hlinkClick>
              </a:rPr>
              <a:t>Rooms &amp; Pricing</a:t>
            </a:r>
            <a:endParaRPr lang="en-US" sz="640" dirty="0"/>
          </a:p>
        </p:txBody>
      </p:sp>
      <p:sp>
        <p:nvSpPr>
          <p:cNvPr id="46" name="Shape 44"/>
          <p:cNvSpPr/>
          <p:nvPr/>
        </p:nvSpPr>
        <p:spPr>
          <a:xfrm>
            <a:off x="3730752" y="3447288"/>
            <a:ext cx="676656" cy="201168"/>
          </a:xfrm>
          <a:prstGeom prst="roundRect">
            <a:avLst>
              <a:gd name="adj" fmla="val 36364"/>
            </a:avLst>
          </a:prstGeom>
          <a:solidFill>
            <a:srgbClr val="E0F0EF"/>
          </a:solidFill>
          <a:ln w="12700">
            <a:solidFill>
              <a:srgbClr val="E0F0EF">
                <a:alpha val="0"/>
              </a:srgbClr>
            </a:solidFill>
            <a:prstDash val="solid"/>
          </a:ln>
        </p:spPr>
        <p:txBody>
          <a:bodyPr/>
          <a:lstStyle/>
          <a:p>
            <a:endParaRPr lang="en-US"/>
          </a:p>
        </p:txBody>
      </p:sp>
      <p:sp>
        <p:nvSpPr>
          <p:cNvPr id="47" name="Text 45"/>
          <p:cNvSpPr/>
          <p:nvPr/>
        </p:nvSpPr>
        <p:spPr>
          <a:xfrm>
            <a:off x="3758184" y="3502152"/>
            <a:ext cx="621792" cy="91440"/>
          </a:xfrm>
          <a:prstGeom prst="rect">
            <a:avLst/>
          </a:prstGeom>
          <a:noFill/>
          <a:ln/>
        </p:spPr>
        <p:txBody>
          <a:bodyPr wrap="square" lIns="381" tIns="381" rIns="381" bIns="381" rtlCol="0" anchor="ctr">
            <a:normAutofit/>
          </a:bodyPr>
          <a:lstStyle/>
          <a:p>
            <a:pPr marL="0" indent="0" algn="ctr">
              <a:buNone/>
            </a:pPr>
            <a:r>
              <a:rPr lang="en-US" sz="540" b="1" dirty="0">
                <a:solidFill>
                  <a:srgbClr val="276F7B"/>
                </a:solidFill>
                <a:latin typeface="Arial" pitchFamily="34" charset="0"/>
                <a:ea typeface="Arial" pitchFamily="34" charset="-122"/>
                <a:cs typeface="Arial" pitchFamily="34" charset="-120"/>
              </a:rPr>
              <a:t>4 Room Types</a:t>
            </a:r>
            <a:endParaRPr lang="en-US" sz="540" dirty="0"/>
          </a:p>
        </p:txBody>
      </p:sp>
      <p:sp>
        <p:nvSpPr>
          <p:cNvPr id="48" name="Shape 46"/>
          <p:cNvSpPr/>
          <p:nvPr/>
        </p:nvSpPr>
        <p:spPr>
          <a:xfrm>
            <a:off x="4498848" y="3447288"/>
            <a:ext cx="768096" cy="201168"/>
          </a:xfrm>
          <a:prstGeom prst="roundRect">
            <a:avLst>
              <a:gd name="adj" fmla="val 36364"/>
            </a:avLst>
          </a:prstGeom>
          <a:solidFill>
            <a:srgbClr val="E0F0EF"/>
          </a:solidFill>
          <a:ln w="12700">
            <a:solidFill>
              <a:srgbClr val="E0F0EF">
                <a:alpha val="0"/>
              </a:srgbClr>
            </a:solidFill>
            <a:prstDash val="solid"/>
          </a:ln>
        </p:spPr>
        <p:txBody>
          <a:bodyPr/>
          <a:lstStyle/>
          <a:p>
            <a:endParaRPr lang="en-US"/>
          </a:p>
        </p:txBody>
      </p:sp>
      <p:sp>
        <p:nvSpPr>
          <p:cNvPr id="49" name="Text 47"/>
          <p:cNvSpPr/>
          <p:nvPr/>
        </p:nvSpPr>
        <p:spPr>
          <a:xfrm>
            <a:off x="4526280" y="3502152"/>
            <a:ext cx="713232" cy="91440"/>
          </a:xfrm>
          <a:prstGeom prst="rect">
            <a:avLst/>
          </a:prstGeom>
          <a:noFill/>
          <a:ln/>
        </p:spPr>
        <p:txBody>
          <a:bodyPr wrap="square" lIns="381" tIns="381" rIns="381" bIns="381" rtlCol="0" anchor="ctr">
            <a:normAutofit/>
          </a:bodyPr>
          <a:lstStyle/>
          <a:p>
            <a:pPr marL="0" indent="0" algn="ctr">
              <a:buNone/>
            </a:pPr>
            <a:r>
              <a:rPr lang="en-US" sz="540" b="1" dirty="0">
                <a:solidFill>
                  <a:srgbClr val="276F7B"/>
                </a:solidFill>
                <a:latin typeface="Arial" pitchFamily="34" charset="0"/>
                <a:ea typeface="Arial" pitchFamily="34" charset="-122"/>
                <a:cs typeface="Arial" pitchFamily="34" charset="-120"/>
              </a:rPr>
              <a:t>Family Friendly</a:t>
            </a:r>
            <a:endParaRPr lang="en-US" sz="540" dirty="0"/>
          </a:p>
        </p:txBody>
      </p:sp>
      <p:sp>
        <p:nvSpPr>
          <p:cNvPr id="50" name="Shape 48"/>
          <p:cNvSpPr/>
          <p:nvPr/>
        </p:nvSpPr>
        <p:spPr>
          <a:xfrm>
            <a:off x="6259068" y="2093976"/>
            <a:ext cx="4434840" cy="1664208"/>
          </a:xfrm>
          <a:prstGeom prst="roundRect">
            <a:avLst>
              <a:gd name="adj" fmla="val 8791"/>
            </a:avLst>
          </a:prstGeom>
          <a:solidFill>
            <a:srgbClr val="132133"/>
          </a:solidFill>
          <a:ln w="12700">
            <a:solidFill>
              <a:srgbClr val="132133"/>
            </a:solidFill>
            <a:prstDash val="solid"/>
          </a:ln>
          <a:effectLst>
            <a:outerShdw blurRad="12700" dist="10160" dir="2700000" algn="bl" rotWithShape="0">
              <a:srgbClr val="132133">
                <a:alpha val="12000"/>
              </a:srgbClr>
            </a:outerShdw>
          </a:effectLst>
        </p:spPr>
        <p:txBody>
          <a:bodyPr/>
          <a:lstStyle/>
          <a:p>
            <a:endParaRPr lang="en-US"/>
          </a:p>
        </p:txBody>
      </p:sp>
      <p:sp>
        <p:nvSpPr>
          <p:cNvPr id="52" name="Text 50"/>
          <p:cNvSpPr/>
          <p:nvPr/>
        </p:nvSpPr>
        <p:spPr>
          <a:xfrm>
            <a:off x="6583680" y="3044952"/>
            <a:ext cx="3749040" cy="274320"/>
          </a:xfrm>
          <a:prstGeom prst="rect">
            <a:avLst/>
          </a:prstGeom>
          <a:noFill/>
          <a:ln/>
        </p:spPr>
        <p:txBody>
          <a:bodyPr wrap="square" lIns="381" tIns="381" rIns="381" bIns="381" rtlCol="0" anchor="ctr">
            <a:normAutofit/>
          </a:bodyPr>
          <a:lstStyle/>
          <a:p>
            <a:pPr marL="0" indent="0" algn="l">
              <a:buNone/>
            </a:pPr>
            <a:r>
              <a:rPr lang="en-US" sz="1300" dirty="0">
                <a:solidFill>
                  <a:srgbClr val="FFFFFF"/>
                </a:solidFill>
                <a:latin typeface="Georgia" pitchFamily="34" charset="0"/>
                <a:ea typeface="Georgia" pitchFamily="34" charset="-122"/>
                <a:cs typeface="Georgia" pitchFamily="34" charset="-120"/>
              </a:rPr>
              <a:t>Wake Up to Salt Air and Quiet Water</a:t>
            </a:r>
            <a:endParaRPr lang="en-US" sz="1300" dirty="0"/>
          </a:p>
        </p:txBody>
      </p:sp>
      <p:sp>
        <p:nvSpPr>
          <p:cNvPr id="53" name="Text 51"/>
          <p:cNvSpPr/>
          <p:nvPr/>
        </p:nvSpPr>
        <p:spPr>
          <a:xfrm>
            <a:off x="6583680" y="3355848"/>
            <a:ext cx="3657600" cy="201168"/>
          </a:xfrm>
          <a:prstGeom prst="rect">
            <a:avLst/>
          </a:prstGeom>
          <a:noFill/>
          <a:ln/>
        </p:spPr>
        <p:txBody>
          <a:bodyPr wrap="square" lIns="381" tIns="381" rIns="381" bIns="381" rtlCol="0" anchor="ctr">
            <a:normAutofit/>
          </a:bodyPr>
          <a:lstStyle/>
          <a:p>
            <a:pPr marL="0" indent="0" algn="l">
              <a:buNone/>
            </a:pPr>
            <a:r>
              <a:rPr lang="en-US" sz="660" dirty="0">
                <a:solidFill>
                  <a:srgbClr val="FFFFFF"/>
                </a:solidFill>
                <a:latin typeface="Arial" pitchFamily="34" charset="0"/>
                <a:ea typeface="Arial" pitchFamily="34" charset="-122"/>
                <a:cs typeface="Arial" pitchFamily="34" charset="-120"/>
              </a:rPr>
              <a:t>Hike, kayak, whale watch, or scuba dive, then return to a comfortable room.</a:t>
            </a:r>
            <a:endParaRPr lang="en-US" sz="660" dirty="0"/>
          </a:p>
        </p:txBody>
      </p:sp>
      <p:sp>
        <p:nvSpPr>
          <p:cNvPr id="54" name="Text 52"/>
          <p:cNvSpPr/>
          <p:nvPr/>
        </p:nvSpPr>
        <p:spPr>
          <a:xfrm>
            <a:off x="822960" y="4078224"/>
            <a:ext cx="5486400" cy="146304"/>
          </a:xfrm>
          <a:prstGeom prst="rect">
            <a:avLst/>
          </a:prstGeom>
          <a:noFill/>
          <a:ln/>
        </p:spPr>
        <p:txBody>
          <a:bodyPr wrap="square" lIns="381" tIns="381" rIns="381" bIns="381" rtlCol="0" anchor="ctr">
            <a:normAutofit/>
          </a:bodyPr>
          <a:lstStyle/>
          <a:p>
            <a:pPr marL="0" indent="0" algn="l">
              <a:buNone/>
            </a:pPr>
            <a:r>
              <a:rPr lang="en-US" sz="680" b="1" dirty="0">
                <a:solidFill>
                  <a:srgbClr val="276F7B"/>
                </a:solidFill>
                <a:latin typeface="Arial" pitchFamily="34" charset="0"/>
                <a:ea typeface="Arial" pitchFamily="34" charset="-122"/>
                <a:cs typeface="Arial" pitchFamily="34" charset="-120"/>
              </a:rPr>
              <a:t>STAY YOUR WAY</a:t>
            </a:r>
            <a:endParaRPr lang="en-US" sz="680" dirty="0"/>
          </a:p>
        </p:txBody>
      </p:sp>
      <p:sp>
        <p:nvSpPr>
          <p:cNvPr id="55" name="Text 53"/>
          <p:cNvSpPr/>
          <p:nvPr/>
        </p:nvSpPr>
        <p:spPr>
          <a:xfrm>
            <a:off x="822960" y="4279392"/>
            <a:ext cx="5486400" cy="256032"/>
          </a:xfrm>
          <a:prstGeom prst="rect">
            <a:avLst/>
          </a:prstGeom>
          <a:noFill/>
          <a:ln/>
        </p:spPr>
        <p:txBody>
          <a:bodyPr wrap="square" lIns="381" tIns="381" rIns="381" bIns="381" rtlCol="0" anchor="ctr">
            <a:normAutofit/>
          </a:bodyPr>
          <a:lstStyle/>
          <a:p>
            <a:pPr marL="0" indent="0" algn="l">
              <a:buNone/>
            </a:pPr>
            <a:r>
              <a:rPr lang="en-US" sz="1400" dirty="0">
                <a:solidFill>
                  <a:srgbClr val="132133"/>
                </a:solidFill>
                <a:latin typeface="Georgia" pitchFamily="34" charset="0"/>
                <a:ea typeface="Georgia" pitchFamily="34" charset="-122"/>
                <a:cs typeface="Georgia" pitchFamily="34" charset="-120"/>
              </a:rPr>
              <a:t>Find the Room That Fits Your Trip</a:t>
            </a:r>
            <a:endParaRPr lang="en-US" sz="1400" dirty="0"/>
          </a:p>
        </p:txBody>
      </p:sp>
      <p:sp>
        <p:nvSpPr>
          <p:cNvPr id="56" name="Text 54"/>
          <p:cNvSpPr/>
          <p:nvPr/>
        </p:nvSpPr>
        <p:spPr>
          <a:xfrm>
            <a:off x="822960" y="4553712"/>
            <a:ext cx="5486400" cy="201168"/>
          </a:xfrm>
          <a:prstGeom prst="rect">
            <a:avLst/>
          </a:prstGeom>
          <a:noFill/>
          <a:ln/>
        </p:spPr>
        <p:txBody>
          <a:bodyPr wrap="square" lIns="381" tIns="381" rIns="381" bIns="381" rtlCol="0" anchor="t">
            <a:normAutofit/>
          </a:bodyPr>
          <a:lstStyle/>
          <a:p>
            <a:pPr marL="0" indent="0" algn="l">
              <a:buNone/>
            </a:pPr>
            <a:r>
              <a:rPr lang="en-US" sz="650" dirty="0">
                <a:solidFill>
                  <a:srgbClr val="2A3B50"/>
                </a:solidFill>
                <a:latin typeface="Arial" pitchFamily="34" charset="0"/>
                <a:ea typeface="Arial" pitchFamily="34" charset="-122"/>
                <a:cs typeface="Arial" pitchFamily="34" charset="-120"/>
              </a:rPr>
              <a:t>Choose from four room types with clear nightly pricing.</a:t>
            </a:r>
            <a:endParaRPr lang="en-US" sz="650" dirty="0"/>
          </a:p>
        </p:txBody>
      </p:sp>
      <p:sp>
        <p:nvSpPr>
          <p:cNvPr id="57" name="Shape 55"/>
          <p:cNvSpPr/>
          <p:nvPr/>
        </p:nvSpPr>
        <p:spPr>
          <a:xfrm>
            <a:off x="822960" y="4764024"/>
            <a:ext cx="2240280" cy="987552"/>
          </a:xfrm>
          <a:prstGeom prst="roundRect">
            <a:avLst>
              <a:gd name="adj" fmla="val 9259"/>
            </a:avLst>
          </a:prstGeom>
          <a:solidFill>
            <a:srgbClr val="FFFFFF">
              <a:alpha val="90000"/>
            </a:srgbClr>
          </a:solidFill>
          <a:ln w="12700">
            <a:solidFill>
              <a:srgbClr val="E9DFCF">
                <a:alpha val="90000"/>
              </a:srgbClr>
            </a:solidFill>
            <a:prstDash val="solid"/>
          </a:ln>
          <a:effectLst>
            <a:outerShdw blurRad="12700" dist="8890" dir="2700000" algn="bl" rotWithShape="0">
              <a:srgbClr val="132133">
                <a:alpha val="7000"/>
              </a:srgbClr>
            </a:outerShdw>
          </a:effectLst>
        </p:spPr>
        <p:txBody>
          <a:bodyPr/>
          <a:lstStyle/>
          <a:p>
            <a:endParaRPr lang="en-US"/>
          </a:p>
        </p:txBody>
      </p:sp>
      <p:sp>
        <p:nvSpPr>
          <p:cNvPr id="58" name="Text 56"/>
          <p:cNvSpPr/>
          <p:nvPr/>
        </p:nvSpPr>
        <p:spPr>
          <a:xfrm>
            <a:off x="950976" y="4882896"/>
            <a:ext cx="640080" cy="109728"/>
          </a:xfrm>
          <a:prstGeom prst="rect">
            <a:avLst/>
          </a:prstGeom>
          <a:noFill/>
          <a:ln/>
        </p:spPr>
        <p:txBody>
          <a:bodyPr wrap="square" lIns="381" tIns="381" rIns="381" bIns="381" rtlCol="0" anchor="ctr">
            <a:normAutofit/>
          </a:bodyPr>
          <a:lstStyle/>
          <a:p>
            <a:pPr marL="0" indent="0" algn="l">
              <a:buNone/>
            </a:pPr>
            <a:r>
              <a:rPr lang="en-US" sz="560" b="1" dirty="0">
                <a:solidFill>
                  <a:srgbClr val="CDA059"/>
                </a:solidFill>
                <a:latin typeface="Arial" pitchFamily="34" charset="0"/>
                <a:ea typeface="Arial" pitchFamily="34" charset="-122"/>
                <a:cs typeface="Arial" pitchFamily="34" charset="-120"/>
              </a:rPr>
              <a:t>01</a:t>
            </a:r>
            <a:endParaRPr lang="en-US" sz="560" dirty="0"/>
          </a:p>
        </p:txBody>
      </p:sp>
      <p:sp>
        <p:nvSpPr>
          <p:cNvPr id="59" name="Text 57"/>
          <p:cNvSpPr/>
          <p:nvPr/>
        </p:nvSpPr>
        <p:spPr>
          <a:xfrm>
            <a:off x="950976" y="5074920"/>
            <a:ext cx="1984248" cy="274320"/>
          </a:xfrm>
          <a:prstGeom prst="rect">
            <a:avLst/>
          </a:prstGeom>
          <a:noFill/>
          <a:ln/>
        </p:spPr>
        <p:txBody>
          <a:bodyPr wrap="square" lIns="381" tIns="381" rIns="381" bIns="381" rtlCol="0" anchor="ctr">
            <a:normAutofit/>
          </a:bodyPr>
          <a:lstStyle/>
          <a:p>
            <a:pPr marL="0" indent="0" algn="l">
              <a:buNone/>
            </a:pPr>
            <a:r>
              <a:rPr lang="en-US" sz="1230" dirty="0">
                <a:solidFill>
                  <a:srgbClr val="132133"/>
                </a:solidFill>
                <a:latin typeface="Georgia" pitchFamily="34" charset="0"/>
                <a:ea typeface="Georgia" pitchFamily="34" charset="-122"/>
                <a:cs typeface="Georgia" pitchFamily="34" charset="-120"/>
              </a:rPr>
              <a:t>Double Full Beds</a:t>
            </a:r>
            <a:endParaRPr lang="en-US" sz="1230" dirty="0"/>
          </a:p>
        </p:txBody>
      </p:sp>
      <p:sp>
        <p:nvSpPr>
          <p:cNvPr id="60" name="Text 58"/>
          <p:cNvSpPr/>
          <p:nvPr/>
        </p:nvSpPr>
        <p:spPr>
          <a:xfrm>
            <a:off x="950976" y="5422392"/>
            <a:ext cx="1984248" cy="384048"/>
          </a:xfrm>
          <a:prstGeom prst="rect">
            <a:avLst/>
          </a:prstGeom>
          <a:noFill/>
          <a:ln/>
        </p:spPr>
        <p:txBody>
          <a:bodyPr wrap="square" lIns="381" tIns="381" rIns="381" bIns="381" rtlCol="0" anchor="t">
            <a:normAutofit/>
          </a:bodyPr>
          <a:lstStyle/>
          <a:p>
            <a:pPr marL="0" indent="0" algn="l">
              <a:buNone/>
            </a:pPr>
            <a:r>
              <a:rPr lang="en-US" sz="680" dirty="0">
                <a:solidFill>
                  <a:srgbClr val="2A3B50"/>
                </a:solidFill>
                <a:latin typeface="Arial" pitchFamily="34" charset="0"/>
                <a:ea typeface="Arial" pitchFamily="34" charset="-122"/>
                <a:cs typeface="Arial" pitchFamily="34" charset="-120"/>
              </a:rPr>
              <a:t>Families and small groups.</a:t>
            </a:r>
            <a:endParaRPr lang="en-US" sz="680" dirty="0"/>
          </a:p>
        </p:txBody>
      </p:sp>
      <p:sp>
        <p:nvSpPr>
          <p:cNvPr id="61" name="Text 59"/>
          <p:cNvSpPr/>
          <p:nvPr/>
        </p:nvSpPr>
        <p:spPr>
          <a:xfrm>
            <a:off x="950976" y="5539000"/>
            <a:ext cx="1984248" cy="128016"/>
          </a:xfrm>
          <a:prstGeom prst="rect">
            <a:avLst/>
          </a:prstGeom>
          <a:noFill/>
          <a:ln/>
        </p:spPr>
        <p:txBody>
          <a:bodyPr wrap="square" lIns="381" tIns="381" rIns="381" bIns="381" rtlCol="0" anchor="ctr">
            <a:normAutofit/>
          </a:bodyPr>
          <a:lstStyle/>
          <a:p>
            <a:pPr marL="0" indent="0" algn="l">
              <a:buNone/>
            </a:pPr>
            <a:r>
              <a:rPr lang="en-US" sz="640" b="1" dirty="0">
                <a:solidFill>
                  <a:srgbClr val="276F7B"/>
                </a:solidFill>
                <a:latin typeface="Arial" pitchFamily="34" charset="0"/>
                <a:ea typeface="Arial" pitchFamily="34" charset="-122"/>
                <a:cs typeface="Arial" pitchFamily="34" charset="-120"/>
              </a:rPr>
              <a:t>$120 / night</a:t>
            </a:r>
            <a:endParaRPr lang="en-US" sz="640" dirty="0"/>
          </a:p>
        </p:txBody>
      </p:sp>
      <p:sp>
        <p:nvSpPr>
          <p:cNvPr id="62" name="Shape 60"/>
          <p:cNvSpPr/>
          <p:nvPr/>
        </p:nvSpPr>
        <p:spPr>
          <a:xfrm>
            <a:off x="3227832" y="4764024"/>
            <a:ext cx="2240280" cy="987552"/>
          </a:xfrm>
          <a:prstGeom prst="roundRect">
            <a:avLst>
              <a:gd name="adj" fmla="val 9259"/>
            </a:avLst>
          </a:prstGeom>
          <a:solidFill>
            <a:srgbClr val="FFFFFF">
              <a:alpha val="90000"/>
            </a:srgbClr>
          </a:solidFill>
          <a:ln w="12700">
            <a:solidFill>
              <a:srgbClr val="E9DFCF">
                <a:alpha val="90000"/>
              </a:srgbClr>
            </a:solidFill>
            <a:prstDash val="solid"/>
          </a:ln>
          <a:effectLst>
            <a:outerShdw blurRad="12700" dist="8890" dir="2700000" algn="bl" rotWithShape="0">
              <a:srgbClr val="132133">
                <a:alpha val="7000"/>
              </a:srgbClr>
            </a:outerShdw>
          </a:effectLst>
        </p:spPr>
        <p:txBody>
          <a:bodyPr/>
          <a:lstStyle/>
          <a:p>
            <a:endParaRPr lang="en-US"/>
          </a:p>
        </p:txBody>
      </p:sp>
      <p:sp>
        <p:nvSpPr>
          <p:cNvPr id="63" name="Text 61"/>
          <p:cNvSpPr/>
          <p:nvPr/>
        </p:nvSpPr>
        <p:spPr>
          <a:xfrm>
            <a:off x="3355848" y="4882896"/>
            <a:ext cx="640080" cy="109728"/>
          </a:xfrm>
          <a:prstGeom prst="rect">
            <a:avLst/>
          </a:prstGeom>
          <a:noFill/>
          <a:ln/>
        </p:spPr>
        <p:txBody>
          <a:bodyPr wrap="square" lIns="381" tIns="381" rIns="381" bIns="381" rtlCol="0" anchor="ctr">
            <a:normAutofit/>
          </a:bodyPr>
          <a:lstStyle/>
          <a:p>
            <a:pPr marL="0" indent="0" algn="l">
              <a:buNone/>
            </a:pPr>
            <a:r>
              <a:rPr lang="en-US" sz="560" b="1" dirty="0">
                <a:solidFill>
                  <a:srgbClr val="CDA059"/>
                </a:solidFill>
                <a:latin typeface="Arial" pitchFamily="34" charset="0"/>
                <a:ea typeface="Arial" pitchFamily="34" charset="-122"/>
                <a:cs typeface="Arial" pitchFamily="34" charset="-120"/>
              </a:rPr>
              <a:t>02</a:t>
            </a:r>
            <a:endParaRPr lang="en-US" sz="560" dirty="0"/>
          </a:p>
        </p:txBody>
      </p:sp>
      <p:sp>
        <p:nvSpPr>
          <p:cNvPr id="64" name="Shape 62"/>
          <p:cNvSpPr/>
          <p:nvPr/>
        </p:nvSpPr>
        <p:spPr>
          <a:xfrm>
            <a:off x="4645152" y="4873752"/>
            <a:ext cx="640080" cy="182880"/>
          </a:xfrm>
          <a:prstGeom prst="roundRect">
            <a:avLst>
              <a:gd name="adj" fmla="val 30000"/>
            </a:avLst>
          </a:prstGeom>
          <a:solidFill>
            <a:srgbClr val="DFB66E"/>
          </a:solidFill>
          <a:ln w="12700">
            <a:solidFill>
              <a:srgbClr val="DFB66E"/>
            </a:solidFill>
            <a:prstDash val="solid"/>
          </a:ln>
        </p:spPr>
        <p:txBody>
          <a:bodyPr/>
          <a:lstStyle/>
          <a:p>
            <a:endParaRPr lang="en-US"/>
          </a:p>
        </p:txBody>
      </p:sp>
      <p:sp>
        <p:nvSpPr>
          <p:cNvPr id="65" name="Text 63"/>
          <p:cNvSpPr/>
          <p:nvPr/>
        </p:nvSpPr>
        <p:spPr>
          <a:xfrm>
            <a:off x="4681728" y="4919472"/>
            <a:ext cx="566928" cy="73152"/>
          </a:xfrm>
          <a:prstGeom prst="rect">
            <a:avLst/>
          </a:prstGeom>
          <a:noFill/>
          <a:ln/>
        </p:spPr>
        <p:txBody>
          <a:bodyPr wrap="square" lIns="381" tIns="381" rIns="381" bIns="381" rtlCol="0" anchor="ctr">
            <a:normAutofit/>
          </a:bodyPr>
          <a:lstStyle/>
          <a:p>
            <a:pPr marL="0" indent="0" algn="ctr">
              <a:buNone/>
            </a:pPr>
            <a:r>
              <a:rPr lang="en-US" sz="420" b="1" dirty="0">
                <a:solidFill>
                  <a:srgbClr val="132133"/>
                </a:solidFill>
                <a:latin typeface="Arial" pitchFamily="34" charset="0"/>
                <a:ea typeface="Arial" pitchFamily="34" charset="-122"/>
                <a:cs typeface="Arial" pitchFamily="34" charset="-120"/>
              </a:rPr>
              <a:t>POPULAR</a:t>
            </a:r>
            <a:endParaRPr lang="en-US" sz="420" dirty="0"/>
          </a:p>
        </p:txBody>
      </p:sp>
      <p:sp>
        <p:nvSpPr>
          <p:cNvPr id="66" name="Text 64"/>
          <p:cNvSpPr/>
          <p:nvPr/>
        </p:nvSpPr>
        <p:spPr>
          <a:xfrm>
            <a:off x="3355848" y="5074920"/>
            <a:ext cx="1984248" cy="274320"/>
          </a:xfrm>
          <a:prstGeom prst="rect">
            <a:avLst/>
          </a:prstGeom>
          <a:noFill/>
          <a:ln/>
        </p:spPr>
        <p:txBody>
          <a:bodyPr wrap="square" lIns="381" tIns="381" rIns="381" bIns="381" rtlCol="0" anchor="ctr">
            <a:normAutofit/>
          </a:bodyPr>
          <a:lstStyle/>
          <a:p>
            <a:pPr marL="0" indent="0" algn="l">
              <a:buNone/>
            </a:pPr>
            <a:r>
              <a:rPr lang="en-US" sz="1230" dirty="0">
                <a:solidFill>
                  <a:srgbClr val="132133"/>
                </a:solidFill>
                <a:latin typeface="Georgia" pitchFamily="34" charset="0"/>
                <a:ea typeface="Georgia" pitchFamily="34" charset="-122"/>
                <a:cs typeface="Georgia" pitchFamily="34" charset="-120"/>
              </a:rPr>
              <a:t>Queen</a:t>
            </a:r>
            <a:endParaRPr lang="en-US" sz="1230" dirty="0"/>
          </a:p>
        </p:txBody>
      </p:sp>
      <p:sp>
        <p:nvSpPr>
          <p:cNvPr id="67" name="Text 65"/>
          <p:cNvSpPr/>
          <p:nvPr/>
        </p:nvSpPr>
        <p:spPr>
          <a:xfrm>
            <a:off x="3355848" y="5422392"/>
            <a:ext cx="1984248" cy="384048"/>
          </a:xfrm>
          <a:prstGeom prst="rect">
            <a:avLst/>
          </a:prstGeom>
          <a:noFill/>
          <a:ln/>
        </p:spPr>
        <p:txBody>
          <a:bodyPr wrap="square" lIns="381" tIns="381" rIns="381" bIns="381" rtlCol="0" anchor="t">
            <a:normAutofit/>
          </a:bodyPr>
          <a:lstStyle/>
          <a:p>
            <a:pPr marL="0" indent="0" algn="l">
              <a:buNone/>
            </a:pPr>
            <a:r>
              <a:rPr lang="en-US" sz="680" dirty="0">
                <a:solidFill>
                  <a:srgbClr val="2A3B50"/>
                </a:solidFill>
                <a:latin typeface="Arial" pitchFamily="34" charset="0"/>
                <a:ea typeface="Arial" pitchFamily="34" charset="-122"/>
                <a:cs typeface="Arial" pitchFamily="34" charset="-120"/>
              </a:rPr>
              <a:t>Couples or solo travelers.</a:t>
            </a:r>
            <a:endParaRPr lang="en-US" sz="680" dirty="0"/>
          </a:p>
        </p:txBody>
      </p:sp>
      <p:sp>
        <p:nvSpPr>
          <p:cNvPr id="68" name="Text 66"/>
          <p:cNvSpPr/>
          <p:nvPr/>
        </p:nvSpPr>
        <p:spPr>
          <a:xfrm>
            <a:off x="3355848" y="5539000"/>
            <a:ext cx="1984248" cy="128016"/>
          </a:xfrm>
          <a:prstGeom prst="rect">
            <a:avLst/>
          </a:prstGeom>
          <a:noFill/>
          <a:ln/>
        </p:spPr>
        <p:txBody>
          <a:bodyPr wrap="square" lIns="381" tIns="381" rIns="381" bIns="381" rtlCol="0" anchor="ctr">
            <a:normAutofit/>
          </a:bodyPr>
          <a:lstStyle/>
          <a:p>
            <a:pPr marL="0" indent="0" algn="l">
              <a:buNone/>
            </a:pPr>
            <a:r>
              <a:rPr lang="en-US" sz="640" b="1" dirty="0">
                <a:solidFill>
                  <a:srgbClr val="276F7B"/>
                </a:solidFill>
                <a:latin typeface="Arial" pitchFamily="34" charset="0"/>
                <a:ea typeface="Arial" pitchFamily="34" charset="-122"/>
                <a:cs typeface="Arial" pitchFamily="34" charset="-120"/>
              </a:rPr>
              <a:t>$135 / night</a:t>
            </a:r>
            <a:endParaRPr lang="en-US" sz="640" dirty="0"/>
          </a:p>
        </p:txBody>
      </p:sp>
      <p:sp>
        <p:nvSpPr>
          <p:cNvPr id="69" name="Shape 67"/>
          <p:cNvSpPr/>
          <p:nvPr/>
        </p:nvSpPr>
        <p:spPr>
          <a:xfrm>
            <a:off x="5632704" y="4764024"/>
            <a:ext cx="2240280" cy="987552"/>
          </a:xfrm>
          <a:prstGeom prst="roundRect">
            <a:avLst>
              <a:gd name="adj" fmla="val 9259"/>
            </a:avLst>
          </a:prstGeom>
          <a:solidFill>
            <a:srgbClr val="FFFFFF">
              <a:alpha val="90000"/>
            </a:srgbClr>
          </a:solidFill>
          <a:ln w="12700">
            <a:solidFill>
              <a:srgbClr val="E9DFCF">
                <a:alpha val="90000"/>
              </a:srgbClr>
            </a:solidFill>
            <a:prstDash val="solid"/>
          </a:ln>
          <a:effectLst>
            <a:outerShdw blurRad="12700" dist="8890" dir="2700000" algn="bl" rotWithShape="0">
              <a:srgbClr val="132133">
                <a:alpha val="7000"/>
              </a:srgbClr>
            </a:outerShdw>
          </a:effectLst>
        </p:spPr>
        <p:txBody>
          <a:bodyPr/>
          <a:lstStyle/>
          <a:p>
            <a:endParaRPr lang="en-US"/>
          </a:p>
        </p:txBody>
      </p:sp>
      <p:sp>
        <p:nvSpPr>
          <p:cNvPr id="70" name="Text 68"/>
          <p:cNvSpPr/>
          <p:nvPr/>
        </p:nvSpPr>
        <p:spPr>
          <a:xfrm>
            <a:off x="5760720" y="4882896"/>
            <a:ext cx="640080" cy="109728"/>
          </a:xfrm>
          <a:prstGeom prst="rect">
            <a:avLst/>
          </a:prstGeom>
          <a:noFill/>
          <a:ln/>
        </p:spPr>
        <p:txBody>
          <a:bodyPr wrap="square" lIns="381" tIns="381" rIns="381" bIns="381" rtlCol="0" anchor="ctr">
            <a:normAutofit/>
          </a:bodyPr>
          <a:lstStyle/>
          <a:p>
            <a:pPr marL="0" indent="0" algn="l">
              <a:buNone/>
            </a:pPr>
            <a:r>
              <a:rPr lang="en-US" sz="560" b="1" dirty="0">
                <a:solidFill>
                  <a:srgbClr val="CDA059"/>
                </a:solidFill>
                <a:latin typeface="Arial" pitchFamily="34" charset="0"/>
                <a:ea typeface="Arial" pitchFamily="34" charset="-122"/>
                <a:cs typeface="Arial" pitchFamily="34" charset="-120"/>
              </a:rPr>
              <a:t>03</a:t>
            </a:r>
            <a:endParaRPr lang="en-US" sz="560" dirty="0"/>
          </a:p>
        </p:txBody>
      </p:sp>
      <p:sp>
        <p:nvSpPr>
          <p:cNvPr id="71" name="Text 69"/>
          <p:cNvSpPr/>
          <p:nvPr/>
        </p:nvSpPr>
        <p:spPr>
          <a:xfrm>
            <a:off x="5760720" y="5074920"/>
            <a:ext cx="1984248" cy="274320"/>
          </a:xfrm>
          <a:prstGeom prst="rect">
            <a:avLst/>
          </a:prstGeom>
          <a:noFill/>
          <a:ln/>
        </p:spPr>
        <p:txBody>
          <a:bodyPr wrap="square" lIns="381" tIns="381" rIns="381" bIns="381" rtlCol="0" anchor="ctr">
            <a:normAutofit/>
          </a:bodyPr>
          <a:lstStyle/>
          <a:p>
            <a:pPr marL="0" indent="0" algn="l">
              <a:buNone/>
            </a:pPr>
            <a:r>
              <a:rPr lang="en-US" sz="1230" dirty="0">
                <a:solidFill>
                  <a:srgbClr val="132133"/>
                </a:solidFill>
                <a:latin typeface="Georgia" pitchFamily="34" charset="0"/>
                <a:ea typeface="Georgia" pitchFamily="34" charset="-122"/>
                <a:cs typeface="Georgia" pitchFamily="34" charset="-120"/>
              </a:rPr>
              <a:t>Double Queen Beds</a:t>
            </a:r>
            <a:endParaRPr lang="en-US" sz="1230" dirty="0"/>
          </a:p>
        </p:txBody>
      </p:sp>
      <p:sp>
        <p:nvSpPr>
          <p:cNvPr id="72" name="Text 70"/>
          <p:cNvSpPr/>
          <p:nvPr/>
        </p:nvSpPr>
        <p:spPr>
          <a:xfrm>
            <a:off x="5760720" y="5422392"/>
            <a:ext cx="1984248" cy="384048"/>
          </a:xfrm>
          <a:prstGeom prst="rect">
            <a:avLst/>
          </a:prstGeom>
          <a:noFill/>
          <a:ln/>
        </p:spPr>
        <p:txBody>
          <a:bodyPr wrap="square" lIns="381" tIns="381" rIns="381" bIns="381" rtlCol="0" anchor="t">
            <a:normAutofit/>
          </a:bodyPr>
          <a:lstStyle/>
          <a:p>
            <a:pPr marL="0" indent="0" algn="l">
              <a:buNone/>
            </a:pPr>
            <a:r>
              <a:rPr lang="en-US" sz="680" dirty="0">
                <a:solidFill>
                  <a:srgbClr val="2A3B50"/>
                </a:solidFill>
                <a:latin typeface="Arial" pitchFamily="34" charset="0"/>
                <a:ea typeface="Arial" pitchFamily="34" charset="-122"/>
                <a:cs typeface="Arial" pitchFamily="34" charset="-120"/>
              </a:rPr>
              <a:t>Larger travel groups.</a:t>
            </a:r>
            <a:endParaRPr lang="en-US" sz="680" dirty="0"/>
          </a:p>
        </p:txBody>
      </p:sp>
      <p:sp>
        <p:nvSpPr>
          <p:cNvPr id="73" name="Text 71"/>
          <p:cNvSpPr/>
          <p:nvPr/>
        </p:nvSpPr>
        <p:spPr>
          <a:xfrm>
            <a:off x="5760720" y="5539000"/>
            <a:ext cx="1984248" cy="128016"/>
          </a:xfrm>
          <a:prstGeom prst="rect">
            <a:avLst/>
          </a:prstGeom>
          <a:noFill/>
          <a:ln/>
        </p:spPr>
        <p:txBody>
          <a:bodyPr wrap="square" lIns="381" tIns="381" rIns="381" bIns="381" rtlCol="0" anchor="ctr">
            <a:normAutofit/>
          </a:bodyPr>
          <a:lstStyle/>
          <a:p>
            <a:pPr marL="0" indent="0" algn="l">
              <a:buNone/>
            </a:pPr>
            <a:r>
              <a:rPr lang="en-US" sz="640" b="1" dirty="0">
                <a:solidFill>
                  <a:srgbClr val="276F7B"/>
                </a:solidFill>
                <a:latin typeface="Arial" pitchFamily="34" charset="0"/>
                <a:ea typeface="Arial" pitchFamily="34" charset="-122"/>
                <a:cs typeface="Arial" pitchFamily="34" charset="-120"/>
              </a:rPr>
              <a:t>$150 / night</a:t>
            </a:r>
            <a:endParaRPr lang="en-US" sz="640" dirty="0"/>
          </a:p>
        </p:txBody>
      </p:sp>
      <p:sp>
        <p:nvSpPr>
          <p:cNvPr id="74" name="Shape 72"/>
          <p:cNvSpPr/>
          <p:nvPr/>
        </p:nvSpPr>
        <p:spPr>
          <a:xfrm>
            <a:off x="8037576" y="4764024"/>
            <a:ext cx="2240280" cy="987552"/>
          </a:xfrm>
          <a:prstGeom prst="roundRect">
            <a:avLst>
              <a:gd name="adj" fmla="val 9259"/>
            </a:avLst>
          </a:prstGeom>
          <a:solidFill>
            <a:srgbClr val="FFFFFF">
              <a:alpha val="90000"/>
            </a:srgbClr>
          </a:solidFill>
          <a:ln w="12700">
            <a:solidFill>
              <a:srgbClr val="E9DFCF">
                <a:alpha val="90000"/>
              </a:srgbClr>
            </a:solidFill>
            <a:prstDash val="solid"/>
          </a:ln>
          <a:effectLst>
            <a:outerShdw blurRad="12700" dist="8890" dir="2700000" algn="bl" rotWithShape="0">
              <a:srgbClr val="132133">
                <a:alpha val="7000"/>
              </a:srgbClr>
            </a:outerShdw>
          </a:effectLst>
        </p:spPr>
        <p:txBody>
          <a:bodyPr/>
          <a:lstStyle/>
          <a:p>
            <a:endParaRPr lang="en-US"/>
          </a:p>
        </p:txBody>
      </p:sp>
      <p:sp>
        <p:nvSpPr>
          <p:cNvPr id="75" name="Text 73"/>
          <p:cNvSpPr/>
          <p:nvPr/>
        </p:nvSpPr>
        <p:spPr>
          <a:xfrm>
            <a:off x="8165592" y="4882896"/>
            <a:ext cx="640080" cy="109728"/>
          </a:xfrm>
          <a:prstGeom prst="rect">
            <a:avLst/>
          </a:prstGeom>
          <a:noFill/>
          <a:ln/>
        </p:spPr>
        <p:txBody>
          <a:bodyPr wrap="square" lIns="381" tIns="381" rIns="381" bIns="381" rtlCol="0" anchor="ctr">
            <a:normAutofit/>
          </a:bodyPr>
          <a:lstStyle/>
          <a:p>
            <a:pPr marL="0" indent="0" algn="l">
              <a:buNone/>
            </a:pPr>
            <a:r>
              <a:rPr lang="en-US" sz="560" b="1" dirty="0">
                <a:solidFill>
                  <a:srgbClr val="CDA059"/>
                </a:solidFill>
                <a:latin typeface="Arial" pitchFamily="34" charset="0"/>
                <a:ea typeface="Arial" pitchFamily="34" charset="-122"/>
                <a:cs typeface="Arial" pitchFamily="34" charset="-120"/>
              </a:rPr>
              <a:t>04</a:t>
            </a:r>
            <a:endParaRPr lang="en-US" sz="560" dirty="0"/>
          </a:p>
        </p:txBody>
      </p:sp>
      <p:sp>
        <p:nvSpPr>
          <p:cNvPr id="76" name="Text 74"/>
          <p:cNvSpPr/>
          <p:nvPr/>
        </p:nvSpPr>
        <p:spPr>
          <a:xfrm>
            <a:off x="8165592" y="5074920"/>
            <a:ext cx="1984248" cy="274320"/>
          </a:xfrm>
          <a:prstGeom prst="rect">
            <a:avLst/>
          </a:prstGeom>
          <a:noFill/>
          <a:ln/>
        </p:spPr>
        <p:txBody>
          <a:bodyPr wrap="square" lIns="381" tIns="381" rIns="381" bIns="381" rtlCol="0" anchor="ctr">
            <a:normAutofit/>
          </a:bodyPr>
          <a:lstStyle/>
          <a:p>
            <a:pPr marL="0" indent="0" algn="l">
              <a:buNone/>
            </a:pPr>
            <a:r>
              <a:rPr lang="en-US" sz="1230" dirty="0">
                <a:solidFill>
                  <a:srgbClr val="132133"/>
                </a:solidFill>
                <a:latin typeface="Georgia" pitchFamily="34" charset="0"/>
                <a:ea typeface="Georgia" pitchFamily="34" charset="-122"/>
                <a:cs typeface="Georgia" pitchFamily="34" charset="-120"/>
              </a:rPr>
              <a:t>King</a:t>
            </a:r>
            <a:endParaRPr lang="en-US" sz="1230" dirty="0"/>
          </a:p>
        </p:txBody>
      </p:sp>
      <p:sp>
        <p:nvSpPr>
          <p:cNvPr id="77" name="Text 75"/>
          <p:cNvSpPr/>
          <p:nvPr/>
        </p:nvSpPr>
        <p:spPr>
          <a:xfrm>
            <a:off x="8165592" y="5422392"/>
            <a:ext cx="1984248" cy="384048"/>
          </a:xfrm>
          <a:prstGeom prst="rect">
            <a:avLst/>
          </a:prstGeom>
          <a:noFill/>
          <a:ln/>
        </p:spPr>
        <p:txBody>
          <a:bodyPr wrap="square" lIns="381" tIns="381" rIns="381" bIns="381" rtlCol="0" anchor="t">
            <a:normAutofit/>
          </a:bodyPr>
          <a:lstStyle/>
          <a:p>
            <a:pPr marL="0" indent="0" algn="l">
              <a:buNone/>
            </a:pPr>
            <a:r>
              <a:rPr lang="en-US" sz="680" dirty="0">
                <a:solidFill>
                  <a:srgbClr val="2A3B50"/>
                </a:solidFill>
                <a:latin typeface="Arial" pitchFamily="34" charset="0"/>
                <a:ea typeface="Arial" pitchFamily="34" charset="-122"/>
                <a:cs typeface="Arial" pitchFamily="34" charset="-120"/>
              </a:rPr>
              <a:t>Added sleeping space and comfort.</a:t>
            </a:r>
            <a:endParaRPr lang="en-US" sz="680" dirty="0"/>
          </a:p>
        </p:txBody>
      </p:sp>
      <p:sp>
        <p:nvSpPr>
          <p:cNvPr id="78" name="Text 76"/>
          <p:cNvSpPr/>
          <p:nvPr/>
        </p:nvSpPr>
        <p:spPr>
          <a:xfrm>
            <a:off x="8165592" y="5548832"/>
            <a:ext cx="1984248" cy="128016"/>
          </a:xfrm>
          <a:prstGeom prst="rect">
            <a:avLst/>
          </a:prstGeom>
          <a:noFill/>
          <a:ln/>
        </p:spPr>
        <p:txBody>
          <a:bodyPr wrap="square" lIns="381" tIns="381" rIns="381" bIns="381" rtlCol="0" anchor="ctr">
            <a:normAutofit/>
          </a:bodyPr>
          <a:lstStyle/>
          <a:p>
            <a:pPr marL="0" indent="0" algn="l">
              <a:buNone/>
            </a:pPr>
            <a:r>
              <a:rPr lang="en-US" sz="640" b="1" dirty="0">
                <a:solidFill>
                  <a:srgbClr val="276F7B"/>
                </a:solidFill>
                <a:latin typeface="Arial" pitchFamily="34" charset="0"/>
                <a:ea typeface="Arial" pitchFamily="34" charset="-122"/>
                <a:cs typeface="Arial" pitchFamily="34" charset="-120"/>
              </a:rPr>
              <a:t>$160 / night</a:t>
            </a:r>
            <a:endParaRPr lang="en-US" sz="640" dirty="0"/>
          </a:p>
        </p:txBody>
      </p:sp>
      <p:sp>
        <p:nvSpPr>
          <p:cNvPr id="79" name="Shape 77"/>
          <p:cNvSpPr/>
          <p:nvPr/>
        </p:nvSpPr>
        <p:spPr>
          <a:xfrm>
            <a:off x="822960" y="5806440"/>
            <a:ext cx="9921240" cy="475488"/>
          </a:xfrm>
          <a:prstGeom prst="roundRect">
            <a:avLst>
              <a:gd name="adj" fmla="val 19231"/>
            </a:avLst>
          </a:prstGeom>
          <a:solidFill>
            <a:srgbClr val="132133">
              <a:alpha val="98000"/>
            </a:srgbClr>
          </a:solidFill>
          <a:ln w="12700">
            <a:solidFill>
              <a:srgbClr val="132133"/>
            </a:solidFill>
            <a:prstDash val="solid"/>
          </a:ln>
        </p:spPr>
        <p:txBody>
          <a:bodyPr/>
          <a:lstStyle/>
          <a:p>
            <a:endParaRPr lang="en-US"/>
          </a:p>
        </p:txBody>
      </p:sp>
      <p:sp>
        <p:nvSpPr>
          <p:cNvPr id="80" name="Text 78"/>
          <p:cNvSpPr/>
          <p:nvPr/>
        </p:nvSpPr>
        <p:spPr>
          <a:xfrm>
            <a:off x="1051560" y="5961888"/>
            <a:ext cx="2651760" cy="128016"/>
          </a:xfrm>
          <a:prstGeom prst="rect">
            <a:avLst/>
          </a:prstGeom>
          <a:noFill/>
          <a:ln/>
        </p:spPr>
        <p:txBody>
          <a:bodyPr wrap="square" lIns="381" tIns="381" rIns="381" bIns="381" rtlCol="0" anchor="ctr">
            <a:normAutofit fontScale="92500" lnSpcReduction="10000"/>
          </a:bodyPr>
          <a:lstStyle/>
          <a:p>
            <a:pPr marL="0" indent="0" algn="l">
              <a:buNone/>
            </a:pPr>
            <a:r>
              <a:rPr lang="en-US" sz="1020" dirty="0">
                <a:solidFill>
                  <a:srgbClr val="FFFFFF"/>
                </a:solidFill>
                <a:latin typeface="Georgia" pitchFamily="34" charset="0"/>
                <a:ea typeface="Georgia" pitchFamily="34" charset="-122"/>
                <a:cs typeface="Georgia" pitchFamily="34" charset="-120"/>
              </a:rPr>
              <a:t>Adventure Is Right Outside Your Door</a:t>
            </a:r>
            <a:endParaRPr lang="en-US" sz="1020" dirty="0"/>
          </a:p>
        </p:txBody>
      </p:sp>
      <p:sp>
        <p:nvSpPr>
          <p:cNvPr id="81" name="Shape 79"/>
          <p:cNvSpPr/>
          <p:nvPr/>
        </p:nvSpPr>
        <p:spPr>
          <a:xfrm>
            <a:off x="3886200" y="5943600"/>
            <a:ext cx="1024128" cy="201168"/>
          </a:xfrm>
          <a:prstGeom prst="roundRect">
            <a:avLst>
              <a:gd name="adj" fmla="val 36364"/>
            </a:avLst>
          </a:prstGeom>
          <a:solidFill>
            <a:srgbClr val="FFFFFF">
              <a:alpha val="14000"/>
            </a:srgbClr>
          </a:solidFill>
          <a:ln w="12700">
            <a:solidFill>
              <a:srgbClr val="FFFFFF">
                <a:alpha val="0"/>
              </a:srgbClr>
            </a:solidFill>
            <a:prstDash val="solid"/>
          </a:ln>
        </p:spPr>
        <p:txBody>
          <a:bodyPr/>
          <a:lstStyle/>
          <a:p>
            <a:endParaRPr lang="en-US"/>
          </a:p>
        </p:txBody>
      </p:sp>
      <p:sp>
        <p:nvSpPr>
          <p:cNvPr id="82" name="Text 80"/>
          <p:cNvSpPr/>
          <p:nvPr/>
        </p:nvSpPr>
        <p:spPr>
          <a:xfrm>
            <a:off x="3913632" y="5998464"/>
            <a:ext cx="969264" cy="91440"/>
          </a:xfrm>
          <a:prstGeom prst="rect">
            <a:avLst/>
          </a:prstGeom>
          <a:noFill/>
          <a:ln/>
        </p:spPr>
        <p:txBody>
          <a:bodyPr wrap="square" lIns="381" tIns="381" rIns="381" bIns="381" rtlCol="0" anchor="ctr">
            <a:normAutofit/>
          </a:bodyPr>
          <a:lstStyle/>
          <a:p>
            <a:pPr marL="0" indent="0" algn="ctr">
              <a:buNone/>
            </a:pPr>
            <a:r>
              <a:rPr lang="en-US" sz="540" b="1" dirty="0">
                <a:solidFill>
                  <a:srgbClr val="FFFFFF"/>
                </a:solidFill>
                <a:latin typeface="Arial" pitchFamily="34" charset="0"/>
                <a:ea typeface="Arial" pitchFamily="34" charset="-122"/>
                <a:cs typeface="Arial" pitchFamily="34" charset="-120"/>
              </a:rPr>
              <a:t>Hiking</a:t>
            </a:r>
            <a:endParaRPr lang="en-US" sz="540" dirty="0"/>
          </a:p>
        </p:txBody>
      </p:sp>
      <p:sp>
        <p:nvSpPr>
          <p:cNvPr id="83" name="Shape 81"/>
          <p:cNvSpPr/>
          <p:nvPr/>
        </p:nvSpPr>
        <p:spPr>
          <a:xfrm>
            <a:off x="5120640" y="5943600"/>
            <a:ext cx="1024128" cy="201168"/>
          </a:xfrm>
          <a:prstGeom prst="roundRect">
            <a:avLst>
              <a:gd name="adj" fmla="val 36364"/>
            </a:avLst>
          </a:prstGeom>
          <a:solidFill>
            <a:srgbClr val="FFFFFF">
              <a:alpha val="14000"/>
            </a:srgbClr>
          </a:solidFill>
          <a:ln w="12700">
            <a:solidFill>
              <a:srgbClr val="FFFFFF">
                <a:alpha val="0"/>
              </a:srgbClr>
            </a:solidFill>
            <a:prstDash val="solid"/>
          </a:ln>
        </p:spPr>
        <p:txBody>
          <a:bodyPr/>
          <a:lstStyle/>
          <a:p>
            <a:endParaRPr lang="en-US"/>
          </a:p>
        </p:txBody>
      </p:sp>
      <p:sp>
        <p:nvSpPr>
          <p:cNvPr id="84" name="Text 82"/>
          <p:cNvSpPr/>
          <p:nvPr/>
        </p:nvSpPr>
        <p:spPr>
          <a:xfrm>
            <a:off x="5148072" y="5998464"/>
            <a:ext cx="969264" cy="91440"/>
          </a:xfrm>
          <a:prstGeom prst="rect">
            <a:avLst/>
          </a:prstGeom>
          <a:noFill/>
          <a:ln/>
        </p:spPr>
        <p:txBody>
          <a:bodyPr wrap="square" lIns="381" tIns="381" rIns="381" bIns="381" rtlCol="0" anchor="ctr">
            <a:normAutofit/>
          </a:bodyPr>
          <a:lstStyle/>
          <a:p>
            <a:pPr marL="0" indent="0" algn="ctr">
              <a:buNone/>
            </a:pPr>
            <a:r>
              <a:rPr lang="en-US" sz="540" b="1" dirty="0">
                <a:solidFill>
                  <a:srgbClr val="FFFFFF"/>
                </a:solidFill>
                <a:latin typeface="Arial" pitchFamily="34" charset="0"/>
                <a:ea typeface="Arial" pitchFamily="34" charset="-122"/>
                <a:cs typeface="Arial" pitchFamily="34" charset="-120"/>
              </a:rPr>
              <a:t>Kayaking</a:t>
            </a:r>
            <a:endParaRPr lang="en-US" sz="540" dirty="0"/>
          </a:p>
        </p:txBody>
      </p:sp>
      <p:sp>
        <p:nvSpPr>
          <p:cNvPr id="85" name="Shape 83"/>
          <p:cNvSpPr/>
          <p:nvPr/>
        </p:nvSpPr>
        <p:spPr>
          <a:xfrm>
            <a:off x="6355080" y="5943600"/>
            <a:ext cx="1024128" cy="201168"/>
          </a:xfrm>
          <a:prstGeom prst="roundRect">
            <a:avLst>
              <a:gd name="adj" fmla="val 36364"/>
            </a:avLst>
          </a:prstGeom>
          <a:solidFill>
            <a:srgbClr val="FFFFFF">
              <a:alpha val="14000"/>
            </a:srgbClr>
          </a:solidFill>
          <a:ln w="12700">
            <a:solidFill>
              <a:srgbClr val="FFFFFF">
                <a:alpha val="0"/>
              </a:srgbClr>
            </a:solidFill>
            <a:prstDash val="solid"/>
          </a:ln>
        </p:spPr>
        <p:txBody>
          <a:bodyPr/>
          <a:lstStyle/>
          <a:p>
            <a:endParaRPr lang="en-US"/>
          </a:p>
        </p:txBody>
      </p:sp>
      <p:sp>
        <p:nvSpPr>
          <p:cNvPr id="86" name="Text 84"/>
          <p:cNvSpPr/>
          <p:nvPr/>
        </p:nvSpPr>
        <p:spPr>
          <a:xfrm>
            <a:off x="6382512" y="5998464"/>
            <a:ext cx="969264" cy="91440"/>
          </a:xfrm>
          <a:prstGeom prst="rect">
            <a:avLst/>
          </a:prstGeom>
          <a:noFill/>
          <a:ln/>
        </p:spPr>
        <p:txBody>
          <a:bodyPr wrap="square" lIns="381" tIns="381" rIns="381" bIns="381" rtlCol="0" anchor="ctr">
            <a:normAutofit/>
          </a:bodyPr>
          <a:lstStyle/>
          <a:p>
            <a:pPr marL="0" indent="0" algn="ctr">
              <a:buNone/>
            </a:pPr>
            <a:r>
              <a:rPr lang="en-US" sz="540" b="1" dirty="0">
                <a:solidFill>
                  <a:srgbClr val="FFFFFF"/>
                </a:solidFill>
                <a:latin typeface="Arial" pitchFamily="34" charset="0"/>
                <a:ea typeface="Arial" pitchFamily="34" charset="-122"/>
                <a:cs typeface="Arial" pitchFamily="34" charset="-120"/>
              </a:rPr>
              <a:t>Whale Watching</a:t>
            </a:r>
            <a:endParaRPr lang="en-US" sz="540" dirty="0"/>
          </a:p>
        </p:txBody>
      </p:sp>
      <p:sp>
        <p:nvSpPr>
          <p:cNvPr id="87" name="Shape 85"/>
          <p:cNvSpPr/>
          <p:nvPr/>
        </p:nvSpPr>
        <p:spPr>
          <a:xfrm>
            <a:off x="7589520" y="5943600"/>
            <a:ext cx="1024128" cy="201168"/>
          </a:xfrm>
          <a:prstGeom prst="roundRect">
            <a:avLst>
              <a:gd name="adj" fmla="val 36364"/>
            </a:avLst>
          </a:prstGeom>
          <a:solidFill>
            <a:srgbClr val="FFFFFF">
              <a:alpha val="14000"/>
            </a:srgbClr>
          </a:solidFill>
          <a:ln w="12700">
            <a:solidFill>
              <a:srgbClr val="FFFFFF">
                <a:alpha val="0"/>
              </a:srgbClr>
            </a:solidFill>
            <a:prstDash val="solid"/>
          </a:ln>
        </p:spPr>
        <p:txBody>
          <a:bodyPr/>
          <a:lstStyle/>
          <a:p>
            <a:endParaRPr lang="en-US"/>
          </a:p>
        </p:txBody>
      </p:sp>
      <p:sp>
        <p:nvSpPr>
          <p:cNvPr id="88" name="Text 86"/>
          <p:cNvSpPr/>
          <p:nvPr/>
        </p:nvSpPr>
        <p:spPr>
          <a:xfrm>
            <a:off x="7616952" y="5998464"/>
            <a:ext cx="969264" cy="91440"/>
          </a:xfrm>
          <a:prstGeom prst="rect">
            <a:avLst/>
          </a:prstGeom>
          <a:noFill/>
          <a:ln/>
        </p:spPr>
        <p:txBody>
          <a:bodyPr wrap="square" lIns="381" tIns="381" rIns="381" bIns="381" rtlCol="0" anchor="ctr">
            <a:normAutofit/>
          </a:bodyPr>
          <a:lstStyle/>
          <a:p>
            <a:pPr marL="0" indent="0" algn="ctr">
              <a:buNone/>
            </a:pPr>
            <a:r>
              <a:rPr lang="en-US" sz="540" b="1" dirty="0">
                <a:solidFill>
                  <a:srgbClr val="FFFFFF"/>
                </a:solidFill>
                <a:latin typeface="Arial" pitchFamily="34" charset="0"/>
                <a:ea typeface="Arial" pitchFamily="34" charset="-122"/>
                <a:cs typeface="Arial" pitchFamily="34" charset="-120"/>
              </a:rPr>
              <a:t>Scuba Diving</a:t>
            </a:r>
            <a:endParaRPr lang="en-US" sz="540" dirty="0"/>
          </a:p>
        </p:txBody>
      </p:sp>
      <p:sp>
        <p:nvSpPr>
          <p:cNvPr id="89" name="Shape 87">
            <a:hlinkClick r:id="rId6" action="ppaction://hlinksldjump"/>
          </p:cNvPr>
          <p:cNvSpPr/>
          <p:nvPr/>
        </p:nvSpPr>
        <p:spPr>
          <a:xfrm>
            <a:off x="9052560" y="5916168"/>
            <a:ext cx="1152144" cy="310896"/>
          </a:xfrm>
          <a:prstGeom prst="roundRect">
            <a:avLst>
              <a:gd name="adj" fmla="val 35294"/>
            </a:avLst>
          </a:prstGeom>
          <a:solidFill>
            <a:srgbClr val="CDA059"/>
          </a:solidFill>
          <a:ln w="12700">
            <a:solidFill>
              <a:srgbClr val="CDA059">
                <a:alpha val="0"/>
              </a:srgbClr>
            </a:solidFill>
            <a:prstDash val="solid"/>
          </a:ln>
        </p:spPr>
        <p:txBody>
          <a:bodyPr/>
          <a:lstStyle/>
          <a:p>
            <a:endParaRPr lang="en-US"/>
          </a:p>
        </p:txBody>
      </p:sp>
      <p:sp>
        <p:nvSpPr>
          <p:cNvPr id="90" name="Text 88">
            <a:hlinkClick r:id="rId6" action="ppaction://hlinksldjump"/>
          </p:cNvPr>
          <p:cNvSpPr/>
          <p:nvPr/>
        </p:nvSpPr>
        <p:spPr>
          <a:xfrm>
            <a:off x="9079992" y="5998464"/>
            <a:ext cx="1097280" cy="109728"/>
          </a:xfrm>
          <a:prstGeom prst="rect">
            <a:avLst/>
          </a:prstGeom>
          <a:noFill/>
          <a:ln/>
        </p:spPr>
        <p:txBody>
          <a:bodyPr wrap="square" lIns="381" tIns="381" rIns="381" bIns="381" rtlCol="0" anchor="ctr">
            <a:normAutofit/>
          </a:bodyPr>
          <a:lstStyle/>
          <a:p>
            <a:pPr marL="0" indent="0" algn="ctr">
              <a:buNone/>
            </a:pPr>
            <a:r>
              <a:rPr lang="en-US" sz="640" b="1" u="sng" dirty="0">
                <a:solidFill>
                  <a:srgbClr val="132133"/>
                </a:solidFill>
                <a:latin typeface="Arial" pitchFamily="34" charset="0"/>
                <a:ea typeface="Arial" pitchFamily="34" charset="-122"/>
                <a:cs typeface="Arial" pitchFamily="34" charset="-120"/>
                <a:hlinkClick r:id="rId6" action="ppaction://hlinksldjump">
                  <a:extLst>
                    <a:ext uri="{A12FA001-AC4F-418D-AE19-62706E023703}">
                      <ahyp:hlinkClr xmlns:ahyp="http://schemas.microsoft.com/office/drawing/2018/hyperlinkcolor" val="tx"/>
                    </a:ext>
                  </a:extLst>
                </a:hlinkClick>
              </a:rPr>
              <a:t>View Attractions</a:t>
            </a:r>
            <a:endParaRPr lang="en-US" sz="6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28600"/>
            <a:ext cx="5943600" cy="365760"/>
          </a:xfrm>
          <a:prstGeom prst="rect">
            <a:avLst/>
          </a:prstGeom>
          <a:noFill/>
          <a:ln/>
        </p:spPr>
        <p:txBody>
          <a:bodyPr wrap="square" lIns="381" tIns="381" rIns="381" bIns="381" rtlCol="0" anchor="ctr">
            <a:normAutofit/>
          </a:bodyPr>
          <a:lstStyle/>
          <a:p>
            <a:pPr marL="0" indent="0" algn="l">
              <a:buNone/>
            </a:pPr>
            <a:r>
              <a:rPr lang="en-US" sz="2000" b="1" dirty="0">
                <a:solidFill>
                  <a:srgbClr val="132133"/>
                </a:solidFill>
                <a:latin typeface="Georgia" pitchFamily="34" charset="0"/>
                <a:ea typeface="Georgia" pitchFamily="34" charset="-122"/>
                <a:cs typeface="Georgia" pitchFamily="34" charset="-120"/>
              </a:rPr>
              <a:t>About Page Prototype</a:t>
            </a:r>
            <a:endParaRPr lang="en-US" sz="2000" dirty="0"/>
          </a:p>
        </p:txBody>
      </p:sp>
      <p:sp>
        <p:nvSpPr>
          <p:cNvPr id="3" name="Text 1"/>
          <p:cNvSpPr/>
          <p:nvPr/>
        </p:nvSpPr>
        <p:spPr>
          <a:xfrm>
            <a:off x="512064" y="630936"/>
            <a:ext cx="6492240" cy="228600"/>
          </a:xfrm>
          <a:prstGeom prst="rect">
            <a:avLst/>
          </a:prstGeom>
          <a:noFill/>
          <a:ln/>
        </p:spPr>
        <p:txBody>
          <a:bodyPr wrap="square" lIns="381" tIns="381" rIns="381" bIns="381" rtlCol="0" anchor="ctr">
            <a:normAutofit/>
          </a:bodyPr>
          <a:lstStyle/>
          <a:p>
            <a:pPr marL="0" indent="0" algn="l">
              <a:buNone/>
            </a:pPr>
            <a:r>
              <a:rPr lang="en-US" sz="850" dirty="0">
                <a:solidFill>
                  <a:srgbClr val="536273"/>
                </a:solidFill>
                <a:latin typeface="Arial" pitchFamily="34" charset="0"/>
                <a:ea typeface="Arial" pitchFamily="34" charset="-122"/>
                <a:cs typeface="Arial" pitchFamily="34" charset="-120"/>
              </a:rPr>
              <a:t>Purpose: explain the lodge experience and guide visitors to rooms, reservations, and attractions.</a:t>
            </a:r>
            <a:endParaRPr lang="en-US" sz="850" dirty="0"/>
          </a:p>
        </p:txBody>
      </p:sp>
      <p:sp>
        <p:nvSpPr>
          <p:cNvPr id="4" name="Text 2"/>
          <p:cNvSpPr/>
          <p:nvPr/>
        </p:nvSpPr>
        <p:spPr>
          <a:xfrm>
            <a:off x="8823960" y="256032"/>
            <a:ext cx="2743200" cy="228600"/>
          </a:xfrm>
          <a:prstGeom prst="rect">
            <a:avLst/>
          </a:prstGeom>
          <a:noFill/>
          <a:ln/>
        </p:spPr>
        <p:txBody>
          <a:bodyPr wrap="square" lIns="381" tIns="381" rIns="381" bIns="381" rtlCol="0" anchor="ctr">
            <a:normAutofit/>
          </a:bodyPr>
          <a:lstStyle/>
          <a:p>
            <a:pPr marL="0" indent="0" algn="r">
              <a:buNone/>
            </a:pPr>
            <a:r>
              <a:rPr lang="en-US" sz="800" b="1" dirty="0">
                <a:solidFill>
                  <a:srgbClr val="536273"/>
                </a:solidFill>
                <a:latin typeface="Arial" pitchFamily="34" charset="0"/>
                <a:ea typeface="Arial" pitchFamily="34" charset="-122"/>
                <a:cs typeface="Arial" pitchFamily="34" charset="-120"/>
              </a:rPr>
              <a:t>Moffat Bay Lodge Prototype</a:t>
            </a:r>
            <a:endParaRPr lang="en-US" sz="800" dirty="0"/>
          </a:p>
        </p:txBody>
      </p:sp>
      <p:sp>
        <p:nvSpPr>
          <p:cNvPr id="5" name="Shape 3"/>
          <p:cNvSpPr/>
          <p:nvPr/>
        </p:nvSpPr>
        <p:spPr>
          <a:xfrm>
            <a:off x="502920" y="896112"/>
            <a:ext cx="11201400" cy="5440680"/>
          </a:xfrm>
          <a:prstGeom prst="roundRect">
            <a:avLst>
              <a:gd name="adj" fmla="val 1513"/>
            </a:avLst>
          </a:prstGeom>
          <a:solidFill>
            <a:srgbClr val="FFFAF2"/>
          </a:solidFill>
          <a:ln w="12700">
            <a:solidFill>
              <a:srgbClr val="E9DFCF"/>
            </a:solidFill>
            <a:prstDash val="solid"/>
          </a:ln>
          <a:effectLst>
            <a:outerShdw blurRad="25400" dist="12700" dir="2700000" algn="bl" rotWithShape="0">
              <a:srgbClr val="132133">
                <a:alpha val="10000"/>
              </a:srgbClr>
            </a:outerShdw>
          </a:effectLst>
        </p:spPr>
        <p:txBody>
          <a:bodyPr/>
          <a:lstStyle/>
          <a:p>
            <a:endParaRPr lang="en-US"/>
          </a:p>
        </p:txBody>
      </p:sp>
      <p:sp>
        <p:nvSpPr>
          <p:cNvPr id="6" name="Shape 4"/>
          <p:cNvSpPr/>
          <p:nvPr/>
        </p:nvSpPr>
        <p:spPr>
          <a:xfrm>
            <a:off x="502920" y="896112"/>
            <a:ext cx="11201400" cy="384048"/>
          </a:xfrm>
          <a:prstGeom prst="rect">
            <a:avLst/>
          </a:prstGeom>
          <a:solidFill>
            <a:srgbClr val="FFFFFF"/>
          </a:solidFill>
          <a:ln w="12700">
            <a:solidFill>
              <a:srgbClr val="E9DFCF"/>
            </a:solidFill>
            <a:prstDash val="solid"/>
          </a:ln>
        </p:spPr>
        <p:txBody>
          <a:bodyPr/>
          <a:lstStyle/>
          <a:p>
            <a:endParaRPr lang="en-US"/>
          </a:p>
        </p:txBody>
      </p:sp>
      <p:sp>
        <p:nvSpPr>
          <p:cNvPr id="10" name="Shape 8"/>
          <p:cNvSpPr/>
          <p:nvPr/>
        </p:nvSpPr>
        <p:spPr>
          <a:xfrm>
            <a:off x="1280160" y="987552"/>
            <a:ext cx="3657600" cy="192024"/>
          </a:xfrm>
          <a:prstGeom prst="roundRect">
            <a:avLst>
              <a:gd name="adj" fmla="val 28571"/>
            </a:avLst>
          </a:prstGeom>
          <a:solidFill>
            <a:srgbClr val="F5EFE5"/>
          </a:solidFill>
          <a:ln w="12700">
            <a:solidFill>
              <a:srgbClr val="E9DFCF">
                <a:alpha val="80000"/>
              </a:srgbClr>
            </a:solidFill>
            <a:prstDash val="solid"/>
          </a:ln>
        </p:spPr>
        <p:txBody>
          <a:bodyPr/>
          <a:lstStyle/>
          <a:p>
            <a:endParaRPr lang="en-US"/>
          </a:p>
        </p:txBody>
      </p:sp>
      <p:sp>
        <p:nvSpPr>
          <p:cNvPr id="11" name="Text 9"/>
          <p:cNvSpPr/>
          <p:nvPr/>
        </p:nvSpPr>
        <p:spPr>
          <a:xfrm>
            <a:off x="1408176" y="1014984"/>
            <a:ext cx="3337560" cy="109728"/>
          </a:xfrm>
          <a:prstGeom prst="rect">
            <a:avLst/>
          </a:prstGeom>
          <a:noFill/>
          <a:ln/>
        </p:spPr>
        <p:txBody>
          <a:bodyPr wrap="square" lIns="381" tIns="381" rIns="381" bIns="381" rtlCol="0" anchor="ctr">
            <a:normAutofit/>
          </a:bodyPr>
          <a:lstStyle/>
          <a:p>
            <a:pPr marL="0" indent="0" algn="l">
              <a:buNone/>
            </a:pPr>
            <a:r>
              <a:rPr lang="en-US" sz="550" dirty="0">
                <a:solidFill>
                  <a:srgbClr val="536273"/>
                </a:solidFill>
                <a:latin typeface="Arial" pitchFamily="34" charset="0"/>
                <a:ea typeface="Arial" pitchFamily="34" charset="-122"/>
                <a:cs typeface="Arial" pitchFamily="34" charset="-120"/>
              </a:rPr>
              <a:t>moffatbaylodge.com/about.html</a:t>
            </a:r>
            <a:endParaRPr lang="en-US" sz="550" dirty="0"/>
          </a:p>
        </p:txBody>
      </p:sp>
      <p:sp>
        <p:nvSpPr>
          <p:cNvPr id="12" name="Shape 10"/>
          <p:cNvSpPr/>
          <p:nvPr/>
        </p:nvSpPr>
        <p:spPr>
          <a:xfrm>
            <a:off x="502920" y="1280160"/>
            <a:ext cx="11201400" cy="530352"/>
          </a:xfrm>
          <a:prstGeom prst="rect">
            <a:avLst/>
          </a:prstGeom>
          <a:solidFill>
            <a:srgbClr val="FAF5EC"/>
          </a:solidFill>
          <a:ln w="12700">
            <a:solidFill>
              <a:srgbClr val="E9DFCF">
                <a:alpha val="90000"/>
              </a:srgbClr>
            </a:solidFill>
            <a:prstDash val="solid"/>
          </a:ln>
        </p:spPr>
        <p:txBody>
          <a:bodyPr/>
          <a:lstStyle/>
          <a:p>
            <a:endParaRPr lang="en-US"/>
          </a:p>
        </p:txBody>
      </p:sp>
      <p:sp>
        <p:nvSpPr>
          <p:cNvPr id="13" name="Shape 11"/>
          <p:cNvSpPr/>
          <p:nvPr/>
        </p:nvSpPr>
        <p:spPr>
          <a:xfrm>
            <a:off x="731520" y="1399032"/>
            <a:ext cx="256032" cy="256032"/>
          </a:xfrm>
          <a:prstGeom prst="ellipse">
            <a:avLst/>
          </a:prstGeom>
          <a:solidFill>
            <a:srgbClr val="276F7B"/>
          </a:solidFill>
          <a:ln w="12700">
            <a:solidFill>
              <a:srgbClr val="276F7B"/>
            </a:solidFill>
            <a:prstDash val="solid"/>
          </a:ln>
        </p:spPr>
        <p:txBody>
          <a:bodyPr/>
          <a:lstStyle/>
          <a:p>
            <a:endParaRPr lang="en-US"/>
          </a:p>
        </p:txBody>
      </p:sp>
      <p:sp>
        <p:nvSpPr>
          <p:cNvPr id="14" name="Text 12"/>
          <p:cNvSpPr/>
          <p:nvPr/>
        </p:nvSpPr>
        <p:spPr>
          <a:xfrm>
            <a:off x="731520" y="1426464"/>
            <a:ext cx="256032" cy="109728"/>
          </a:xfrm>
          <a:prstGeom prst="rect">
            <a:avLst/>
          </a:prstGeom>
          <a:noFill/>
          <a:ln/>
        </p:spPr>
        <p:txBody>
          <a:bodyPr wrap="square" lIns="381" tIns="381" rIns="381" bIns="381" rtlCol="0" anchor="ctr">
            <a:normAutofit/>
          </a:bodyPr>
          <a:lstStyle/>
          <a:p>
            <a:pPr marL="0" indent="0" algn="ctr">
              <a:buNone/>
            </a:pPr>
            <a:r>
              <a:rPr lang="en-US" sz="700" b="1" dirty="0">
                <a:solidFill>
                  <a:srgbClr val="FFFFFF"/>
                </a:solidFill>
                <a:latin typeface="Georgia" pitchFamily="34" charset="0"/>
                <a:ea typeface="Georgia" pitchFamily="34" charset="-122"/>
                <a:cs typeface="Georgia" pitchFamily="34" charset="-120"/>
              </a:rPr>
              <a:t>MB</a:t>
            </a:r>
            <a:endParaRPr lang="en-US" sz="700" dirty="0"/>
          </a:p>
        </p:txBody>
      </p:sp>
      <p:sp>
        <p:nvSpPr>
          <p:cNvPr id="15" name="Text 13"/>
          <p:cNvSpPr/>
          <p:nvPr/>
        </p:nvSpPr>
        <p:spPr>
          <a:xfrm>
            <a:off x="1069848" y="1435608"/>
            <a:ext cx="1691640" cy="118872"/>
          </a:xfrm>
          <a:prstGeom prst="rect">
            <a:avLst/>
          </a:prstGeom>
          <a:noFill/>
          <a:ln/>
        </p:spPr>
        <p:txBody>
          <a:bodyPr wrap="square" lIns="381" tIns="381" rIns="381" bIns="381" rtlCol="0" anchor="ctr">
            <a:normAutofit/>
          </a:bodyPr>
          <a:lstStyle/>
          <a:p>
            <a:pPr marL="0" indent="0" algn="l">
              <a:buNone/>
            </a:pPr>
            <a:r>
              <a:rPr lang="en-US" sz="680" b="1" dirty="0">
                <a:solidFill>
                  <a:srgbClr val="132133"/>
                </a:solidFill>
                <a:latin typeface="Arial" pitchFamily="34" charset="0"/>
                <a:ea typeface="Arial" pitchFamily="34" charset="-122"/>
                <a:cs typeface="Arial" pitchFamily="34" charset="-120"/>
              </a:rPr>
              <a:t>MOFFAT BAY LODGE</a:t>
            </a:r>
            <a:endParaRPr lang="en-US" sz="680" dirty="0"/>
          </a:p>
        </p:txBody>
      </p:sp>
      <p:sp>
        <p:nvSpPr>
          <p:cNvPr id="16" name="Text 14">
            <a:hlinkClick r:id="rId3" action="ppaction://hlinksldjump"/>
          </p:cNvPr>
          <p:cNvSpPr/>
          <p:nvPr/>
        </p:nvSpPr>
        <p:spPr>
          <a:xfrm>
            <a:off x="3291840" y="1453896"/>
            <a:ext cx="402336" cy="118872"/>
          </a:xfrm>
          <a:prstGeom prst="rect">
            <a:avLst/>
          </a:prstGeom>
          <a:noFill/>
          <a:ln/>
        </p:spPr>
        <p:txBody>
          <a:bodyPr wrap="square" lIns="381" tIns="381" rIns="381" bIns="381" rtlCol="0" anchor="ctr">
            <a:normAutofit/>
          </a:bodyPr>
          <a:lstStyle/>
          <a:p>
            <a:pPr marL="0" indent="0" algn="ctr">
              <a:buNone/>
            </a:pPr>
            <a:r>
              <a:rPr lang="en-US" sz="640" b="1" u="sng" dirty="0">
                <a:solidFill>
                  <a:srgbClr val="2A3B50"/>
                </a:solidFill>
                <a:latin typeface="Arial" pitchFamily="34" charset="0"/>
                <a:ea typeface="Arial" pitchFamily="34" charset="-122"/>
                <a:cs typeface="Arial" pitchFamily="34" charset="-120"/>
                <a:hlinkClick r:id="rId3" action="ppaction://hlinksldjump">
                  <a:extLst>
                    <a:ext uri="{A12FA001-AC4F-418D-AE19-62706E023703}">
                      <ahyp:hlinkClr xmlns:ahyp="http://schemas.microsoft.com/office/drawing/2018/hyperlinkcolor" val="tx"/>
                    </a:ext>
                  </a:extLst>
                </a:hlinkClick>
              </a:rPr>
              <a:t>Home</a:t>
            </a:r>
            <a:endParaRPr lang="en-US" sz="640" dirty="0"/>
          </a:p>
        </p:txBody>
      </p:sp>
      <p:sp>
        <p:nvSpPr>
          <p:cNvPr id="17" name="Text 15">
            <a:hlinkClick r:id="rId4" action="ppaction://hlinksldjump"/>
          </p:cNvPr>
          <p:cNvSpPr/>
          <p:nvPr/>
        </p:nvSpPr>
        <p:spPr>
          <a:xfrm>
            <a:off x="3895344" y="1453896"/>
            <a:ext cx="420624" cy="118872"/>
          </a:xfrm>
          <a:prstGeom prst="rect">
            <a:avLst/>
          </a:prstGeom>
          <a:noFill/>
          <a:ln/>
        </p:spPr>
        <p:txBody>
          <a:bodyPr wrap="square" lIns="381" tIns="381" rIns="381" bIns="381" rtlCol="0" anchor="ctr">
            <a:normAutofit/>
          </a:bodyPr>
          <a:lstStyle/>
          <a:p>
            <a:pPr marL="0" indent="0" algn="ctr">
              <a:buNone/>
            </a:pPr>
            <a:r>
              <a:rPr lang="en-US" sz="640" b="1" u="sng" dirty="0">
                <a:solidFill>
                  <a:srgbClr val="276F7B"/>
                </a:solidFill>
                <a:latin typeface="Arial" pitchFamily="34" charset="0"/>
                <a:ea typeface="Arial" pitchFamily="34" charset="-122"/>
                <a:cs typeface="Arial" pitchFamily="34" charset="-120"/>
                <a:hlinkClick r:id="rId4" action="ppaction://hlinksldjump">
                  <a:extLst>
                    <a:ext uri="{A12FA001-AC4F-418D-AE19-62706E023703}">
                      <ahyp:hlinkClr xmlns:ahyp="http://schemas.microsoft.com/office/drawing/2018/hyperlinkcolor" val="tx"/>
                    </a:ext>
                  </a:extLst>
                </a:hlinkClick>
              </a:rPr>
              <a:t>About</a:t>
            </a:r>
            <a:endParaRPr lang="en-US" sz="640" dirty="0"/>
          </a:p>
        </p:txBody>
      </p:sp>
      <p:sp>
        <p:nvSpPr>
          <p:cNvPr id="18" name="Shape 16"/>
          <p:cNvSpPr/>
          <p:nvPr/>
        </p:nvSpPr>
        <p:spPr>
          <a:xfrm>
            <a:off x="3941064" y="1627632"/>
            <a:ext cx="329184" cy="22860"/>
          </a:xfrm>
          <a:prstGeom prst="rect">
            <a:avLst/>
          </a:prstGeom>
          <a:solidFill>
            <a:srgbClr val="2F8694"/>
          </a:solidFill>
          <a:ln w="12700">
            <a:solidFill>
              <a:srgbClr val="2F8694"/>
            </a:solidFill>
            <a:prstDash val="solid"/>
          </a:ln>
        </p:spPr>
        <p:txBody>
          <a:bodyPr/>
          <a:lstStyle/>
          <a:p>
            <a:endParaRPr lang="en-US"/>
          </a:p>
        </p:txBody>
      </p:sp>
      <p:sp>
        <p:nvSpPr>
          <p:cNvPr id="19" name="Text 17">
            <a:hlinkClick r:id="rId5" action="ppaction://hlinksldjump"/>
          </p:cNvPr>
          <p:cNvSpPr/>
          <p:nvPr/>
        </p:nvSpPr>
        <p:spPr>
          <a:xfrm>
            <a:off x="4517136" y="1453896"/>
            <a:ext cx="960120" cy="118872"/>
          </a:xfrm>
          <a:prstGeom prst="rect">
            <a:avLst/>
          </a:prstGeom>
          <a:noFill/>
          <a:ln/>
        </p:spPr>
        <p:txBody>
          <a:bodyPr wrap="square" lIns="381" tIns="381" rIns="381" bIns="381" rtlCol="0" anchor="ctr">
            <a:normAutofit/>
          </a:bodyPr>
          <a:lstStyle/>
          <a:p>
            <a:pPr marL="0" indent="0" algn="ctr">
              <a:buNone/>
            </a:pPr>
            <a:r>
              <a:rPr lang="en-US" sz="640" b="1" u="sng" dirty="0">
                <a:solidFill>
                  <a:srgbClr val="2A3B50"/>
                </a:solidFill>
                <a:latin typeface="Arial" pitchFamily="34" charset="0"/>
                <a:ea typeface="Arial" pitchFamily="34" charset="-122"/>
                <a:cs typeface="Arial" pitchFamily="34" charset="-120"/>
                <a:hlinkClick r:id="rId5" action="ppaction://hlinksldjump">
                  <a:extLst>
                    <a:ext uri="{A12FA001-AC4F-418D-AE19-62706E023703}">
                      <ahyp:hlinkClr xmlns:ahyp="http://schemas.microsoft.com/office/drawing/2018/hyperlinkcolor" val="tx"/>
                    </a:ext>
                  </a:extLst>
                </a:hlinkClick>
              </a:rPr>
              <a:t>Rooms &amp; Pricing</a:t>
            </a:r>
            <a:endParaRPr lang="en-US" sz="640" dirty="0"/>
          </a:p>
        </p:txBody>
      </p:sp>
      <p:sp>
        <p:nvSpPr>
          <p:cNvPr id="20" name="Text 18">
            <a:hlinkClick r:id="rId6" action="ppaction://hlinksldjump"/>
          </p:cNvPr>
          <p:cNvSpPr/>
          <p:nvPr/>
        </p:nvSpPr>
        <p:spPr>
          <a:xfrm>
            <a:off x="5678424" y="1453896"/>
            <a:ext cx="685800" cy="118872"/>
          </a:xfrm>
          <a:prstGeom prst="rect">
            <a:avLst/>
          </a:prstGeom>
          <a:noFill/>
          <a:ln/>
        </p:spPr>
        <p:txBody>
          <a:bodyPr wrap="square" lIns="381" tIns="381" rIns="381" bIns="381" rtlCol="0" anchor="ctr">
            <a:normAutofit/>
          </a:bodyPr>
          <a:lstStyle/>
          <a:p>
            <a:pPr marL="0" indent="0" algn="ctr">
              <a:buNone/>
            </a:pPr>
            <a:r>
              <a:rPr lang="en-US" sz="640" b="1" u="sng" dirty="0">
                <a:solidFill>
                  <a:srgbClr val="2A3B50"/>
                </a:solidFill>
                <a:latin typeface="Arial" pitchFamily="34" charset="0"/>
                <a:ea typeface="Arial" pitchFamily="34" charset="-122"/>
                <a:cs typeface="Arial" pitchFamily="34" charset="-120"/>
                <a:hlinkClick r:id="rId6" action="ppaction://hlinksldjump">
                  <a:extLst>
                    <a:ext uri="{A12FA001-AC4F-418D-AE19-62706E023703}">
                      <ahyp:hlinkClr xmlns:ahyp="http://schemas.microsoft.com/office/drawing/2018/hyperlinkcolor" val="tx"/>
                    </a:ext>
                  </a:extLst>
                </a:hlinkClick>
              </a:rPr>
              <a:t>Attractions</a:t>
            </a:r>
            <a:endParaRPr lang="en-US" sz="640" dirty="0"/>
          </a:p>
        </p:txBody>
      </p:sp>
      <p:sp>
        <p:nvSpPr>
          <p:cNvPr id="21" name="Text 19">
            <a:hlinkClick r:id="rId7" action="ppaction://hlinksldjump"/>
          </p:cNvPr>
          <p:cNvSpPr/>
          <p:nvPr/>
        </p:nvSpPr>
        <p:spPr>
          <a:xfrm>
            <a:off x="6565392" y="1453896"/>
            <a:ext cx="475488" cy="118872"/>
          </a:xfrm>
          <a:prstGeom prst="rect">
            <a:avLst/>
          </a:prstGeom>
          <a:noFill/>
          <a:ln/>
        </p:spPr>
        <p:txBody>
          <a:bodyPr wrap="square" lIns="381" tIns="381" rIns="381" bIns="381" rtlCol="0" anchor="ctr">
            <a:normAutofit/>
          </a:bodyPr>
          <a:lstStyle/>
          <a:p>
            <a:pPr marL="0" indent="0" algn="ctr">
              <a:buNone/>
            </a:pPr>
            <a:r>
              <a:rPr lang="en-US" sz="640" b="1" u="sng" dirty="0">
                <a:solidFill>
                  <a:srgbClr val="2A3B50"/>
                </a:solidFill>
                <a:latin typeface="Arial" pitchFamily="34" charset="0"/>
                <a:ea typeface="Arial" pitchFamily="34" charset="-122"/>
                <a:cs typeface="Arial" pitchFamily="34" charset="-120"/>
                <a:hlinkClick r:id="rId7" action="ppaction://hlinksldjump">
                  <a:extLst>
                    <a:ext uri="{A12FA001-AC4F-418D-AE19-62706E023703}">
                      <ahyp:hlinkClr xmlns:ahyp="http://schemas.microsoft.com/office/drawing/2018/hyperlinkcolor" val="tx"/>
                    </a:ext>
                  </a:extLst>
                </a:hlinkClick>
              </a:rPr>
              <a:t>Contact</a:t>
            </a:r>
            <a:endParaRPr lang="en-US" sz="640" dirty="0"/>
          </a:p>
        </p:txBody>
      </p:sp>
      <p:sp>
        <p:nvSpPr>
          <p:cNvPr id="22" name="Text 20">
            <a:hlinkClick r:id="rId8" action="ppaction://hlinksldjump"/>
          </p:cNvPr>
          <p:cNvSpPr/>
          <p:nvPr/>
        </p:nvSpPr>
        <p:spPr>
          <a:xfrm>
            <a:off x="7242048" y="1453896"/>
            <a:ext cx="420624" cy="118872"/>
          </a:xfrm>
          <a:prstGeom prst="rect">
            <a:avLst/>
          </a:prstGeom>
          <a:noFill/>
          <a:ln/>
        </p:spPr>
        <p:txBody>
          <a:bodyPr wrap="square" lIns="381" tIns="381" rIns="381" bIns="381" rtlCol="0" anchor="ctr">
            <a:normAutofit/>
          </a:bodyPr>
          <a:lstStyle/>
          <a:p>
            <a:pPr marL="0" indent="0" algn="ctr">
              <a:buNone/>
            </a:pPr>
            <a:r>
              <a:rPr lang="en-US" sz="640" b="1" u="sng" dirty="0">
                <a:solidFill>
                  <a:srgbClr val="2A3B50"/>
                </a:solidFill>
                <a:latin typeface="Arial" pitchFamily="34" charset="0"/>
                <a:ea typeface="Arial" pitchFamily="34" charset="-122"/>
                <a:cs typeface="Arial" pitchFamily="34" charset="-120"/>
                <a:hlinkClick r:id="rId8" action="ppaction://hlinksldjump">
                  <a:extLst>
                    <a:ext uri="{A12FA001-AC4F-418D-AE19-62706E023703}">
                      <ahyp:hlinkClr xmlns:ahyp="http://schemas.microsoft.com/office/drawing/2018/hyperlinkcolor" val="tx"/>
                    </a:ext>
                  </a:extLst>
                </a:hlinkClick>
              </a:rPr>
              <a:t>Book</a:t>
            </a:r>
            <a:endParaRPr lang="en-US" sz="640" dirty="0"/>
          </a:p>
        </p:txBody>
      </p:sp>
      <p:sp>
        <p:nvSpPr>
          <p:cNvPr id="23" name="Shape 21">
            <a:hlinkClick r:id="rId9" action="ppaction://hlinksldjump"/>
          </p:cNvPr>
          <p:cNvSpPr/>
          <p:nvPr/>
        </p:nvSpPr>
        <p:spPr>
          <a:xfrm>
            <a:off x="10378440" y="1417320"/>
            <a:ext cx="530352" cy="283464"/>
          </a:xfrm>
          <a:prstGeom prst="roundRect">
            <a:avLst>
              <a:gd name="adj" fmla="val 25806"/>
            </a:avLst>
          </a:prstGeom>
          <a:solidFill>
            <a:srgbClr val="132133"/>
          </a:solidFill>
          <a:ln w="12700">
            <a:solidFill>
              <a:srgbClr val="132133">
                <a:alpha val="0"/>
              </a:srgbClr>
            </a:solidFill>
            <a:prstDash val="solid"/>
          </a:ln>
        </p:spPr>
        <p:txBody>
          <a:bodyPr/>
          <a:lstStyle/>
          <a:p>
            <a:endParaRPr lang="en-US"/>
          </a:p>
        </p:txBody>
      </p:sp>
      <p:sp>
        <p:nvSpPr>
          <p:cNvPr id="24" name="Text 22">
            <a:hlinkClick r:id="rId9" action="ppaction://hlinksldjump"/>
          </p:cNvPr>
          <p:cNvSpPr/>
          <p:nvPr/>
        </p:nvSpPr>
        <p:spPr>
          <a:xfrm>
            <a:off x="10396728" y="1444752"/>
            <a:ext cx="493776" cy="182880"/>
          </a:xfrm>
          <a:prstGeom prst="rect">
            <a:avLst/>
          </a:prstGeom>
          <a:noFill/>
          <a:ln/>
        </p:spPr>
        <p:txBody>
          <a:bodyPr wrap="square" lIns="381" tIns="381" rIns="381" bIns="381" rtlCol="0" anchor="ctr">
            <a:normAutofit/>
          </a:bodyPr>
          <a:lstStyle/>
          <a:p>
            <a:pPr marL="0" indent="0" algn="ctr">
              <a:buNone/>
            </a:pPr>
            <a:r>
              <a:rPr lang="en-US" sz="600" b="1" u="sng" dirty="0">
                <a:solidFill>
                  <a:srgbClr val="FFFFFF"/>
                </a:solidFill>
                <a:latin typeface="Arial" pitchFamily="34" charset="0"/>
                <a:ea typeface="Arial" pitchFamily="34" charset="-122"/>
                <a:cs typeface="Arial" pitchFamily="34" charset="-120"/>
                <a:hlinkClick r:id="rId9" action="ppaction://hlinksldjump">
                  <a:extLst>
                    <a:ext uri="{A12FA001-AC4F-418D-AE19-62706E023703}">
                      <ahyp:hlinkClr xmlns:ahyp="http://schemas.microsoft.com/office/drawing/2018/hyperlinkcolor" val="tx"/>
                    </a:ext>
                  </a:extLst>
                </a:hlinkClick>
              </a:rPr>
              <a:t>Login</a:t>
            </a:r>
            <a:endParaRPr lang="en-US" sz="600" dirty="0"/>
          </a:p>
        </p:txBody>
      </p:sp>
      <p:sp>
        <p:nvSpPr>
          <p:cNvPr id="25" name="Shape 23">
            <a:hlinkClick r:id="rId10" action="ppaction://hlinksldjump"/>
          </p:cNvPr>
          <p:cNvSpPr/>
          <p:nvPr/>
        </p:nvSpPr>
        <p:spPr>
          <a:xfrm>
            <a:off x="10991088" y="1417320"/>
            <a:ext cx="585216" cy="283464"/>
          </a:xfrm>
          <a:prstGeom prst="roundRect">
            <a:avLst>
              <a:gd name="adj" fmla="val 25806"/>
            </a:avLst>
          </a:prstGeom>
          <a:solidFill>
            <a:srgbClr val="276F7B"/>
          </a:solidFill>
          <a:ln w="12700">
            <a:solidFill>
              <a:srgbClr val="276F7B">
                <a:alpha val="0"/>
              </a:srgbClr>
            </a:solidFill>
            <a:prstDash val="solid"/>
          </a:ln>
        </p:spPr>
        <p:txBody>
          <a:bodyPr/>
          <a:lstStyle/>
          <a:p>
            <a:endParaRPr lang="en-US"/>
          </a:p>
        </p:txBody>
      </p:sp>
      <p:sp>
        <p:nvSpPr>
          <p:cNvPr id="26" name="Text 24">
            <a:hlinkClick r:id="rId10" action="ppaction://hlinksldjump"/>
          </p:cNvPr>
          <p:cNvSpPr/>
          <p:nvPr/>
        </p:nvSpPr>
        <p:spPr>
          <a:xfrm>
            <a:off x="11009376" y="1444752"/>
            <a:ext cx="548640" cy="182880"/>
          </a:xfrm>
          <a:prstGeom prst="rect">
            <a:avLst/>
          </a:prstGeom>
          <a:noFill/>
          <a:ln/>
        </p:spPr>
        <p:txBody>
          <a:bodyPr wrap="square" lIns="381" tIns="381" rIns="381" bIns="381" rtlCol="0" anchor="ctr">
            <a:normAutofit/>
          </a:bodyPr>
          <a:lstStyle/>
          <a:p>
            <a:pPr marL="0" indent="0" algn="ctr">
              <a:buNone/>
            </a:pPr>
            <a:r>
              <a:rPr lang="en-US" sz="600" b="1" u="sng" dirty="0">
                <a:solidFill>
                  <a:srgbClr val="FFFFFF"/>
                </a:solidFill>
                <a:latin typeface="Arial" pitchFamily="34" charset="0"/>
                <a:ea typeface="Arial" pitchFamily="34" charset="-122"/>
                <a:cs typeface="Arial" pitchFamily="34" charset="-120"/>
                <a:hlinkClick r:id="rId10" action="ppaction://hlinksldjump">
                  <a:extLst>
                    <a:ext uri="{A12FA001-AC4F-418D-AE19-62706E023703}">
                      <ahyp:hlinkClr xmlns:ahyp="http://schemas.microsoft.com/office/drawing/2018/hyperlinkcolor" val="tx"/>
                    </a:ext>
                  </a:extLst>
                </a:hlinkClick>
              </a:rPr>
              <a:t>Register</a:t>
            </a:r>
            <a:endParaRPr lang="en-US" sz="600" dirty="0"/>
          </a:p>
        </p:txBody>
      </p:sp>
      <p:sp>
        <p:nvSpPr>
          <p:cNvPr id="27" name="Text 25"/>
          <p:cNvSpPr/>
          <p:nvPr/>
        </p:nvSpPr>
        <p:spPr>
          <a:xfrm>
            <a:off x="502920" y="6510528"/>
            <a:ext cx="6400800" cy="201168"/>
          </a:xfrm>
          <a:prstGeom prst="rect">
            <a:avLst/>
          </a:prstGeom>
          <a:noFill/>
          <a:ln/>
        </p:spPr>
        <p:txBody>
          <a:bodyPr wrap="square" lIns="381" tIns="381" rIns="381" bIns="381" rtlCol="0" anchor="ctr">
            <a:normAutofit/>
          </a:bodyPr>
          <a:lstStyle/>
          <a:p>
            <a:pPr marL="0" indent="0" algn="l">
              <a:buNone/>
            </a:pPr>
            <a:r>
              <a:rPr lang="en-US" sz="710" dirty="0">
                <a:solidFill>
                  <a:srgbClr val="536273"/>
                </a:solidFill>
                <a:latin typeface="Arial" pitchFamily="34" charset="0"/>
                <a:ea typeface="Arial" pitchFamily="34" charset="-122"/>
                <a:cs typeface="Arial" pitchFamily="34" charset="-120"/>
              </a:rPr>
              <a:t>Slide 4 | Editable components | Use Slide Show mode to click through the prototype</a:t>
            </a:r>
            <a:endParaRPr lang="en-US" sz="710" dirty="0"/>
          </a:p>
        </p:txBody>
      </p:sp>
      <p:sp>
        <p:nvSpPr>
          <p:cNvPr id="28" name="Shape 26">
            <a:hlinkClick r:id="rId3" action="ppaction://hlinksldjump"/>
          </p:cNvPr>
          <p:cNvSpPr/>
          <p:nvPr/>
        </p:nvSpPr>
        <p:spPr>
          <a:xfrm>
            <a:off x="7635240" y="6455664"/>
            <a:ext cx="749808" cy="283464"/>
          </a:xfrm>
          <a:prstGeom prst="roundRect">
            <a:avLst>
              <a:gd name="adj" fmla="val 25806"/>
            </a:avLst>
          </a:prstGeom>
          <a:solidFill>
            <a:srgbClr val="FFFFFF">
              <a:alpha val="30000"/>
            </a:srgbClr>
          </a:solidFill>
          <a:ln w="12700">
            <a:solidFill>
              <a:srgbClr val="536273">
                <a:alpha val="50000"/>
              </a:srgbClr>
            </a:solidFill>
            <a:prstDash val="solid"/>
          </a:ln>
        </p:spPr>
        <p:txBody>
          <a:bodyPr/>
          <a:lstStyle/>
          <a:p>
            <a:endParaRPr lang="en-US"/>
          </a:p>
        </p:txBody>
      </p:sp>
      <p:sp>
        <p:nvSpPr>
          <p:cNvPr id="29" name="Text 27">
            <a:hlinkClick r:id="rId3" action="ppaction://hlinksldjump"/>
          </p:cNvPr>
          <p:cNvSpPr/>
          <p:nvPr/>
        </p:nvSpPr>
        <p:spPr>
          <a:xfrm>
            <a:off x="7653528" y="6483096"/>
            <a:ext cx="713232" cy="182880"/>
          </a:xfrm>
          <a:prstGeom prst="rect">
            <a:avLst/>
          </a:prstGeom>
          <a:noFill/>
          <a:ln/>
        </p:spPr>
        <p:txBody>
          <a:bodyPr wrap="square" lIns="381" tIns="381" rIns="381" bIns="381" rtlCol="0" anchor="ctr">
            <a:normAutofit/>
          </a:bodyPr>
          <a:lstStyle/>
          <a:p>
            <a:pPr marL="0" indent="0" algn="ctr">
              <a:buNone/>
            </a:pPr>
            <a:r>
              <a:rPr lang="en-US" sz="800" b="1" u="sng" dirty="0">
                <a:solidFill>
                  <a:srgbClr val="2A3B50"/>
                </a:solidFill>
                <a:latin typeface="Arial" pitchFamily="34" charset="0"/>
                <a:ea typeface="Arial" pitchFamily="34" charset="-122"/>
                <a:cs typeface="Arial" pitchFamily="34" charset="-120"/>
                <a:hlinkClick r:id="rId3" action="ppaction://hlinksldjump">
                  <a:extLst>
                    <a:ext uri="{A12FA001-AC4F-418D-AE19-62706E023703}">
                      <ahyp:hlinkClr xmlns:ahyp="http://schemas.microsoft.com/office/drawing/2018/hyperlinkcolor" val="tx"/>
                    </a:ext>
                  </a:extLst>
                </a:hlinkClick>
              </a:rPr>
              <a:t>Home</a:t>
            </a:r>
            <a:endParaRPr lang="en-US" sz="800" dirty="0"/>
          </a:p>
        </p:txBody>
      </p:sp>
      <p:sp>
        <p:nvSpPr>
          <p:cNvPr id="30" name="Shape 28">
            <a:hlinkClick r:id="rId5" action="ppaction://hlinksldjump"/>
          </p:cNvPr>
          <p:cNvSpPr/>
          <p:nvPr/>
        </p:nvSpPr>
        <p:spPr>
          <a:xfrm>
            <a:off x="8476488" y="6455664"/>
            <a:ext cx="749808" cy="283464"/>
          </a:xfrm>
          <a:prstGeom prst="roundRect">
            <a:avLst>
              <a:gd name="adj" fmla="val 25806"/>
            </a:avLst>
          </a:prstGeom>
          <a:solidFill>
            <a:srgbClr val="FFFFFF">
              <a:alpha val="30000"/>
            </a:srgbClr>
          </a:solidFill>
          <a:ln w="12700">
            <a:solidFill>
              <a:srgbClr val="536273">
                <a:alpha val="50000"/>
              </a:srgbClr>
            </a:solidFill>
            <a:prstDash val="solid"/>
          </a:ln>
        </p:spPr>
        <p:txBody>
          <a:bodyPr/>
          <a:lstStyle/>
          <a:p>
            <a:endParaRPr lang="en-US"/>
          </a:p>
        </p:txBody>
      </p:sp>
      <p:sp>
        <p:nvSpPr>
          <p:cNvPr id="31" name="Text 29">
            <a:hlinkClick r:id="rId5" action="ppaction://hlinksldjump"/>
          </p:cNvPr>
          <p:cNvSpPr/>
          <p:nvPr/>
        </p:nvSpPr>
        <p:spPr>
          <a:xfrm>
            <a:off x="8494776" y="6483096"/>
            <a:ext cx="713232" cy="182880"/>
          </a:xfrm>
          <a:prstGeom prst="rect">
            <a:avLst/>
          </a:prstGeom>
          <a:noFill/>
          <a:ln/>
        </p:spPr>
        <p:txBody>
          <a:bodyPr wrap="square" lIns="381" tIns="381" rIns="381" bIns="381" rtlCol="0" anchor="ctr">
            <a:normAutofit/>
          </a:bodyPr>
          <a:lstStyle/>
          <a:p>
            <a:pPr marL="0" indent="0" algn="ctr">
              <a:buNone/>
            </a:pPr>
            <a:r>
              <a:rPr lang="en-US" sz="800" b="1" u="sng" dirty="0">
                <a:solidFill>
                  <a:srgbClr val="2A3B50"/>
                </a:solidFill>
                <a:latin typeface="Arial" pitchFamily="34" charset="0"/>
                <a:ea typeface="Arial" pitchFamily="34" charset="-122"/>
                <a:cs typeface="Arial" pitchFamily="34" charset="-120"/>
                <a:hlinkClick r:id="rId5" action="ppaction://hlinksldjump">
                  <a:extLst>
                    <a:ext uri="{A12FA001-AC4F-418D-AE19-62706E023703}">
                      <ahyp:hlinkClr xmlns:ahyp="http://schemas.microsoft.com/office/drawing/2018/hyperlinkcolor" val="tx"/>
                    </a:ext>
                  </a:extLst>
                </a:hlinkClick>
              </a:rPr>
              <a:t>Rooms</a:t>
            </a:r>
            <a:endParaRPr lang="en-US" sz="800" dirty="0"/>
          </a:p>
        </p:txBody>
      </p:sp>
      <p:sp>
        <p:nvSpPr>
          <p:cNvPr id="32" name="Shape 30">
            <a:hlinkClick r:id="rId8" action="ppaction://hlinksldjump"/>
          </p:cNvPr>
          <p:cNvSpPr/>
          <p:nvPr/>
        </p:nvSpPr>
        <p:spPr>
          <a:xfrm>
            <a:off x="9317736" y="6455664"/>
            <a:ext cx="749808" cy="283464"/>
          </a:xfrm>
          <a:prstGeom prst="roundRect">
            <a:avLst>
              <a:gd name="adj" fmla="val 25806"/>
            </a:avLst>
          </a:prstGeom>
          <a:solidFill>
            <a:srgbClr val="FFFFFF">
              <a:alpha val="30000"/>
            </a:srgbClr>
          </a:solidFill>
          <a:ln w="12700">
            <a:solidFill>
              <a:srgbClr val="536273">
                <a:alpha val="50000"/>
              </a:srgbClr>
            </a:solidFill>
            <a:prstDash val="solid"/>
          </a:ln>
        </p:spPr>
        <p:txBody>
          <a:bodyPr/>
          <a:lstStyle/>
          <a:p>
            <a:endParaRPr lang="en-US"/>
          </a:p>
        </p:txBody>
      </p:sp>
      <p:sp>
        <p:nvSpPr>
          <p:cNvPr id="33" name="Text 31">
            <a:hlinkClick r:id="rId8" action="ppaction://hlinksldjump"/>
          </p:cNvPr>
          <p:cNvSpPr/>
          <p:nvPr/>
        </p:nvSpPr>
        <p:spPr>
          <a:xfrm>
            <a:off x="9336024" y="6483096"/>
            <a:ext cx="713232" cy="182880"/>
          </a:xfrm>
          <a:prstGeom prst="rect">
            <a:avLst/>
          </a:prstGeom>
          <a:noFill/>
          <a:ln/>
        </p:spPr>
        <p:txBody>
          <a:bodyPr wrap="square" lIns="381" tIns="381" rIns="381" bIns="381" rtlCol="0" anchor="ctr">
            <a:normAutofit/>
          </a:bodyPr>
          <a:lstStyle/>
          <a:p>
            <a:pPr marL="0" indent="0" algn="ctr">
              <a:buNone/>
            </a:pPr>
            <a:r>
              <a:rPr lang="en-US" sz="800" b="1" u="sng" dirty="0">
                <a:solidFill>
                  <a:srgbClr val="2A3B50"/>
                </a:solidFill>
                <a:latin typeface="Arial" pitchFamily="34" charset="0"/>
                <a:ea typeface="Arial" pitchFamily="34" charset="-122"/>
                <a:cs typeface="Arial" pitchFamily="34" charset="-120"/>
                <a:hlinkClick r:id="rId8" action="ppaction://hlinksldjump">
                  <a:extLst>
                    <a:ext uri="{A12FA001-AC4F-418D-AE19-62706E023703}">
                      <ahyp:hlinkClr xmlns:ahyp="http://schemas.microsoft.com/office/drawing/2018/hyperlinkcolor" val="tx"/>
                    </a:ext>
                  </a:extLst>
                </a:hlinkClick>
              </a:rPr>
              <a:t>Book</a:t>
            </a:r>
            <a:endParaRPr lang="en-US" sz="800" dirty="0"/>
          </a:p>
        </p:txBody>
      </p:sp>
      <p:sp>
        <p:nvSpPr>
          <p:cNvPr id="34" name="Shape 32">
            <a:hlinkClick r:id="rId11" action="ppaction://hlinksldjump"/>
          </p:cNvPr>
          <p:cNvSpPr/>
          <p:nvPr/>
        </p:nvSpPr>
        <p:spPr>
          <a:xfrm>
            <a:off x="10158984" y="6455664"/>
            <a:ext cx="749808" cy="283464"/>
          </a:xfrm>
          <a:prstGeom prst="roundRect">
            <a:avLst>
              <a:gd name="adj" fmla="val 25806"/>
            </a:avLst>
          </a:prstGeom>
          <a:solidFill>
            <a:srgbClr val="FFFFFF">
              <a:alpha val="30000"/>
            </a:srgbClr>
          </a:solidFill>
          <a:ln w="12700">
            <a:solidFill>
              <a:srgbClr val="536273">
                <a:alpha val="50000"/>
              </a:srgbClr>
            </a:solidFill>
            <a:prstDash val="solid"/>
          </a:ln>
        </p:spPr>
        <p:txBody>
          <a:bodyPr/>
          <a:lstStyle/>
          <a:p>
            <a:endParaRPr lang="en-US"/>
          </a:p>
        </p:txBody>
      </p:sp>
      <p:sp>
        <p:nvSpPr>
          <p:cNvPr id="35" name="Text 33">
            <a:hlinkClick r:id="rId11" action="ppaction://hlinksldjump"/>
          </p:cNvPr>
          <p:cNvSpPr/>
          <p:nvPr/>
        </p:nvSpPr>
        <p:spPr>
          <a:xfrm>
            <a:off x="10177272" y="6483096"/>
            <a:ext cx="713232" cy="182880"/>
          </a:xfrm>
          <a:prstGeom prst="rect">
            <a:avLst/>
          </a:prstGeom>
          <a:noFill/>
          <a:ln/>
        </p:spPr>
        <p:txBody>
          <a:bodyPr wrap="square" lIns="381" tIns="381" rIns="381" bIns="381" rtlCol="0" anchor="ctr">
            <a:normAutofit/>
          </a:bodyPr>
          <a:lstStyle/>
          <a:p>
            <a:pPr marL="0" indent="0" algn="ctr">
              <a:buNone/>
            </a:pPr>
            <a:r>
              <a:rPr lang="en-US" sz="800" b="1" u="sng" dirty="0">
                <a:solidFill>
                  <a:srgbClr val="2A3B50"/>
                </a:solidFill>
                <a:latin typeface="Arial" pitchFamily="34" charset="0"/>
                <a:ea typeface="Arial" pitchFamily="34" charset="-122"/>
                <a:cs typeface="Arial" pitchFamily="34" charset="-120"/>
                <a:hlinkClick r:id="rId11" action="ppaction://hlinksldjump">
                  <a:extLst>
                    <a:ext uri="{A12FA001-AC4F-418D-AE19-62706E023703}">
                      <ahyp:hlinkClr xmlns:ahyp="http://schemas.microsoft.com/office/drawing/2018/hyperlinkcolor" val="tx"/>
                    </a:ext>
                  </a:extLst>
                </a:hlinkClick>
              </a:rPr>
              <a:t>Lookup</a:t>
            </a:r>
            <a:endParaRPr lang="en-US" sz="800" dirty="0"/>
          </a:p>
        </p:txBody>
      </p:sp>
      <p:sp>
        <p:nvSpPr>
          <p:cNvPr id="36" name="Shape 34">
            <a:hlinkClick r:id="rId12" action="ppaction://hlinksldjump"/>
          </p:cNvPr>
          <p:cNvSpPr/>
          <p:nvPr/>
        </p:nvSpPr>
        <p:spPr>
          <a:xfrm>
            <a:off x="11000232" y="6455664"/>
            <a:ext cx="868680" cy="283464"/>
          </a:xfrm>
          <a:prstGeom prst="roundRect">
            <a:avLst>
              <a:gd name="adj" fmla="val 25806"/>
            </a:avLst>
          </a:prstGeom>
          <a:solidFill>
            <a:srgbClr val="132133"/>
          </a:solidFill>
          <a:ln w="12700">
            <a:solidFill>
              <a:srgbClr val="132133">
                <a:alpha val="0"/>
              </a:srgbClr>
            </a:solidFill>
            <a:prstDash val="solid"/>
          </a:ln>
        </p:spPr>
        <p:txBody>
          <a:bodyPr/>
          <a:lstStyle/>
          <a:p>
            <a:endParaRPr lang="en-US"/>
          </a:p>
        </p:txBody>
      </p:sp>
      <p:sp>
        <p:nvSpPr>
          <p:cNvPr id="37" name="Text 35">
            <a:hlinkClick r:id="rId12" action="ppaction://hlinksldjump"/>
          </p:cNvPr>
          <p:cNvSpPr/>
          <p:nvPr/>
        </p:nvSpPr>
        <p:spPr>
          <a:xfrm>
            <a:off x="11018520" y="6483096"/>
            <a:ext cx="832104" cy="182880"/>
          </a:xfrm>
          <a:prstGeom prst="rect">
            <a:avLst/>
          </a:prstGeom>
          <a:noFill/>
          <a:ln/>
        </p:spPr>
        <p:txBody>
          <a:bodyPr wrap="square" lIns="381" tIns="381" rIns="381" bIns="381" rtlCol="0" anchor="ctr">
            <a:normAutofit/>
          </a:bodyPr>
          <a:lstStyle/>
          <a:p>
            <a:pPr marL="0" indent="0" algn="ctr">
              <a:buNone/>
            </a:pPr>
            <a:r>
              <a:rPr lang="en-US" sz="770" b="1" u="sng" dirty="0">
                <a:solidFill>
                  <a:srgbClr val="FFFFFF"/>
                </a:solidFill>
                <a:latin typeface="Arial" pitchFamily="34" charset="0"/>
                <a:ea typeface="Arial" pitchFamily="34" charset="-122"/>
                <a:cs typeface="Arial" pitchFamily="34" charset="-120"/>
                <a:hlinkClick r:id="rId12" action="ppaction://hlinksldjump">
                  <a:extLst>
                    <a:ext uri="{A12FA001-AC4F-418D-AE19-62706E023703}">
                      <ahyp:hlinkClr xmlns:ahyp="http://schemas.microsoft.com/office/drawing/2018/hyperlinkcolor" val="tx"/>
                    </a:ext>
                  </a:extLst>
                </a:hlinkClick>
              </a:rPr>
              <a:t>Site Flow</a:t>
            </a:r>
            <a:endParaRPr lang="en-US" sz="770" dirty="0"/>
          </a:p>
        </p:txBody>
      </p:sp>
      <p:sp>
        <p:nvSpPr>
          <p:cNvPr id="38" name="Text 36"/>
          <p:cNvSpPr/>
          <p:nvPr/>
        </p:nvSpPr>
        <p:spPr>
          <a:xfrm>
            <a:off x="822960" y="2084832"/>
            <a:ext cx="9509760" cy="146304"/>
          </a:xfrm>
          <a:prstGeom prst="rect">
            <a:avLst/>
          </a:prstGeom>
          <a:noFill/>
          <a:ln/>
        </p:spPr>
        <p:txBody>
          <a:bodyPr wrap="square" lIns="381" tIns="381" rIns="381" bIns="381" rtlCol="0" anchor="ctr">
            <a:normAutofit/>
          </a:bodyPr>
          <a:lstStyle/>
          <a:p>
            <a:pPr marL="0" indent="0" algn="l">
              <a:buNone/>
            </a:pPr>
            <a:r>
              <a:rPr lang="en-US" sz="680" b="1" dirty="0">
                <a:solidFill>
                  <a:srgbClr val="276F7B"/>
                </a:solidFill>
                <a:latin typeface="Arial" pitchFamily="34" charset="0"/>
                <a:ea typeface="Arial" pitchFamily="34" charset="-122"/>
                <a:cs typeface="Arial" pitchFamily="34" charset="-120"/>
              </a:rPr>
              <a:t>DISCOVER MOFFAT BAY</a:t>
            </a:r>
            <a:endParaRPr lang="en-US" sz="680" dirty="0"/>
          </a:p>
        </p:txBody>
      </p:sp>
      <p:sp>
        <p:nvSpPr>
          <p:cNvPr id="39" name="Text 37"/>
          <p:cNvSpPr/>
          <p:nvPr/>
        </p:nvSpPr>
        <p:spPr>
          <a:xfrm>
            <a:off x="822960" y="2286000"/>
            <a:ext cx="9509760" cy="393192"/>
          </a:xfrm>
          <a:prstGeom prst="rect">
            <a:avLst/>
          </a:prstGeom>
          <a:noFill/>
          <a:ln/>
        </p:spPr>
        <p:txBody>
          <a:bodyPr wrap="square" lIns="381" tIns="381" rIns="381" bIns="381" rtlCol="0" anchor="ctr">
            <a:normAutofit/>
          </a:bodyPr>
          <a:lstStyle/>
          <a:p>
            <a:pPr marL="0" indent="0" algn="l">
              <a:buNone/>
            </a:pPr>
            <a:r>
              <a:rPr lang="en-US" sz="2000" dirty="0">
                <a:solidFill>
                  <a:srgbClr val="132133"/>
                </a:solidFill>
                <a:latin typeface="Georgia" pitchFamily="34" charset="0"/>
                <a:ea typeface="Georgia" pitchFamily="34" charset="-122"/>
                <a:cs typeface="Georgia" pitchFamily="34" charset="-120"/>
              </a:rPr>
              <a:t>About Moffat Bay Lodge</a:t>
            </a:r>
            <a:endParaRPr lang="en-US" sz="2000" dirty="0"/>
          </a:p>
        </p:txBody>
      </p:sp>
      <p:sp>
        <p:nvSpPr>
          <p:cNvPr id="40" name="Text 38"/>
          <p:cNvSpPr/>
          <p:nvPr/>
        </p:nvSpPr>
        <p:spPr>
          <a:xfrm>
            <a:off x="822960" y="2779776"/>
            <a:ext cx="9509760" cy="256032"/>
          </a:xfrm>
          <a:prstGeom prst="rect">
            <a:avLst/>
          </a:prstGeom>
          <a:noFill/>
          <a:ln/>
        </p:spPr>
        <p:txBody>
          <a:bodyPr wrap="square" lIns="381" tIns="381" rIns="381" bIns="381" rtlCol="0" anchor="t">
            <a:normAutofit/>
          </a:bodyPr>
          <a:lstStyle/>
          <a:p>
            <a:pPr marL="0" indent="0" algn="l">
              <a:buNone/>
            </a:pPr>
            <a:r>
              <a:rPr lang="en-US" sz="840" dirty="0">
                <a:solidFill>
                  <a:srgbClr val="2A3B50"/>
                </a:solidFill>
                <a:latin typeface="Arial" pitchFamily="34" charset="0"/>
                <a:ea typeface="Arial" pitchFamily="34" charset="-122"/>
                <a:cs typeface="Arial" pitchFamily="34" charset="-120"/>
              </a:rPr>
              <a:t>A comfortable island retreat built around simple lodging, straightforward reservations, and easy access to outdoor experiences.</a:t>
            </a:r>
            <a:endParaRPr lang="en-US" sz="840" dirty="0"/>
          </a:p>
        </p:txBody>
      </p:sp>
      <p:sp>
        <p:nvSpPr>
          <p:cNvPr id="41" name="Shape 39"/>
          <p:cNvSpPr/>
          <p:nvPr/>
        </p:nvSpPr>
        <p:spPr>
          <a:xfrm>
            <a:off x="822960" y="3108960"/>
            <a:ext cx="658368" cy="32004"/>
          </a:xfrm>
          <a:prstGeom prst="rect">
            <a:avLst/>
          </a:prstGeom>
          <a:solidFill>
            <a:srgbClr val="2F8694"/>
          </a:solidFill>
          <a:ln w="12700">
            <a:solidFill>
              <a:srgbClr val="2F8694"/>
            </a:solidFill>
            <a:prstDash val="solid"/>
          </a:ln>
        </p:spPr>
        <p:txBody>
          <a:bodyPr/>
          <a:lstStyle/>
          <a:p>
            <a:endParaRPr lang="en-US"/>
          </a:p>
        </p:txBody>
      </p:sp>
      <p:sp>
        <p:nvSpPr>
          <p:cNvPr id="42" name="Shape 40"/>
          <p:cNvSpPr/>
          <p:nvPr/>
        </p:nvSpPr>
        <p:spPr>
          <a:xfrm>
            <a:off x="822960" y="3410712"/>
            <a:ext cx="4754880" cy="1417320"/>
          </a:xfrm>
          <a:prstGeom prst="roundRect">
            <a:avLst>
              <a:gd name="adj" fmla="val 6452"/>
            </a:avLst>
          </a:prstGeom>
          <a:solidFill>
            <a:srgbClr val="FFFFFF">
              <a:alpha val="90000"/>
            </a:srgbClr>
          </a:solidFill>
          <a:ln w="12700">
            <a:solidFill>
              <a:srgbClr val="E9DFCF">
                <a:alpha val="80000"/>
              </a:srgbClr>
            </a:solidFill>
            <a:prstDash val="solid"/>
          </a:ln>
          <a:effectLst>
            <a:outerShdw blurRad="12700" dist="8890" dir="2700000" algn="bl" rotWithShape="0">
              <a:srgbClr val="132133">
                <a:alpha val="7000"/>
              </a:srgbClr>
            </a:outerShdw>
          </a:effectLst>
        </p:spPr>
        <p:txBody>
          <a:bodyPr/>
          <a:lstStyle/>
          <a:p>
            <a:endParaRPr lang="en-US"/>
          </a:p>
        </p:txBody>
      </p:sp>
      <p:sp>
        <p:nvSpPr>
          <p:cNvPr id="43" name="Shape 41"/>
          <p:cNvSpPr/>
          <p:nvPr/>
        </p:nvSpPr>
        <p:spPr>
          <a:xfrm>
            <a:off x="822960" y="3410712"/>
            <a:ext cx="4754880" cy="54864"/>
          </a:xfrm>
          <a:prstGeom prst="rect">
            <a:avLst/>
          </a:prstGeom>
          <a:solidFill>
            <a:srgbClr val="2F8694"/>
          </a:solidFill>
          <a:ln w="12700">
            <a:solidFill>
              <a:srgbClr val="2F8694"/>
            </a:solidFill>
            <a:prstDash val="solid"/>
          </a:ln>
        </p:spPr>
        <p:txBody>
          <a:bodyPr/>
          <a:lstStyle/>
          <a:p>
            <a:endParaRPr lang="en-US"/>
          </a:p>
        </p:txBody>
      </p:sp>
      <p:sp>
        <p:nvSpPr>
          <p:cNvPr id="44" name="Text 42"/>
          <p:cNvSpPr/>
          <p:nvPr/>
        </p:nvSpPr>
        <p:spPr>
          <a:xfrm>
            <a:off x="987552" y="3575304"/>
            <a:ext cx="4425696" cy="292608"/>
          </a:xfrm>
          <a:prstGeom prst="rect">
            <a:avLst/>
          </a:prstGeom>
          <a:noFill/>
          <a:ln/>
        </p:spPr>
        <p:txBody>
          <a:bodyPr wrap="square" lIns="381" tIns="381" rIns="381" bIns="381" rtlCol="0" anchor="ctr">
            <a:normAutofit/>
          </a:bodyPr>
          <a:lstStyle/>
          <a:p>
            <a:pPr marL="0" indent="0" algn="l">
              <a:buNone/>
            </a:pPr>
            <a:r>
              <a:rPr lang="en-US" sz="1250" dirty="0">
                <a:solidFill>
                  <a:srgbClr val="132133"/>
                </a:solidFill>
                <a:latin typeface="Georgia" pitchFamily="34" charset="0"/>
                <a:ea typeface="Georgia" pitchFamily="34" charset="-122"/>
                <a:cs typeface="Georgia" pitchFamily="34" charset="-120"/>
              </a:rPr>
              <a:t>A Comfortable Place to Call Home</a:t>
            </a:r>
            <a:endParaRPr lang="en-US" sz="1250" dirty="0"/>
          </a:p>
        </p:txBody>
      </p:sp>
      <p:sp>
        <p:nvSpPr>
          <p:cNvPr id="45" name="Text 43"/>
          <p:cNvSpPr/>
          <p:nvPr/>
        </p:nvSpPr>
        <p:spPr>
          <a:xfrm>
            <a:off x="987552" y="3913632"/>
            <a:ext cx="4425696" cy="758952"/>
          </a:xfrm>
          <a:prstGeom prst="rect">
            <a:avLst/>
          </a:prstGeom>
          <a:noFill/>
          <a:ln/>
        </p:spPr>
        <p:txBody>
          <a:bodyPr wrap="square" lIns="381" tIns="381" rIns="381" bIns="381" rtlCol="0" anchor="t">
            <a:normAutofit/>
          </a:bodyPr>
          <a:lstStyle/>
          <a:p>
            <a:pPr marL="0" indent="0" algn="l">
              <a:buNone/>
            </a:pPr>
            <a:r>
              <a:rPr lang="en-US" sz="680" dirty="0">
                <a:solidFill>
                  <a:srgbClr val="2A3B50"/>
                </a:solidFill>
                <a:latin typeface="Arial" pitchFamily="34" charset="0"/>
                <a:ea typeface="Arial" pitchFamily="34" charset="-122"/>
                <a:cs typeface="Arial" pitchFamily="34" charset="-120"/>
              </a:rPr>
              <a:t>Moffat Bay Lodge is designed for travelers who want comfortable lodging and easy access to local island activities. Visitors can compare rooms, learn about adventures, and book from one simple site.</a:t>
            </a:r>
            <a:endParaRPr lang="en-US" sz="680" dirty="0"/>
          </a:p>
        </p:txBody>
      </p:sp>
      <p:sp>
        <p:nvSpPr>
          <p:cNvPr id="46" name="Shape 44"/>
          <p:cNvSpPr/>
          <p:nvPr/>
        </p:nvSpPr>
        <p:spPr>
          <a:xfrm>
            <a:off x="5897880" y="3410712"/>
            <a:ext cx="4800600" cy="1417320"/>
          </a:xfrm>
          <a:prstGeom prst="roundRect">
            <a:avLst>
              <a:gd name="adj" fmla="val 6452"/>
            </a:avLst>
          </a:prstGeom>
          <a:solidFill>
            <a:srgbClr val="FFFFFF">
              <a:alpha val="90000"/>
            </a:srgbClr>
          </a:solidFill>
          <a:ln w="12700">
            <a:solidFill>
              <a:srgbClr val="E9DFCF">
                <a:alpha val="80000"/>
              </a:srgbClr>
            </a:solidFill>
            <a:prstDash val="solid"/>
          </a:ln>
          <a:effectLst>
            <a:outerShdw blurRad="12700" dist="8890" dir="2700000" algn="bl" rotWithShape="0">
              <a:srgbClr val="132133">
                <a:alpha val="7000"/>
              </a:srgbClr>
            </a:outerShdw>
          </a:effectLst>
        </p:spPr>
        <p:txBody>
          <a:bodyPr/>
          <a:lstStyle/>
          <a:p>
            <a:endParaRPr lang="en-US"/>
          </a:p>
        </p:txBody>
      </p:sp>
      <p:sp>
        <p:nvSpPr>
          <p:cNvPr id="47" name="Text 45"/>
          <p:cNvSpPr/>
          <p:nvPr/>
        </p:nvSpPr>
        <p:spPr>
          <a:xfrm>
            <a:off x="6062472" y="3575304"/>
            <a:ext cx="4471416" cy="292608"/>
          </a:xfrm>
          <a:prstGeom prst="rect">
            <a:avLst/>
          </a:prstGeom>
          <a:noFill/>
          <a:ln/>
        </p:spPr>
        <p:txBody>
          <a:bodyPr wrap="square" lIns="381" tIns="381" rIns="381" bIns="381" rtlCol="0" anchor="ctr">
            <a:normAutofit/>
          </a:bodyPr>
          <a:lstStyle/>
          <a:p>
            <a:pPr marL="0" indent="0" algn="l">
              <a:buNone/>
            </a:pPr>
            <a:r>
              <a:rPr lang="en-US" sz="1250" dirty="0">
                <a:solidFill>
                  <a:srgbClr val="132133"/>
                </a:solidFill>
                <a:latin typeface="Georgia" pitchFamily="34" charset="0"/>
                <a:ea typeface="Georgia" pitchFamily="34" charset="-122"/>
                <a:cs typeface="Georgia" pitchFamily="34" charset="-120"/>
              </a:rPr>
              <a:t>Stay. Explore. Relax.</a:t>
            </a:r>
            <a:endParaRPr lang="en-US" sz="1250" dirty="0"/>
          </a:p>
        </p:txBody>
      </p:sp>
      <p:sp>
        <p:nvSpPr>
          <p:cNvPr id="48" name="Text 46"/>
          <p:cNvSpPr/>
          <p:nvPr/>
        </p:nvSpPr>
        <p:spPr>
          <a:xfrm>
            <a:off x="6062472" y="3913632"/>
            <a:ext cx="4471416" cy="758952"/>
          </a:xfrm>
          <a:prstGeom prst="rect">
            <a:avLst/>
          </a:prstGeom>
          <a:noFill/>
          <a:ln/>
        </p:spPr>
        <p:txBody>
          <a:bodyPr wrap="square" lIns="381" tIns="381" rIns="381" bIns="381" rtlCol="0" anchor="t">
            <a:normAutofit/>
          </a:bodyPr>
          <a:lstStyle/>
          <a:p>
            <a:pPr marL="0" indent="0" algn="l">
              <a:buNone/>
            </a:pPr>
            <a:r>
              <a:rPr lang="en-US" sz="680" dirty="0">
                <a:solidFill>
                  <a:srgbClr val="2A3B50"/>
                </a:solidFill>
                <a:latin typeface="Arial" pitchFamily="34" charset="0"/>
                <a:ea typeface="Arial" pitchFamily="34" charset="-122"/>
                <a:cs typeface="Arial" pitchFamily="34" charset="-120"/>
              </a:rPr>
              <a:t>Start near the water, spend the day exploring trails or ocean activities, then return to a comfortable room at night. One lodge location keeps planning simple.</a:t>
            </a:r>
            <a:endParaRPr lang="en-US" sz="680" dirty="0"/>
          </a:p>
        </p:txBody>
      </p:sp>
      <p:sp>
        <p:nvSpPr>
          <p:cNvPr id="49" name="Shape 47"/>
          <p:cNvSpPr/>
          <p:nvPr/>
        </p:nvSpPr>
        <p:spPr>
          <a:xfrm>
            <a:off x="822960" y="5148072"/>
            <a:ext cx="3063240" cy="1143000"/>
          </a:xfrm>
          <a:prstGeom prst="roundRect">
            <a:avLst>
              <a:gd name="adj" fmla="val 8000"/>
            </a:avLst>
          </a:prstGeom>
          <a:solidFill>
            <a:srgbClr val="FFFFFF">
              <a:alpha val="90000"/>
            </a:srgbClr>
          </a:solidFill>
          <a:ln w="12700">
            <a:solidFill>
              <a:srgbClr val="E9DFCF">
                <a:alpha val="90000"/>
              </a:srgbClr>
            </a:solidFill>
            <a:prstDash val="solid"/>
          </a:ln>
          <a:effectLst>
            <a:outerShdw blurRad="12700" dist="8890" dir="2700000" algn="bl" rotWithShape="0">
              <a:srgbClr val="132133">
                <a:alpha val="7000"/>
              </a:srgbClr>
            </a:outerShdw>
          </a:effectLst>
        </p:spPr>
        <p:txBody>
          <a:bodyPr/>
          <a:lstStyle/>
          <a:p>
            <a:endParaRPr lang="en-US"/>
          </a:p>
        </p:txBody>
      </p:sp>
      <p:sp>
        <p:nvSpPr>
          <p:cNvPr id="50" name="Text 48"/>
          <p:cNvSpPr/>
          <p:nvPr/>
        </p:nvSpPr>
        <p:spPr>
          <a:xfrm>
            <a:off x="950976" y="5266944"/>
            <a:ext cx="640080" cy="109728"/>
          </a:xfrm>
          <a:prstGeom prst="rect">
            <a:avLst/>
          </a:prstGeom>
          <a:noFill/>
          <a:ln/>
        </p:spPr>
        <p:txBody>
          <a:bodyPr wrap="square" lIns="381" tIns="381" rIns="381" bIns="381" rtlCol="0" anchor="ctr">
            <a:normAutofit/>
          </a:bodyPr>
          <a:lstStyle/>
          <a:p>
            <a:pPr marL="0" indent="0" algn="l">
              <a:buNone/>
            </a:pPr>
            <a:r>
              <a:rPr lang="en-US" sz="560" b="1" dirty="0">
                <a:solidFill>
                  <a:srgbClr val="CDA059"/>
                </a:solidFill>
                <a:latin typeface="Arial" pitchFamily="34" charset="0"/>
                <a:ea typeface="Arial" pitchFamily="34" charset="-122"/>
                <a:cs typeface="Arial" pitchFamily="34" charset="-120"/>
              </a:rPr>
              <a:t>01</a:t>
            </a:r>
            <a:endParaRPr lang="en-US" sz="560" dirty="0"/>
          </a:p>
        </p:txBody>
      </p:sp>
      <p:sp>
        <p:nvSpPr>
          <p:cNvPr id="51" name="Text 49"/>
          <p:cNvSpPr/>
          <p:nvPr/>
        </p:nvSpPr>
        <p:spPr>
          <a:xfrm>
            <a:off x="950976" y="5458968"/>
            <a:ext cx="2807208" cy="274320"/>
          </a:xfrm>
          <a:prstGeom prst="rect">
            <a:avLst/>
          </a:prstGeom>
          <a:noFill/>
          <a:ln/>
        </p:spPr>
        <p:txBody>
          <a:bodyPr wrap="square" lIns="381" tIns="381" rIns="381" bIns="381" rtlCol="0" anchor="ctr">
            <a:normAutofit/>
          </a:bodyPr>
          <a:lstStyle/>
          <a:p>
            <a:pPr marL="0" indent="0" algn="l">
              <a:buNone/>
            </a:pPr>
            <a:r>
              <a:rPr lang="en-US" sz="1230" dirty="0">
                <a:solidFill>
                  <a:srgbClr val="132133"/>
                </a:solidFill>
                <a:latin typeface="Georgia" pitchFamily="34" charset="0"/>
                <a:ea typeface="Georgia" pitchFamily="34" charset="-122"/>
                <a:cs typeface="Georgia" pitchFamily="34" charset="-120"/>
              </a:rPr>
              <a:t>Comfortable Room Options</a:t>
            </a:r>
            <a:endParaRPr lang="en-US" sz="1230" dirty="0"/>
          </a:p>
        </p:txBody>
      </p:sp>
      <p:sp>
        <p:nvSpPr>
          <p:cNvPr id="52" name="Text 50"/>
          <p:cNvSpPr/>
          <p:nvPr/>
        </p:nvSpPr>
        <p:spPr>
          <a:xfrm>
            <a:off x="950976" y="5806440"/>
            <a:ext cx="2807208" cy="384048"/>
          </a:xfrm>
          <a:prstGeom prst="rect">
            <a:avLst/>
          </a:prstGeom>
          <a:noFill/>
          <a:ln/>
        </p:spPr>
        <p:txBody>
          <a:bodyPr wrap="square" lIns="381" tIns="381" rIns="381" bIns="381" rtlCol="0" anchor="t">
            <a:normAutofit/>
          </a:bodyPr>
          <a:lstStyle/>
          <a:p>
            <a:pPr marL="0" indent="0" algn="l">
              <a:buNone/>
            </a:pPr>
            <a:r>
              <a:rPr lang="en-US" sz="680" dirty="0">
                <a:solidFill>
                  <a:srgbClr val="2A3B50"/>
                </a:solidFill>
                <a:latin typeface="Arial" pitchFamily="34" charset="0"/>
                <a:ea typeface="Arial" pitchFamily="34" charset="-122"/>
                <a:cs typeface="Arial" pitchFamily="34" charset="-120"/>
              </a:rPr>
              <a:t>Compare Double Full, Queen, Double Queen, and King rooms.</a:t>
            </a:r>
            <a:endParaRPr lang="en-US" sz="680" dirty="0"/>
          </a:p>
        </p:txBody>
      </p:sp>
      <p:sp>
        <p:nvSpPr>
          <p:cNvPr id="53" name="Text 51"/>
          <p:cNvSpPr/>
          <p:nvPr/>
        </p:nvSpPr>
        <p:spPr>
          <a:xfrm>
            <a:off x="950976" y="5980176"/>
            <a:ext cx="2807208" cy="128016"/>
          </a:xfrm>
          <a:prstGeom prst="rect">
            <a:avLst/>
          </a:prstGeom>
          <a:noFill/>
          <a:ln/>
        </p:spPr>
        <p:txBody>
          <a:bodyPr wrap="square" lIns="381" tIns="381" rIns="381" bIns="381" rtlCol="0" anchor="ctr">
            <a:normAutofit/>
          </a:bodyPr>
          <a:lstStyle/>
          <a:p>
            <a:pPr marL="0" indent="0" algn="l">
              <a:buNone/>
            </a:pPr>
            <a:r>
              <a:rPr lang="en-US" sz="640" b="1" dirty="0">
                <a:solidFill>
                  <a:srgbClr val="276F7B"/>
                </a:solidFill>
                <a:latin typeface="Arial" pitchFamily="34" charset="0"/>
                <a:ea typeface="Arial" pitchFamily="34" charset="-122"/>
                <a:cs typeface="Arial" pitchFamily="34" charset="-120"/>
              </a:rPr>
              <a:t>View Rooms →</a:t>
            </a:r>
            <a:endParaRPr lang="en-US" sz="640" dirty="0"/>
          </a:p>
        </p:txBody>
      </p:sp>
      <p:sp>
        <p:nvSpPr>
          <p:cNvPr id="54" name="Shape 52"/>
          <p:cNvSpPr/>
          <p:nvPr/>
        </p:nvSpPr>
        <p:spPr>
          <a:xfrm>
            <a:off x="4133088" y="5148072"/>
            <a:ext cx="3063240" cy="1143000"/>
          </a:xfrm>
          <a:prstGeom prst="roundRect">
            <a:avLst>
              <a:gd name="adj" fmla="val 8000"/>
            </a:avLst>
          </a:prstGeom>
          <a:solidFill>
            <a:srgbClr val="FFFFFF">
              <a:alpha val="90000"/>
            </a:srgbClr>
          </a:solidFill>
          <a:ln w="12700">
            <a:solidFill>
              <a:srgbClr val="E9DFCF">
                <a:alpha val="90000"/>
              </a:srgbClr>
            </a:solidFill>
            <a:prstDash val="solid"/>
          </a:ln>
          <a:effectLst>
            <a:outerShdw blurRad="12700" dist="8890" dir="2700000" algn="bl" rotWithShape="0">
              <a:srgbClr val="132133">
                <a:alpha val="7000"/>
              </a:srgbClr>
            </a:outerShdw>
          </a:effectLst>
        </p:spPr>
        <p:txBody>
          <a:bodyPr/>
          <a:lstStyle/>
          <a:p>
            <a:endParaRPr lang="en-US"/>
          </a:p>
        </p:txBody>
      </p:sp>
      <p:sp>
        <p:nvSpPr>
          <p:cNvPr id="55" name="Text 53"/>
          <p:cNvSpPr/>
          <p:nvPr/>
        </p:nvSpPr>
        <p:spPr>
          <a:xfrm>
            <a:off x="4261104" y="5266944"/>
            <a:ext cx="640080" cy="109728"/>
          </a:xfrm>
          <a:prstGeom prst="rect">
            <a:avLst/>
          </a:prstGeom>
          <a:noFill/>
          <a:ln/>
        </p:spPr>
        <p:txBody>
          <a:bodyPr wrap="square" lIns="381" tIns="381" rIns="381" bIns="381" rtlCol="0" anchor="ctr">
            <a:normAutofit/>
          </a:bodyPr>
          <a:lstStyle/>
          <a:p>
            <a:pPr marL="0" indent="0" algn="l">
              <a:buNone/>
            </a:pPr>
            <a:r>
              <a:rPr lang="en-US" sz="560" b="1" dirty="0">
                <a:solidFill>
                  <a:srgbClr val="CDA059"/>
                </a:solidFill>
                <a:latin typeface="Arial" pitchFamily="34" charset="0"/>
                <a:ea typeface="Arial" pitchFamily="34" charset="-122"/>
                <a:cs typeface="Arial" pitchFamily="34" charset="-120"/>
              </a:rPr>
              <a:t>02</a:t>
            </a:r>
            <a:endParaRPr lang="en-US" sz="560" dirty="0"/>
          </a:p>
        </p:txBody>
      </p:sp>
      <p:sp>
        <p:nvSpPr>
          <p:cNvPr id="56" name="Text 54"/>
          <p:cNvSpPr/>
          <p:nvPr/>
        </p:nvSpPr>
        <p:spPr>
          <a:xfrm>
            <a:off x="4261104" y="5458968"/>
            <a:ext cx="2807208" cy="274320"/>
          </a:xfrm>
          <a:prstGeom prst="rect">
            <a:avLst/>
          </a:prstGeom>
          <a:noFill/>
          <a:ln/>
        </p:spPr>
        <p:txBody>
          <a:bodyPr wrap="square" lIns="381" tIns="381" rIns="381" bIns="381" rtlCol="0" anchor="ctr">
            <a:normAutofit/>
          </a:bodyPr>
          <a:lstStyle/>
          <a:p>
            <a:pPr marL="0" indent="0" algn="l">
              <a:buNone/>
            </a:pPr>
            <a:r>
              <a:rPr lang="en-US" sz="1230" dirty="0">
                <a:solidFill>
                  <a:srgbClr val="132133"/>
                </a:solidFill>
                <a:latin typeface="Georgia" pitchFamily="34" charset="0"/>
                <a:ea typeface="Georgia" pitchFamily="34" charset="-122"/>
                <a:cs typeface="Georgia" pitchFamily="34" charset="-120"/>
              </a:rPr>
              <a:t>Simple Reservations</a:t>
            </a:r>
            <a:endParaRPr lang="en-US" sz="1230" dirty="0"/>
          </a:p>
        </p:txBody>
      </p:sp>
      <p:sp>
        <p:nvSpPr>
          <p:cNvPr id="57" name="Text 55"/>
          <p:cNvSpPr/>
          <p:nvPr/>
        </p:nvSpPr>
        <p:spPr>
          <a:xfrm>
            <a:off x="4261104" y="5806440"/>
            <a:ext cx="2807208" cy="384048"/>
          </a:xfrm>
          <a:prstGeom prst="rect">
            <a:avLst/>
          </a:prstGeom>
          <a:noFill/>
          <a:ln/>
        </p:spPr>
        <p:txBody>
          <a:bodyPr wrap="square" lIns="381" tIns="381" rIns="381" bIns="381" rtlCol="0" anchor="t">
            <a:normAutofit/>
          </a:bodyPr>
          <a:lstStyle/>
          <a:p>
            <a:pPr marL="0" indent="0" algn="l">
              <a:buNone/>
            </a:pPr>
            <a:r>
              <a:rPr lang="en-US" sz="680" dirty="0">
                <a:solidFill>
                  <a:srgbClr val="2A3B50"/>
                </a:solidFill>
                <a:latin typeface="Arial" pitchFamily="34" charset="0"/>
                <a:ea typeface="Arial" pitchFamily="34" charset="-122"/>
                <a:cs typeface="Arial" pitchFamily="34" charset="-120"/>
              </a:rPr>
              <a:t>Select a room, dates, and guests before confirming.</a:t>
            </a:r>
            <a:endParaRPr lang="en-US" sz="680" dirty="0"/>
          </a:p>
        </p:txBody>
      </p:sp>
      <p:sp>
        <p:nvSpPr>
          <p:cNvPr id="58" name="Text 56"/>
          <p:cNvSpPr/>
          <p:nvPr/>
        </p:nvSpPr>
        <p:spPr>
          <a:xfrm>
            <a:off x="4261104" y="5980176"/>
            <a:ext cx="2807208" cy="128016"/>
          </a:xfrm>
          <a:prstGeom prst="rect">
            <a:avLst/>
          </a:prstGeom>
          <a:noFill/>
          <a:ln/>
        </p:spPr>
        <p:txBody>
          <a:bodyPr wrap="square" lIns="381" tIns="381" rIns="381" bIns="381" rtlCol="0" anchor="ctr">
            <a:normAutofit/>
          </a:bodyPr>
          <a:lstStyle/>
          <a:p>
            <a:pPr marL="0" indent="0" algn="l">
              <a:buNone/>
            </a:pPr>
            <a:r>
              <a:rPr lang="en-US" sz="640" b="1" dirty="0">
                <a:solidFill>
                  <a:srgbClr val="276F7B"/>
                </a:solidFill>
                <a:latin typeface="Arial" pitchFamily="34" charset="0"/>
                <a:ea typeface="Arial" pitchFamily="34" charset="-122"/>
                <a:cs typeface="Arial" pitchFamily="34" charset="-120"/>
              </a:rPr>
              <a:t>Book Your Stay →</a:t>
            </a:r>
            <a:endParaRPr lang="en-US" sz="640" dirty="0"/>
          </a:p>
        </p:txBody>
      </p:sp>
      <p:sp>
        <p:nvSpPr>
          <p:cNvPr id="59" name="Shape 57"/>
          <p:cNvSpPr/>
          <p:nvPr/>
        </p:nvSpPr>
        <p:spPr>
          <a:xfrm>
            <a:off x="7443216" y="5148072"/>
            <a:ext cx="3063240" cy="1143000"/>
          </a:xfrm>
          <a:prstGeom prst="roundRect">
            <a:avLst>
              <a:gd name="adj" fmla="val 8000"/>
            </a:avLst>
          </a:prstGeom>
          <a:solidFill>
            <a:srgbClr val="FFFFFF">
              <a:alpha val="90000"/>
            </a:srgbClr>
          </a:solidFill>
          <a:ln w="12700">
            <a:solidFill>
              <a:srgbClr val="E9DFCF">
                <a:alpha val="90000"/>
              </a:srgbClr>
            </a:solidFill>
            <a:prstDash val="solid"/>
          </a:ln>
          <a:effectLst>
            <a:outerShdw blurRad="12700" dist="8890" dir="2700000" algn="bl" rotWithShape="0">
              <a:srgbClr val="132133">
                <a:alpha val="7000"/>
              </a:srgbClr>
            </a:outerShdw>
          </a:effectLst>
        </p:spPr>
        <p:txBody>
          <a:bodyPr/>
          <a:lstStyle/>
          <a:p>
            <a:endParaRPr lang="en-US"/>
          </a:p>
        </p:txBody>
      </p:sp>
      <p:sp>
        <p:nvSpPr>
          <p:cNvPr id="60" name="Text 58"/>
          <p:cNvSpPr/>
          <p:nvPr/>
        </p:nvSpPr>
        <p:spPr>
          <a:xfrm>
            <a:off x="7571232" y="5266944"/>
            <a:ext cx="640080" cy="109728"/>
          </a:xfrm>
          <a:prstGeom prst="rect">
            <a:avLst/>
          </a:prstGeom>
          <a:noFill/>
          <a:ln/>
        </p:spPr>
        <p:txBody>
          <a:bodyPr wrap="square" lIns="381" tIns="381" rIns="381" bIns="381" rtlCol="0" anchor="ctr">
            <a:normAutofit/>
          </a:bodyPr>
          <a:lstStyle/>
          <a:p>
            <a:pPr marL="0" indent="0" algn="l">
              <a:buNone/>
            </a:pPr>
            <a:r>
              <a:rPr lang="en-US" sz="560" b="1" dirty="0">
                <a:solidFill>
                  <a:srgbClr val="CDA059"/>
                </a:solidFill>
                <a:latin typeface="Arial" pitchFamily="34" charset="0"/>
                <a:ea typeface="Arial" pitchFamily="34" charset="-122"/>
                <a:cs typeface="Arial" pitchFamily="34" charset="-120"/>
              </a:rPr>
              <a:t>03</a:t>
            </a:r>
            <a:endParaRPr lang="en-US" sz="560" dirty="0"/>
          </a:p>
        </p:txBody>
      </p:sp>
      <p:sp>
        <p:nvSpPr>
          <p:cNvPr id="61" name="Text 59"/>
          <p:cNvSpPr/>
          <p:nvPr/>
        </p:nvSpPr>
        <p:spPr>
          <a:xfrm>
            <a:off x="7571232" y="5458968"/>
            <a:ext cx="2807208" cy="274320"/>
          </a:xfrm>
          <a:prstGeom prst="rect">
            <a:avLst/>
          </a:prstGeom>
          <a:noFill/>
          <a:ln/>
        </p:spPr>
        <p:txBody>
          <a:bodyPr wrap="square" lIns="381" tIns="381" rIns="381" bIns="381" rtlCol="0" anchor="ctr">
            <a:normAutofit/>
          </a:bodyPr>
          <a:lstStyle/>
          <a:p>
            <a:pPr marL="0" indent="0" algn="l">
              <a:buNone/>
            </a:pPr>
            <a:r>
              <a:rPr lang="en-US" sz="1230" dirty="0">
                <a:solidFill>
                  <a:srgbClr val="132133"/>
                </a:solidFill>
                <a:latin typeface="Georgia" pitchFamily="34" charset="0"/>
                <a:ea typeface="Georgia" pitchFamily="34" charset="-122"/>
                <a:cs typeface="Georgia" pitchFamily="34" charset="-120"/>
              </a:rPr>
              <a:t>Island Adventure</a:t>
            </a:r>
            <a:endParaRPr lang="en-US" sz="1230" dirty="0"/>
          </a:p>
        </p:txBody>
      </p:sp>
      <p:sp>
        <p:nvSpPr>
          <p:cNvPr id="62" name="Text 60"/>
          <p:cNvSpPr/>
          <p:nvPr/>
        </p:nvSpPr>
        <p:spPr>
          <a:xfrm>
            <a:off x="7571232" y="5806440"/>
            <a:ext cx="2807208" cy="384048"/>
          </a:xfrm>
          <a:prstGeom prst="rect">
            <a:avLst/>
          </a:prstGeom>
          <a:noFill/>
          <a:ln/>
        </p:spPr>
        <p:txBody>
          <a:bodyPr wrap="square" lIns="381" tIns="381" rIns="381" bIns="381" rtlCol="0" anchor="t">
            <a:normAutofit/>
          </a:bodyPr>
          <a:lstStyle/>
          <a:p>
            <a:pPr marL="0" indent="0" algn="l">
              <a:buNone/>
            </a:pPr>
            <a:r>
              <a:rPr lang="en-US" sz="680" dirty="0">
                <a:solidFill>
                  <a:srgbClr val="2A3B50"/>
                </a:solidFill>
                <a:latin typeface="Arial" pitchFamily="34" charset="0"/>
                <a:ea typeface="Arial" pitchFamily="34" charset="-122"/>
                <a:cs typeface="Arial" pitchFamily="34" charset="-120"/>
              </a:rPr>
              <a:t>Plan hiking, kayaking, whale watching, and scuba diving.</a:t>
            </a:r>
            <a:endParaRPr lang="en-US" sz="680" dirty="0"/>
          </a:p>
        </p:txBody>
      </p:sp>
      <p:sp>
        <p:nvSpPr>
          <p:cNvPr id="63" name="Text 61"/>
          <p:cNvSpPr/>
          <p:nvPr/>
        </p:nvSpPr>
        <p:spPr>
          <a:xfrm>
            <a:off x="7571232" y="5980176"/>
            <a:ext cx="2807208" cy="128016"/>
          </a:xfrm>
          <a:prstGeom prst="rect">
            <a:avLst/>
          </a:prstGeom>
          <a:noFill/>
          <a:ln/>
        </p:spPr>
        <p:txBody>
          <a:bodyPr wrap="square" lIns="381" tIns="381" rIns="381" bIns="381" rtlCol="0" anchor="ctr">
            <a:normAutofit/>
          </a:bodyPr>
          <a:lstStyle/>
          <a:p>
            <a:pPr marL="0" indent="0" algn="l">
              <a:buNone/>
            </a:pPr>
            <a:r>
              <a:rPr lang="en-US" sz="640" b="1" dirty="0">
                <a:solidFill>
                  <a:srgbClr val="276F7B"/>
                </a:solidFill>
                <a:latin typeface="Arial" pitchFamily="34" charset="0"/>
                <a:ea typeface="Arial" pitchFamily="34" charset="-122"/>
                <a:cs typeface="Arial" pitchFamily="34" charset="-120"/>
              </a:rPr>
              <a:t>Explore Attractions →</a:t>
            </a:r>
            <a:endParaRPr lang="en-US" sz="6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28600"/>
            <a:ext cx="5943600" cy="365760"/>
          </a:xfrm>
          <a:prstGeom prst="rect">
            <a:avLst/>
          </a:prstGeom>
          <a:noFill/>
          <a:ln/>
        </p:spPr>
        <p:txBody>
          <a:bodyPr wrap="square" lIns="381" tIns="381" rIns="381" bIns="381" rtlCol="0" anchor="ctr">
            <a:normAutofit/>
          </a:bodyPr>
          <a:lstStyle/>
          <a:p>
            <a:pPr marL="0" indent="0" algn="l">
              <a:buNone/>
            </a:pPr>
            <a:r>
              <a:rPr lang="en-US" sz="2000" b="1" dirty="0">
                <a:solidFill>
                  <a:srgbClr val="132133"/>
                </a:solidFill>
                <a:latin typeface="Georgia" pitchFamily="34" charset="0"/>
                <a:ea typeface="Georgia" pitchFamily="34" charset="-122"/>
                <a:cs typeface="Georgia" pitchFamily="34" charset="-120"/>
              </a:rPr>
              <a:t>Rooms &amp; Pricing Prototype</a:t>
            </a:r>
            <a:endParaRPr lang="en-US" sz="2000" dirty="0"/>
          </a:p>
        </p:txBody>
      </p:sp>
      <p:sp>
        <p:nvSpPr>
          <p:cNvPr id="3" name="Text 1"/>
          <p:cNvSpPr/>
          <p:nvPr/>
        </p:nvSpPr>
        <p:spPr>
          <a:xfrm>
            <a:off x="512064" y="630936"/>
            <a:ext cx="6492240" cy="228600"/>
          </a:xfrm>
          <a:prstGeom prst="rect">
            <a:avLst/>
          </a:prstGeom>
          <a:noFill/>
          <a:ln/>
        </p:spPr>
        <p:txBody>
          <a:bodyPr wrap="square" lIns="381" tIns="381" rIns="381" bIns="381" rtlCol="0" anchor="ctr">
            <a:normAutofit/>
          </a:bodyPr>
          <a:lstStyle/>
          <a:p>
            <a:pPr marL="0" indent="0" algn="l">
              <a:buNone/>
            </a:pPr>
            <a:r>
              <a:rPr lang="en-US" sz="850" dirty="0">
                <a:solidFill>
                  <a:srgbClr val="536273"/>
                </a:solidFill>
                <a:latin typeface="Arial" pitchFamily="34" charset="0"/>
                <a:ea typeface="Arial" pitchFamily="34" charset="-122"/>
                <a:cs typeface="Arial" pitchFamily="34" charset="-120"/>
              </a:rPr>
              <a:t>Purpose: help guests compare room types and continue directly to the reservation form.</a:t>
            </a:r>
            <a:endParaRPr lang="en-US" sz="850" dirty="0"/>
          </a:p>
        </p:txBody>
      </p:sp>
      <p:sp>
        <p:nvSpPr>
          <p:cNvPr id="4" name="Text 2"/>
          <p:cNvSpPr/>
          <p:nvPr/>
        </p:nvSpPr>
        <p:spPr>
          <a:xfrm>
            <a:off x="8823960" y="256032"/>
            <a:ext cx="2743200" cy="228600"/>
          </a:xfrm>
          <a:prstGeom prst="rect">
            <a:avLst/>
          </a:prstGeom>
          <a:noFill/>
          <a:ln/>
        </p:spPr>
        <p:txBody>
          <a:bodyPr wrap="square" lIns="381" tIns="381" rIns="381" bIns="381" rtlCol="0" anchor="ctr">
            <a:normAutofit/>
          </a:bodyPr>
          <a:lstStyle/>
          <a:p>
            <a:pPr marL="0" indent="0" algn="r">
              <a:buNone/>
            </a:pPr>
            <a:r>
              <a:rPr lang="en-US" sz="800" b="1" dirty="0">
                <a:solidFill>
                  <a:srgbClr val="536273"/>
                </a:solidFill>
                <a:latin typeface="Arial" pitchFamily="34" charset="0"/>
                <a:ea typeface="Arial" pitchFamily="34" charset="-122"/>
                <a:cs typeface="Arial" pitchFamily="34" charset="-120"/>
              </a:rPr>
              <a:t>Moffat Bay Lodge Prototype</a:t>
            </a:r>
            <a:endParaRPr lang="en-US" sz="800" dirty="0"/>
          </a:p>
        </p:txBody>
      </p:sp>
      <p:sp>
        <p:nvSpPr>
          <p:cNvPr id="5" name="Shape 3"/>
          <p:cNvSpPr/>
          <p:nvPr/>
        </p:nvSpPr>
        <p:spPr>
          <a:xfrm>
            <a:off x="502920" y="896112"/>
            <a:ext cx="11201400" cy="5440680"/>
          </a:xfrm>
          <a:prstGeom prst="roundRect">
            <a:avLst>
              <a:gd name="adj" fmla="val 1513"/>
            </a:avLst>
          </a:prstGeom>
          <a:solidFill>
            <a:srgbClr val="FFFAF2"/>
          </a:solidFill>
          <a:ln w="12700">
            <a:solidFill>
              <a:srgbClr val="E9DFCF"/>
            </a:solidFill>
            <a:prstDash val="solid"/>
          </a:ln>
          <a:effectLst>
            <a:outerShdw blurRad="25400" dist="12700" dir="2700000" algn="bl" rotWithShape="0">
              <a:srgbClr val="132133">
                <a:alpha val="10000"/>
              </a:srgbClr>
            </a:outerShdw>
          </a:effectLst>
        </p:spPr>
        <p:txBody>
          <a:bodyPr/>
          <a:lstStyle/>
          <a:p>
            <a:endParaRPr lang="en-US"/>
          </a:p>
        </p:txBody>
      </p:sp>
      <p:sp>
        <p:nvSpPr>
          <p:cNvPr id="6" name="Shape 4"/>
          <p:cNvSpPr/>
          <p:nvPr/>
        </p:nvSpPr>
        <p:spPr>
          <a:xfrm>
            <a:off x="502920" y="896112"/>
            <a:ext cx="11201400" cy="384048"/>
          </a:xfrm>
          <a:prstGeom prst="rect">
            <a:avLst/>
          </a:prstGeom>
          <a:solidFill>
            <a:srgbClr val="FFFFFF"/>
          </a:solidFill>
          <a:ln w="12700">
            <a:solidFill>
              <a:srgbClr val="E9DFCF"/>
            </a:solidFill>
            <a:prstDash val="solid"/>
          </a:ln>
        </p:spPr>
        <p:txBody>
          <a:bodyPr/>
          <a:lstStyle/>
          <a:p>
            <a:endParaRPr lang="en-US"/>
          </a:p>
        </p:txBody>
      </p:sp>
      <p:sp>
        <p:nvSpPr>
          <p:cNvPr id="10" name="Shape 8"/>
          <p:cNvSpPr/>
          <p:nvPr/>
        </p:nvSpPr>
        <p:spPr>
          <a:xfrm>
            <a:off x="1280160" y="987552"/>
            <a:ext cx="3657600" cy="192024"/>
          </a:xfrm>
          <a:prstGeom prst="roundRect">
            <a:avLst>
              <a:gd name="adj" fmla="val 28571"/>
            </a:avLst>
          </a:prstGeom>
          <a:solidFill>
            <a:srgbClr val="F5EFE5"/>
          </a:solidFill>
          <a:ln w="12700">
            <a:solidFill>
              <a:srgbClr val="E9DFCF">
                <a:alpha val="80000"/>
              </a:srgbClr>
            </a:solidFill>
            <a:prstDash val="solid"/>
          </a:ln>
        </p:spPr>
        <p:txBody>
          <a:bodyPr/>
          <a:lstStyle/>
          <a:p>
            <a:endParaRPr lang="en-US"/>
          </a:p>
        </p:txBody>
      </p:sp>
      <p:sp>
        <p:nvSpPr>
          <p:cNvPr id="11" name="Text 9"/>
          <p:cNvSpPr/>
          <p:nvPr/>
        </p:nvSpPr>
        <p:spPr>
          <a:xfrm>
            <a:off x="1408176" y="1014984"/>
            <a:ext cx="3337560" cy="109728"/>
          </a:xfrm>
          <a:prstGeom prst="rect">
            <a:avLst/>
          </a:prstGeom>
          <a:noFill/>
          <a:ln/>
        </p:spPr>
        <p:txBody>
          <a:bodyPr wrap="square" lIns="381" tIns="381" rIns="381" bIns="381" rtlCol="0" anchor="ctr">
            <a:normAutofit/>
          </a:bodyPr>
          <a:lstStyle/>
          <a:p>
            <a:pPr marL="0" indent="0" algn="l">
              <a:buNone/>
            </a:pPr>
            <a:r>
              <a:rPr lang="en-US" sz="550" dirty="0">
                <a:solidFill>
                  <a:srgbClr val="536273"/>
                </a:solidFill>
                <a:latin typeface="Arial" pitchFamily="34" charset="0"/>
                <a:ea typeface="Arial" pitchFamily="34" charset="-122"/>
                <a:cs typeface="Arial" pitchFamily="34" charset="-120"/>
              </a:rPr>
              <a:t>moffatbaylodge.com/rooms.html</a:t>
            </a:r>
            <a:endParaRPr lang="en-US" sz="550" dirty="0"/>
          </a:p>
        </p:txBody>
      </p:sp>
      <p:sp>
        <p:nvSpPr>
          <p:cNvPr id="12" name="Shape 10"/>
          <p:cNvSpPr/>
          <p:nvPr/>
        </p:nvSpPr>
        <p:spPr>
          <a:xfrm>
            <a:off x="502920" y="1280160"/>
            <a:ext cx="11201400" cy="530352"/>
          </a:xfrm>
          <a:prstGeom prst="rect">
            <a:avLst/>
          </a:prstGeom>
          <a:solidFill>
            <a:srgbClr val="FAF5EC"/>
          </a:solidFill>
          <a:ln w="12700">
            <a:solidFill>
              <a:srgbClr val="E9DFCF">
                <a:alpha val="90000"/>
              </a:srgbClr>
            </a:solidFill>
            <a:prstDash val="solid"/>
          </a:ln>
        </p:spPr>
        <p:txBody>
          <a:bodyPr/>
          <a:lstStyle/>
          <a:p>
            <a:endParaRPr lang="en-US"/>
          </a:p>
        </p:txBody>
      </p:sp>
      <p:sp>
        <p:nvSpPr>
          <p:cNvPr id="13" name="Shape 11"/>
          <p:cNvSpPr/>
          <p:nvPr/>
        </p:nvSpPr>
        <p:spPr>
          <a:xfrm>
            <a:off x="731520" y="1399032"/>
            <a:ext cx="256032" cy="256032"/>
          </a:xfrm>
          <a:prstGeom prst="ellipse">
            <a:avLst/>
          </a:prstGeom>
          <a:solidFill>
            <a:srgbClr val="276F7B"/>
          </a:solidFill>
          <a:ln w="12700">
            <a:solidFill>
              <a:srgbClr val="276F7B"/>
            </a:solidFill>
            <a:prstDash val="solid"/>
          </a:ln>
        </p:spPr>
        <p:txBody>
          <a:bodyPr/>
          <a:lstStyle/>
          <a:p>
            <a:endParaRPr lang="en-US"/>
          </a:p>
        </p:txBody>
      </p:sp>
      <p:sp>
        <p:nvSpPr>
          <p:cNvPr id="14" name="Text 12"/>
          <p:cNvSpPr/>
          <p:nvPr/>
        </p:nvSpPr>
        <p:spPr>
          <a:xfrm>
            <a:off x="731520" y="1426464"/>
            <a:ext cx="256032" cy="109728"/>
          </a:xfrm>
          <a:prstGeom prst="rect">
            <a:avLst/>
          </a:prstGeom>
          <a:noFill/>
          <a:ln/>
        </p:spPr>
        <p:txBody>
          <a:bodyPr wrap="square" lIns="381" tIns="381" rIns="381" bIns="381" rtlCol="0" anchor="ctr">
            <a:normAutofit/>
          </a:bodyPr>
          <a:lstStyle/>
          <a:p>
            <a:pPr marL="0" indent="0" algn="ctr">
              <a:buNone/>
            </a:pPr>
            <a:r>
              <a:rPr lang="en-US" sz="700" b="1" dirty="0">
                <a:solidFill>
                  <a:srgbClr val="FFFFFF"/>
                </a:solidFill>
                <a:latin typeface="Georgia" pitchFamily="34" charset="0"/>
                <a:ea typeface="Georgia" pitchFamily="34" charset="-122"/>
                <a:cs typeface="Georgia" pitchFamily="34" charset="-120"/>
              </a:rPr>
              <a:t>MB</a:t>
            </a:r>
            <a:endParaRPr lang="en-US" sz="700" dirty="0"/>
          </a:p>
        </p:txBody>
      </p:sp>
      <p:sp>
        <p:nvSpPr>
          <p:cNvPr id="15" name="Text 13"/>
          <p:cNvSpPr/>
          <p:nvPr/>
        </p:nvSpPr>
        <p:spPr>
          <a:xfrm>
            <a:off x="1069848" y="1435608"/>
            <a:ext cx="1691640" cy="118872"/>
          </a:xfrm>
          <a:prstGeom prst="rect">
            <a:avLst/>
          </a:prstGeom>
          <a:noFill/>
          <a:ln/>
        </p:spPr>
        <p:txBody>
          <a:bodyPr wrap="square" lIns="381" tIns="381" rIns="381" bIns="381" rtlCol="0" anchor="ctr">
            <a:normAutofit/>
          </a:bodyPr>
          <a:lstStyle/>
          <a:p>
            <a:pPr marL="0" indent="0" algn="l">
              <a:buNone/>
            </a:pPr>
            <a:r>
              <a:rPr lang="en-US" sz="680" b="1" dirty="0">
                <a:solidFill>
                  <a:srgbClr val="132133"/>
                </a:solidFill>
                <a:latin typeface="Arial" pitchFamily="34" charset="0"/>
                <a:ea typeface="Arial" pitchFamily="34" charset="-122"/>
                <a:cs typeface="Arial" pitchFamily="34" charset="-120"/>
              </a:rPr>
              <a:t>MOFFAT BAY LODGE</a:t>
            </a:r>
            <a:endParaRPr lang="en-US" sz="680" dirty="0"/>
          </a:p>
        </p:txBody>
      </p:sp>
      <p:sp>
        <p:nvSpPr>
          <p:cNvPr id="16" name="Text 14">
            <a:hlinkClick r:id="rId3" action="ppaction://hlinksldjump"/>
          </p:cNvPr>
          <p:cNvSpPr/>
          <p:nvPr/>
        </p:nvSpPr>
        <p:spPr>
          <a:xfrm>
            <a:off x="3291840" y="1453896"/>
            <a:ext cx="402336" cy="118872"/>
          </a:xfrm>
          <a:prstGeom prst="rect">
            <a:avLst/>
          </a:prstGeom>
          <a:noFill/>
          <a:ln/>
        </p:spPr>
        <p:txBody>
          <a:bodyPr wrap="square" lIns="381" tIns="381" rIns="381" bIns="381" rtlCol="0" anchor="ctr">
            <a:normAutofit/>
          </a:bodyPr>
          <a:lstStyle/>
          <a:p>
            <a:pPr marL="0" indent="0" algn="ctr">
              <a:buNone/>
            </a:pPr>
            <a:r>
              <a:rPr lang="en-US" sz="640" b="1" u="sng" dirty="0">
                <a:solidFill>
                  <a:srgbClr val="2A3B50"/>
                </a:solidFill>
                <a:latin typeface="Arial" pitchFamily="34" charset="0"/>
                <a:ea typeface="Arial" pitchFamily="34" charset="-122"/>
                <a:cs typeface="Arial" pitchFamily="34" charset="-120"/>
                <a:hlinkClick r:id="rId3" action="ppaction://hlinksldjump">
                  <a:extLst>
                    <a:ext uri="{A12FA001-AC4F-418D-AE19-62706E023703}">
                      <ahyp:hlinkClr xmlns:ahyp="http://schemas.microsoft.com/office/drawing/2018/hyperlinkcolor" val="tx"/>
                    </a:ext>
                  </a:extLst>
                </a:hlinkClick>
              </a:rPr>
              <a:t>Home</a:t>
            </a:r>
            <a:endParaRPr lang="en-US" sz="640" dirty="0"/>
          </a:p>
        </p:txBody>
      </p:sp>
      <p:sp>
        <p:nvSpPr>
          <p:cNvPr id="17" name="Text 15">
            <a:hlinkClick r:id="rId4" action="ppaction://hlinksldjump"/>
          </p:cNvPr>
          <p:cNvSpPr/>
          <p:nvPr/>
        </p:nvSpPr>
        <p:spPr>
          <a:xfrm>
            <a:off x="3895344" y="1453896"/>
            <a:ext cx="420624" cy="118872"/>
          </a:xfrm>
          <a:prstGeom prst="rect">
            <a:avLst/>
          </a:prstGeom>
          <a:noFill/>
          <a:ln/>
        </p:spPr>
        <p:txBody>
          <a:bodyPr wrap="square" lIns="381" tIns="381" rIns="381" bIns="381" rtlCol="0" anchor="ctr">
            <a:normAutofit/>
          </a:bodyPr>
          <a:lstStyle/>
          <a:p>
            <a:pPr marL="0" indent="0" algn="ctr">
              <a:buNone/>
            </a:pPr>
            <a:r>
              <a:rPr lang="en-US" sz="640" b="1" u="sng" dirty="0">
                <a:solidFill>
                  <a:srgbClr val="2A3B50"/>
                </a:solidFill>
                <a:latin typeface="Arial" pitchFamily="34" charset="0"/>
                <a:ea typeface="Arial" pitchFamily="34" charset="-122"/>
                <a:cs typeface="Arial" pitchFamily="34" charset="-120"/>
                <a:hlinkClick r:id="rId4" action="ppaction://hlinksldjump">
                  <a:extLst>
                    <a:ext uri="{A12FA001-AC4F-418D-AE19-62706E023703}">
                      <ahyp:hlinkClr xmlns:ahyp="http://schemas.microsoft.com/office/drawing/2018/hyperlinkcolor" val="tx"/>
                    </a:ext>
                  </a:extLst>
                </a:hlinkClick>
              </a:rPr>
              <a:t>About</a:t>
            </a:r>
            <a:endParaRPr lang="en-US" sz="640" dirty="0"/>
          </a:p>
        </p:txBody>
      </p:sp>
      <p:sp>
        <p:nvSpPr>
          <p:cNvPr id="18" name="Text 16">
            <a:hlinkClick r:id="rId5" action="ppaction://hlinksldjump"/>
          </p:cNvPr>
          <p:cNvSpPr/>
          <p:nvPr/>
        </p:nvSpPr>
        <p:spPr>
          <a:xfrm>
            <a:off x="4517136" y="1453896"/>
            <a:ext cx="960120" cy="118872"/>
          </a:xfrm>
          <a:prstGeom prst="rect">
            <a:avLst/>
          </a:prstGeom>
          <a:noFill/>
          <a:ln/>
        </p:spPr>
        <p:txBody>
          <a:bodyPr wrap="square" lIns="381" tIns="381" rIns="381" bIns="381" rtlCol="0" anchor="ctr">
            <a:normAutofit/>
          </a:bodyPr>
          <a:lstStyle/>
          <a:p>
            <a:pPr marL="0" indent="0" algn="ctr">
              <a:buNone/>
            </a:pPr>
            <a:r>
              <a:rPr lang="en-US" sz="640" b="1" u="sng" dirty="0">
                <a:solidFill>
                  <a:srgbClr val="276F7B"/>
                </a:solidFill>
                <a:latin typeface="Arial" pitchFamily="34" charset="0"/>
                <a:ea typeface="Arial" pitchFamily="34" charset="-122"/>
                <a:cs typeface="Arial" pitchFamily="34" charset="-120"/>
                <a:hlinkClick r:id="rId5" action="ppaction://hlinksldjump">
                  <a:extLst>
                    <a:ext uri="{A12FA001-AC4F-418D-AE19-62706E023703}">
                      <ahyp:hlinkClr xmlns:ahyp="http://schemas.microsoft.com/office/drawing/2018/hyperlinkcolor" val="tx"/>
                    </a:ext>
                  </a:extLst>
                </a:hlinkClick>
              </a:rPr>
              <a:t>Rooms &amp; Pricing</a:t>
            </a:r>
            <a:endParaRPr lang="en-US" sz="640" dirty="0"/>
          </a:p>
        </p:txBody>
      </p:sp>
      <p:sp>
        <p:nvSpPr>
          <p:cNvPr id="19" name="Shape 17"/>
          <p:cNvSpPr/>
          <p:nvPr/>
        </p:nvSpPr>
        <p:spPr>
          <a:xfrm>
            <a:off x="4562856" y="1627632"/>
            <a:ext cx="868680" cy="22860"/>
          </a:xfrm>
          <a:prstGeom prst="rect">
            <a:avLst/>
          </a:prstGeom>
          <a:solidFill>
            <a:srgbClr val="2F8694"/>
          </a:solidFill>
          <a:ln w="12700">
            <a:solidFill>
              <a:srgbClr val="2F8694"/>
            </a:solidFill>
            <a:prstDash val="solid"/>
          </a:ln>
        </p:spPr>
        <p:txBody>
          <a:bodyPr/>
          <a:lstStyle/>
          <a:p>
            <a:endParaRPr lang="en-US"/>
          </a:p>
        </p:txBody>
      </p:sp>
      <p:sp>
        <p:nvSpPr>
          <p:cNvPr id="20" name="Text 18">
            <a:hlinkClick r:id="rId6" action="ppaction://hlinksldjump"/>
          </p:cNvPr>
          <p:cNvSpPr/>
          <p:nvPr/>
        </p:nvSpPr>
        <p:spPr>
          <a:xfrm>
            <a:off x="5678424" y="1453896"/>
            <a:ext cx="685800" cy="118872"/>
          </a:xfrm>
          <a:prstGeom prst="rect">
            <a:avLst/>
          </a:prstGeom>
          <a:noFill/>
          <a:ln/>
        </p:spPr>
        <p:txBody>
          <a:bodyPr wrap="square" lIns="381" tIns="381" rIns="381" bIns="381" rtlCol="0" anchor="ctr">
            <a:normAutofit/>
          </a:bodyPr>
          <a:lstStyle/>
          <a:p>
            <a:pPr marL="0" indent="0" algn="ctr">
              <a:buNone/>
            </a:pPr>
            <a:r>
              <a:rPr lang="en-US" sz="640" b="1" u="sng" dirty="0">
                <a:solidFill>
                  <a:srgbClr val="2A3B50"/>
                </a:solidFill>
                <a:latin typeface="Arial" pitchFamily="34" charset="0"/>
                <a:ea typeface="Arial" pitchFamily="34" charset="-122"/>
                <a:cs typeface="Arial" pitchFamily="34" charset="-120"/>
                <a:hlinkClick r:id="rId6" action="ppaction://hlinksldjump">
                  <a:extLst>
                    <a:ext uri="{A12FA001-AC4F-418D-AE19-62706E023703}">
                      <ahyp:hlinkClr xmlns:ahyp="http://schemas.microsoft.com/office/drawing/2018/hyperlinkcolor" val="tx"/>
                    </a:ext>
                  </a:extLst>
                </a:hlinkClick>
              </a:rPr>
              <a:t>Attractions</a:t>
            </a:r>
            <a:endParaRPr lang="en-US" sz="640" dirty="0"/>
          </a:p>
        </p:txBody>
      </p:sp>
      <p:sp>
        <p:nvSpPr>
          <p:cNvPr id="21" name="Text 19">
            <a:hlinkClick r:id="rId7" action="ppaction://hlinksldjump"/>
          </p:cNvPr>
          <p:cNvSpPr/>
          <p:nvPr/>
        </p:nvSpPr>
        <p:spPr>
          <a:xfrm>
            <a:off x="6565392" y="1453896"/>
            <a:ext cx="475488" cy="118872"/>
          </a:xfrm>
          <a:prstGeom prst="rect">
            <a:avLst/>
          </a:prstGeom>
          <a:noFill/>
          <a:ln/>
        </p:spPr>
        <p:txBody>
          <a:bodyPr wrap="square" lIns="381" tIns="381" rIns="381" bIns="381" rtlCol="0" anchor="ctr">
            <a:normAutofit/>
          </a:bodyPr>
          <a:lstStyle/>
          <a:p>
            <a:pPr marL="0" indent="0" algn="ctr">
              <a:buNone/>
            </a:pPr>
            <a:r>
              <a:rPr lang="en-US" sz="640" b="1" u="sng" dirty="0">
                <a:solidFill>
                  <a:srgbClr val="2A3B50"/>
                </a:solidFill>
                <a:latin typeface="Arial" pitchFamily="34" charset="0"/>
                <a:ea typeface="Arial" pitchFamily="34" charset="-122"/>
                <a:cs typeface="Arial" pitchFamily="34" charset="-120"/>
                <a:hlinkClick r:id="rId7" action="ppaction://hlinksldjump">
                  <a:extLst>
                    <a:ext uri="{A12FA001-AC4F-418D-AE19-62706E023703}">
                      <ahyp:hlinkClr xmlns:ahyp="http://schemas.microsoft.com/office/drawing/2018/hyperlinkcolor" val="tx"/>
                    </a:ext>
                  </a:extLst>
                </a:hlinkClick>
              </a:rPr>
              <a:t>Contact</a:t>
            </a:r>
            <a:endParaRPr lang="en-US" sz="640" dirty="0"/>
          </a:p>
        </p:txBody>
      </p:sp>
      <p:sp>
        <p:nvSpPr>
          <p:cNvPr id="22" name="Text 20">
            <a:hlinkClick r:id="rId8" action="ppaction://hlinksldjump"/>
          </p:cNvPr>
          <p:cNvSpPr/>
          <p:nvPr/>
        </p:nvSpPr>
        <p:spPr>
          <a:xfrm>
            <a:off x="7242048" y="1453896"/>
            <a:ext cx="420624" cy="118872"/>
          </a:xfrm>
          <a:prstGeom prst="rect">
            <a:avLst/>
          </a:prstGeom>
          <a:noFill/>
          <a:ln/>
        </p:spPr>
        <p:txBody>
          <a:bodyPr wrap="square" lIns="381" tIns="381" rIns="381" bIns="381" rtlCol="0" anchor="ctr">
            <a:normAutofit/>
          </a:bodyPr>
          <a:lstStyle/>
          <a:p>
            <a:pPr marL="0" indent="0" algn="ctr">
              <a:buNone/>
            </a:pPr>
            <a:r>
              <a:rPr lang="en-US" sz="640" b="1" u="sng" dirty="0">
                <a:solidFill>
                  <a:srgbClr val="2A3B50"/>
                </a:solidFill>
                <a:latin typeface="Arial" pitchFamily="34" charset="0"/>
                <a:ea typeface="Arial" pitchFamily="34" charset="-122"/>
                <a:cs typeface="Arial" pitchFamily="34" charset="-120"/>
                <a:hlinkClick r:id="rId8" action="ppaction://hlinksldjump">
                  <a:extLst>
                    <a:ext uri="{A12FA001-AC4F-418D-AE19-62706E023703}">
                      <ahyp:hlinkClr xmlns:ahyp="http://schemas.microsoft.com/office/drawing/2018/hyperlinkcolor" val="tx"/>
                    </a:ext>
                  </a:extLst>
                </a:hlinkClick>
              </a:rPr>
              <a:t>Book</a:t>
            </a:r>
            <a:endParaRPr lang="en-US" sz="640" dirty="0"/>
          </a:p>
        </p:txBody>
      </p:sp>
      <p:sp>
        <p:nvSpPr>
          <p:cNvPr id="23" name="Shape 21">
            <a:hlinkClick r:id="rId9" action="ppaction://hlinksldjump"/>
          </p:cNvPr>
          <p:cNvSpPr/>
          <p:nvPr/>
        </p:nvSpPr>
        <p:spPr>
          <a:xfrm>
            <a:off x="10378440" y="1417320"/>
            <a:ext cx="530352" cy="283464"/>
          </a:xfrm>
          <a:prstGeom prst="roundRect">
            <a:avLst>
              <a:gd name="adj" fmla="val 25806"/>
            </a:avLst>
          </a:prstGeom>
          <a:solidFill>
            <a:srgbClr val="132133"/>
          </a:solidFill>
          <a:ln w="12700">
            <a:solidFill>
              <a:srgbClr val="132133">
                <a:alpha val="0"/>
              </a:srgbClr>
            </a:solidFill>
            <a:prstDash val="solid"/>
          </a:ln>
        </p:spPr>
        <p:txBody>
          <a:bodyPr/>
          <a:lstStyle/>
          <a:p>
            <a:endParaRPr lang="en-US"/>
          </a:p>
        </p:txBody>
      </p:sp>
      <p:sp>
        <p:nvSpPr>
          <p:cNvPr id="24" name="Text 22">
            <a:hlinkClick r:id="rId9" action="ppaction://hlinksldjump"/>
          </p:cNvPr>
          <p:cNvSpPr/>
          <p:nvPr/>
        </p:nvSpPr>
        <p:spPr>
          <a:xfrm>
            <a:off x="10396728" y="1444752"/>
            <a:ext cx="493776" cy="182880"/>
          </a:xfrm>
          <a:prstGeom prst="rect">
            <a:avLst/>
          </a:prstGeom>
          <a:noFill/>
          <a:ln/>
        </p:spPr>
        <p:txBody>
          <a:bodyPr wrap="square" lIns="381" tIns="381" rIns="381" bIns="381" rtlCol="0" anchor="ctr">
            <a:normAutofit/>
          </a:bodyPr>
          <a:lstStyle/>
          <a:p>
            <a:pPr marL="0" indent="0" algn="ctr">
              <a:buNone/>
            </a:pPr>
            <a:r>
              <a:rPr lang="en-US" sz="600" b="1" u="sng" dirty="0">
                <a:solidFill>
                  <a:srgbClr val="FFFFFF"/>
                </a:solidFill>
                <a:latin typeface="Arial" pitchFamily="34" charset="0"/>
                <a:ea typeface="Arial" pitchFamily="34" charset="-122"/>
                <a:cs typeface="Arial" pitchFamily="34" charset="-120"/>
                <a:hlinkClick r:id="rId9" action="ppaction://hlinksldjump">
                  <a:extLst>
                    <a:ext uri="{A12FA001-AC4F-418D-AE19-62706E023703}">
                      <ahyp:hlinkClr xmlns:ahyp="http://schemas.microsoft.com/office/drawing/2018/hyperlinkcolor" val="tx"/>
                    </a:ext>
                  </a:extLst>
                </a:hlinkClick>
              </a:rPr>
              <a:t>Login</a:t>
            </a:r>
            <a:endParaRPr lang="en-US" sz="600" dirty="0"/>
          </a:p>
        </p:txBody>
      </p:sp>
      <p:sp>
        <p:nvSpPr>
          <p:cNvPr id="25" name="Shape 23">
            <a:hlinkClick r:id="rId10" action="ppaction://hlinksldjump"/>
          </p:cNvPr>
          <p:cNvSpPr/>
          <p:nvPr/>
        </p:nvSpPr>
        <p:spPr>
          <a:xfrm>
            <a:off x="10991088" y="1417320"/>
            <a:ext cx="585216" cy="283464"/>
          </a:xfrm>
          <a:prstGeom prst="roundRect">
            <a:avLst>
              <a:gd name="adj" fmla="val 25806"/>
            </a:avLst>
          </a:prstGeom>
          <a:solidFill>
            <a:srgbClr val="276F7B"/>
          </a:solidFill>
          <a:ln w="12700">
            <a:solidFill>
              <a:srgbClr val="276F7B">
                <a:alpha val="0"/>
              </a:srgbClr>
            </a:solidFill>
            <a:prstDash val="solid"/>
          </a:ln>
        </p:spPr>
        <p:txBody>
          <a:bodyPr/>
          <a:lstStyle/>
          <a:p>
            <a:endParaRPr lang="en-US"/>
          </a:p>
        </p:txBody>
      </p:sp>
      <p:sp>
        <p:nvSpPr>
          <p:cNvPr id="26" name="Text 24">
            <a:hlinkClick r:id="rId10" action="ppaction://hlinksldjump"/>
          </p:cNvPr>
          <p:cNvSpPr/>
          <p:nvPr/>
        </p:nvSpPr>
        <p:spPr>
          <a:xfrm>
            <a:off x="11009376" y="1444752"/>
            <a:ext cx="548640" cy="182880"/>
          </a:xfrm>
          <a:prstGeom prst="rect">
            <a:avLst/>
          </a:prstGeom>
          <a:noFill/>
          <a:ln/>
        </p:spPr>
        <p:txBody>
          <a:bodyPr wrap="square" lIns="381" tIns="381" rIns="381" bIns="381" rtlCol="0" anchor="ctr">
            <a:normAutofit/>
          </a:bodyPr>
          <a:lstStyle/>
          <a:p>
            <a:pPr marL="0" indent="0" algn="ctr">
              <a:buNone/>
            </a:pPr>
            <a:r>
              <a:rPr lang="en-US" sz="600" b="1" u="sng" dirty="0">
                <a:solidFill>
                  <a:srgbClr val="FFFFFF"/>
                </a:solidFill>
                <a:latin typeface="Arial" pitchFamily="34" charset="0"/>
                <a:ea typeface="Arial" pitchFamily="34" charset="-122"/>
                <a:cs typeface="Arial" pitchFamily="34" charset="-120"/>
                <a:hlinkClick r:id="rId10" action="ppaction://hlinksldjump">
                  <a:extLst>
                    <a:ext uri="{A12FA001-AC4F-418D-AE19-62706E023703}">
                      <ahyp:hlinkClr xmlns:ahyp="http://schemas.microsoft.com/office/drawing/2018/hyperlinkcolor" val="tx"/>
                    </a:ext>
                  </a:extLst>
                </a:hlinkClick>
              </a:rPr>
              <a:t>Register</a:t>
            </a:r>
            <a:endParaRPr lang="en-US" sz="600" dirty="0"/>
          </a:p>
        </p:txBody>
      </p:sp>
      <p:sp>
        <p:nvSpPr>
          <p:cNvPr id="27" name="Text 25"/>
          <p:cNvSpPr/>
          <p:nvPr/>
        </p:nvSpPr>
        <p:spPr>
          <a:xfrm>
            <a:off x="502920" y="6510528"/>
            <a:ext cx="6400800" cy="201168"/>
          </a:xfrm>
          <a:prstGeom prst="rect">
            <a:avLst/>
          </a:prstGeom>
          <a:noFill/>
          <a:ln/>
        </p:spPr>
        <p:txBody>
          <a:bodyPr wrap="square" lIns="381" tIns="381" rIns="381" bIns="381" rtlCol="0" anchor="ctr">
            <a:normAutofit/>
          </a:bodyPr>
          <a:lstStyle/>
          <a:p>
            <a:pPr marL="0" indent="0" algn="l">
              <a:buNone/>
            </a:pPr>
            <a:r>
              <a:rPr lang="en-US" sz="710" dirty="0">
                <a:solidFill>
                  <a:srgbClr val="536273"/>
                </a:solidFill>
                <a:latin typeface="Arial" pitchFamily="34" charset="0"/>
                <a:ea typeface="Arial" pitchFamily="34" charset="-122"/>
                <a:cs typeface="Arial" pitchFamily="34" charset="-120"/>
              </a:rPr>
              <a:t>Slide 5 | Editable components | Use Slide Show mode to click through the prototype</a:t>
            </a:r>
            <a:endParaRPr lang="en-US" sz="710" dirty="0"/>
          </a:p>
        </p:txBody>
      </p:sp>
      <p:sp>
        <p:nvSpPr>
          <p:cNvPr id="28" name="Shape 26">
            <a:hlinkClick r:id="rId3" action="ppaction://hlinksldjump"/>
          </p:cNvPr>
          <p:cNvSpPr/>
          <p:nvPr/>
        </p:nvSpPr>
        <p:spPr>
          <a:xfrm>
            <a:off x="7635240" y="6455664"/>
            <a:ext cx="749808" cy="283464"/>
          </a:xfrm>
          <a:prstGeom prst="roundRect">
            <a:avLst>
              <a:gd name="adj" fmla="val 25806"/>
            </a:avLst>
          </a:prstGeom>
          <a:solidFill>
            <a:srgbClr val="FFFFFF">
              <a:alpha val="30000"/>
            </a:srgbClr>
          </a:solidFill>
          <a:ln w="12700">
            <a:solidFill>
              <a:srgbClr val="536273">
                <a:alpha val="50000"/>
              </a:srgbClr>
            </a:solidFill>
            <a:prstDash val="solid"/>
          </a:ln>
        </p:spPr>
        <p:txBody>
          <a:bodyPr/>
          <a:lstStyle/>
          <a:p>
            <a:endParaRPr lang="en-US"/>
          </a:p>
        </p:txBody>
      </p:sp>
      <p:sp>
        <p:nvSpPr>
          <p:cNvPr id="29" name="Text 27">
            <a:hlinkClick r:id="rId3" action="ppaction://hlinksldjump"/>
          </p:cNvPr>
          <p:cNvSpPr/>
          <p:nvPr/>
        </p:nvSpPr>
        <p:spPr>
          <a:xfrm>
            <a:off x="7653528" y="6483096"/>
            <a:ext cx="713232" cy="182880"/>
          </a:xfrm>
          <a:prstGeom prst="rect">
            <a:avLst/>
          </a:prstGeom>
          <a:noFill/>
          <a:ln/>
        </p:spPr>
        <p:txBody>
          <a:bodyPr wrap="square" lIns="381" tIns="381" rIns="381" bIns="381" rtlCol="0" anchor="ctr">
            <a:normAutofit/>
          </a:bodyPr>
          <a:lstStyle/>
          <a:p>
            <a:pPr marL="0" indent="0" algn="ctr">
              <a:buNone/>
            </a:pPr>
            <a:r>
              <a:rPr lang="en-US" sz="800" b="1" u="sng" dirty="0">
                <a:solidFill>
                  <a:srgbClr val="2A3B50"/>
                </a:solidFill>
                <a:latin typeface="Arial" pitchFamily="34" charset="0"/>
                <a:ea typeface="Arial" pitchFamily="34" charset="-122"/>
                <a:cs typeface="Arial" pitchFamily="34" charset="-120"/>
                <a:hlinkClick r:id="rId3" action="ppaction://hlinksldjump">
                  <a:extLst>
                    <a:ext uri="{A12FA001-AC4F-418D-AE19-62706E023703}">
                      <ahyp:hlinkClr xmlns:ahyp="http://schemas.microsoft.com/office/drawing/2018/hyperlinkcolor" val="tx"/>
                    </a:ext>
                  </a:extLst>
                </a:hlinkClick>
              </a:rPr>
              <a:t>Home</a:t>
            </a:r>
            <a:endParaRPr lang="en-US" sz="800" dirty="0"/>
          </a:p>
        </p:txBody>
      </p:sp>
      <p:sp>
        <p:nvSpPr>
          <p:cNvPr id="30" name="Shape 28">
            <a:hlinkClick r:id="rId5" action="ppaction://hlinksldjump"/>
          </p:cNvPr>
          <p:cNvSpPr/>
          <p:nvPr/>
        </p:nvSpPr>
        <p:spPr>
          <a:xfrm>
            <a:off x="8476488" y="6455664"/>
            <a:ext cx="749808" cy="283464"/>
          </a:xfrm>
          <a:prstGeom prst="roundRect">
            <a:avLst>
              <a:gd name="adj" fmla="val 25806"/>
            </a:avLst>
          </a:prstGeom>
          <a:solidFill>
            <a:srgbClr val="FFFFFF">
              <a:alpha val="30000"/>
            </a:srgbClr>
          </a:solidFill>
          <a:ln w="12700">
            <a:solidFill>
              <a:srgbClr val="536273">
                <a:alpha val="50000"/>
              </a:srgbClr>
            </a:solidFill>
            <a:prstDash val="solid"/>
          </a:ln>
        </p:spPr>
        <p:txBody>
          <a:bodyPr/>
          <a:lstStyle/>
          <a:p>
            <a:endParaRPr lang="en-US"/>
          </a:p>
        </p:txBody>
      </p:sp>
      <p:sp>
        <p:nvSpPr>
          <p:cNvPr id="31" name="Text 29">
            <a:hlinkClick r:id="rId5" action="ppaction://hlinksldjump"/>
          </p:cNvPr>
          <p:cNvSpPr/>
          <p:nvPr/>
        </p:nvSpPr>
        <p:spPr>
          <a:xfrm>
            <a:off x="8494776" y="6483096"/>
            <a:ext cx="713232" cy="182880"/>
          </a:xfrm>
          <a:prstGeom prst="rect">
            <a:avLst/>
          </a:prstGeom>
          <a:noFill/>
          <a:ln/>
        </p:spPr>
        <p:txBody>
          <a:bodyPr wrap="square" lIns="381" tIns="381" rIns="381" bIns="381" rtlCol="0" anchor="ctr">
            <a:normAutofit/>
          </a:bodyPr>
          <a:lstStyle/>
          <a:p>
            <a:pPr marL="0" indent="0" algn="ctr">
              <a:buNone/>
            </a:pPr>
            <a:r>
              <a:rPr lang="en-US" sz="800" b="1" u="sng" dirty="0">
                <a:solidFill>
                  <a:srgbClr val="2A3B50"/>
                </a:solidFill>
                <a:latin typeface="Arial" pitchFamily="34" charset="0"/>
                <a:ea typeface="Arial" pitchFamily="34" charset="-122"/>
                <a:cs typeface="Arial" pitchFamily="34" charset="-120"/>
                <a:hlinkClick r:id="rId5" action="ppaction://hlinksldjump">
                  <a:extLst>
                    <a:ext uri="{A12FA001-AC4F-418D-AE19-62706E023703}">
                      <ahyp:hlinkClr xmlns:ahyp="http://schemas.microsoft.com/office/drawing/2018/hyperlinkcolor" val="tx"/>
                    </a:ext>
                  </a:extLst>
                </a:hlinkClick>
              </a:rPr>
              <a:t>Rooms</a:t>
            </a:r>
            <a:endParaRPr lang="en-US" sz="800" dirty="0"/>
          </a:p>
        </p:txBody>
      </p:sp>
      <p:sp>
        <p:nvSpPr>
          <p:cNvPr id="32" name="Shape 30">
            <a:hlinkClick r:id="rId8" action="ppaction://hlinksldjump"/>
          </p:cNvPr>
          <p:cNvSpPr/>
          <p:nvPr/>
        </p:nvSpPr>
        <p:spPr>
          <a:xfrm>
            <a:off x="9317736" y="6455664"/>
            <a:ext cx="749808" cy="283464"/>
          </a:xfrm>
          <a:prstGeom prst="roundRect">
            <a:avLst>
              <a:gd name="adj" fmla="val 25806"/>
            </a:avLst>
          </a:prstGeom>
          <a:solidFill>
            <a:srgbClr val="FFFFFF">
              <a:alpha val="30000"/>
            </a:srgbClr>
          </a:solidFill>
          <a:ln w="12700">
            <a:solidFill>
              <a:srgbClr val="536273">
                <a:alpha val="50000"/>
              </a:srgbClr>
            </a:solidFill>
            <a:prstDash val="solid"/>
          </a:ln>
        </p:spPr>
        <p:txBody>
          <a:bodyPr/>
          <a:lstStyle/>
          <a:p>
            <a:endParaRPr lang="en-US"/>
          </a:p>
        </p:txBody>
      </p:sp>
      <p:sp>
        <p:nvSpPr>
          <p:cNvPr id="33" name="Text 31">
            <a:hlinkClick r:id="rId8" action="ppaction://hlinksldjump"/>
          </p:cNvPr>
          <p:cNvSpPr/>
          <p:nvPr/>
        </p:nvSpPr>
        <p:spPr>
          <a:xfrm>
            <a:off x="9336024" y="6483096"/>
            <a:ext cx="713232" cy="182880"/>
          </a:xfrm>
          <a:prstGeom prst="rect">
            <a:avLst/>
          </a:prstGeom>
          <a:noFill/>
          <a:ln/>
        </p:spPr>
        <p:txBody>
          <a:bodyPr wrap="square" lIns="381" tIns="381" rIns="381" bIns="381" rtlCol="0" anchor="ctr">
            <a:normAutofit/>
          </a:bodyPr>
          <a:lstStyle/>
          <a:p>
            <a:pPr marL="0" indent="0" algn="ctr">
              <a:buNone/>
            </a:pPr>
            <a:r>
              <a:rPr lang="en-US" sz="800" b="1" u="sng" dirty="0">
                <a:solidFill>
                  <a:srgbClr val="2A3B50"/>
                </a:solidFill>
                <a:latin typeface="Arial" pitchFamily="34" charset="0"/>
                <a:ea typeface="Arial" pitchFamily="34" charset="-122"/>
                <a:cs typeface="Arial" pitchFamily="34" charset="-120"/>
                <a:hlinkClick r:id="rId8" action="ppaction://hlinksldjump">
                  <a:extLst>
                    <a:ext uri="{A12FA001-AC4F-418D-AE19-62706E023703}">
                      <ahyp:hlinkClr xmlns:ahyp="http://schemas.microsoft.com/office/drawing/2018/hyperlinkcolor" val="tx"/>
                    </a:ext>
                  </a:extLst>
                </a:hlinkClick>
              </a:rPr>
              <a:t>Book</a:t>
            </a:r>
            <a:endParaRPr lang="en-US" sz="800" dirty="0"/>
          </a:p>
        </p:txBody>
      </p:sp>
      <p:sp>
        <p:nvSpPr>
          <p:cNvPr id="34" name="Shape 32">
            <a:hlinkClick r:id="rId11" action="ppaction://hlinksldjump"/>
          </p:cNvPr>
          <p:cNvSpPr/>
          <p:nvPr/>
        </p:nvSpPr>
        <p:spPr>
          <a:xfrm>
            <a:off x="10158984" y="6455664"/>
            <a:ext cx="749808" cy="283464"/>
          </a:xfrm>
          <a:prstGeom prst="roundRect">
            <a:avLst>
              <a:gd name="adj" fmla="val 25806"/>
            </a:avLst>
          </a:prstGeom>
          <a:solidFill>
            <a:srgbClr val="FFFFFF">
              <a:alpha val="30000"/>
            </a:srgbClr>
          </a:solidFill>
          <a:ln w="12700">
            <a:solidFill>
              <a:srgbClr val="536273">
                <a:alpha val="50000"/>
              </a:srgbClr>
            </a:solidFill>
            <a:prstDash val="solid"/>
          </a:ln>
        </p:spPr>
        <p:txBody>
          <a:bodyPr/>
          <a:lstStyle/>
          <a:p>
            <a:endParaRPr lang="en-US"/>
          </a:p>
        </p:txBody>
      </p:sp>
      <p:sp>
        <p:nvSpPr>
          <p:cNvPr id="35" name="Text 33">
            <a:hlinkClick r:id="rId11" action="ppaction://hlinksldjump"/>
          </p:cNvPr>
          <p:cNvSpPr/>
          <p:nvPr/>
        </p:nvSpPr>
        <p:spPr>
          <a:xfrm>
            <a:off x="10177272" y="6483096"/>
            <a:ext cx="713232" cy="182880"/>
          </a:xfrm>
          <a:prstGeom prst="rect">
            <a:avLst/>
          </a:prstGeom>
          <a:noFill/>
          <a:ln/>
        </p:spPr>
        <p:txBody>
          <a:bodyPr wrap="square" lIns="381" tIns="381" rIns="381" bIns="381" rtlCol="0" anchor="ctr">
            <a:normAutofit/>
          </a:bodyPr>
          <a:lstStyle/>
          <a:p>
            <a:pPr marL="0" indent="0" algn="ctr">
              <a:buNone/>
            </a:pPr>
            <a:r>
              <a:rPr lang="en-US" sz="800" b="1" u="sng" dirty="0">
                <a:solidFill>
                  <a:srgbClr val="2A3B50"/>
                </a:solidFill>
                <a:latin typeface="Arial" pitchFamily="34" charset="0"/>
                <a:ea typeface="Arial" pitchFamily="34" charset="-122"/>
                <a:cs typeface="Arial" pitchFamily="34" charset="-120"/>
                <a:hlinkClick r:id="rId11" action="ppaction://hlinksldjump">
                  <a:extLst>
                    <a:ext uri="{A12FA001-AC4F-418D-AE19-62706E023703}">
                      <ahyp:hlinkClr xmlns:ahyp="http://schemas.microsoft.com/office/drawing/2018/hyperlinkcolor" val="tx"/>
                    </a:ext>
                  </a:extLst>
                </a:hlinkClick>
              </a:rPr>
              <a:t>Lookup</a:t>
            </a:r>
            <a:endParaRPr lang="en-US" sz="800" dirty="0"/>
          </a:p>
        </p:txBody>
      </p:sp>
      <p:sp>
        <p:nvSpPr>
          <p:cNvPr id="36" name="Shape 34">
            <a:hlinkClick r:id="rId12" action="ppaction://hlinksldjump"/>
          </p:cNvPr>
          <p:cNvSpPr/>
          <p:nvPr/>
        </p:nvSpPr>
        <p:spPr>
          <a:xfrm>
            <a:off x="11000232" y="6455664"/>
            <a:ext cx="868680" cy="283464"/>
          </a:xfrm>
          <a:prstGeom prst="roundRect">
            <a:avLst>
              <a:gd name="adj" fmla="val 25806"/>
            </a:avLst>
          </a:prstGeom>
          <a:solidFill>
            <a:srgbClr val="132133"/>
          </a:solidFill>
          <a:ln w="12700">
            <a:solidFill>
              <a:srgbClr val="132133">
                <a:alpha val="0"/>
              </a:srgbClr>
            </a:solidFill>
            <a:prstDash val="solid"/>
          </a:ln>
        </p:spPr>
        <p:txBody>
          <a:bodyPr/>
          <a:lstStyle/>
          <a:p>
            <a:endParaRPr lang="en-US"/>
          </a:p>
        </p:txBody>
      </p:sp>
      <p:sp>
        <p:nvSpPr>
          <p:cNvPr id="37" name="Text 35">
            <a:hlinkClick r:id="rId12" action="ppaction://hlinksldjump"/>
          </p:cNvPr>
          <p:cNvSpPr/>
          <p:nvPr/>
        </p:nvSpPr>
        <p:spPr>
          <a:xfrm>
            <a:off x="11018520" y="6483096"/>
            <a:ext cx="832104" cy="182880"/>
          </a:xfrm>
          <a:prstGeom prst="rect">
            <a:avLst/>
          </a:prstGeom>
          <a:noFill/>
          <a:ln/>
        </p:spPr>
        <p:txBody>
          <a:bodyPr wrap="square" lIns="381" tIns="381" rIns="381" bIns="381" rtlCol="0" anchor="ctr">
            <a:normAutofit/>
          </a:bodyPr>
          <a:lstStyle/>
          <a:p>
            <a:pPr marL="0" indent="0" algn="ctr">
              <a:buNone/>
            </a:pPr>
            <a:r>
              <a:rPr lang="en-US" sz="770" b="1" u="sng" dirty="0">
                <a:solidFill>
                  <a:srgbClr val="FFFFFF"/>
                </a:solidFill>
                <a:latin typeface="Arial" pitchFamily="34" charset="0"/>
                <a:ea typeface="Arial" pitchFamily="34" charset="-122"/>
                <a:cs typeface="Arial" pitchFamily="34" charset="-120"/>
                <a:hlinkClick r:id="rId12" action="ppaction://hlinksldjump">
                  <a:extLst>
                    <a:ext uri="{A12FA001-AC4F-418D-AE19-62706E023703}">
                      <ahyp:hlinkClr xmlns:ahyp="http://schemas.microsoft.com/office/drawing/2018/hyperlinkcolor" val="tx"/>
                    </a:ext>
                  </a:extLst>
                </a:hlinkClick>
              </a:rPr>
              <a:t>Site Flow</a:t>
            </a:r>
            <a:endParaRPr lang="en-US" sz="770" dirty="0"/>
          </a:p>
        </p:txBody>
      </p:sp>
      <p:sp>
        <p:nvSpPr>
          <p:cNvPr id="38" name="Text 36"/>
          <p:cNvSpPr/>
          <p:nvPr/>
        </p:nvSpPr>
        <p:spPr>
          <a:xfrm>
            <a:off x="822960" y="2066544"/>
            <a:ext cx="9509760" cy="146304"/>
          </a:xfrm>
          <a:prstGeom prst="rect">
            <a:avLst/>
          </a:prstGeom>
          <a:noFill/>
          <a:ln/>
        </p:spPr>
        <p:txBody>
          <a:bodyPr wrap="square" lIns="381" tIns="381" rIns="381" bIns="381" rtlCol="0" anchor="ctr">
            <a:normAutofit/>
          </a:bodyPr>
          <a:lstStyle/>
          <a:p>
            <a:pPr marL="0" indent="0" algn="l">
              <a:buNone/>
            </a:pPr>
            <a:r>
              <a:rPr lang="en-US" sz="680" b="1" dirty="0">
                <a:solidFill>
                  <a:srgbClr val="276F7B"/>
                </a:solidFill>
                <a:latin typeface="Arial" pitchFamily="34" charset="0"/>
                <a:ea typeface="Arial" pitchFamily="34" charset="-122"/>
                <a:cs typeface="Arial" pitchFamily="34" charset="-120"/>
              </a:rPr>
              <a:t>STAY AT MOFFAT BAY</a:t>
            </a:r>
            <a:endParaRPr lang="en-US" sz="680" dirty="0"/>
          </a:p>
        </p:txBody>
      </p:sp>
      <p:sp>
        <p:nvSpPr>
          <p:cNvPr id="39" name="Text 37"/>
          <p:cNvSpPr/>
          <p:nvPr/>
        </p:nvSpPr>
        <p:spPr>
          <a:xfrm>
            <a:off x="822960" y="2267712"/>
            <a:ext cx="9509760" cy="393192"/>
          </a:xfrm>
          <a:prstGeom prst="rect">
            <a:avLst/>
          </a:prstGeom>
          <a:noFill/>
          <a:ln/>
        </p:spPr>
        <p:txBody>
          <a:bodyPr wrap="square" lIns="381" tIns="381" rIns="381" bIns="381" rtlCol="0" anchor="ctr">
            <a:normAutofit/>
          </a:bodyPr>
          <a:lstStyle/>
          <a:p>
            <a:pPr marL="0" indent="0" algn="l">
              <a:buNone/>
            </a:pPr>
            <a:r>
              <a:rPr lang="en-US" sz="2000" dirty="0">
                <a:solidFill>
                  <a:srgbClr val="132133"/>
                </a:solidFill>
                <a:latin typeface="Georgia" pitchFamily="34" charset="0"/>
                <a:ea typeface="Georgia" pitchFamily="34" charset="-122"/>
                <a:cs typeface="Georgia" pitchFamily="34" charset="-120"/>
              </a:rPr>
              <a:t>Rooms &amp; Pricing</a:t>
            </a:r>
            <a:endParaRPr lang="en-US" sz="2000" dirty="0"/>
          </a:p>
        </p:txBody>
      </p:sp>
      <p:sp>
        <p:nvSpPr>
          <p:cNvPr id="40" name="Text 38"/>
          <p:cNvSpPr/>
          <p:nvPr/>
        </p:nvSpPr>
        <p:spPr>
          <a:xfrm>
            <a:off x="822960" y="2761488"/>
            <a:ext cx="9509760" cy="256032"/>
          </a:xfrm>
          <a:prstGeom prst="rect">
            <a:avLst/>
          </a:prstGeom>
          <a:noFill/>
          <a:ln/>
        </p:spPr>
        <p:txBody>
          <a:bodyPr wrap="square" lIns="381" tIns="381" rIns="381" bIns="381" rtlCol="0" anchor="t">
            <a:normAutofit/>
          </a:bodyPr>
          <a:lstStyle/>
          <a:p>
            <a:pPr marL="0" indent="0" algn="l">
              <a:buNone/>
            </a:pPr>
            <a:r>
              <a:rPr lang="en-US" sz="840" dirty="0">
                <a:solidFill>
                  <a:srgbClr val="2A3B50"/>
                </a:solidFill>
                <a:latin typeface="Arial" pitchFamily="34" charset="0"/>
                <a:ea typeface="Arial" pitchFamily="34" charset="-122"/>
                <a:cs typeface="Arial" pitchFamily="34" charset="-120"/>
              </a:rPr>
              <a:t>Compare all four room types and nightly rates, then continue directly to the reservation page with the room choice selected.</a:t>
            </a:r>
            <a:endParaRPr lang="en-US" sz="840" dirty="0"/>
          </a:p>
        </p:txBody>
      </p:sp>
      <p:sp>
        <p:nvSpPr>
          <p:cNvPr id="41" name="Shape 39"/>
          <p:cNvSpPr/>
          <p:nvPr/>
        </p:nvSpPr>
        <p:spPr>
          <a:xfrm>
            <a:off x="822960" y="3236976"/>
            <a:ext cx="9921240" cy="621792"/>
          </a:xfrm>
          <a:prstGeom prst="roundRect">
            <a:avLst>
              <a:gd name="adj" fmla="val 10294"/>
            </a:avLst>
          </a:prstGeom>
          <a:solidFill>
            <a:srgbClr val="FFFFFF">
              <a:alpha val="92000"/>
            </a:srgbClr>
          </a:solidFill>
          <a:ln w="10160">
            <a:solidFill>
              <a:srgbClr val="E9DFCF"/>
            </a:solidFill>
            <a:prstDash val="solid"/>
          </a:ln>
          <a:effectLst>
            <a:outerShdw blurRad="12700" dist="7620" dir="2700000" algn="bl" rotWithShape="0">
              <a:srgbClr val="132133">
                <a:alpha val="5500"/>
              </a:srgbClr>
            </a:outerShdw>
          </a:effectLst>
        </p:spPr>
        <p:txBody>
          <a:bodyPr/>
          <a:lstStyle/>
          <a:p>
            <a:endParaRPr lang="en-US"/>
          </a:p>
        </p:txBody>
      </p:sp>
      <p:sp>
        <p:nvSpPr>
          <p:cNvPr id="42" name="Text 40"/>
          <p:cNvSpPr/>
          <p:nvPr/>
        </p:nvSpPr>
        <p:spPr>
          <a:xfrm>
            <a:off x="1024128" y="3465576"/>
            <a:ext cx="347472" cy="82296"/>
          </a:xfrm>
          <a:prstGeom prst="rect">
            <a:avLst/>
          </a:prstGeom>
          <a:noFill/>
          <a:ln/>
        </p:spPr>
        <p:txBody>
          <a:bodyPr wrap="square" lIns="381" tIns="381" rIns="381" bIns="381" rtlCol="0" anchor="ctr">
            <a:normAutofit fontScale="92500" lnSpcReduction="20000"/>
          </a:bodyPr>
          <a:lstStyle/>
          <a:p>
            <a:pPr marL="0" indent="0" algn="l">
              <a:buNone/>
            </a:pPr>
            <a:r>
              <a:rPr lang="en-US" sz="600" b="1" dirty="0">
                <a:solidFill>
                  <a:srgbClr val="CDA059"/>
                </a:solidFill>
                <a:latin typeface="Arial" pitchFamily="34" charset="0"/>
                <a:ea typeface="Arial" pitchFamily="34" charset="-122"/>
                <a:cs typeface="Arial" pitchFamily="34" charset="-120"/>
              </a:rPr>
              <a:t>01</a:t>
            </a:r>
            <a:endParaRPr lang="en-US" sz="600" dirty="0"/>
          </a:p>
        </p:txBody>
      </p:sp>
      <p:sp>
        <p:nvSpPr>
          <p:cNvPr id="43" name="Text 41"/>
          <p:cNvSpPr/>
          <p:nvPr/>
        </p:nvSpPr>
        <p:spPr>
          <a:xfrm>
            <a:off x="1463040" y="3383280"/>
            <a:ext cx="2011680" cy="164592"/>
          </a:xfrm>
          <a:prstGeom prst="rect">
            <a:avLst/>
          </a:prstGeom>
          <a:noFill/>
          <a:ln/>
        </p:spPr>
        <p:txBody>
          <a:bodyPr wrap="square" lIns="381" tIns="381" rIns="381" bIns="381" rtlCol="0" anchor="ctr">
            <a:normAutofit fontScale="92500" lnSpcReduction="20000"/>
          </a:bodyPr>
          <a:lstStyle/>
          <a:p>
            <a:pPr marL="0" indent="0" algn="l">
              <a:buNone/>
            </a:pPr>
            <a:r>
              <a:rPr lang="en-US" sz="1250" dirty="0">
                <a:solidFill>
                  <a:srgbClr val="132133"/>
                </a:solidFill>
                <a:latin typeface="Georgia" pitchFamily="34" charset="0"/>
                <a:ea typeface="Georgia" pitchFamily="34" charset="-122"/>
                <a:cs typeface="Georgia" pitchFamily="34" charset="-120"/>
              </a:rPr>
              <a:t>Double Full Beds</a:t>
            </a:r>
            <a:endParaRPr lang="en-US" sz="1250" dirty="0"/>
          </a:p>
        </p:txBody>
      </p:sp>
      <p:sp>
        <p:nvSpPr>
          <p:cNvPr id="44" name="Text 42"/>
          <p:cNvSpPr/>
          <p:nvPr/>
        </p:nvSpPr>
        <p:spPr>
          <a:xfrm>
            <a:off x="3566160" y="3419856"/>
            <a:ext cx="3108960" cy="146304"/>
          </a:xfrm>
          <a:prstGeom prst="rect">
            <a:avLst/>
          </a:prstGeom>
          <a:noFill/>
          <a:ln/>
        </p:spPr>
        <p:txBody>
          <a:bodyPr wrap="square" lIns="381" tIns="381" rIns="381" bIns="381" rtlCol="0" anchor="ctr">
            <a:normAutofit/>
          </a:bodyPr>
          <a:lstStyle/>
          <a:p>
            <a:pPr marL="0" indent="0" algn="l">
              <a:buNone/>
            </a:pPr>
            <a:r>
              <a:rPr lang="en-US" sz="640" dirty="0">
                <a:solidFill>
                  <a:srgbClr val="2A3B50"/>
                </a:solidFill>
                <a:latin typeface="Arial" pitchFamily="34" charset="0"/>
                <a:ea typeface="Arial" pitchFamily="34" charset="-122"/>
                <a:cs typeface="Arial" pitchFamily="34" charset="-120"/>
              </a:rPr>
              <a:t>Two Full Beds • Family Friendly • Single Lodge Location</a:t>
            </a:r>
            <a:endParaRPr lang="en-US" sz="640" dirty="0"/>
          </a:p>
        </p:txBody>
      </p:sp>
      <p:sp>
        <p:nvSpPr>
          <p:cNvPr id="45" name="Text 43"/>
          <p:cNvSpPr/>
          <p:nvPr/>
        </p:nvSpPr>
        <p:spPr>
          <a:xfrm>
            <a:off x="7315200" y="3364992"/>
            <a:ext cx="658368" cy="201168"/>
          </a:xfrm>
          <a:prstGeom prst="rect">
            <a:avLst/>
          </a:prstGeom>
          <a:noFill/>
          <a:ln/>
        </p:spPr>
        <p:txBody>
          <a:bodyPr wrap="square" lIns="381" tIns="381" rIns="381" bIns="381" rtlCol="0" anchor="ctr">
            <a:normAutofit/>
          </a:bodyPr>
          <a:lstStyle/>
          <a:p>
            <a:pPr marL="0" indent="0" algn="l">
              <a:buNone/>
            </a:pPr>
            <a:r>
              <a:rPr lang="en-US" sz="1100" b="1" dirty="0">
                <a:solidFill>
                  <a:srgbClr val="1F5963"/>
                </a:solidFill>
                <a:latin typeface="Arial" pitchFamily="34" charset="0"/>
                <a:ea typeface="Arial" pitchFamily="34" charset="-122"/>
                <a:cs typeface="Arial" pitchFamily="34" charset="-120"/>
              </a:rPr>
              <a:t>$120</a:t>
            </a:r>
            <a:endParaRPr lang="en-US" sz="1100" dirty="0"/>
          </a:p>
        </p:txBody>
      </p:sp>
      <p:sp>
        <p:nvSpPr>
          <p:cNvPr id="46" name="Text 44"/>
          <p:cNvSpPr/>
          <p:nvPr/>
        </p:nvSpPr>
        <p:spPr>
          <a:xfrm>
            <a:off x="7900416" y="3429000"/>
            <a:ext cx="411480" cy="91440"/>
          </a:xfrm>
          <a:prstGeom prst="rect">
            <a:avLst/>
          </a:prstGeom>
          <a:noFill/>
          <a:ln/>
        </p:spPr>
        <p:txBody>
          <a:bodyPr wrap="square" lIns="381" tIns="381" rIns="381" bIns="381" rtlCol="0" anchor="ctr">
            <a:normAutofit/>
          </a:bodyPr>
          <a:lstStyle/>
          <a:p>
            <a:pPr marL="0" indent="0" algn="l">
              <a:buNone/>
            </a:pPr>
            <a:r>
              <a:rPr lang="en-US" sz="560" dirty="0">
                <a:solidFill>
                  <a:srgbClr val="536273"/>
                </a:solidFill>
                <a:latin typeface="Arial" pitchFamily="34" charset="0"/>
                <a:ea typeface="Arial" pitchFamily="34" charset="-122"/>
                <a:cs typeface="Arial" pitchFamily="34" charset="-120"/>
              </a:rPr>
              <a:t>/ night</a:t>
            </a:r>
            <a:endParaRPr lang="en-US" sz="560" dirty="0"/>
          </a:p>
        </p:txBody>
      </p:sp>
      <p:sp>
        <p:nvSpPr>
          <p:cNvPr id="47" name="Shape 45">
            <a:hlinkClick r:id="rId8" action="ppaction://hlinksldjump"/>
          </p:cNvPr>
          <p:cNvSpPr/>
          <p:nvPr/>
        </p:nvSpPr>
        <p:spPr>
          <a:xfrm>
            <a:off x="9372600" y="3392424"/>
            <a:ext cx="960120" cy="310896"/>
          </a:xfrm>
          <a:prstGeom prst="roundRect">
            <a:avLst>
              <a:gd name="adj" fmla="val 35294"/>
            </a:avLst>
          </a:prstGeom>
          <a:solidFill>
            <a:srgbClr val="CDA059"/>
          </a:solidFill>
          <a:ln w="12700">
            <a:solidFill>
              <a:srgbClr val="CDA059">
                <a:alpha val="0"/>
              </a:srgbClr>
            </a:solidFill>
            <a:prstDash val="solid"/>
          </a:ln>
        </p:spPr>
        <p:txBody>
          <a:bodyPr/>
          <a:lstStyle/>
          <a:p>
            <a:endParaRPr lang="en-US"/>
          </a:p>
        </p:txBody>
      </p:sp>
      <p:sp>
        <p:nvSpPr>
          <p:cNvPr id="48" name="Text 46">
            <a:hlinkClick r:id="rId8" action="ppaction://hlinksldjump"/>
          </p:cNvPr>
          <p:cNvSpPr/>
          <p:nvPr/>
        </p:nvSpPr>
        <p:spPr>
          <a:xfrm>
            <a:off x="9400032" y="3474720"/>
            <a:ext cx="905256" cy="109728"/>
          </a:xfrm>
          <a:prstGeom prst="rect">
            <a:avLst/>
          </a:prstGeom>
          <a:noFill/>
          <a:ln/>
        </p:spPr>
        <p:txBody>
          <a:bodyPr wrap="square" lIns="381" tIns="381" rIns="381" bIns="381" rtlCol="0" anchor="ctr">
            <a:normAutofit/>
          </a:bodyPr>
          <a:lstStyle/>
          <a:p>
            <a:pPr marL="0" indent="0" algn="ctr">
              <a:buNone/>
            </a:pPr>
            <a:r>
              <a:rPr lang="en-US" sz="640" b="1" u="sng" dirty="0">
                <a:solidFill>
                  <a:srgbClr val="132133"/>
                </a:solidFill>
                <a:latin typeface="Arial" pitchFamily="34" charset="0"/>
                <a:ea typeface="Arial" pitchFamily="34" charset="-122"/>
                <a:cs typeface="Arial" pitchFamily="34" charset="-120"/>
                <a:hlinkClick r:id="rId8" action="ppaction://hlinksldjump">
                  <a:extLst>
                    <a:ext uri="{A12FA001-AC4F-418D-AE19-62706E023703}">
                      <ahyp:hlinkClr xmlns:ahyp="http://schemas.microsoft.com/office/drawing/2018/hyperlinkcolor" val="tx"/>
                    </a:ext>
                  </a:extLst>
                </a:hlinkClick>
              </a:rPr>
              <a:t>Select Room</a:t>
            </a:r>
            <a:endParaRPr lang="en-US" sz="640" dirty="0"/>
          </a:p>
        </p:txBody>
      </p:sp>
      <p:sp>
        <p:nvSpPr>
          <p:cNvPr id="49" name="Shape 47"/>
          <p:cNvSpPr/>
          <p:nvPr/>
        </p:nvSpPr>
        <p:spPr>
          <a:xfrm>
            <a:off x="822960" y="4005072"/>
            <a:ext cx="9921240" cy="621792"/>
          </a:xfrm>
          <a:prstGeom prst="roundRect">
            <a:avLst>
              <a:gd name="adj" fmla="val 10294"/>
            </a:avLst>
          </a:prstGeom>
          <a:solidFill>
            <a:srgbClr val="FFFFFF">
              <a:alpha val="92000"/>
            </a:srgbClr>
          </a:solidFill>
          <a:ln w="19050">
            <a:solidFill>
              <a:srgbClr val="CDA059"/>
            </a:solidFill>
            <a:prstDash val="solid"/>
          </a:ln>
          <a:effectLst>
            <a:outerShdw blurRad="12700" dist="7620" dir="2700000" algn="bl" rotWithShape="0">
              <a:srgbClr val="132133">
                <a:alpha val="5500"/>
              </a:srgbClr>
            </a:outerShdw>
          </a:effectLst>
        </p:spPr>
        <p:txBody>
          <a:bodyPr/>
          <a:lstStyle/>
          <a:p>
            <a:endParaRPr lang="en-US"/>
          </a:p>
        </p:txBody>
      </p:sp>
      <p:sp>
        <p:nvSpPr>
          <p:cNvPr id="50" name="Text 48"/>
          <p:cNvSpPr/>
          <p:nvPr/>
        </p:nvSpPr>
        <p:spPr>
          <a:xfrm>
            <a:off x="1024128" y="4233672"/>
            <a:ext cx="347472" cy="82296"/>
          </a:xfrm>
          <a:prstGeom prst="rect">
            <a:avLst/>
          </a:prstGeom>
          <a:noFill/>
          <a:ln/>
        </p:spPr>
        <p:txBody>
          <a:bodyPr wrap="square" lIns="381" tIns="381" rIns="381" bIns="381" rtlCol="0" anchor="ctr">
            <a:normAutofit fontScale="92500" lnSpcReduction="20000"/>
          </a:bodyPr>
          <a:lstStyle/>
          <a:p>
            <a:pPr marL="0" indent="0" algn="l">
              <a:buNone/>
            </a:pPr>
            <a:r>
              <a:rPr lang="en-US" sz="600" b="1" dirty="0">
                <a:solidFill>
                  <a:srgbClr val="CDA059"/>
                </a:solidFill>
                <a:latin typeface="Arial" pitchFamily="34" charset="0"/>
                <a:ea typeface="Arial" pitchFamily="34" charset="-122"/>
                <a:cs typeface="Arial" pitchFamily="34" charset="-120"/>
              </a:rPr>
              <a:t>02</a:t>
            </a:r>
            <a:endParaRPr lang="en-US" sz="600" dirty="0"/>
          </a:p>
        </p:txBody>
      </p:sp>
      <p:sp>
        <p:nvSpPr>
          <p:cNvPr id="51" name="Text 49"/>
          <p:cNvSpPr/>
          <p:nvPr/>
        </p:nvSpPr>
        <p:spPr>
          <a:xfrm>
            <a:off x="1463040" y="4151376"/>
            <a:ext cx="2011680" cy="164592"/>
          </a:xfrm>
          <a:prstGeom prst="rect">
            <a:avLst/>
          </a:prstGeom>
          <a:noFill/>
          <a:ln/>
        </p:spPr>
        <p:txBody>
          <a:bodyPr wrap="square" lIns="381" tIns="381" rIns="381" bIns="381" rtlCol="0" anchor="ctr">
            <a:normAutofit fontScale="92500" lnSpcReduction="20000"/>
          </a:bodyPr>
          <a:lstStyle/>
          <a:p>
            <a:pPr marL="0" indent="0" algn="l">
              <a:buNone/>
            </a:pPr>
            <a:r>
              <a:rPr lang="en-US" sz="1250" dirty="0">
                <a:solidFill>
                  <a:srgbClr val="132133"/>
                </a:solidFill>
                <a:latin typeface="Georgia" pitchFamily="34" charset="0"/>
                <a:ea typeface="Georgia" pitchFamily="34" charset="-122"/>
                <a:cs typeface="Georgia" pitchFamily="34" charset="-120"/>
              </a:rPr>
              <a:t>Queen</a:t>
            </a:r>
            <a:endParaRPr lang="en-US" sz="1250" dirty="0"/>
          </a:p>
        </p:txBody>
      </p:sp>
      <p:sp>
        <p:nvSpPr>
          <p:cNvPr id="52" name="Shape 50"/>
          <p:cNvSpPr/>
          <p:nvPr/>
        </p:nvSpPr>
        <p:spPr>
          <a:xfrm>
            <a:off x="2907792" y="4169664"/>
            <a:ext cx="530352" cy="173736"/>
          </a:xfrm>
          <a:prstGeom prst="roundRect">
            <a:avLst>
              <a:gd name="adj" fmla="val 26316"/>
            </a:avLst>
          </a:prstGeom>
          <a:solidFill>
            <a:srgbClr val="DFB66E"/>
          </a:solidFill>
          <a:ln w="12700">
            <a:solidFill>
              <a:srgbClr val="DFB66E"/>
            </a:solidFill>
            <a:prstDash val="solid"/>
          </a:ln>
        </p:spPr>
        <p:txBody>
          <a:bodyPr/>
          <a:lstStyle/>
          <a:p>
            <a:endParaRPr lang="en-US"/>
          </a:p>
        </p:txBody>
      </p:sp>
      <p:sp>
        <p:nvSpPr>
          <p:cNvPr id="53" name="Text 51"/>
          <p:cNvSpPr/>
          <p:nvPr/>
        </p:nvSpPr>
        <p:spPr>
          <a:xfrm>
            <a:off x="2944368" y="4215384"/>
            <a:ext cx="457200" cy="64008"/>
          </a:xfrm>
          <a:prstGeom prst="rect">
            <a:avLst/>
          </a:prstGeom>
          <a:noFill/>
          <a:ln/>
        </p:spPr>
        <p:txBody>
          <a:bodyPr wrap="square" lIns="381" tIns="381" rIns="381" bIns="381" rtlCol="0" anchor="ctr">
            <a:normAutofit/>
          </a:bodyPr>
          <a:lstStyle/>
          <a:p>
            <a:pPr marL="0" indent="0" algn="ctr">
              <a:buNone/>
            </a:pPr>
            <a:r>
              <a:rPr lang="en-US" sz="400" b="1" dirty="0">
                <a:solidFill>
                  <a:srgbClr val="132133"/>
                </a:solidFill>
                <a:latin typeface="Arial" pitchFamily="34" charset="0"/>
                <a:ea typeface="Arial" pitchFamily="34" charset="-122"/>
                <a:cs typeface="Arial" pitchFamily="34" charset="-120"/>
              </a:rPr>
              <a:t>POPULAR</a:t>
            </a:r>
            <a:endParaRPr lang="en-US" sz="400" dirty="0"/>
          </a:p>
        </p:txBody>
      </p:sp>
      <p:sp>
        <p:nvSpPr>
          <p:cNvPr id="54" name="Text 52"/>
          <p:cNvSpPr/>
          <p:nvPr/>
        </p:nvSpPr>
        <p:spPr>
          <a:xfrm>
            <a:off x="3566160" y="4187952"/>
            <a:ext cx="3108960" cy="146304"/>
          </a:xfrm>
          <a:prstGeom prst="rect">
            <a:avLst/>
          </a:prstGeom>
          <a:noFill/>
          <a:ln/>
        </p:spPr>
        <p:txBody>
          <a:bodyPr wrap="square" lIns="381" tIns="381" rIns="381" bIns="381" rtlCol="0" anchor="ctr">
            <a:normAutofit/>
          </a:bodyPr>
          <a:lstStyle/>
          <a:p>
            <a:pPr marL="0" indent="0" algn="l">
              <a:buNone/>
            </a:pPr>
            <a:r>
              <a:rPr lang="en-US" sz="640" dirty="0">
                <a:solidFill>
                  <a:srgbClr val="2A3B50"/>
                </a:solidFill>
                <a:latin typeface="Arial" pitchFamily="34" charset="0"/>
                <a:ea typeface="Arial" pitchFamily="34" charset="-122"/>
                <a:cs typeface="Arial" pitchFamily="34" charset="-120"/>
              </a:rPr>
              <a:t>One Queen Bed • Couples Favorite • Single Lodge Location</a:t>
            </a:r>
            <a:endParaRPr lang="en-US" sz="640" dirty="0"/>
          </a:p>
        </p:txBody>
      </p:sp>
      <p:sp>
        <p:nvSpPr>
          <p:cNvPr id="55" name="Text 53"/>
          <p:cNvSpPr/>
          <p:nvPr/>
        </p:nvSpPr>
        <p:spPr>
          <a:xfrm>
            <a:off x="7315200" y="4133088"/>
            <a:ext cx="658368" cy="201168"/>
          </a:xfrm>
          <a:prstGeom prst="rect">
            <a:avLst/>
          </a:prstGeom>
          <a:noFill/>
          <a:ln/>
        </p:spPr>
        <p:txBody>
          <a:bodyPr wrap="square" lIns="381" tIns="381" rIns="381" bIns="381" rtlCol="0" anchor="ctr">
            <a:normAutofit/>
          </a:bodyPr>
          <a:lstStyle/>
          <a:p>
            <a:pPr marL="0" indent="0" algn="l">
              <a:buNone/>
            </a:pPr>
            <a:r>
              <a:rPr lang="en-US" sz="1100" b="1" dirty="0">
                <a:solidFill>
                  <a:srgbClr val="1F5963"/>
                </a:solidFill>
                <a:latin typeface="Arial" pitchFamily="34" charset="0"/>
                <a:ea typeface="Arial" pitchFamily="34" charset="-122"/>
                <a:cs typeface="Arial" pitchFamily="34" charset="-120"/>
              </a:rPr>
              <a:t>$135</a:t>
            </a:r>
            <a:endParaRPr lang="en-US" sz="1100" dirty="0"/>
          </a:p>
        </p:txBody>
      </p:sp>
      <p:sp>
        <p:nvSpPr>
          <p:cNvPr id="56" name="Text 54"/>
          <p:cNvSpPr/>
          <p:nvPr/>
        </p:nvSpPr>
        <p:spPr>
          <a:xfrm>
            <a:off x="7900416" y="4197096"/>
            <a:ext cx="411480" cy="91440"/>
          </a:xfrm>
          <a:prstGeom prst="rect">
            <a:avLst/>
          </a:prstGeom>
          <a:noFill/>
          <a:ln/>
        </p:spPr>
        <p:txBody>
          <a:bodyPr wrap="square" lIns="381" tIns="381" rIns="381" bIns="381" rtlCol="0" anchor="ctr">
            <a:normAutofit/>
          </a:bodyPr>
          <a:lstStyle/>
          <a:p>
            <a:pPr marL="0" indent="0" algn="l">
              <a:buNone/>
            </a:pPr>
            <a:r>
              <a:rPr lang="en-US" sz="560" dirty="0">
                <a:solidFill>
                  <a:srgbClr val="536273"/>
                </a:solidFill>
                <a:latin typeface="Arial" pitchFamily="34" charset="0"/>
                <a:ea typeface="Arial" pitchFamily="34" charset="-122"/>
                <a:cs typeface="Arial" pitchFamily="34" charset="-120"/>
              </a:rPr>
              <a:t>/ night</a:t>
            </a:r>
            <a:endParaRPr lang="en-US" sz="560" dirty="0"/>
          </a:p>
        </p:txBody>
      </p:sp>
      <p:sp>
        <p:nvSpPr>
          <p:cNvPr id="57" name="Shape 55">
            <a:hlinkClick r:id="rId8" action="ppaction://hlinksldjump"/>
          </p:cNvPr>
          <p:cNvSpPr/>
          <p:nvPr/>
        </p:nvSpPr>
        <p:spPr>
          <a:xfrm>
            <a:off x="9372600" y="4160520"/>
            <a:ext cx="960120" cy="310896"/>
          </a:xfrm>
          <a:prstGeom prst="roundRect">
            <a:avLst>
              <a:gd name="adj" fmla="val 35294"/>
            </a:avLst>
          </a:prstGeom>
          <a:solidFill>
            <a:srgbClr val="CDA059"/>
          </a:solidFill>
          <a:ln w="12700">
            <a:solidFill>
              <a:srgbClr val="CDA059">
                <a:alpha val="0"/>
              </a:srgbClr>
            </a:solidFill>
            <a:prstDash val="solid"/>
          </a:ln>
        </p:spPr>
        <p:txBody>
          <a:bodyPr/>
          <a:lstStyle/>
          <a:p>
            <a:endParaRPr lang="en-US"/>
          </a:p>
        </p:txBody>
      </p:sp>
      <p:sp>
        <p:nvSpPr>
          <p:cNvPr id="58" name="Text 56">
            <a:hlinkClick r:id="rId8" action="ppaction://hlinksldjump"/>
          </p:cNvPr>
          <p:cNvSpPr/>
          <p:nvPr/>
        </p:nvSpPr>
        <p:spPr>
          <a:xfrm>
            <a:off x="9400032" y="4242816"/>
            <a:ext cx="905256" cy="109728"/>
          </a:xfrm>
          <a:prstGeom prst="rect">
            <a:avLst/>
          </a:prstGeom>
          <a:noFill/>
          <a:ln/>
        </p:spPr>
        <p:txBody>
          <a:bodyPr wrap="square" lIns="381" tIns="381" rIns="381" bIns="381" rtlCol="0" anchor="ctr">
            <a:normAutofit/>
          </a:bodyPr>
          <a:lstStyle/>
          <a:p>
            <a:pPr marL="0" indent="0" algn="ctr">
              <a:buNone/>
            </a:pPr>
            <a:r>
              <a:rPr lang="en-US" sz="640" b="1" u="sng" dirty="0">
                <a:solidFill>
                  <a:srgbClr val="132133"/>
                </a:solidFill>
                <a:latin typeface="Arial" pitchFamily="34" charset="0"/>
                <a:ea typeface="Arial" pitchFamily="34" charset="-122"/>
                <a:cs typeface="Arial" pitchFamily="34" charset="-120"/>
                <a:hlinkClick r:id="rId8" action="ppaction://hlinksldjump">
                  <a:extLst>
                    <a:ext uri="{A12FA001-AC4F-418D-AE19-62706E023703}">
                      <ahyp:hlinkClr xmlns:ahyp="http://schemas.microsoft.com/office/drawing/2018/hyperlinkcolor" val="tx"/>
                    </a:ext>
                  </a:extLst>
                </a:hlinkClick>
              </a:rPr>
              <a:t>Select Room</a:t>
            </a:r>
            <a:endParaRPr lang="en-US" sz="640" dirty="0"/>
          </a:p>
        </p:txBody>
      </p:sp>
      <p:sp>
        <p:nvSpPr>
          <p:cNvPr id="59" name="Shape 57"/>
          <p:cNvSpPr/>
          <p:nvPr/>
        </p:nvSpPr>
        <p:spPr>
          <a:xfrm>
            <a:off x="822960" y="4773168"/>
            <a:ext cx="9921240" cy="621792"/>
          </a:xfrm>
          <a:prstGeom prst="roundRect">
            <a:avLst>
              <a:gd name="adj" fmla="val 10294"/>
            </a:avLst>
          </a:prstGeom>
          <a:solidFill>
            <a:srgbClr val="FFFFFF">
              <a:alpha val="92000"/>
            </a:srgbClr>
          </a:solidFill>
          <a:ln w="10160">
            <a:solidFill>
              <a:srgbClr val="E9DFCF"/>
            </a:solidFill>
            <a:prstDash val="solid"/>
          </a:ln>
          <a:effectLst>
            <a:outerShdw blurRad="12700" dist="7620" dir="2700000" algn="bl" rotWithShape="0">
              <a:srgbClr val="132133">
                <a:alpha val="5500"/>
              </a:srgbClr>
            </a:outerShdw>
          </a:effectLst>
        </p:spPr>
        <p:txBody>
          <a:bodyPr/>
          <a:lstStyle/>
          <a:p>
            <a:endParaRPr lang="en-US"/>
          </a:p>
        </p:txBody>
      </p:sp>
      <p:sp>
        <p:nvSpPr>
          <p:cNvPr id="60" name="Text 58"/>
          <p:cNvSpPr/>
          <p:nvPr/>
        </p:nvSpPr>
        <p:spPr>
          <a:xfrm>
            <a:off x="1024128" y="5001768"/>
            <a:ext cx="347472" cy="82296"/>
          </a:xfrm>
          <a:prstGeom prst="rect">
            <a:avLst/>
          </a:prstGeom>
          <a:noFill/>
          <a:ln/>
        </p:spPr>
        <p:txBody>
          <a:bodyPr wrap="square" lIns="381" tIns="381" rIns="381" bIns="381" rtlCol="0" anchor="ctr">
            <a:normAutofit fontScale="92500" lnSpcReduction="20000"/>
          </a:bodyPr>
          <a:lstStyle/>
          <a:p>
            <a:pPr marL="0" indent="0" algn="l">
              <a:buNone/>
            </a:pPr>
            <a:r>
              <a:rPr lang="en-US" sz="600" b="1" dirty="0">
                <a:solidFill>
                  <a:srgbClr val="CDA059"/>
                </a:solidFill>
                <a:latin typeface="Arial" pitchFamily="34" charset="0"/>
                <a:ea typeface="Arial" pitchFamily="34" charset="-122"/>
                <a:cs typeface="Arial" pitchFamily="34" charset="-120"/>
              </a:rPr>
              <a:t>03</a:t>
            </a:r>
            <a:endParaRPr lang="en-US" sz="600" dirty="0"/>
          </a:p>
        </p:txBody>
      </p:sp>
      <p:sp>
        <p:nvSpPr>
          <p:cNvPr id="61" name="Text 59"/>
          <p:cNvSpPr/>
          <p:nvPr/>
        </p:nvSpPr>
        <p:spPr>
          <a:xfrm>
            <a:off x="1463040" y="4919472"/>
            <a:ext cx="2011680" cy="164592"/>
          </a:xfrm>
          <a:prstGeom prst="rect">
            <a:avLst/>
          </a:prstGeom>
          <a:noFill/>
          <a:ln/>
        </p:spPr>
        <p:txBody>
          <a:bodyPr wrap="square" lIns="381" tIns="381" rIns="381" bIns="381" rtlCol="0" anchor="ctr">
            <a:normAutofit fontScale="92500" lnSpcReduction="20000"/>
          </a:bodyPr>
          <a:lstStyle/>
          <a:p>
            <a:pPr marL="0" indent="0" algn="l">
              <a:buNone/>
            </a:pPr>
            <a:r>
              <a:rPr lang="en-US" sz="1250" dirty="0">
                <a:solidFill>
                  <a:srgbClr val="132133"/>
                </a:solidFill>
                <a:latin typeface="Georgia" pitchFamily="34" charset="0"/>
                <a:ea typeface="Georgia" pitchFamily="34" charset="-122"/>
                <a:cs typeface="Georgia" pitchFamily="34" charset="-120"/>
              </a:rPr>
              <a:t>Double Queen Beds</a:t>
            </a:r>
            <a:endParaRPr lang="en-US" sz="1250" dirty="0"/>
          </a:p>
        </p:txBody>
      </p:sp>
      <p:sp>
        <p:nvSpPr>
          <p:cNvPr id="62" name="Text 60"/>
          <p:cNvSpPr/>
          <p:nvPr/>
        </p:nvSpPr>
        <p:spPr>
          <a:xfrm>
            <a:off x="3566160" y="4956048"/>
            <a:ext cx="3108960" cy="146304"/>
          </a:xfrm>
          <a:prstGeom prst="rect">
            <a:avLst/>
          </a:prstGeom>
          <a:noFill/>
          <a:ln/>
        </p:spPr>
        <p:txBody>
          <a:bodyPr wrap="square" lIns="381" tIns="381" rIns="381" bIns="381" rtlCol="0" anchor="ctr">
            <a:normAutofit/>
          </a:bodyPr>
          <a:lstStyle/>
          <a:p>
            <a:pPr marL="0" indent="0" algn="l">
              <a:buNone/>
            </a:pPr>
            <a:r>
              <a:rPr lang="en-US" sz="640" dirty="0">
                <a:solidFill>
                  <a:srgbClr val="2A3B50"/>
                </a:solidFill>
                <a:latin typeface="Arial" pitchFamily="34" charset="0"/>
                <a:ea typeface="Arial" pitchFamily="34" charset="-122"/>
                <a:cs typeface="Arial" pitchFamily="34" charset="-120"/>
              </a:rPr>
              <a:t>Two Queen Beds • Extra Space • Single Lodge Location</a:t>
            </a:r>
            <a:endParaRPr lang="en-US" sz="640" dirty="0"/>
          </a:p>
        </p:txBody>
      </p:sp>
      <p:sp>
        <p:nvSpPr>
          <p:cNvPr id="63" name="Text 61"/>
          <p:cNvSpPr/>
          <p:nvPr/>
        </p:nvSpPr>
        <p:spPr>
          <a:xfrm>
            <a:off x="7315200" y="4901184"/>
            <a:ext cx="658368" cy="201168"/>
          </a:xfrm>
          <a:prstGeom prst="rect">
            <a:avLst/>
          </a:prstGeom>
          <a:noFill/>
          <a:ln/>
        </p:spPr>
        <p:txBody>
          <a:bodyPr wrap="square" lIns="381" tIns="381" rIns="381" bIns="381" rtlCol="0" anchor="ctr">
            <a:normAutofit/>
          </a:bodyPr>
          <a:lstStyle/>
          <a:p>
            <a:pPr marL="0" indent="0" algn="l">
              <a:buNone/>
            </a:pPr>
            <a:r>
              <a:rPr lang="en-US" sz="1100" b="1" dirty="0">
                <a:solidFill>
                  <a:srgbClr val="1F5963"/>
                </a:solidFill>
                <a:latin typeface="Arial" pitchFamily="34" charset="0"/>
                <a:ea typeface="Arial" pitchFamily="34" charset="-122"/>
                <a:cs typeface="Arial" pitchFamily="34" charset="-120"/>
              </a:rPr>
              <a:t>$150</a:t>
            </a:r>
            <a:endParaRPr lang="en-US" sz="1100" dirty="0"/>
          </a:p>
        </p:txBody>
      </p:sp>
      <p:sp>
        <p:nvSpPr>
          <p:cNvPr id="64" name="Text 62"/>
          <p:cNvSpPr/>
          <p:nvPr/>
        </p:nvSpPr>
        <p:spPr>
          <a:xfrm>
            <a:off x="7900416" y="4965192"/>
            <a:ext cx="411480" cy="91440"/>
          </a:xfrm>
          <a:prstGeom prst="rect">
            <a:avLst/>
          </a:prstGeom>
          <a:noFill/>
          <a:ln/>
        </p:spPr>
        <p:txBody>
          <a:bodyPr wrap="square" lIns="381" tIns="381" rIns="381" bIns="381" rtlCol="0" anchor="ctr">
            <a:normAutofit/>
          </a:bodyPr>
          <a:lstStyle/>
          <a:p>
            <a:pPr marL="0" indent="0" algn="l">
              <a:buNone/>
            </a:pPr>
            <a:r>
              <a:rPr lang="en-US" sz="560" dirty="0">
                <a:solidFill>
                  <a:srgbClr val="536273"/>
                </a:solidFill>
                <a:latin typeface="Arial" pitchFamily="34" charset="0"/>
                <a:ea typeface="Arial" pitchFamily="34" charset="-122"/>
                <a:cs typeface="Arial" pitchFamily="34" charset="-120"/>
              </a:rPr>
              <a:t>/ night</a:t>
            </a:r>
            <a:endParaRPr lang="en-US" sz="560" dirty="0"/>
          </a:p>
        </p:txBody>
      </p:sp>
      <p:sp>
        <p:nvSpPr>
          <p:cNvPr id="65" name="Shape 63">
            <a:hlinkClick r:id="rId8" action="ppaction://hlinksldjump"/>
          </p:cNvPr>
          <p:cNvSpPr/>
          <p:nvPr/>
        </p:nvSpPr>
        <p:spPr>
          <a:xfrm>
            <a:off x="9372600" y="4928616"/>
            <a:ext cx="960120" cy="310896"/>
          </a:xfrm>
          <a:prstGeom prst="roundRect">
            <a:avLst>
              <a:gd name="adj" fmla="val 35294"/>
            </a:avLst>
          </a:prstGeom>
          <a:solidFill>
            <a:srgbClr val="CDA059"/>
          </a:solidFill>
          <a:ln w="12700">
            <a:solidFill>
              <a:srgbClr val="CDA059">
                <a:alpha val="0"/>
              </a:srgbClr>
            </a:solidFill>
            <a:prstDash val="solid"/>
          </a:ln>
        </p:spPr>
        <p:txBody>
          <a:bodyPr/>
          <a:lstStyle/>
          <a:p>
            <a:endParaRPr lang="en-US"/>
          </a:p>
        </p:txBody>
      </p:sp>
      <p:sp>
        <p:nvSpPr>
          <p:cNvPr id="66" name="Text 64">
            <a:hlinkClick r:id="rId8" action="ppaction://hlinksldjump"/>
          </p:cNvPr>
          <p:cNvSpPr/>
          <p:nvPr/>
        </p:nvSpPr>
        <p:spPr>
          <a:xfrm>
            <a:off x="9400032" y="5010912"/>
            <a:ext cx="905256" cy="109728"/>
          </a:xfrm>
          <a:prstGeom prst="rect">
            <a:avLst/>
          </a:prstGeom>
          <a:noFill/>
          <a:ln/>
        </p:spPr>
        <p:txBody>
          <a:bodyPr wrap="square" lIns="381" tIns="381" rIns="381" bIns="381" rtlCol="0" anchor="ctr">
            <a:normAutofit/>
          </a:bodyPr>
          <a:lstStyle/>
          <a:p>
            <a:pPr marL="0" indent="0" algn="ctr">
              <a:buNone/>
            </a:pPr>
            <a:r>
              <a:rPr lang="en-US" sz="640" b="1" u="sng" dirty="0">
                <a:solidFill>
                  <a:srgbClr val="132133"/>
                </a:solidFill>
                <a:latin typeface="Arial" pitchFamily="34" charset="0"/>
                <a:ea typeface="Arial" pitchFamily="34" charset="-122"/>
                <a:cs typeface="Arial" pitchFamily="34" charset="-120"/>
                <a:hlinkClick r:id="rId8" action="ppaction://hlinksldjump">
                  <a:extLst>
                    <a:ext uri="{A12FA001-AC4F-418D-AE19-62706E023703}">
                      <ahyp:hlinkClr xmlns:ahyp="http://schemas.microsoft.com/office/drawing/2018/hyperlinkcolor" val="tx"/>
                    </a:ext>
                  </a:extLst>
                </a:hlinkClick>
              </a:rPr>
              <a:t>Select Room</a:t>
            </a:r>
            <a:endParaRPr lang="en-US" sz="640" dirty="0"/>
          </a:p>
        </p:txBody>
      </p:sp>
      <p:sp>
        <p:nvSpPr>
          <p:cNvPr id="67" name="Shape 65"/>
          <p:cNvSpPr/>
          <p:nvPr/>
        </p:nvSpPr>
        <p:spPr>
          <a:xfrm>
            <a:off x="822960" y="5541264"/>
            <a:ext cx="9921240" cy="621792"/>
          </a:xfrm>
          <a:prstGeom prst="roundRect">
            <a:avLst>
              <a:gd name="adj" fmla="val 10294"/>
            </a:avLst>
          </a:prstGeom>
          <a:solidFill>
            <a:srgbClr val="FFFFFF">
              <a:alpha val="92000"/>
            </a:srgbClr>
          </a:solidFill>
          <a:ln w="10160">
            <a:solidFill>
              <a:srgbClr val="E9DFCF"/>
            </a:solidFill>
            <a:prstDash val="solid"/>
          </a:ln>
          <a:effectLst>
            <a:outerShdw blurRad="12700" dist="7620" dir="2700000" algn="bl" rotWithShape="0">
              <a:srgbClr val="132133">
                <a:alpha val="5500"/>
              </a:srgbClr>
            </a:outerShdw>
          </a:effectLst>
        </p:spPr>
        <p:txBody>
          <a:bodyPr/>
          <a:lstStyle/>
          <a:p>
            <a:endParaRPr lang="en-US"/>
          </a:p>
        </p:txBody>
      </p:sp>
      <p:sp>
        <p:nvSpPr>
          <p:cNvPr id="68" name="Text 66"/>
          <p:cNvSpPr/>
          <p:nvPr/>
        </p:nvSpPr>
        <p:spPr>
          <a:xfrm>
            <a:off x="1024128" y="5769864"/>
            <a:ext cx="347472" cy="82296"/>
          </a:xfrm>
          <a:prstGeom prst="rect">
            <a:avLst/>
          </a:prstGeom>
          <a:noFill/>
          <a:ln/>
        </p:spPr>
        <p:txBody>
          <a:bodyPr wrap="square" lIns="381" tIns="381" rIns="381" bIns="381" rtlCol="0" anchor="ctr">
            <a:normAutofit fontScale="92500" lnSpcReduction="20000"/>
          </a:bodyPr>
          <a:lstStyle/>
          <a:p>
            <a:pPr marL="0" indent="0" algn="l">
              <a:buNone/>
            </a:pPr>
            <a:r>
              <a:rPr lang="en-US" sz="600" b="1" dirty="0">
                <a:solidFill>
                  <a:srgbClr val="CDA059"/>
                </a:solidFill>
                <a:latin typeface="Arial" pitchFamily="34" charset="0"/>
                <a:ea typeface="Arial" pitchFamily="34" charset="-122"/>
                <a:cs typeface="Arial" pitchFamily="34" charset="-120"/>
              </a:rPr>
              <a:t>04</a:t>
            </a:r>
            <a:endParaRPr lang="en-US" sz="600" dirty="0"/>
          </a:p>
        </p:txBody>
      </p:sp>
      <p:sp>
        <p:nvSpPr>
          <p:cNvPr id="69" name="Text 67"/>
          <p:cNvSpPr/>
          <p:nvPr/>
        </p:nvSpPr>
        <p:spPr>
          <a:xfrm>
            <a:off x="1463040" y="5687568"/>
            <a:ext cx="2011680" cy="164592"/>
          </a:xfrm>
          <a:prstGeom prst="rect">
            <a:avLst/>
          </a:prstGeom>
          <a:noFill/>
          <a:ln/>
        </p:spPr>
        <p:txBody>
          <a:bodyPr wrap="square" lIns="381" tIns="381" rIns="381" bIns="381" rtlCol="0" anchor="ctr">
            <a:normAutofit fontScale="92500" lnSpcReduction="20000"/>
          </a:bodyPr>
          <a:lstStyle/>
          <a:p>
            <a:pPr marL="0" indent="0" algn="l">
              <a:buNone/>
            </a:pPr>
            <a:r>
              <a:rPr lang="en-US" sz="1250" dirty="0">
                <a:solidFill>
                  <a:srgbClr val="132133"/>
                </a:solidFill>
                <a:latin typeface="Georgia" pitchFamily="34" charset="0"/>
                <a:ea typeface="Georgia" pitchFamily="34" charset="-122"/>
                <a:cs typeface="Georgia" pitchFamily="34" charset="-120"/>
              </a:rPr>
              <a:t>King</a:t>
            </a:r>
            <a:endParaRPr lang="en-US" sz="1250" dirty="0"/>
          </a:p>
        </p:txBody>
      </p:sp>
      <p:sp>
        <p:nvSpPr>
          <p:cNvPr id="70" name="Text 68"/>
          <p:cNvSpPr/>
          <p:nvPr/>
        </p:nvSpPr>
        <p:spPr>
          <a:xfrm>
            <a:off x="3566160" y="5724144"/>
            <a:ext cx="3108960" cy="146304"/>
          </a:xfrm>
          <a:prstGeom prst="rect">
            <a:avLst/>
          </a:prstGeom>
          <a:noFill/>
          <a:ln/>
        </p:spPr>
        <p:txBody>
          <a:bodyPr wrap="square" lIns="381" tIns="381" rIns="381" bIns="381" rtlCol="0" anchor="ctr">
            <a:normAutofit/>
          </a:bodyPr>
          <a:lstStyle/>
          <a:p>
            <a:pPr marL="0" indent="0" algn="l">
              <a:buNone/>
            </a:pPr>
            <a:r>
              <a:rPr lang="en-US" sz="640" dirty="0">
                <a:solidFill>
                  <a:srgbClr val="2A3B50"/>
                </a:solidFill>
                <a:latin typeface="Arial" pitchFamily="34" charset="0"/>
                <a:ea typeface="Arial" pitchFamily="34" charset="-122"/>
                <a:cs typeface="Arial" pitchFamily="34" charset="-120"/>
              </a:rPr>
              <a:t>One King Bed • Spacious Comfort • Single Lodge Location</a:t>
            </a:r>
            <a:endParaRPr lang="en-US" sz="640" dirty="0"/>
          </a:p>
        </p:txBody>
      </p:sp>
      <p:sp>
        <p:nvSpPr>
          <p:cNvPr id="71" name="Text 69"/>
          <p:cNvSpPr/>
          <p:nvPr/>
        </p:nvSpPr>
        <p:spPr>
          <a:xfrm>
            <a:off x="7315200" y="5669280"/>
            <a:ext cx="658368" cy="201168"/>
          </a:xfrm>
          <a:prstGeom prst="rect">
            <a:avLst/>
          </a:prstGeom>
          <a:noFill/>
          <a:ln/>
        </p:spPr>
        <p:txBody>
          <a:bodyPr wrap="square" lIns="381" tIns="381" rIns="381" bIns="381" rtlCol="0" anchor="ctr">
            <a:normAutofit/>
          </a:bodyPr>
          <a:lstStyle/>
          <a:p>
            <a:pPr marL="0" indent="0" algn="l">
              <a:buNone/>
            </a:pPr>
            <a:r>
              <a:rPr lang="en-US" sz="1100" b="1" dirty="0">
                <a:solidFill>
                  <a:srgbClr val="1F5963"/>
                </a:solidFill>
                <a:latin typeface="Arial" pitchFamily="34" charset="0"/>
                <a:ea typeface="Arial" pitchFamily="34" charset="-122"/>
                <a:cs typeface="Arial" pitchFamily="34" charset="-120"/>
              </a:rPr>
              <a:t>$160</a:t>
            </a:r>
            <a:endParaRPr lang="en-US" sz="1100" dirty="0"/>
          </a:p>
        </p:txBody>
      </p:sp>
      <p:sp>
        <p:nvSpPr>
          <p:cNvPr id="72" name="Text 70"/>
          <p:cNvSpPr/>
          <p:nvPr/>
        </p:nvSpPr>
        <p:spPr>
          <a:xfrm>
            <a:off x="7900416" y="5733288"/>
            <a:ext cx="411480" cy="91440"/>
          </a:xfrm>
          <a:prstGeom prst="rect">
            <a:avLst/>
          </a:prstGeom>
          <a:noFill/>
          <a:ln/>
        </p:spPr>
        <p:txBody>
          <a:bodyPr wrap="square" lIns="381" tIns="381" rIns="381" bIns="381" rtlCol="0" anchor="ctr">
            <a:normAutofit/>
          </a:bodyPr>
          <a:lstStyle/>
          <a:p>
            <a:pPr marL="0" indent="0" algn="l">
              <a:buNone/>
            </a:pPr>
            <a:r>
              <a:rPr lang="en-US" sz="560" dirty="0">
                <a:solidFill>
                  <a:srgbClr val="536273"/>
                </a:solidFill>
                <a:latin typeface="Arial" pitchFamily="34" charset="0"/>
                <a:ea typeface="Arial" pitchFamily="34" charset="-122"/>
                <a:cs typeface="Arial" pitchFamily="34" charset="-120"/>
              </a:rPr>
              <a:t>/ night</a:t>
            </a:r>
            <a:endParaRPr lang="en-US" sz="560" dirty="0"/>
          </a:p>
        </p:txBody>
      </p:sp>
      <p:sp>
        <p:nvSpPr>
          <p:cNvPr id="73" name="Shape 71">
            <a:hlinkClick r:id="rId8" action="ppaction://hlinksldjump"/>
          </p:cNvPr>
          <p:cNvSpPr/>
          <p:nvPr/>
        </p:nvSpPr>
        <p:spPr>
          <a:xfrm>
            <a:off x="9372600" y="5696712"/>
            <a:ext cx="960120" cy="310896"/>
          </a:xfrm>
          <a:prstGeom prst="roundRect">
            <a:avLst>
              <a:gd name="adj" fmla="val 35294"/>
            </a:avLst>
          </a:prstGeom>
          <a:solidFill>
            <a:srgbClr val="CDA059"/>
          </a:solidFill>
          <a:ln w="12700">
            <a:solidFill>
              <a:srgbClr val="CDA059">
                <a:alpha val="0"/>
              </a:srgbClr>
            </a:solidFill>
            <a:prstDash val="solid"/>
          </a:ln>
        </p:spPr>
        <p:txBody>
          <a:bodyPr/>
          <a:lstStyle/>
          <a:p>
            <a:endParaRPr lang="en-US"/>
          </a:p>
        </p:txBody>
      </p:sp>
      <p:sp>
        <p:nvSpPr>
          <p:cNvPr id="74" name="Text 72">
            <a:hlinkClick r:id="rId8" action="ppaction://hlinksldjump"/>
          </p:cNvPr>
          <p:cNvSpPr/>
          <p:nvPr/>
        </p:nvSpPr>
        <p:spPr>
          <a:xfrm>
            <a:off x="9400032" y="5779008"/>
            <a:ext cx="905256" cy="109728"/>
          </a:xfrm>
          <a:prstGeom prst="rect">
            <a:avLst/>
          </a:prstGeom>
          <a:noFill/>
          <a:ln/>
        </p:spPr>
        <p:txBody>
          <a:bodyPr wrap="square" lIns="381" tIns="381" rIns="381" bIns="381" rtlCol="0" anchor="ctr">
            <a:normAutofit/>
          </a:bodyPr>
          <a:lstStyle/>
          <a:p>
            <a:pPr marL="0" indent="0" algn="ctr">
              <a:buNone/>
            </a:pPr>
            <a:r>
              <a:rPr lang="en-US" sz="640" b="1" u="sng" dirty="0">
                <a:solidFill>
                  <a:srgbClr val="132133"/>
                </a:solidFill>
                <a:latin typeface="Arial" pitchFamily="34" charset="0"/>
                <a:ea typeface="Arial" pitchFamily="34" charset="-122"/>
                <a:cs typeface="Arial" pitchFamily="34" charset="-120"/>
                <a:hlinkClick r:id="rId8" action="ppaction://hlinksldjump">
                  <a:extLst>
                    <a:ext uri="{A12FA001-AC4F-418D-AE19-62706E023703}">
                      <ahyp:hlinkClr xmlns:ahyp="http://schemas.microsoft.com/office/drawing/2018/hyperlinkcolor" val="tx"/>
                    </a:ext>
                  </a:extLst>
                </a:hlinkClick>
              </a:rPr>
              <a:t>Select Room</a:t>
            </a:r>
            <a:endParaRPr lang="en-US" sz="640" dirty="0"/>
          </a:p>
        </p:txBody>
      </p:sp>
      <p:sp>
        <p:nvSpPr>
          <p:cNvPr id="75" name="Shape 73"/>
          <p:cNvSpPr/>
          <p:nvPr/>
        </p:nvSpPr>
        <p:spPr>
          <a:xfrm>
            <a:off x="822960" y="6089904"/>
            <a:ext cx="9921240" cy="438912"/>
          </a:xfrm>
          <a:prstGeom prst="roundRect">
            <a:avLst>
              <a:gd name="adj" fmla="val 20833"/>
            </a:avLst>
          </a:prstGeom>
          <a:solidFill>
            <a:srgbClr val="132133"/>
          </a:solidFill>
          <a:ln w="12700">
            <a:solidFill>
              <a:srgbClr val="132133"/>
            </a:solidFill>
            <a:prstDash val="solid"/>
          </a:ln>
        </p:spPr>
        <p:txBody>
          <a:bodyPr/>
          <a:lstStyle/>
          <a:p>
            <a:endParaRPr lang="en-US"/>
          </a:p>
        </p:txBody>
      </p:sp>
      <p:sp>
        <p:nvSpPr>
          <p:cNvPr id="76" name="Text 74"/>
          <p:cNvSpPr/>
          <p:nvPr/>
        </p:nvSpPr>
        <p:spPr>
          <a:xfrm>
            <a:off x="1051560" y="6227064"/>
            <a:ext cx="3200400" cy="118872"/>
          </a:xfrm>
          <a:prstGeom prst="rect">
            <a:avLst/>
          </a:prstGeom>
          <a:noFill/>
          <a:ln/>
        </p:spPr>
        <p:txBody>
          <a:bodyPr wrap="square" lIns="381" tIns="381" rIns="381" bIns="381" rtlCol="0" anchor="ctr">
            <a:normAutofit fontScale="92500" lnSpcReduction="20000"/>
          </a:bodyPr>
          <a:lstStyle/>
          <a:p>
            <a:pPr marL="0" indent="0" algn="l">
              <a:buNone/>
            </a:pPr>
            <a:r>
              <a:rPr lang="en-US" sz="1000" dirty="0">
                <a:solidFill>
                  <a:srgbClr val="FFFFFF"/>
                </a:solidFill>
                <a:latin typeface="Georgia" pitchFamily="34" charset="0"/>
                <a:ea typeface="Georgia" pitchFamily="34" charset="-122"/>
                <a:cs typeface="Georgia" pitchFamily="34" charset="-120"/>
              </a:rPr>
              <a:t>Simple Pricing. Easy Reservations.</a:t>
            </a:r>
            <a:endParaRPr lang="en-US" sz="1000" dirty="0"/>
          </a:p>
        </p:txBody>
      </p:sp>
      <p:sp>
        <p:nvSpPr>
          <p:cNvPr id="77" name="Shape 75">
            <a:hlinkClick r:id="rId8" action="ppaction://hlinksldjump"/>
          </p:cNvPr>
          <p:cNvSpPr/>
          <p:nvPr/>
        </p:nvSpPr>
        <p:spPr>
          <a:xfrm>
            <a:off x="9144000" y="6163056"/>
            <a:ext cx="1234440" cy="310896"/>
          </a:xfrm>
          <a:prstGeom prst="roundRect">
            <a:avLst>
              <a:gd name="adj" fmla="val 35294"/>
            </a:avLst>
          </a:prstGeom>
          <a:solidFill>
            <a:srgbClr val="CDA059"/>
          </a:solidFill>
          <a:ln w="12700">
            <a:solidFill>
              <a:srgbClr val="CDA059">
                <a:alpha val="0"/>
              </a:srgbClr>
            </a:solidFill>
            <a:prstDash val="solid"/>
          </a:ln>
        </p:spPr>
        <p:txBody>
          <a:bodyPr/>
          <a:lstStyle/>
          <a:p>
            <a:endParaRPr lang="en-US"/>
          </a:p>
        </p:txBody>
      </p:sp>
      <p:sp>
        <p:nvSpPr>
          <p:cNvPr id="78" name="Text 76">
            <a:hlinkClick r:id="rId8" action="ppaction://hlinksldjump"/>
          </p:cNvPr>
          <p:cNvSpPr/>
          <p:nvPr/>
        </p:nvSpPr>
        <p:spPr>
          <a:xfrm>
            <a:off x="9171432" y="6245352"/>
            <a:ext cx="1179576" cy="109728"/>
          </a:xfrm>
          <a:prstGeom prst="rect">
            <a:avLst/>
          </a:prstGeom>
          <a:noFill/>
          <a:ln/>
        </p:spPr>
        <p:txBody>
          <a:bodyPr wrap="square" lIns="381" tIns="381" rIns="381" bIns="381" rtlCol="0" anchor="ctr">
            <a:normAutofit/>
          </a:bodyPr>
          <a:lstStyle/>
          <a:p>
            <a:pPr marL="0" indent="0" algn="ctr">
              <a:buNone/>
            </a:pPr>
            <a:r>
              <a:rPr lang="en-US" sz="640" b="1" u="sng" dirty="0">
                <a:solidFill>
                  <a:srgbClr val="132133"/>
                </a:solidFill>
                <a:latin typeface="Arial" pitchFamily="34" charset="0"/>
                <a:ea typeface="Arial" pitchFamily="34" charset="-122"/>
                <a:cs typeface="Arial" pitchFamily="34" charset="-120"/>
                <a:hlinkClick r:id="rId8" action="ppaction://hlinksldjump">
                  <a:extLst>
                    <a:ext uri="{A12FA001-AC4F-418D-AE19-62706E023703}">
                      <ahyp:hlinkClr xmlns:ahyp="http://schemas.microsoft.com/office/drawing/2018/hyperlinkcolor" val="tx"/>
                    </a:ext>
                  </a:extLst>
                </a:hlinkClick>
              </a:rPr>
              <a:t>Start Reservation</a:t>
            </a:r>
            <a:endParaRPr lang="en-US" sz="64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28600"/>
            <a:ext cx="5943600" cy="365760"/>
          </a:xfrm>
          <a:prstGeom prst="rect">
            <a:avLst/>
          </a:prstGeom>
          <a:noFill/>
          <a:ln/>
        </p:spPr>
        <p:txBody>
          <a:bodyPr wrap="square" lIns="381" tIns="381" rIns="381" bIns="381" rtlCol="0" anchor="ctr">
            <a:normAutofit/>
          </a:bodyPr>
          <a:lstStyle/>
          <a:p>
            <a:pPr marL="0" indent="0" algn="l">
              <a:buNone/>
            </a:pPr>
            <a:r>
              <a:rPr lang="en-US" sz="2000" b="1" dirty="0">
                <a:solidFill>
                  <a:srgbClr val="132133"/>
                </a:solidFill>
                <a:latin typeface="Georgia" pitchFamily="34" charset="0"/>
                <a:ea typeface="Georgia" pitchFamily="34" charset="-122"/>
                <a:cs typeface="Georgia" pitchFamily="34" charset="-120"/>
              </a:rPr>
              <a:t>Attractions Page Prototype</a:t>
            </a:r>
            <a:endParaRPr lang="en-US" sz="2000" dirty="0"/>
          </a:p>
        </p:txBody>
      </p:sp>
      <p:sp>
        <p:nvSpPr>
          <p:cNvPr id="3" name="Text 1"/>
          <p:cNvSpPr/>
          <p:nvPr/>
        </p:nvSpPr>
        <p:spPr>
          <a:xfrm>
            <a:off x="512064" y="630936"/>
            <a:ext cx="6492240" cy="228600"/>
          </a:xfrm>
          <a:prstGeom prst="rect">
            <a:avLst/>
          </a:prstGeom>
          <a:noFill/>
          <a:ln/>
        </p:spPr>
        <p:txBody>
          <a:bodyPr wrap="square" lIns="381" tIns="381" rIns="381" bIns="381" rtlCol="0" anchor="ctr">
            <a:normAutofit/>
          </a:bodyPr>
          <a:lstStyle/>
          <a:p>
            <a:pPr marL="0" indent="0" algn="l">
              <a:buNone/>
            </a:pPr>
            <a:r>
              <a:rPr lang="en-US" sz="850" dirty="0">
                <a:solidFill>
                  <a:srgbClr val="536273"/>
                </a:solidFill>
                <a:latin typeface="Arial" pitchFamily="34" charset="0"/>
                <a:ea typeface="Arial" pitchFamily="34" charset="-122"/>
                <a:cs typeface="Arial" pitchFamily="34" charset="-120"/>
              </a:rPr>
              <a:t>Purpose: show nearby island activities and encourage guests to book after planning the trip.</a:t>
            </a:r>
            <a:endParaRPr lang="en-US" sz="850" dirty="0"/>
          </a:p>
        </p:txBody>
      </p:sp>
      <p:sp>
        <p:nvSpPr>
          <p:cNvPr id="4" name="Text 2"/>
          <p:cNvSpPr/>
          <p:nvPr/>
        </p:nvSpPr>
        <p:spPr>
          <a:xfrm>
            <a:off x="8823960" y="256032"/>
            <a:ext cx="2743200" cy="228600"/>
          </a:xfrm>
          <a:prstGeom prst="rect">
            <a:avLst/>
          </a:prstGeom>
          <a:noFill/>
          <a:ln/>
        </p:spPr>
        <p:txBody>
          <a:bodyPr wrap="square" lIns="381" tIns="381" rIns="381" bIns="381" rtlCol="0" anchor="ctr">
            <a:normAutofit/>
          </a:bodyPr>
          <a:lstStyle/>
          <a:p>
            <a:pPr marL="0" indent="0" algn="r">
              <a:buNone/>
            </a:pPr>
            <a:r>
              <a:rPr lang="en-US" sz="800" b="1" dirty="0">
                <a:solidFill>
                  <a:srgbClr val="536273"/>
                </a:solidFill>
                <a:latin typeface="Arial" pitchFamily="34" charset="0"/>
                <a:ea typeface="Arial" pitchFamily="34" charset="-122"/>
                <a:cs typeface="Arial" pitchFamily="34" charset="-120"/>
              </a:rPr>
              <a:t>Moffat Bay Lodge Prototype</a:t>
            </a:r>
            <a:endParaRPr lang="en-US" sz="800" dirty="0"/>
          </a:p>
        </p:txBody>
      </p:sp>
      <p:sp>
        <p:nvSpPr>
          <p:cNvPr id="5" name="Shape 3"/>
          <p:cNvSpPr/>
          <p:nvPr/>
        </p:nvSpPr>
        <p:spPr>
          <a:xfrm>
            <a:off x="502920" y="896112"/>
            <a:ext cx="11201400" cy="5440680"/>
          </a:xfrm>
          <a:prstGeom prst="roundRect">
            <a:avLst>
              <a:gd name="adj" fmla="val 1513"/>
            </a:avLst>
          </a:prstGeom>
          <a:solidFill>
            <a:srgbClr val="FFFAF2"/>
          </a:solidFill>
          <a:ln w="12700">
            <a:solidFill>
              <a:srgbClr val="E9DFCF"/>
            </a:solidFill>
            <a:prstDash val="solid"/>
          </a:ln>
          <a:effectLst>
            <a:outerShdw blurRad="25400" dist="12700" dir="2700000" algn="bl" rotWithShape="0">
              <a:srgbClr val="132133">
                <a:alpha val="10000"/>
              </a:srgbClr>
            </a:outerShdw>
          </a:effectLst>
        </p:spPr>
        <p:txBody>
          <a:bodyPr/>
          <a:lstStyle/>
          <a:p>
            <a:endParaRPr lang="en-US"/>
          </a:p>
        </p:txBody>
      </p:sp>
      <p:sp>
        <p:nvSpPr>
          <p:cNvPr id="6" name="Shape 4"/>
          <p:cNvSpPr/>
          <p:nvPr/>
        </p:nvSpPr>
        <p:spPr>
          <a:xfrm>
            <a:off x="502920" y="896112"/>
            <a:ext cx="11201400" cy="384048"/>
          </a:xfrm>
          <a:prstGeom prst="rect">
            <a:avLst/>
          </a:prstGeom>
          <a:solidFill>
            <a:srgbClr val="FFFFFF"/>
          </a:solidFill>
          <a:ln w="12700">
            <a:solidFill>
              <a:srgbClr val="E9DFCF"/>
            </a:solidFill>
            <a:prstDash val="solid"/>
          </a:ln>
        </p:spPr>
        <p:txBody>
          <a:bodyPr/>
          <a:lstStyle/>
          <a:p>
            <a:endParaRPr lang="en-US"/>
          </a:p>
        </p:txBody>
      </p:sp>
      <p:sp>
        <p:nvSpPr>
          <p:cNvPr id="10" name="Shape 8"/>
          <p:cNvSpPr/>
          <p:nvPr/>
        </p:nvSpPr>
        <p:spPr>
          <a:xfrm>
            <a:off x="1280160" y="987552"/>
            <a:ext cx="3657600" cy="192024"/>
          </a:xfrm>
          <a:prstGeom prst="roundRect">
            <a:avLst>
              <a:gd name="adj" fmla="val 28571"/>
            </a:avLst>
          </a:prstGeom>
          <a:solidFill>
            <a:srgbClr val="F5EFE5"/>
          </a:solidFill>
          <a:ln w="12700">
            <a:solidFill>
              <a:srgbClr val="E9DFCF">
                <a:alpha val="80000"/>
              </a:srgbClr>
            </a:solidFill>
            <a:prstDash val="solid"/>
          </a:ln>
        </p:spPr>
        <p:txBody>
          <a:bodyPr/>
          <a:lstStyle/>
          <a:p>
            <a:endParaRPr lang="en-US"/>
          </a:p>
        </p:txBody>
      </p:sp>
      <p:sp>
        <p:nvSpPr>
          <p:cNvPr id="11" name="Text 9"/>
          <p:cNvSpPr/>
          <p:nvPr/>
        </p:nvSpPr>
        <p:spPr>
          <a:xfrm>
            <a:off x="1408176" y="1014984"/>
            <a:ext cx="3337560" cy="109728"/>
          </a:xfrm>
          <a:prstGeom prst="rect">
            <a:avLst/>
          </a:prstGeom>
          <a:noFill/>
          <a:ln/>
        </p:spPr>
        <p:txBody>
          <a:bodyPr wrap="square" lIns="381" tIns="381" rIns="381" bIns="381" rtlCol="0" anchor="ctr">
            <a:normAutofit/>
          </a:bodyPr>
          <a:lstStyle/>
          <a:p>
            <a:pPr marL="0" indent="0" algn="l">
              <a:buNone/>
            </a:pPr>
            <a:r>
              <a:rPr lang="en-US" sz="550" dirty="0">
                <a:solidFill>
                  <a:srgbClr val="536273"/>
                </a:solidFill>
                <a:latin typeface="Arial" pitchFamily="34" charset="0"/>
                <a:ea typeface="Arial" pitchFamily="34" charset="-122"/>
                <a:cs typeface="Arial" pitchFamily="34" charset="-120"/>
              </a:rPr>
              <a:t>moffatbaylodge.com/attractions.html</a:t>
            </a:r>
            <a:endParaRPr lang="en-US" sz="550" dirty="0"/>
          </a:p>
        </p:txBody>
      </p:sp>
      <p:sp>
        <p:nvSpPr>
          <p:cNvPr id="12" name="Shape 10"/>
          <p:cNvSpPr/>
          <p:nvPr/>
        </p:nvSpPr>
        <p:spPr>
          <a:xfrm>
            <a:off x="502920" y="1280160"/>
            <a:ext cx="11201400" cy="530352"/>
          </a:xfrm>
          <a:prstGeom prst="rect">
            <a:avLst/>
          </a:prstGeom>
          <a:solidFill>
            <a:srgbClr val="FAF5EC"/>
          </a:solidFill>
          <a:ln w="12700">
            <a:solidFill>
              <a:srgbClr val="E9DFCF">
                <a:alpha val="90000"/>
              </a:srgbClr>
            </a:solidFill>
            <a:prstDash val="solid"/>
          </a:ln>
        </p:spPr>
        <p:txBody>
          <a:bodyPr/>
          <a:lstStyle/>
          <a:p>
            <a:endParaRPr lang="en-US"/>
          </a:p>
        </p:txBody>
      </p:sp>
      <p:sp>
        <p:nvSpPr>
          <p:cNvPr id="13" name="Shape 11"/>
          <p:cNvSpPr/>
          <p:nvPr/>
        </p:nvSpPr>
        <p:spPr>
          <a:xfrm>
            <a:off x="731520" y="1399032"/>
            <a:ext cx="256032" cy="256032"/>
          </a:xfrm>
          <a:prstGeom prst="ellipse">
            <a:avLst/>
          </a:prstGeom>
          <a:solidFill>
            <a:srgbClr val="276F7B"/>
          </a:solidFill>
          <a:ln w="12700">
            <a:solidFill>
              <a:srgbClr val="276F7B"/>
            </a:solidFill>
            <a:prstDash val="solid"/>
          </a:ln>
        </p:spPr>
        <p:txBody>
          <a:bodyPr/>
          <a:lstStyle/>
          <a:p>
            <a:endParaRPr lang="en-US"/>
          </a:p>
        </p:txBody>
      </p:sp>
      <p:sp>
        <p:nvSpPr>
          <p:cNvPr id="14" name="Text 12"/>
          <p:cNvSpPr/>
          <p:nvPr/>
        </p:nvSpPr>
        <p:spPr>
          <a:xfrm>
            <a:off x="731520" y="1426464"/>
            <a:ext cx="256032" cy="109728"/>
          </a:xfrm>
          <a:prstGeom prst="rect">
            <a:avLst/>
          </a:prstGeom>
          <a:noFill/>
          <a:ln/>
        </p:spPr>
        <p:txBody>
          <a:bodyPr wrap="square" lIns="381" tIns="381" rIns="381" bIns="381" rtlCol="0" anchor="ctr">
            <a:normAutofit/>
          </a:bodyPr>
          <a:lstStyle/>
          <a:p>
            <a:pPr marL="0" indent="0" algn="ctr">
              <a:buNone/>
            </a:pPr>
            <a:r>
              <a:rPr lang="en-US" sz="700" b="1" dirty="0">
                <a:solidFill>
                  <a:srgbClr val="FFFFFF"/>
                </a:solidFill>
                <a:latin typeface="Georgia" pitchFamily="34" charset="0"/>
                <a:ea typeface="Georgia" pitchFamily="34" charset="-122"/>
                <a:cs typeface="Georgia" pitchFamily="34" charset="-120"/>
              </a:rPr>
              <a:t>MB</a:t>
            </a:r>
            <a:endParaRPr lang="en-US" sz="700" dirty="0"/>
          </a:p>
        </p:txBody>
      </p:sp>
      <p:sp>
        <p:nvSpPr>
          <p:cNvPr id="15" name="Text 13"/>
          <p:cNvSpPr/>
          <p:nvPr/>
        </p:nvSpPr>
        <p:spPr>
          <a:xfrm>
            <a:off x="1069848" y="1435608"/>
            <a:ext cx="1691640" cy="118872"/>
          </a:xfrm>
          <a:prstGeom prst="rect">
            <a:avLst/>
          </a:prstGeom>
          <a:noFill/>
          <a:ln/>
        </p:spPr>
        <p:txBody>
          <a:bodyPr wrap="square" lIns="381" tIns="381" rIns="381" bIns="381" rtlCol="0" anchor="ctr">
            <a:normAutofit/>
          </a:bodyPr>
          <a:lstStyle/>
          <a:p>
            <a:pPr marL="0" indent="0" algn="l">
              <a:buNone/>
            </a:pPr>
            <a:r>
              <a:rPr lang="en-US" sz="680" b="1" dirty="0">
                <a:solidFill>
                  <a:srgbClr val="132133"/>
                </a:solidFill>
                <a:latin typeface="Arial" pitchFamily="34" charset="0"/>
                <a:ea typeface="Arial" pitchFamily="34" charset="-122"/>
                <a:cs typeface="Arial" pitchFamily="34" charset="-120"/>
              </a:rPr>
              <a:t>MOFFAT BAY LODGE</a:t>
            </a:r>
            <a:endParaRPr lang="en-US" sz="680" dirty="0"/>
          </a:p>
        </p:txBody>
      </p:sp>
      <p:sp>
        <p:nvSpPr>
          <p:cNvPr id="16" name="Text 14">
            <a:hlinkClick r:id="rId3" action="ppaction://hlinksldjump"/>
          </p:cNvPr>
          <p:cNvSpPr/>
          <p:nvPr/>
        </p:nvSpPr>
        <p:spPr>
          <a:xfrm>
            <a:off x="3291840" y="1453896"/>
            <a:ext cx="402336" cy="118872"/>
          </a:xfrm>
          <a:prstGeom prst="rect">
            <a:avLst/>
          </a:prstGeom>
          <a:noFill/>
          <a:ln/>
        </p:spPr>
        <p:txBody>
          <a:bodyPr wrap="square" lIns="381" tIns="381" rIns="381" bIns="381" rtlCol="0" anchor="ctr">
            <a:normAutofit/>
          </a:bodyPr>
          <a:lstStyle/>
          <a:p>
            <a:pPr marL="0" indent="0" algn="ctr">
              <a:buNone/>
            </a:pPr>
            <a:r>
              <a:rPr lang="en-US" sz="640" b="1" u="sng" dirty="0">
                <a:solidFill>
                  <a:srgbClr val="2A3B50"/>
                </a:solidFill>
                <a:latin typeface="Arial" pitchFamily="34" charset="0"/>
                <a:ea typeface="Arial" pitchFamily="34" charset="-122"/>
                <a:cs typeface="Arial" pitchFamily="34" charset="-120"/>
                <a:hlinkClick r:id="rId3" action="ppaction://hlinksldjump">
                  <a:extLst>
                    <a:ext uri="{A12FA001-AC4F-418D-AE19-62706E023703}">
                      <ahyp:hlinkClr xmlns:ahyp="http://schemas.microsoft.com/office/drawing/2018/hyperlinkcolor" val="tx"/>
                    </a:ext>
                  </a:extLst>
                </a:hlinkClick>
              </a:rPr>
              <a:t>Home</a:t>
            </a:r>
            <a:endParaRPr lang="en-US" sz="640" dirty="0"/>
          </a:p>
        </p:txBody>
      </p:sp>
      <p:sp>
        <p:nvSpPr>
          <p:cNvPr id="17" name="Text 15">
            <a:hlinkClick r:id="rId4" action="ppaction://hlinksldjump"/>
          </p:cNvPr>
          <p:cNvSpPr/>
          <p:nvPr/>
        </p:nvSpPr>
        <p:spPr>
          <a:xfrm>
            <a:off x="3895344" y="1453896"/>
            <a:ext cx="420624" cy="118872"/>
          </a:xfrm>
          <a:prstGeom prst="rect">
            <a:avLst/>
          </a:prstGeom>
          <a:noFill/>
          <a:ln/>
        </p:spPr>
        <p:txBody>
          <a:bodyPr wrap="square" lIns="381" tIns="381" rIns="381" bIns="381" rtlCol="0" anchor="ctr">
            <a:normAutofit/>
          </a:bodyPr>
          <a:lstStyle/>
          <a:p>
            <a:pPr marL="0" indent="0" algn="ctr">
              <a:buNone/>
            </a:pPr>
            <a:r>
              <a:rPr lang="en-US" sz="640" b="1" u="sng" dirty="0">
                <a:solidFill>
                  <a:srgbClr val="2A3B50"/>
                </a:solidFill>
                <a:latin typeface="Arial" pitchFamily="34" charset="0"/>
                <a:ea typeface="Arial" pitchFamily="34" charset="-122"/>
                <a:cs typeface="Arial" pitchFamily="34" charset="-120"/>
                <a:hlinkClick r:id="rId4" action="ppaction://hlinksldjump">
                  <a:extLst>
                    <a:ext uri="{A12FA001-AC4F-418D-AE19-62706E023703}">
                      <ahyp:hlinkClr xmlns:ahyp="http://schemas.microsoft.com/office/drawing/2018/hyperlinkcolor" val="tx"/>
                    </a:ext>
                  </a:extLst>
                </a:hlinkClick>
              </a:rPr>
              <a:t>About</a:t>
            </a:r>
            <a:endParaRPr lang="en-US" sz="640" dirty="0"/>
          </a:p>
        </p:txBody>
      </p:sp>
      <p:sp>
        <p:nvSpPr>
          <p:cNvPr id="18" name="Text 16">
            <a:hlinkClick r:id="rId5" action="ppaction://hlinksldjump"/>
          </p:cNvPr>
          <p:cNvSpPr/>
          <p:nvPr/>
        </p:nvSpPr>
        <p:spPr>
          <a:xfrm>
            <a:off x="4517136" y="1453896"/>
            <a:ext cx="960120" cy="118872"/>
          </a:xfrm>
          <a:prstGeom prst="rect">
            <a:avLst/>
          </a:prstGeom>
          <a:noFill/>
          <a:ln/>
        </p:spPr>
        <p:txBody>
          <a:bodyPr wrap="square" lIns="381" tIns="381" rIns="381" bIns="381" rtlCol="0" anchor="ctr">
            <a:normAutofit/>
          </a:bodyPr>
          <a:lstStyle/>
          <a:p>
            <a:pPr marL="0" indent="0" algn="ctr">
              <a:buNone/>
            </a:pPr>
            <a:r>
              <a:rPr lang="en-US" sz="640" b="1" u="sng" dirty="0">
                <a:solidFill>
                  <a:srgbClr val="2A3B50"/>
                </a:solidFill>
                <a:latin typeface="Arial" pitchFamily="34" charset="0"/>
                <a:ea typeface="Arial" pitchFamily="34" charset="-122"/>
                <a:cs typeface="Arial" pitchFamily="34" charset="-120"/>
                <a:hlinkClick r:id="rId5" action="ppaction://hlinksldjump">
                  <a:extLst>
                    <a:ext uri="{A12FA001-AC4F-418D-AE19-62706E023703}">
                      <ahyp:hlinkClr xmlns:ahyp="http://schemas.microsoft.com/office/drawing/2018/hyperlinkcolor" val="tx"/>
                    </a:ext>
                  </a:extLst>
                </a:hlinkClick>
              </a:rPr>
              <a:t>Rooms &amp; Pricing</a:t>
            </a:r>
            <a:endParaRPr lang="en-US" sz="640" dirty="0"/>
          </a:p>
        </p:txBody>
      </p:sp>
      <p:sp>
        <p:nvSpPr>
          <p:cNvPr id="19" name="Text 17">
            <a:hlinkClick r:id="rId6" action="ppaction://hlinksldjump"/>
          </p:cNvPr>
          <p:cNvSpPr/>
          <p:nvPr/>
        </p:nvSpPr>
        <p:spPr>
          <a:xfrm>
            <a:off x="5678424" y="1453896"/>
            <a:ext cx="685800" cy="118872"/>
          </a:xfrm>
          <a:prstGeom prst="rect">
            <a:avLst/>
          </a:prstGeom>
          <a:noFill/>
          <a:ln/>
        </p:spPr>
        <p:txBody>
          <a:bodyPr wrap="square" lIns="381" tIns="381" rIns="381" bIns="381" rtlCol="0" anchor="ctr">
            <a:normAutofit/>
          </a:bodyPr>
          <a:lstStyle/>
          <a:p>
            <a:pPr marL="0" indent="0" algn="ctr">
              <a:buNone/>
            </a:pPr>
            <a:r>
              <a:rPr lang="en-US" sz="640" b="1" u="sng" dirty="0">
                <a:solidFill>
                  <a:srgbClr val="276F7B"/>
                </a:solidFill>
                <a:latin typeface="Arial" pitchFamily="34" charset="0"/>
                <a:ea typeface="Arial" pitchFamily="34" charset="-122"/>
                <a:cs typeface="Arial" pitchFamily="34" charset="-120"/>
                <a:hlinkClick r:id="rId6" action="ppaction://hlinksldjump">
                  <a:extLst>
                    <a:ext uri="{A12FA001-AC4F-418D-AE19-62706E023703}">
                      <ahyp:hlinkClr xmlns:ahyp="http://schemas.microsoft.com/office/drawing/2018/hyperlinkcolor" val="tx"/>
                    </a:ext>
                  </a:extLst>
                </a:hlinkClick>
              </a:rPr>
              <a:t>Attractions</a:t>
            </a:r>
            <a:endParaRPr lang="en-US" sz="640" dirty="0"/>
          </a:p>
        </p:txBody>
      </p:sp>
      <p:sp>
        <p:nvSpPr>
          <p:cNvPr id="20" name="Shape 18"/>
          <p:cNvSpPr/>
          <p:nvPr/>
        </p:nvSpPr>
        <p:spPr>
          <a:xfrm>
            <a:off x="5724144" y="1627632"/>
            <a:ext cx="594360" cy="22860"/>
          </a:xfrm>
          <a:prstGeom prst="rect">
            <a:avLst/>
          </a:prstGeom>
          <a:solidFill>
            <a:srgbClr val="2F8694"/>
          </a:solidFill>
          <a:ln w="12700">
            <a:solidFill>
              <a:srgbClr val="2F8694"/>
            </a:solidFill>
            <a:prstDash val="solid"/>
          </a:ln>
        </p:spPr>
        <p:txBody>
          <a:bodyPr/>
          <a:lstStyle/>
          <a:p>
            <a:endParaRPr lang="en-US"/>
          </a:p>
        </p:txBody>
      </p:sp>
      <p:sp>
        <p:nvSpPr>
          <p:cNvPr id="21" name="Text 19">
            <a:hlinkClick r:id="rId7" action="ppaction://hlinksldjump"/>
          </p:cNvPr>
          <p:cNvSpPr/>
          <p:nvPr/>
        </p:nvSpPr>
        <p:spPr>
          <a:xfrm>
            <a:off x="6565392" y="1453896"/>
            <a:ext cx="475488" cy="118872"/>
          </a:xfrm>
          <a:prstGeom prst="rect">
            <a:avLst/>
          </a:prstGeom>
          <a:noFill/>
          <a:ln/>
        </p:spPr>
        <p:txBody>
          <a:bodyPr wrap="square" lIns="381" tIns="381" rIns="381" bIns="381" rtlCol="0" anchor="ctr">
            <a:normAutofit/>
          </a:bodyPr>
          <a:lstStyle/>
          <a:p>
            <a:pPr marL="0" indent="0" algn="ctr">
              <a:buNone/>
            </a:pPr>
            <a:r>
              <a:rPr lang="en-US" sz="640" b="1" u="sng" dirty="0">
                <a:solidFill>
                  <a:srgbClr val="2A3B50"/>
                </a:solidFill>
                <a:latin typeface="Arial" pitchFamily="34" charset="0"/>
                <a:ea typeface="Arial" pitchFamily="34" charset="-122"/>
                <a:cs typeface="Arial" pitchFamily="34" charset="-120"/>
                <a:hlinkClick r:id="rId7" action="ppaction://hlinksldjump">
                  <a:extLst>
                    <a:ext uri="{A12FA001-AC4F-418D-AE19-62706E023703}">
                      <ahyp:hlinkClr xmlns:ahyp="http://schemas.microsoft.com/office/drawing/2018/hyperlinkcolor" val="tx"/>
                    </a:ext>
                  </a:extLst>
                </a:hlinkClick>
              </a:rPr>
              <a:t>Contact</a:t>
            </a:r>
            <a:endParaRPr lang="en-US" sz="640" dirty="0"/>
          </a:p>
        </p:txBody>
      </p:sp>
      <p:sp>
        <p:nvSpPr>
          <p:cNvPr id="22" name="Text 20">
            <a:hlinkClick r:id="rId8" action="ppaction://hlinksldjump"/>
          </p:cNvPr>
          <p:cNvSpPr/>
          <p:nvPr/>
        </p:nvSpPr>
        <p:spPr>
          <a:xfrm>
            <a:off x="7242048" y="1453896"/>
            <a:ext cx="420624" cy="118872"/>
          </a:xfrm>
          <a:prstGeom prst="rect">
            <a:avLst/>
          </a:prstGeom>
          <a:noFill/>
          <a:ln/>
        </p:spPr>
        <p:txBody>
          <a:bodyPr wrap="square" lIns="381" tIns="381" rIns="381" bIns="381" rtlCol="0" anchor="ctr">
            <a:normAutofit/>
          </a:bodyPr>
          <a:lstStyle/>
          <a:p>
            <a:pPr marL="0" indent="0" algn="ctr">
              <a:buNone/>
            </a:pPr>
            <a:r>
              <a:rPr lang="en-US" sz="640" b="1" u="sng" dirty="0">
                <a:solidFill>
                  <a:srgbClr val="2A3B50"/>
                </a:solidFill>
                <a:latin typeface="Arial" pitchFamily="34" charset="0"/>
                <a:ea typeface="Arial" pitchFamily="34" charset="-122"/>
                <a:cs typeface="Arial" pitchFamily="34" charset="-120"/>
                <a:hlinkClick r:id="rId8" action="ppaction://hlinksldjump">
                  <a:extLst>
                    <a:ext uri="{A12FA001-AC4F-418D-AE19-62706E023703}">
                      <ahyp:hlinkClr xmlns:ahyp="http://schemas.microsoft.com/office/drawing/2018/hyperlinkcolor" val="tx"/>
                    </a:ext>
                  </a:extLst>
                </a:hlinkClick>
              </a:rPr>
              <a:t>Book</a:t>
            </a:r>
            <a:endParaRPr lang="en-US" sz="640" dirty="0"/>
          </a:p>
        </p:txBody>
      </p:sp>
      <p:sp>
        <p:nvSpPr>
          <p:cNvPr id="23" name="Shape 21">
            <a:hlinkClick r:id="rId9" action="ppaction://hlinksldjump"/>
          </p:cNvPr>
          <p:cNvSpPr/>
          <p:nvPr/>
        </p:nvSpPr>
        <p:spPr>
          <a:xfrm>
            <a:off x="10378440" y="1417320"/>
            <a:ext cx="530352" cy="283464"/>
          </a:xfrm>
          <a:prstGeom prst="roundRect">
            <a:avLst>
              <a:gd name="adj" fmla="val 25806"/>
            </a:avLst>
          </a:prstGeom>
          <a:solidFill>
            <a:srgbClr val="132133"/>
          </a:solidFill>
          <a:ln w="12700">
            <a:solidFill>
              <a:srgbClr val="132133">
                <a:alpha val="0"/>
              </a:srgbClr>
            </a:solidFill>
            <a:prstDash val="solid"/>
          </a:ln>
        </p:spPr>
        <p:txBody>
          <a:bodyPr/>
          <a:lstStyle/>
          <a:p>
            <a:endParaRPr lang="en-US"/>
          </a:p>
        </p:txBody>
      </p:sp>
      <p:sp>
        <p:nvSpPr>
          <p:cNvPr id="24" name="Text 22">
            <a:hlinkClick r:id="rId9" action="ppaction://hlinksldjump"/>
          </p:cNvPr>
          <p:cNvSpPr/>
          <p:nvPr/>
        </p:nvSpPr>
        <p:spPr>
          <a:xfrm>
            <a:off x="10396728" y="1444752"/>
            <a:ext cx="493776" cy="182880"/>
          </a:xfrm>
          <a:prstGeom prst="rect">
            <a:avLst/>
          </a:prstGeom>
          <a:noFill/>
          <a:ln/>
        </p:spPr>
        <p:txBody>
          <a:bodyPr wrap="square" lIns="381" tIns="381" rIns="381" bIns="381" rtlCol="0" anchor="ctr">
            <a:normAutofit/>
          </a:bodyPr>
          <a:lstStyle/>
          <a:p>
            <a:pPr marL="0" indent="0" algn="ctr">
              <a:buNone/>
            </a:pPr>
            <a:r>
              <a:rPr lang="en-US" sz="600" b="1" u="sng" dirty="0">
                <a:solidFill>
                  <a:srgbClr val="FFFFFF"/>
                </a:solidFill>
                <a:latin typeface="Arial" pitchFamily="34" charset="0"/>
                <a:ea typeface="Arial" pitchFamily="34" charset="-122"/>
                <a:cs typeface="Arial" pitchFamily="34" charset="-120"/>
                <a:hlinkClick r:id="rId9" action="ppaction://hlinksldjump">
                  <a:extLst>
                    <a:ext uri="{A12FA001-AC4F-418D-AE19-62706E023703}">
                      <ahyp:hlinkClr xmlns:ahyp="http://schemas.microsoft.com/office/drawing/2018/hyperlinkcolor" val="tx"/>
                    </a:ext>
                  </a:extLst>
                </a:hlinkClick>
              </a:rPr>
              <a:t>Login</a:t>
            </a:r>
            <a:endParaRPr lang="en-US" sz="600" dirty="0"/>
          </a:p>
        </p:txBody>
      </p:sp>
      <p:sp>
        <p:nvSpPr>
          <p:cNvPr id="25" name="Shape 23">
            <a:hlinkClick r:id="rId10" action="ppaction://hlinksldjump"/>
          </p:cNvPr>
          <p:cNvSpPr/>
          <p:nvPr/>
        </p:nvSpPr>
        <p:spPr>
          <a:xfrm>
            <a:off x="10991088" y="1417320"/>
            <a:ext cx="585216" cy="283464"/>
          </a:xfrm>
          <a:prstGeom prst="roundRect">
            <a:avLst>
              <a:gd name="adj" fmla="val 25806"/>
            </a:avLst>
          </a:prstGeom>
          <a:solidFill>
            <a:srgbClr val="276F7B"/>
          </a:solidFill>
          <a:ln w="12700">
            <a:solidFill>
              <a:srgbClr val="276F7B">
                <a:alpha val="0"/>
              </a:srgbClr>
            </a:solidFill>
            <a:prstDash val="solid"/>
          </a:ln>
        </p:spPr>
        <p:txBody>
          <a:bodyPr/>
          <a:lstStyle/>
          <a:p>
            <a:endParaRPr lang="en-US"/>
          </a:p>
        </p:txBody>
      </p:sp>
      <p:sp>
        <p:nvSpPr>
          <p:cNvPr id="26" name="Text 24">
            <a:hlinkClick r:id="rId10" action="ppaction://hlinksldjump"/>
          </p:cNvPr>
          <p:cNvSpPr/>
          <p:nvPr/>
        </p:nvSpPr>
        <p:spPr>
          <a:xfrm>
            <a:off x="11009376" y="1444752"/>
            <a:ext cx="548640" cy="182880"/>
          </a:xfrm>
          <a:prstGeom prst="rect">
            <a:avLst/>
          </a:prstGeom>
          <a:noFill/>
          <a:ln/>
        </p:spPr>
        <p:txBody>
          <a:bodyPr wrap="square" lIns="381" tIns="381" rIns="381" bIns="381" rtlCol="0" anchor="ctr">
            <a:normAutofit/>
          </a:bodyPr>
          <a:lstStyle/>
          <a:p>
            <a:pPr marL="0" indent="0" algn="ctr">
              <a:buNone/>
            </a:pPr>
            <a:r>
              <a:rPr lang="en-US" sz="600" b="1" u="sng" dirty="0">
                <a:solidFill>
                  <a:srgbClr val="FFFFFF"/>
                </a:solidFill>
                <a:latin typeface="Arial" pitchFamily="34" charset="0"/>
                <a:ea typeface="Arial" pitchFamily="34" charset="-122"/>
                <a:cs typeface="Arial" pitchFamily="34" charset="-120"/>
                <a:hlinkClick r:id="rId10" action="ppaction://hlinksldjump">
                  <a:extLst>
                    <a:ext uri="{A12FA001-AC4F-418D-AE19-62706E023703}">
                      <ahyp:hlinkClr xmlns:ahyp="http://schemas.microsoft.com/office/drawing/2018/hyperlinkcolor" val="tx"/>
                    </a:ext>
                  </a:extLst>
                </a:hlinkClick>
              </a:rPr>
              <a:t>Register</a:t>
            </a:r>
            <a:endParaRPr lang="en-US" sz="600" dirty="0"/>
          </a:p>
        </p:txBody>
      </p:sp>
      <p:sp>
        <p:nvSpPr>
          <p:cNvPr id="27" name="Text 25"/>
          <p:cNvSpPr/>
          <p:nvPr/>
        </p:nvSpPr>
        <p:spPr>
          <a:xfrm>
            <a:off x="502920" y="6510528"/>
            <a:ext cx="6400800" cy="201168"/>
          </a:xfrm>
          <a:prstGeom prst="rect">
            <a:avLst/>
          </a:prstGeom>
          <a:noFill/>
          <a:ln/>
        </p:spPr>
        <p:txBody>
          <a:bodyPr wrap="square" lIns="381" tIns="381" rIns="381" bIns="381" rtlCol="0" anchor="ctr">
            <a:normAutofit/>
          </a:bodyPr>
          <a:lstStyle/>
          <a:p>
            <a:pPr marL="0" indent="0" algn="l">
              <a:buNone/>
            </a:pPr>
            <a:r>
              <a:rPr lang="en-US" sz="710" dirty="0">
                <a:solidFill>
                  <a:srgbClr val="536273"/>
                </a:solidFill>
                <a:latin typeface="Arial" pitchFamily="34" charset="0"/>
                <a:ea typeface="Arial" pitchFamily="34" charset="-122"/>
                <a:cs typeface="Arial" pitchFamily="34" charset="-120"/>
              </a:rPr>
              <a:t>Slide 6 | Editable components | Use Slide Show mode to click through the prototype</a:t>
            </a:r>
            <a:endParaRPr lang="en-US" sz="710" dirty="0"/>
          </a:p>
        </p:txBody>
      </p:sp>
      <p:sp>
        <p:nvSpPr>
          <p:cNvPr id="28" name="Shape 26">
            <a:hlinkClick r:id="rId3" action="ppaction://hlinksldjump"/>
          </p:cNvPr>
          <p:cNvSpPr/>
          <p:nvPr/>
        </p:nvSpPr>
        <p:spPr>
          <a:xfrm>
            <a:off x="7635240" y="6455664"/>
            <a:ext cx="749808" cy="283464"/>
          </a:xfrm>
          <a:prstGeom prst="roundRect">
            <a:avLst>
              <a:gd name="adj" fmla="val 25806"/>
            </a:avLst>
          </a:prstGeom>
          <a:solidFill>
            <a:srgbClr val="FFFFFF">
              <a:alpha val="30000"/>
            </a:srgbClr>
          </a:solidFill>
          <a:ln w="12700">
            <a:solidFill>
              <a:srgbClr val="536273">
                <a:alpha val="50000"/>
              </a:srgbClr>
            </a:solidFill>
            <a:prstDash val="solid"/>
          </a:ln>
        </p:spPr>
        <p:txBody>
          <a:bodyPr/>
          <a:lstStyle/>
          <a:p>
            <a:endParaRPr lang="en-US"/>
          </a:p>
        </p:txBody>
      </p:sp>
      <p:sp>
        <p:nvSpPr>
          <p:cNvPr id="29" name="Text 27">
            <a:hlinkClick r:id="rId3" action="ppaction://hlinksldjump"/>
          </p:cNvPr>
          <p:cNvSpPr/>
          <p:nvPr/>
        </p:nvSpPr>
        <p:spPr>
          <a:xfrm>
            <a:off x="7653528" y="6483096"/>
            <a:ext cx="713232" cy="182880"/>
          </a:xfrm>
          <a:prstGeom prst="rect">
            <a:avLst/>
          </a:prstGeom>
          <a:noFill/>
          <a:ln/>
        </p:spPr>
        <p:txBody>
          <a:bodyPr wrap="square" lIns="381" tIns="381" rIns="381" bIns="381" rtlCol="0" anchor="ctr">
            <a:normAutofit/>
          </a:bodyPr>
          <a:lstStyle/>
          <a:p>
            <a:pPr marL="0" indent="0" algn="ctr">
              <a:buNone/>
            </a:pPr>
            <a:r>
              <a:rPr lang="en-US" sz="800" b="1" u="sng" dirty="0">
                <a:solidFill>
                  <a:srgbClr val="2A3B50"/>
                </a:solidFill>
                <a:latin typeface="Arial" pitchFamily="34" charset="0"/>
                <a:ea typeface="Arial" pitchFamily="34" charset="-122"/>
                <a:cs typeface="Arial" pitchFamily="34" charset="-120"/>
                <a:hlinkClick r:id="rId3" action="ppaction://hlinksldjump">
                  <a:extLst>
                    <a:ext uri="{A12FA001-AC4F-418D-AE19-62706E023703}">
                      <ahyp:hlinkClr xmlns:ahyp="http://schemas.microsoft.com/office/drawing/2018/hyperlinkcolor" val="tx"/>
                    </a:ext>
                  </a:extLst>
                </a:hlinkClick>
              </a:rPr>
              <a:t>Home</a:t>
            </a:r>
            <a:endParaRPr lang="en-US" sz="800" dirty="0"/>
          </a:p>
        </p:txBody>
      </p:sp>
      <p:sp>
        <p:nvSpPr>
          <p:cNvPr id="30" name="Shape 28">
            <a:hlinkClick r:id="rId5" action="ppaction://hlinksldjump"/>
          </p:cNvPr>
          <p:cNvSpPr/>
          <p:nvPr/>
        </p:nvSpPr>
        <p:spPr>
          <a:xfrm>
            <a:off x="8476488" y="6455664"/>
            <a:ext cx="749808" cy="283464"/>
          </a:xfrm>
          <a:prstGeom prst="roundRect">
            <a:avLst>
              <a:gd name="adj" fmla="val 25806"/>
            </a:avLst>
          </a:prstGeom>
          <a:solidFill>
            <a:srgbClr val="FFFFFF">
              <a:alpha val="30000"/>
            </a:srgbClr>
          </a:solidFill>
          <a:ln w="12700">
            <a:solidFill>
              <a:srgbClr val="536273">
                <a:alpha val="50000"/>
              </a:srgbClr>
            </a:solidFill>
            <a:prstDash val="solid"/>
          </a:ln>
        </p:spPr>
        <p:txBody>
          <a:bodyPr/>
          <a:lstStyle/>
          <a:p>
            <a:endParaRPr lang="en-US"/>
          </a:p>
        </p:txBody>
      </p:sp>
      <p:sp>
        <p:nvSpPr>
          <p:cNvPr id="31" name="Text 29">
            <a:hlinkClick r:id="rId5" action="ppaction://hlinksldjump"/>
          </p:cNvPr>
          <p:cNvSpPr/>
          <p:nvPr/>
        </p:nvSpPr>
        <p:spPr>
          <a:xfrm>
            <a:off x="8494776" y="6483096"/>
            <a:ext cx="713232" cy="182880"/>
          </a:xfrm>
          <a:prstGeom prst="rect">
            <a:avLst/>
          </a:prstGeom>
          <a:noFill/>
          <a:ln/>
        </p:spPr>
        <p:txBody>
          <a:bodyPr wrap="square" lIns="381" tIns="381" rIns="381" bIns="381" rtlCol="0" anchor="ctr">
            <a:normAutofit/>
          </a:bodyPr>
          <a:lstStyle/>
          <a:p>
            <a:pPr marL="0" indent="0" algn="ctr">
              <a:buNone/>
            </a:pPr>
            <a:r>
              <a:rPr lang="en-US" sz="800" b="1" u="sng" dirty="0">
                <a:solidFill>
                  <a:srgbClr val="2A3B50"/>
                </a:solidFill>
                <a:latin typeface="Arial" pitchFamily="34" charset="0"/>
                <a:ea typeface="Arial" pitchFamily="34" charset="-122"/>
                <a:cs typeface="Arial" pitchFamily="34" charset="-120"/>
                <a:hlinkClick r:id="rId5" action="ppaction://hlinksldjump">
                  <a:extLst>
                    <a:ext uri="{A12FA001-AC4F-418D-AE19-62706E023703}">
                      <ahyp:hlinkClr xmlns:ahyp="http://schemas.microsoft.com/office/drawing/2018/hyperlinkcolor" val="tx"/>
                    </a:ext>
                  </a:extLst>
                </a:hlinkClick>
              </a:rPr>
              <a:t>Rooms</a:t>
            </a:r>
            <a:endParaRPr lang="en-US" sz="800" dirty="0"/>
          </a:p>
        </p:txBody>
      </p:sp>
      <p:sp>
        <p:nvSpPr>
          <p:cNvPr id="32" name="Shape 30">
            <a:hlinkClick r:id="rId8" action="ppaction://hlinksldjump"/>
          </p:cNvPr>
          <p:cNvSpPr/>
          <p:nvPr/>
        </p:nvSpPr>
        <p:spPr>
          <a:xfrm>
            <a:off x="9317736" y="6455664"/>
            <a:ext cx="749808" cy="283464"/>
          </a:xfrm>
          <a:prstGeom prst="roundRect">
            <a:avLst>
              <a:gd name="adj" fmla="val 25806"/>
            </a:avLst>
          </a:prstGeom>
          <a:solidFill>
            <a:srgbClr val="FFFFFF">
              <a:alpha val="30000"/>
            </a:srgbClr>
          </a:solidFill>
          <a:ln w="12700">
            <a:solidFill>
              <a:srgbClr val="536273">
                <a:alpha val="50000"/>
              </a:srgbClr>
            </a:solidFill>
            <a:prstDash val="solid"/>
          </a:ln>
        </p:spPr>
        <p:txBody>
          <a:bodyPr/>
          <a:lstStyle/>
          <a:p>
            <a:endParaRPr lang="en-US"/>
          </a:p>
        </p:txBody>
      </p:sp>
      <p:sp>
        <p:nvSpPr>
          <p:cNvPr id="33" name="Text 31">
            <a:hlinkClick r:id="rId8" action="ppaction://hlinksldjump"/>
          </p:cNvPr>
          <p:cNvSpPr/>
          <p:nvPr/>
        </p:nvSpPr>
        <p:spPr>
          <a:xfrm>
            <a:off x="9336024" y="6483096"/>
            <a:ext cx="713232" cy="182880"/>
          </a:xfrm>
          <a:prstGeom prst="rect">
            <a:avLst/>
          </a:prstGeom>
          <a:noFill/>
          <a:ln/>
        </p:spPr>
        <p:txBody>
          <a:bodyPr wrap="square" lIns="381" tIns="381" rIns="381" bIns="381" rtlCol="0" anchor="ctr">
            <a:normAutofit/>
          </a:bodyPr>
          <a:lstStyle/>
          <a:p>
            <a:pPr marL="0" indent="0" algn="ctr">
              <a:buNone/>
            </a:pPr>
            <a:r>
              <a:rPr lang="en-US" sz="800" b="1" u="sng" dirty="0">
                <a:solidFill>
                  <a:srgbClr val="2A3B50"/>
                </a:solidFill>
                <a:latin typeface="Arial" pitchFamily="34" charset="0"/>
                <a:ea typeface="Arial" pitchFamily="34" charset="-122"/>
                <a:cs typeface="Arial" pitchFamily="34" charset="-120"/>
                <a:hlinkClick r:id="rId8" action="ppaction://hlinksldjump">
                  <a:extLst>
                    <a:ext uri="{A12FA001-AC4F-418D-AE19-62706E023703}">
                      <ahyp:hlinkClr xmlns:ahyp="http://schemas.microsoft.com/office/drawing/2018/hyperlinkcolor" val="tx"/>
                    </a:ext>
                  </a:extLst>
                </a:hlinkClick>
              </a:rPr>
              <a:t>Book</a:t>
            </a:r>
            <a:endParaRPr lang="en-US" sz="800" dirty="0"/>
          </a:p>
        </p:txBody>
      </p:sp>
      <p:sp>
        <p:nvSpPr>
          <p:cNvPr id="34" name="Shape 32">
            <a:hlinkClick r:id="rId11" action="ppaction://hlinksldjump"/>
          </p:cNvPr>
          <p:cNvSpPr/>
          <p:nvPr/>
        </p:nvSpPr>
        <p:spPr>
          <a:xfrm>
            <a:off x="10158984" y="6455664"/>
            <a:ext cx="749808" cy="283464"/>
          </a:xfrm>
          <a:prstGeom prst="roundRect">
            <a:avLst>
              <a:gd name="adj" fmla="val 25806"/>
            </a:avLst>
          </a:prstGeom>
          <a:solidFill>
            <a:srgbClr val="FFFFFF">
              <a:alpha val="30000"/>
            </a:srgbClr>
          </a:solidFill>
          <a:ln w="12700">
            <a:solidFill>
              <a:srgbClr val="536273">
                <a:alpha val="50000"/>
              </a:srgbClr>
            </a:solidFill>
            <a:prstDash val="solid"/>
          </a:ln>
        </p:spPr>
        <p:txBody>
          <a:bodyPr/>
          <a:lstStyle/>
          <a:p>
            <a:endParaRPr lang="en-US"/>
          </a:p>
        </p:txBody>
      </p:sp>
      <p:sp>
        <p:nvSpPr>
          <p:cNvPr id="35" name="Text 33">
            <a:hlinkClick r:id="rId11" action="ppaction://hlinksldjump"/>
          </p:cNvPr>
          <p:cNvSpPr/>
          <p:nvPr/>
        </p:nvSpPr>
        <p:spPr>
          <a:xfrm>
            <a:off x="10177272" y="6483096"/>
            <a:ext cx="713232" cy="182880"/>
          </a:xfrm>
          <a:prstGeom prst="rect">
            <a:avLst/>
          </a:prstGeom>
          <a:noFill/>
          <a:ln/>
        </p:spPr>
        <p:txBody>
          <a:bodyPr wrap="square" lIns="381" tIns="381" rIns="381" bIns="381" rtlCol="0" anchor="ctr">
            <a:normAutofit/>
          </a:bodyPr>
          <a:lstStyle/>
          <a:p>
            <a:pPr marL="0" indent="0" algn="ctr">
              <a:buNone/>
            </a:pPr>
            <a:r>
              <a:rPr lang="en-US" sz="800" b="1" u="sng" dirty="0">
                <a:solidFill>
                  <a:srgbClr val="2A3B50"/>
                </a:solidFill>
                <a:latin typeface="Arial" pitchFamily="34" charset="0"/>
                <a:ea typeface="Arial" pitchFamily="34" charset="-122"/>
                <a:cs typeface="Arial" pitchFamily="34" charset="-120"/>
                <a:hlinkClick r:id="rId11" action="ppaction://hlinksldjump">
                  <a:extLst>
                    <a:ext uri="{A12FA001-AC4F-418D-AE19-62706E023703}">
                      <ahyp:hlinkClr xmlns:ahyp="http://schemas.microsoft.com/office/drawing/2018/hyperlinkcolor" val="tx"/>
                    </a:ext>
                  </a:extLst>
                </a:hlinkClick>
              </a:rPr>
              <a:t>Lookup</a:t>
            </a:r>
            <a:endParaRPr lang="en-US" sz="800" dirty="0"/>
          </a:p>
        </p:txBody>
      </p:sp>
      <p:sp>
        <p:nvSpPr>
          <p:cNvPr id="36" name="Shape 34">
            <a:hlinkClick r:id="rId12" action="ppaction://hlinksldjump"/>
          </p:cNvPr>
          <p:cNvSpPr/>
          <p:nvPr/>
        </p:nvSpPr>
        <p:spPr>
          <a:xfrm>
            <a:off x="11000232" y="6455664"/>
            <a:ext cx="868680" cy="283464"/>
          </a:xfrm>
          <a:prstGeom prst="roundRect">
            <a:avLst>
              <a:gd name="adj" fmla="val 25806"/>
            </a:avLst>
          </a:prstGeom>
          <a:solidFill>
            <a:srgbClr val="132133"/>
          </a:solidFill>
          <a:ln w="12700">
            <a:solidFill>
              <a:srgbClr val="132133">
                <a:alpha val="0"/>
              </a:srgbClr>
            </a:solidFill>
            <a:prstDash val="solid"/>
          </a:ln>
        </p:spPr>
        <p:txBody>
          <a:bodyPr/>
          <a:lstStyle/>
          <a:p>
            <a:endParaRPr lang="en-US"/>
          </a:p>
        </p:txBody>
      </p:sp>
      <p:sp>
        <p:nvSpPr>
          <p:cNvPr id="37" name="Text 35">
            <a:hlinkClick r:id="rId12" action="ppaction://hlinksldjump"/>
          </p:cNvPr>
          <p:cNvSpPr/>
          <p:nvPr/>
        </p:nvSpPr>
        <p:spPr>
          <a:xfrm>
            <a:off x="11018520" y="6483096"/>
            <a:ext cx="832104" cy="182880"/>
          </a:xfrm>
          <a:prstGeom prst="rect">
            <a:avLst/>
          </a:prstGeom>
          <a:noFill/>
          <a:ln/>
        </p:spPr>
        <p:txBody>
          <a:bodyPr wrap="square" lIns="381" tIns="381" rIns="381" bIns="381" rtlCol="0" anchor="ctr">
            <a:normAutofit/>
          </a:bodyPr>
          <a:lstStyle/>
          <a:p>
            <a:pPr marL="0" indent="0" algn="ctr">
              <a:buNone/>
            </a:pPr>
            <a:r>
              <a:rPr lang="en-US" sz="770" b="1" u="sng" dirty="0">
                <a:solidFill>
                  <a:srgbClr val="FFFFFF"/>
                </a:solidFill>
                <a:latin typeface="Arial" pitchFamily="34" charset="0"/>
                <a:ea typeface="Arial" pitchFamily="34" charset="-122"/>
                <a:cs typeface="Arial" pitchFamily="34" charset="-120"/>
                <a:hlinkClick r:id="rId12" action="ppaction://hlinksldjump">
                  <a:extLst>
                    <a:ext uri="{A12FA001-AC4F-418D-AE19-62706E023703}">
                      <ahyp:hlinkClr xmlns:ahyp="http://schemas.microsoft.com/office/drawing/2018/hyperlinkcolor" val="tx"/>
                    </a:ext>
                  </a:extLst>
                </a:hlinkClick>
              </a:rPr>
              <a:t>Site Flow</a:t>
            </a:r>
            <a:endParaRPr lang="en-US" sz="770" dirty="0"/>
          </a:p>
        </p:txBody>
      </p:sp>
      <p:sp>
        <p:nvSpPr>
          <p:cNvPr id="38" name="Text 36"/>
          <p:cNvSpPr/>
          <p:nvPr/>
        </p:nvSpPr>
        <p:spPr>
          <a:xfrm>
            <a:off x="822960" y="2103120"/>
            <a:ext cx="9509760" cy="146304"/>
          </a:xfrm>
          <a:prstGeom prst="rect">
            <a:avLst/>
          </a:prstGeom>
          <a:noFill/>
          <a:ln/>
        </p:spPr>
        <p:txBody>
          <a:bodyPr wrap="square" lIns="381" tIns="381" rIns="381" bIns="381" rtlCol="0" anchor="ctr">
            <a:normAutofit/>
          </a:bodyPr>
          <a:lstStyle/>
          <a:p>
            <a:pPr marL="0" indent="0" algn="l">
              <a:buNone/>
            </a:pPr>
            <a:r>
              <a:rPr lang="en-US" sz="680" b="1" dirty="0">
                <a:solidFill>
                  <a:srgbClr val="276F7B"/>
                </a:solidFill>
                <a:latin typeface="Arial" pitchFamily="34" charset="0"/>
                <a:ea typeface="Arial" pitchFamily="34" charset="-122"/>
                <a:cs typeface="Arial" pitchFamily="34" charset="-120"/>
              </a:rPr>
              <a:t>EXPLORE MOFFAT BAY</a:t>
            </a:r>
            <a:endParaRPr lang="en-US" sz="680" dirty="0"/>
          </a:p>
        </p:txBody>
      </p:sp>
      <p:sp>
        <p:nvSpPr>
          <p:cNvPr id="39" name="Text 37"/>
          <p:cNvSpPr/>
          <p:nvPr/>
        </p:nvSpPr>
        <p:spPr>
          <a:xfrm>
            <a:off x="822960" y="2304288"/>
            <a:ext cx="9509760" cy="393192"/>
          </a:xfrm>
          <a:prstGeom prst="rect">
            <a:avLst/>
          </a:prstGeom>
          <a:noFill/>
          <a:ln/>
        </p:spPr>
        <p:txBody>
          <a:bodyPr wrap="square" lIns="381" tIns="381" rIns="381" bIns="381" rtlCol="0" anchor="ctr">
            <a:normAutofit/>
          </a:bodyPr>
          <a:lstStyle/>
          <a:p>
            <a:pPr marL="0" indent="0" algn="l">
              <a:buNone/>
            </a:pPr>
            <a:r>
              <a:rPr lang="en-US" sz="2000" dirty="0">
                <a:solidFill>
                  <a:srgbClr val="132133"/>
                </a:solidFill>
                <a:latin typeface="Georgia" pitchFamily="34" charset="0"/>
                <a:ea typeface="Georgia" pitchFamily="34" charset="-122"/>
                <a:cs typeface="Georgia" pitchFamily="34" charset="-120"/>
              </a:rPr>
              <a:t>Island Adventures Await</a:t>
            </a:r>
            <a:endParaRPr lang="en-US" sz="2000" dirty="0"/>
          </a:p>
        </p:txBody>
      </p:sp>
      <p:sp>
        <p:nvSpPr>
          <p:cNvPr id="40" name="Text 38"/>
          <p:cNvSpPr/>
          <p:nvPr/>
        </p:nvSpPr>
        <p:spPr>
          <a:xfrm>
            <a:off x="822960" y="2798064"/>
            <a:ext cx="9509760" cy="256032"/>
          </a:xfrm>
          <a:prstGeom prst="rect">
            <a:avLst/>
          </a:prstGeom>
          <a:noFill/>
          <a:ln/>
        </p:spPr>
        <p:txBody>
          <a:bodyPr wrap="square" lIns="381" tIns="381" rIns="381" bIns="381" rtlCol="0" anchor="t">
            <a:normAutofit/>
          </a:bodyPr>
          <a:lstStyle/>
          <a:p>
            <a:pPr marL="0" indent="0" algn="l">
              <a:buNone/>
            </a:pPr>
            <a:r>
              <a:rPr lang="en-US" sz="840" dirty="0">
                <a:solidFill>
                  <a:srgbClr val="2A3B50"/>
                </a:solidFill>
                <a:latin typeface="Arial" pitchFamily="34" charset="0"/>
                <a:ea typeface="Arial" pitchFamily="34" charset="-122"/>
                <a:cs typeface="Arial" pitchFamily="34" charset="-120"/>
              </a:rPr>
              <a:t>From peaceful hiking trails to unforgettable ocean experiences, Moffat Bay offers outdoor activities for every kind of traveler.</a:t>
            </a:r>
            <a:endParaRPr lang="en-US" sz="840" dirty="0"/>
          </a:p>
        </p:txBody>
      </p:sp>
      <p:sp>
        <p:nvSpPr>
          <p:cNvPr id="41" name="Text 39"/>
          <p:cNvSpPr/>
          <p:nvPr/>
        </p:nvSpPr>
        <p:spPr>
          <a:xfrm>
            <a:off x="822960" y="3218688"/>
            <a:ext cx="6400800" cy="146304"/>
          </a:xfrm>
          <a:prstGeom prst="rect">
            <a:avLst/>
          </a:prstGeom>
          <a:noFill/>
          <a:ln/>
        </p:spPr>
        <p:txBody>
          <a:bodyPr wrap="square" lIns="381" tIns="381" rIns="381" bIns="381" rtlCol="0" anchor="ctr">
            <a:normAutofit/>
          </a:bodyPr>
          <a:lstStyle/>
          <a:p>
            <a:pPr marL="0" indent="0" algn="l">
              <a:buNone/>
            </a:pPr>
            <a:r>
              <a:rPr lang="en-US" sz="680" b="1" dirty="0">
                <a:solidFill>
                  <a:srgbClr val="276F7B"/>
                </a:solidFill>
                <a:latin typeface="Arial" pitchFamily="34" charset="0"/>
                <a:ea typeface="Arial" pitchFamily="34" charset="-122"/>
                <a:cs typeface="Arial" pitchFamily="34" charset="-120"/>
              </a:rPr>
              <a:t>THINGS TO DO</a:t>
            </a:r>
            <a:endParaRPr lang="en-US" sz="680" dirty="0"/>
          </a:p>
        </p:txBody>
      </p:sp>
      <p:sp>
        <p:nvSpPr>
          <p:cNvPr id="42" name="Text 40"/>
          <p:cNvSpPr/>
          <p:nvPr/>
        </p:nvSpPr>
        <p:spPr>
          <a:xfrm>
            <a:off x="822960" y="3419856"/>
            <a:ext cx="6400800" cy="274320"/>
          </a:xfrm>
          <a:prstGeom prst="rect">
            <a:avLst/>
          </a:prstGeom>
          <a:noFill/>
          <a:ln/>
        </p:spPr>
        <p:txBody>
          <a:bodyPr wrap="square" lIns="381" tIns="381" rIns="381" bIns="381" rtlCol="0" anchor="ctr">
            <a:normAutofit/>
          </a:bodyPr>
          <a:lstStyle/>
          <a:p>
            <a:pPr marL="0" indent="0" algn="l">
              <a:buNone/>
            </a:pPr>
            <a:r>
              <a:rPr lang="en-US" sz="1400" dirty="0">
                <a:solidFill>
                  <a:srgbClr val="132133"/>
                </a:solidFill>
                <a:latin typeface="Georgia" pitchFamily="34" charset="0"/>
                <a:ea typeface="Georgia" pitchFamily="34" charset="-122"/>
                <a:cs typeface="Georgia" pitchFamily="34" charset="-120"/>
              </a:rPr>
              <a:t>Experience the Island</a:t>
            </a:r>
            <a:endParaRPr lang="en-US" sz="1400" dirty="0"/>
          </a:p>
        </p:txBody>
      </p:sp>
      <p:sp>
        <p:nvSpPr>
          <p:cNvPr id="43" name="Text 41"/>
          <p:cNvSpPr/>
          <p:nvPr/>
        </p:nvSpPr>
        <p:spPr>
          <a:xfrm>
            <a:off x="822960" y="3721608"/>
            <a:ext cx="6400800" cy="182880"/>
          </a:xfrm>
          <a:prstGeom prst="rect">
            <a:avLst/>
          </a:prstGeom>
          <a:noFill/>
          <a:ln/>
        </p:spPr>
        <p:txBody>
          <a:bodyPr wrap="square" lIns="381" tIns="381" rIns="381" bIns="381" rtlCol="0" anchor="t">
            <a:normAutofit/>
          </a:bodyPr>
          <a:lstStyle/>
          <a:p>
            <a:pPr marL="0" indent="0" algn="l">
              <a:buNone/>
            </a:pPr>
            <a:r>
              <a:rPr lang="en-US" sz="640" dirty="0">
                <a:solidFill>
                  <a:srgbClr val="2A3B50"/>
                </a:solidFill>
                <a:latin typeface="Arial" pitchFamily="34" charset="0"/>
                <a:ea typeface="Arial" pitchFamily="34" charset="-122"/>
                <a:cs typeface="Arial" pitchFamily="34" charset="-120"/>
              </a:rPr>
              <a:t>Make the most of your stay with adventures surrounding Moffat Bay Lodge.</a:t>
            </a:r>
            <a:endParaRPr lang="en-US" sz="640" dirty="0"/>
          </a:p>
        </p:txBody>
      </p:sp>
      <p:sp>
        <p:nvSpPr>
          <p:cNvPr id="44" name="Shape 42">
            <a:hlinkClick r:id="rId5" action="ppaction://hlinksldjump"/>
          </p:cNvPr>
          <p:cNvSpPr/>
          <p:nvPr/>
        </p:nvSpPr>
        <p:spPr>
          <a:xfrm>
            <a:off x="9235440" y="3429000"/>
            <a:ext cx="1463040" cy="310896"/>
          </a:xfrm>
          <a:prstGeom prst="roundRect">
            <a:avLst>
              <a:gd name="adj" fmla="val 35294"/>
            </a:avLst>
          </a:prstGeom>
          <a:solidFill>
            <a:srgbClr val="FFFFFF">
              <a:alpha val="30000"/>
            </a:srgbClr>
          </a:solidFill>
          <a:ln w="12700">
            <a:solidFill>
              <a:srgbClr val="536273">
                <a:alpha val="70000"/>
              </a:srgbClr>
            </a:solidFill>
            <a:prstDash val="solid"/>
          </a:ln>
        </p:spPr>
        <p:txBody>
          <a:bodyPr/>
          <a:lstStyle/>
          <a:p>
            <a:endParaRPr lang="en-US"/>
          </a:p>
        </p:txBody>
      </p:sp>
      <p:sp>
        <p:nvSpPr>
          <p:cNvPr id="45" name="Text 43">
            <a:hlinkClick r:id="rId5" action="ppaction://hlinksldjump"/>
          </p:cNvPr>
          <p:cNvSpPr/>
          <p:nvPr/>
        </p:nvSpPr>
        <p:spPr>
          <a:xfrm>
            <a:off x="9262872" y="3511296"/>
            <a:ext cx="1408176" cy="109728"/>
          </a:xfrm>
          <a:prstGeom prst="rect">
            <a:avLst/>
          </a:prstGeom>
          <a:noFill/>
          <a:ln/>
        </p:spPr>
        <p:txBody>
          <a:bodyPr wrap="square" lIns="381" tIns="381" rIns="381" bIns="381" rtlCol="0" anchor="ctr">
            <a:normAutofit/>
          </a:bodyPr>
          <a:lstStyle/>
          <a:p>
            <a:pPr marL="0" indent="0" algn="ctr">
              <a:buNone/>
            </a:pPr>
            <a:r>
              <a:rPr lang="en-US" sz="640" b="1" u="sng" dirty="0">
                <a:solidFill>
                  <a:srgbClr val="132133"/>
                </a:solidFill>
                <a:latin typeface="Arial" pitchFamily="34" charset="0"/>
                <a:ea typeface="Arial" pitchFamily="34" charset="-122"/>
                <a:cs typeface="Arial" pitchFamily="34" charset="-120"/>
                <a:hlinkClick r:id="rId5" action="ppaction://hlinksldjump">
                  <a:extLst>
                    <a:ext uri="{A12FA001-AC4F-418D-AE19-62706E023703}">
                      <ahyp:hlinkClr xmlns:ahyp="http://schemas.microsoft.com/office/drawing/2018/hyperlinkcolor" val="tx"/>
                    </a:ext>
                  </a:extLst>
                </a:hlinkClick>
              </a:rPr>
              <a:t>View Rooms &amp; Pricing</a:t>
            </a:r>
            <a:endParaRPr lang="en-US" sz="640" dirty="0"/>
          </a:p>
        </p:txBody>
      </p:sp>
      <p:sp>
        <p:nvSpPr>
          <p:cNvPr id="46" name="Shape 44"/>
          <p:cNvSpPr/>
          <p:nvPr/>
        </p:nvSpPr>
        <p:spPr>
          <a:xfrm>
            <a:off x="822960" y="4041648"/>
            <a:ext cx="2240280" cy="1225296"/>
          </a:xfrm>
          <a:prstGeom prst="roundRect">
            <a:avLst>
              <a:gd name="adj" fmla="val 7463"/>
            </a:avLst>
          </a:prstGeom>
          <a:solidFill>
            <a:srgbClr val="FFFFFF">
              <a:alpha val="90000"/>
            </a:srgbClr>
          </a:solidFill>
          <a:ln w="12700">
            <a:solidFill>
              <a:srgbClr val="E9DFCF">
                <a:alpha val="90000"/>
              </a:srgbClr>
            </a:solidFill>
            <a:prstDash val="solid"/>
          </a:ln>
          <a:effectLst>
            <a:outerShdw blurRad="12700" dist="8890" dir="2700000" algn="bl" rotWithShape="0">
              <a:srgbClr val="132133">
                <a:alpha val="7000"/>
              </a:srgbClr>
            </a:outerShdw>
          </a:effectLst>
        </p:spPr>
        <p:txBody>
          <a:bodyPr/>
          <a:lstStyle/>
          <a:p>
            <a:endParaRPr lang="en-US"/>
          </a:p>
        </p:txBody>
      </p:sp>
      <p:sp>
        <p:nvSpPr>
          <p:cNvPr id="47" name="Text 45"/>
          <p:cNvSpPr/>
          <p:nvPr/>
        </p:nvSpPr>
        <p:spPr>
          <a:xfrm>
            <a:off x="950976" y="4160520"/>
            <a:ext cx="640080" cy="109728"/>
          </a:xfrm>
          <a:prstGeom prst="rect">
            <a:avLst/>
          </a:prstGeom>
          <a:noFill/>
          <a:ln/>
        </p:spPr>
        <p:txBody>
          <a:bodyPr wrap="square" lIns="381" tIns="381" rIns="381" bIns="381" rtlCol="0" anchor="ctr">
            <a:normAutofit/>
          </a:bodyPr>
          <a:lstStyle/>
          <a:p>
            <a:pPr marL="0" indent="0" algn="l">
              <a:buNone/>
            </a:pPr>
            <a:r>
              <a:rPr lang="en-US" sz="560" b="1" dirty="0">
                <a:solidFill>
                  <a:srgbClr val="CDA059"/>
                </a:solidFill>
                <a:latin typeface="Arial" pitchFamily="34" charset="0"/>
                <a:ea typeface="Arial" pitchFamily="34" charset="-122"/>
                <a:cs typeface="Arial" pitchFamily="34" charset="-120"/>
              </a:rPr>
              <a:t>01</a:t>
            </a:r>
            <a:endParaRPr lang="en-US" sz="560" dirty="0"/>
          </a:p>
        </p:txBody>
      </p:sp>
      <p:sp>
        <p:nvSpPr>
          <p:cNvPr id="48" name="Text 46"/>
          <p:cNvSpPr/>
          <p:nvPr/>
        </p:nvSpPr>
        <p:spPr>
          <a:xfrm>
            <a:off x="950976" y="4352544"/>
            <a:ext cx="1984248" cy="274320"/>
          </a:xfrm>
          <a:prstGeom prst="rect">
            <a:avLst/>
          </a:prstGeom>
          <a:noFill/>
          <a:ln/>
        </p:spPr>
        <p:txBody>
          <a:bodyPr wrap="square" lIns="381" tIns="381" rIns="381" bIns="381" rtlCol="0" anchor="ctr">
            <a:normAutofit/>
          </a:bodyPr>
          <a:lstStyle/>
          <a:p>
            <a:pPr marL="0" indent="0" algn="l">
              <a:buNone/>
            </a:pPr>
            <a:r>
              <a:rPr lang="en-US" sz="1230" dirty="0">
                <a:solidFill>
                  <a:srgbClr val="132133"/>
                </a:solidFill>
                <a:latin typeface="Georgia" pitchFamily="34" charset="0"/>
                <a:ea typeface="Georgia" pitchFamily="34" charset="-122"/>
                <a:cs typeface="Georgia" pitchFamily="34" charset="-120"/>
              </a:rPr>
              <a:t>Hiking</a:t>
            </a:r>
            <a:endParaRPr lang="en-US" sz="1230" dirty="0"/>
          </a:p>
        </p:txBody>
      </p:sp>
      <p:sp>
        <p:nvSpPr>
          <p:cNvPr id="49" name="Text 47"/>
          <p:cNvSpPr/>
          <p:nvPr/>
        </p:nvSpPr>
        <p:spPr>
          <a:xfrm>
            <a:off x="950976" y="4700016"/>
            <a:ext cx="1984248" cy="384048"/>
          </a:xfrm>
          <a:prstGeom prst="rect">
            <a:avLst/>
          </a:prstGeom>
          <a:noFill/>
          <a:ln/>
        </p:spPr>
        <p:txBody>
          <a:bodyPr wrap="square" lIns="381" tIns="381" rIns="381" bIns="381" rtlCol="0" anchor="t">
            <a:normAutofit/>
          </a:bodyPr>
          <a:lstStyle/>
          <a:p>
            <a:pPr marL="0" indent="0" algn="l">
              <a:buNone/>
            </a:pPr>
            <a:r>
              <a:rPr lang="en-US" sz="680" dirty="0">
                <a:solidFill>
                  <a:srgbClr val="2A3B50"/>
                </a:solidFill>
                <a:latin typeface="Arial" pitchFamily="34" charset="0"/>
                <a:ea typeface="Arial" pitchFamily="34" charset="-122"/>
                <a:cs typeface="Arial" pitchFamily="34" charset="-120"/>
              </a:rPr>
              <a:t>Scenic coastal trails and cedar paths.</a:t>
            </a:r>
            <a:endParaRPr lang="en-US" sz="680" dirty="0"/>
          </a:p>
        </p:txBody>
      </p:sp>
      <p:sp>
        <p:nvSpPr>
          <p:cNvPr id="50" name="Text 48"/>
          <p:cNvSpPr/>
          <p:nvPr/>
        </p:nvSpPr>
        <p:spPr>
          <a:xfrm>
            <a:off x="950976" y="4956048"/>
            <a:ext cx="1984248" cy="128016"/>
          </a:xfrm>
          <a:prstGeom prst="rect">
            <a:avLst/>
          </a:prstGeom>
          <a:noFill/>
          <a:ln/>
        </p:spPr>
        <p:txBody>
          <a:bodyPr wrap="square" lIns="381" tIns="381" rIns="381" bIns="381" rtlCol="0" anchor="ctr">
            <a:normAutofit/>
          </a:bodyPr>
          <a:lstStyle/>
          <a:p>
            <a:pPr marL="0" indent="0" algn="l">
              <a:buNone/>
            </a:pPr>
            <a:r>
              <a:rPr lang="en-US" sz="640" b="1" dirty="0">
                <a:solidFill>
                  <a:srgbClr val="276F7B"/>
                </a:solidFill>
                <a:latin typeface="Arial" pitchFamily="34" charset="0"/>
                <a:ea typeface="Arial" pitchFamily="34" charset="-122"/>
                <a:cs typeface="Arial" pitchFamily="34" charset="-120"/>
              </a:rPr>
              <a:t>LAND ADVENTURE</a:t>
            </a:r>
            <a:endParaRPr lang="en-US" sz="640" dirty="0"/>
          </a:p>
        </p:txBody>
      </p:sp>
      <p:sp>
        <p:nvSpPr>
          <p:cNvPr id="51" name="Shape 49"/>
          <p:cNvSpPr/>
          <p:nvPr/>
        </p:nvSpPr>
        <p:spPr>
          <a:xfrm>
            <a:off x="3310128" y="4041648"/>
            <a:ext cx="2240280" cy="1225296"/>
          </a:xfrm>
          <a:prstGeom prst="roundRect">
            <a:avLst>
              <a:gd name="adj" fmla="val 7463"/>
            </a:avLst>
          </a:prstGeom>
          <a:solidFill>
            <a:srgbClr val="FFFFFF">
              <a:alpha val="90000"/>
            </a:srgbClr>
          </a:solidFill>
          <a:ln w="12700">
            <a:solidFill>
              <a:srgbClr val="E9DFCF">
                <a:alpha val="90000"/>
              </a:srgbClr>
            </a:solidFill>
            <a:prstDash val="solid"/>
          </a:ln>
          <a:effectLst>
            <a:outerShdw blurRad="12700" dist="8890" dir="2700000" algn="bl" rotWithShape="0">
              <a:srgbClr val="132133">
                <a:alpha val="7000"/>
              </a:srgbClr>
            </a:outerShdw>
          </a:effectLst>
        </p:spPr>
        <p:txBody>
          <a:bodyPr/>
          <a:lstStyle/>
          <a:p>
            <a:endParaRPr lang="en-US"/>
          </a:p>
        </p:txBody>
      </p:sp>
      <p:sp>
        <p:nvSpPr>
          <p:cNvPr id="52" name="Text 50"/>
          <p:cNvSpPr/>
          <p:nvPr/>
        </p:nvSpPr>
        <p:spPr>
          <a:xfrm>
            <a:off x="3438144" y="4160520"/>
            <a:ext cx="640080" cy="109728"/>
          </a:xfrm>
          <a:prstGeom prst="rect">
            <a:avLst/>
          </a:prstGeom>
          <a:noFill/>
          <a:ln/>
        </p:spPr>
        <p:txBody>
          <a:bodyPr wrap="square" lIns="381" tIns="381" rIns="381" bIns="381" rtlCol="0" anchor="ctr">
            <a:normAutofit/>
          </a:bodyPr>
          <a:lstStyle/>
          <a:p>
            <a:pPr marL="0" indent="0" algn="l">
              <a:buNone/>
            </a:pPr>
            <a:r>
              <a:rPr lang="en-US" sz="560" b="1" dirty="0">
                <a:solidFill>
                  <a:srgbClr val="CDA059"/>
                </a:solidFill>
                <a:latin typeface="Arial" pitchFamily="34" charset="0"/>
                <a:ea typeface="Arial" pitchFamily="34" charset="-122"/>
                <a:cs typeface="Arial" pitchFamily="34" charset="-120"/>
              </a:rPr>
              <a:t>02</a:t>
            </a:r>
            <a:endParaRPr lang="en-US" sz="560" dirty="0"/>
          </a:p>
        </p:txBody>
      </p:sp>
      <p:sp>
        <p:nvSpPr>
          <p:cNvPr id="53" name="Text 51"/>
          <p:cNvSpPr/>
          <p:nvPr/>
        </p:nvSpPr>
        <p:spPr>
          <a:xfrm>
            <a:off x="3438144" y="4352544"/>
            <a:ext cx="1984248" cy="274320"/>
          </a:xfrm>
          <a:prstGeom prst="rect">
            <a:avLst/>
          </a:prstGeom>
          <a:noFill/>
          <a:ln/>
        </p:spPr>
        <p:txBody>
          <a:bodyPr wrap="square" lIns="381" tIns="381" rIns="381" bIns="381" rtlCol="0" anchor="ctr">
            <a:normAutofit/>
          </a:bodyPr>
          <a:lstStyle/>
          <a:p>
            <a:pPr marL="0" indent="0" algn="l">
              <a:buNone/>
            </a:pPr>
            <a:r>
              <a:rPr lang="en-US" sz="1230" dirty="0">
                <a:solidFill>
                  <a:srgbClr val="132133"/>
                </a:solidFill>
                <a:latin typeface="Georgia" pitchFamily="34" charset="0"/>
                <a:ea typeface="Georgia" pitchFamily="34" charset="-122"/>
                <a:cs typeface="Georgia" pitchFamily="34" charset="-120"/>
              </a:rPr>
              <a:t>Kayaking</a:t>
            </a:r>
            <a:endParaRPr lang="en-US" sz="1230" dirty="0"/>
          </a:p>
        </p:txBody>
      </p:sp>
      <p:sp>
        <p:nvSpPr>
          <p:cNvPr id="54" name="Text 52"/>
          <p:cNvSpPr/>
          <p:nvPr/>
        </p:nvSpPr>
        <p:spPr>
          <a:xfrm>
            <a:off x="3438144" y="4700016"/>
            <a:ext cx="1984248" cy="384048"/>
          </a:xfrm>
          <a:prstGeom prst="rect">
            <a:avLst/>
          </a:prstGeom>
          <a:noFill/>
          <a:ln/>
        </p:spPr>
        <p:txBody>
          <a:bodyPr wrap="square" lIns="381" tIns="381" rIns="381" bIns="381" rtlCol="0" anchor="t">
            <a:normAutofit/>
          </a:bodyPr>
          <a:lstStyle/>
          <a:p>
            <a:pPr marL="0" indent="0" algn="l">
              <a:buNone/>
            </a:pPr>
            <a:r>
              <a:rPr lang="en-US" sz="680" dirty="0">
                <a:solidFill>
                  <a:srgbClr val="2A3B50"/>
                </a:solidFill>
                <a:latin typeface="Arial" pitchFamily="34" charset="0"/>
                <a:ea typeface="Arial" pitchFamily="34" charset="-122"/>
                <a:cs typeface="Arial" pitchFamily="34" charset="-120"/>
              </a:rPr>
              <a:t>Paddle the waters around Moffat Bay.</a:t>
            </a:r>
            <a:endParaRPr lang="en-US" sz="680" dirty="0"/>
          </a:p>
        </p:txBody>
      </p:sp>
      <p:sp>
        <p:nvSpPr>
          <p:cNvPr id="55" name="Text 53"/>
          <p:cNvSpPr/>
          <p:nvPr/>
        </p:nvSpPr>
        <p:spPr>
          <a:xfrm>
            <a:off x="3438144" y="4956048"/>
            <a:ext cx="1984248" cy="128016"/>
          </a:xfrm>
          <a:prstGeom prst="rect">
            <a:avLst/>
          </a:prstGeom>
          <a:noFill/>
          <a:ln/>
        </p:spPr>
        <p:txBody>
          <a:bodyPr wrap="square" lIns="381" tIns="381" rIns="381" bIns="381" rtlCol="0" anchor="ctr">
            <a:normAutofit/>
          </a:bodyPr>
          <a:lstStyle/>
          <a:p>
            <a:pPr marL="0" indent="0" algn="l">
              <a:buNone/>
            </a:pPr>
            <a:r>
              <a:rPr lang="en-US" sz="640" b="1" dirty="0">
                <a:solidFill>
                  <a:srgbClr val="276F7B"/>
                </a:solidFill>
                <a:latin typeface="Arial" pitchFamily="34" charset="0"/>
                <a:ea typeface="Arial" pitchFamily="34" charset="-122"/>
                <a:cs typeface="Arial" pitchFamily="34" charset="-120"/>
              </a:rPr>
              <a:t>WATER ADVENTURE</a:t>
            </a:r>
            <a:endParaRPr lang="en-US" sz="640" dirty="0"/>
          </a:p>
        </p:txBody>
      </p:sp>
      <p:sp>
        <p:nvSpPr>
          <p:cNvPr id="56" name="Shape 54"/>
          <p:cNvSpPr/>
          <p:nvPr/>
        </p:nvSpPr>
        <p:spPr>
          <a:xfrm>
            <a:off x="5797296" y="4041648"/>
            <a:ext cx="2240280" cy="1225296"/>
          </a:xfrm>
          <a:prstGeom prst="roundRect">
            <a:avLst>
              <a:gd name="adj" fmla="val 7463"/>
            </a:avLst>
          </a:prstGeom>
          <a:solidFill>
            <a:srgbClr val="FFFFFF">
              <a:alpha val="90000"/>
            </a:srgbClr>
          </a:solidFill>
          <a:ln w="12700">
            <a:solidFill>
              <a:srgbClr val="E9DFCF">
                <a:alpha val="90000"/>
              </a:srgbClr>
            </a:solidFill>
            <a:prstDash val="solid"/>
          </a:ln>
          <a:effectLst>
            <a:outerShdw blurRad="12700" dist="8890" dir="2700000" algn="bl" rotWithShape="0">
              <a:srgbClr val="132133">
                <a:alpha val="7000"/>
              </a:srgbClr>
            </a:outerShdw>
          </a:effectLst>
        </p:spPr>
        <p:txBody>
          <a:bodyPr/>
          <a:lstStyle/>
          <a:p>
            <a:endParaRPr lang="en-US"/>
          </a:p>
        </p:txBody>
      </p:sp>
      <p:sp>
        <p:nvSpPr>
          <p:cNvPr id="57" name="Text 55"/>
          <p:cNvSpPr/>
          <p:nvPr/>
        </p:nvSpPr>
        <p:spPr>
          <a:xfrm>
            <a:off x="5925312" y="4160520"/>
            <a:ext cx="640080" cy="109728"/>
          </a:xfrm>
          <a:prstGeom prst="rect">
            <a:avLst/>
          </a:prstGeom>
          <a:noFill/>
          <a:ln/>
        </p:spPr>
        <p:txBody>
          <a:bodyPr wrap="square" lIns="381" tIns="381" rIns="381" bIns="381" rtlCol="0" anchor="ctr">
            <a:normAutofit/>
          </a:bodyPr>
          <a:lstStyle/>
          <a:p>
            <a:pPr marL="0" indent="0" algn="l">
              <a:buNone/>
            </a:pPr>
            <a:r>
              <a:rPr lang="en-US" sz="560" b="1" dirty="0">
                <a:solidFill>
                  <a:srgbClr val="CDA059"/>
                </a:solidFill>
                <a:latin typeface="Arial" pitchFamily="34" charset="0"/>
                <a:ea typeface="Arial" pitchFamily="34" charset="-122"/>
                <a:cs typeface="Arial" pitchFamily="34" charset="-120"/>
              </a:rPr>
              <a:t>03</a:t>
            </a:r>
            <a:endParaRPr lang="en-US" sz="560" dirty="0"/>
          </a:p>
        </p:txBody>
      </p:sp>
      <p:sp>
        <p:nvSpPr>
          <p:cNvPr id="58" name="Text 56"/>
          <p:cNvSpPr/>
          <p:nvPr/>
        </p:nvSpPr>
        <p:spPr>
          <a:xfrm>
            <a:off x="5925312" y="4352544"/>
            <a:ext cx="1984248" cy="274320"/>
          </a:xfrm>
          <a:prstGeom prst="rect">
            <a:avLst/>
          </a:prstGeom>
          <a:noFill/>
          <a:ln/>
        </p:spPr>
        <p:txBody>
          <a:bodyPr wrap="square" lIns="381" tIns="381" rIns="381" bIns="381" rtlCol="0" anchor="ctr">
            <a:normAutofit/>
          </a:bodyPr>
          <a:lstStyle/>
          <a:p>
            <a:pPr marL="0" indent="0" algn="l">
              <a:buNone/>
            </a:pPr>
            <a:r>
              <a:rPr lang="en-US" sz="1230" dirty="0">
                <a:solidFill>
                  <a:srgbClr val="132133"/>
                </a:solidFill>
                <a:latin typeface="Georgia" pitchFamily="34" charset="0"/>
                <a:ea typeface="Georgia" pitchFamily="34" charset="-122"/>
                <a:cs typeface="Georgia" pitchFamily="34" charset="-120"/>
              </a:rPr>
              <a:t>Whale Watching</a:t>
            </a:r>
            <a:endParaRPr lang="en-US" sz="1230" dirty="0"/>
          </a:p>
        </p:txBody>
      </p:sp>
      <p:sp>
        <p:nvSpPr>
          <p:cNvPr id="59" name="Text 57"/>
          <p:cNvSpPr/>
          <p:nvPr/>
        </p:nvSpPr>
        <p:spPr>
          <a:xfrm>
            <a:off x="5925312" y="4700016"/>
            <a:ext cx="1984248" cy="384048"/>
          </a:xfrm>
          <a:prstGeom prst="rect">
            <a:avLst/>
          </a:prstGeom>
          <a:noFill/>
          <a:ln/>
        </p:spPr>
        <p:txBody>
          <a:bodyPr wrap="square" lIns="381" tIns="381" rIns="381" bIns="381" rtlCol="0" anchor="t">
            <a:normAutofit/>
          </a:bodyPr>
          <a:lstStyle/>
          <a:p>
            <a:pPr marL="0" indent="0" algn="l">
              <a:buNone/>
            </a:pPr>
            <a:r>
              <a:rPr lang="en-US" sz="680" dirty="0">
                <a:solidFill>
                  <a:srgbClr val="2A3B50"/>
                </a:solidFill>
                <a:latin typeface="Arial" pitchFamily="34" charset="0"/>
                <a:ea typeface="Arial" pitchFamily="34" charset="-122"/>
                <a:cs typeface="Arial" pitchFamily="34" charset="-120"/>
              </a:rPr>
              <a:t>Look for whales and marine wildlife.</a:t>
            </a:r>
            <a:endParaRPr lang="en-US" sz="680" dirty="0"/>
          </a:p>
        </p:txBody>
      </p:sp>
      <p:sp>
        <p:nvSpPr>
          <p:cNvPr id="60" name="Text 58"/>
          <p:cNvSpPr/>
          <p:nvPr/>
        </p:nvSpPr>
        <p:spPr>
          <a:xfrm>
            <a:off x="5925312" y="4956048"/>
            <a:ext cx="1984248" cy="128016"/>
          </a:xfrm>
          <a:prstGeom prst="rect">
            <a:avLst/>
          </a:prstGeom>
          <a:noFill/>
          <a:ln/>
        </p:spPr>
        <p:txBody>
          <a:bodyPr wrap="square" lIns="381" tIns="381" rIns="381" bIns="381" rtlCol="0" anchor="ctr">
            <a:normAutofit/>
          </a:bodyPr>
          <a:lstStyle/>
          <a:p>
            <a:pPr marL="0" indent="0" algn="l">
              <a:buNone/>
            </a:pPr>
            <a:r>
              <a:rPr lang="en-US" sz="640" b="1" dirty="0">
                <a:solidFill>
                  <a:srgbClr val="276F7B"/>
                </a:solidFill>
                <a:latin typeface="Arial" pitchFamily="34" charset="0"/>
                <a:ea typeface="Arial" pitchFamily="34" charset="-122"/>
                <a:cs typeface="Arial" pitchFamily="34" charset="-120"/>
              </a:rPr>
              <a:t>WILDLIFE EXPERIENCE</a:t>
            </a:r>
            <a:endParaRPr lang="en-US" sz="640" dirty="0"/>
          </a:p>
        </p:txBody>
      </p:sp>
      <p:sp>
        <p:nvSpPr>
          <p:cNvPr id="61" name="Shape 59"/>
          <p:cNvSpPr/>
          <p:nvPr/>
        </p:nvSpPr>
        <p:spPr>
          <a:xfrm>
            <a:off x="8284464" y="4041648"/>
            <a:ext cx="2240280" cy="1225296"/>
          </a:xfrm>
          <a:prstGeom prst="roundRect">
            <a:avLst>
              <a:gd name="adj" fmla="val 7463"/>
            </a:avLst>
          </a:prstGeom>
          <a:solidFill>
            <a:srgbClr val="FFFFFF">
              <a:alpha val="90000"/>
            </a:srgbClr>
          </a:solidFill>
          <a:ln w="12700">
            <a:solidFill>
              <a:srgbClr val="E9DFCF">
                <a:alpha val="90000"/>
              </a:srgbClr>
            </a:solidFill>
            <a:prstDash val="solid"/>
          </a:ln>
          <a:effectLst>
            <a:outerShdw blurRad="12700" dist="8890" dir="2700000" algn="bl" rotWithShape="0">
              <a:srgbClr val="132133">
                <a:alpha val="7000"/>
              </a:srgbClr>
            </a:outerShdw>
          </a:effectLst>
        </p:spPr>
        <p:txBody>
          <a:bodyPr/>
          <a:lstStyle/>
          <a:p>
            <a:endParaRPr lang="en-US"/>
          </a:p>
        </p:txBody>
      </p:sp>
      <p:sp>
        <p:nvSpPr>
          <p:cNvPr id="62" name="Text 60"/>
          <p:cNvSpPr/>
          <p:nvPr/>
        </p:nvSpPr>
        <p:spPr>
          <a:xfrm>
            <a:off x="8412480" y="4160520"/>
            <a:ext cx="640080" cy="109728"/>
          </a:xfrm>
          <a:prstGeom prst="rect">
            <a:avLst/>
          </a:prstGeom>
          <a:noFill/>
          <a:ln/>
        </p:spPr>
        <p:txBody>
          <a:bodyPr wrap="square" lIns="381" tIns="381" rIns="381" bIns="381" rtlCol="0" anchor="ctr">
            <a:normAutofit/>
          </a:bodyPr>
          <a:lstStyle/>
          <a:p>
            <a:pPr marL="0" indent="0" algn="l">
              <a:buNone/>
            </a:pPr>
            <a:r>
              <a:rPr lang="en-US" sz="560" b="1" dirty="0">
                <a:solidFill>
                  <a:srgbClr val="CDA059"/>
                </a:solidFill>
                <a:latin typeface="Arial" pitchFamily="34" charset="0"/>
                <a:ea typeface="Arial" pitchFamily="34" charset="-122"/>
                <a:cs typeface="Arial" pitchFamily="34" charset="-120"/>
              </a:rPr>
              <a:t>04</a:t>
            </a:r>
            <a:endParaRPr lang="en-US" sz="560" dirty="0"/>
          </a:p>
        </p:txBody>
      </p:sp>
      <p:sp>
        <p:nvSpPr>
          <p:cNvPr id="63" name="Text 61"/>
          <p:cNvSpPr/>
          <p:nvPr/>
        </p:nvSpPr>
        <p:spPr>
          <a:xfrm>
            <a:off x="8412480" y="4352544"/>
            <a:ext cx="1984248" cy="274320"/>
          </a:xfrm>
          <a:prstGeom prst="rect">
            <a:avLst/>
          </a:prstGeom>
          <a:noFill/>
          <a:ln/>
        </p:spPr>
        <p:txBody>
          <a:bodyPr wrap="square" lIns="381" tIns="381" rIns="381" bIns="381" rtlCol="0" anchor="ctr">
            <a:normAutofit/>
          </a:bodyPr>
          <a:lstStyle/>
          <a:p>
            <a:pPr marL="0" indent="0" algn="l">
              <a:buNone/>
            </a:pPr>
            <a:r>
              <a:rPr lang="en-US" sz="1230" dirty="0">
                <a:solidFill>
                  <a:srgbClr val="132133"/>
                </a:solidFill>
                <a:latin typeface="Georgia" pitchFamily="34" charset="0"/>
                <a:ea typeface="Georgia" pitchFamily="34" charset="-122"/>
                <a:cs typeface="Georgia" pitchFamily="34" charset="-120"/>
              </a:rPr>
              <a:t>Scuba Diving</a:t>
            </a:r>
            <a:endParaRPr lang="en-US" sz="1230" dirty="0"/>
          </a:p>
        </p:txBody>
      </p:sp>
      <p:sp>
        <p:nvSpPr>
          <p:cNvPr id="64" name="Text 62"/>
          <p:cNvSpPr/>
          <p:nvPr/>
        </p:nvSpPr>
        <p:spPr>
          <a:xfrm>
            <a:off x="8412480" y="4700016"/>
            <a:ext cx="1984248" cy="384048"/>
          </a:xfrm>
          <a:prstGeom prst="rect">
            <a:avLst/>
          </a:prstGeom>
          <a:noFill/>
          <a:ln/>
        </p:spPr>
        <p:txBody>
          <a:bodyPr wrap="square" lIns="381" tIns="381" rIns="381" bIns="381" rtlCol="0" anchor="t">
            <a:normAutofit/>
          </a:bodyPr>
          <a:lstStyle/>
          <a:p>
            <a:pPr marL="0" indent="0" algn="l">
              <a:buNone/>
            </a:pPr>
            <a:r>
              <a:rPr lang="en-US" sz="680" dirty="0">
                <a:solidFill>
                  <a:srgbClr val="2A3B50"/>
                </a:solidFill>
                <a:latin typeface="Arial" pitchFamily="34" charset="0"/>
                <a:ea typeface="Arial" pitchFamily="34" charset="-122"/>
                <a:cs typeface="Arial" pitchFamily="34" charset="-120"/>
              </a:rPr>
              <a:t>Explore the underwater marine environment.</a:t>
            </a:r>
            <a:endParaRPr lang="en-US" sz="680" dirty="0"/>
          </a:p>
        </p:txBody>
      </p:sp>
      <p:sp>
        <p:nvSpPr>
          <p:cNvPr id="65" name="Text 63"/>
          <p:cNvSpPr/>
          <p:nvPr/>
        </p:nvSpPr>
        <p:spPr>
          <a:xfrm>
            <a:off x="8412480" y="4956048"/>
            <a:ext cx="1984248" cy="128016"/>
          </a:xfrm>
          <a:prstGeom prst="rect">
            <a:avLst/>
          </a:prstGeom>
          <a:noFill/>
          <a:ln/>
        </p:spPr>
        <p:txBody>
          <a:bodyPr wrap="square" lIns="381" tIns="381" rIns="381" bIns="381" rtlCol="0" anchor="ctr">
            <a:normAutofit/>
          </a:bodyPr>
          <a:lstStyle/>
          <a:p>
            <a:pPr marL="0" indent="0" algn="l">
              <a:buNone/>
            </a:pPr>
            <a:r>
              <a:rPr lang="en-US" sz="640" b="1" dirty="0">
                <a:solidFill>
                  <a:srgbClr val="276F7B"/>
                </a:solidFill>
                <a:latin typeface="Arial" pitchFamily="34" charset="0"/>
                <a:ea typeface="Arial" pitchFamily="34" charset="-122"/>
                <a:cs typeface="Arial" pitchFamily="34" charset="-120"/>
              </a:rPr>
              <a:t>OCEAN ADVENTURE</a:t>
            </a:r>
            <a:endParaRPr lang="en-US" sz="640" dirty="0"/>
          </a:p>
        </p:txBody>
      </p:sp>
      <p:sp>
        <p:nvSpPr>
          <p:cNvPr id="66" name="Shape 64"/>
          <p:cNvSpPr/>
          <p:nvPr/>
        </p:nvSpPr>
        <p:spPr>
          <a:xfrm>
            <a:off x="822960" y="5486400"/>
            <a:ext cx="9921240" cy="713232"/>
          </a:xfrm>
          <a:prstGeom prst="roundRect">
            <a:avLst>
              <a:gd name="adj" fmla="val 14103"/>
            </a:avLst>
          </a:prstGeom>
          <a:solidFill>
            <a:srgbClr val="132133"/>
          </a:solidFill>
          <a:ln w="12700">
            <a:solidFill>
              <a:srgbClr val="132133"/>
            </a:solidFill>
            <a:prstDash val="solid"/>
          </a:ln>
        </p:spPr>
        <p:txBody>
          <a:bodyPr/>
          <a:lstStyle/>
          <a:p>
            <a:endParaRPr lang="en-US"/>
          </a:p>
        </p:txBody>
      </p:sp>
      <p:sp>
        <p:nvSpPr>
          <p:cNvPr id="67" name="Text 65"/>
          <p:cNvSpPr/>
          <p:nvPr/>
        </p:nvSpPr>
        <p:spPr>
          <a:xfrm>
            <a:off x="1143000" y="5650992"/>
            <a:ext cx="7132320" cy="146304"/>
          </a:xfrm>
          <a:prstGeom prst="rect">
            <a:avLst/>
          </a:prstGeom>
          <a:noFill/>
          <a:ln/>
        </p:spPr>
        <p:txBody>
          <a:bodyPr wrap="square" lIns="381" tIns="381" rIns="381" bIns="381" rtlCol="0" anchor="ctr">
            <a:normAutofit/>
          </a:bodyPr>
          <a:lstStyle/>
          <a:p>
            <a:pPr marL="0" indent="0" algn="l">
              <a:buNone/>
            </a:pPr>
            <a:r>
              <a:rPr lang="en-US" sz="680" b="1" dirty="0">
                <a:solidFill>
                  <a:srgbClr val="DFB66E"/>
                </a:solidFill>
                <a:latin typeface="Arial" pitchFamily="34" charset="0"/>
                <a:ea typeface="Arial" pitchFamily="34" charset="-122"/>
                <a:cs typeface="Arial" pitchFamily="34" charset="-120"/>
              </a:rPr>
              <a:t>MAKE IT YOUR TRIP</a:t>
            </a:r>
            <a:endParaRPr lang="en-US" sz="680" dirty="0"/>
          </a:p>
        </p:txBody>
      </p:sp>
      <p:sp>
        <p:nvSpPr>
          <p:cNvPr id="68" name="Text 66"/>
          <p:cNvSpPr/>
          <p:nvPr/>
        </p:nvSpPr>
        <p:spPr>
          <a:xfrm>
            <a:off x="1143000" y="5852160"/>
            <a:ext cx="7132320" cy="219456"/>
          </a:xfrm>
          <a:prstGeom prst="rect">
            <a:avLst/>
          </a:prstGeom>
          <a:noFill/>
          <a:ln/>
        </p:spPr>
        <p:txBody>
          <a:bodyPr wrap="square" lIns="381" tIns="381" rIns="381" bIns="381" rtlCol="0" anchor="ctr">
            <a:normAutofit/>
          </a:bodyPr>
          <a:lstStyle/>
          <a:p>
            <a:pPr marL="0" indent="0" algn="l">
              <a:buNone/>
            </a:pPr>
            <a:r>
              <a:rPr lang="en-US" sz="1250" dirty="0">
                <a:solidFill>
                  <a:srgbClr val="FFFFFF"/>
                </a:solidFill>
                <a:latin typeface="Georgia" pitchFamily="34" charset="0"/>
                <a:ea typeface="Georgia" pitchFamily="34" charset="-122"/>
                <a:cs typeface="Georgia" pitchFamily="34" charset="-120"/>
              </a:rPr>
              <a:t>Adventure by Day. Relax at the Lodge by Night.</a:t>
            </a:r>
            <a:endParaRPr lang="en-US" sz="1250" dirty="0"/>
          </a:p>
        </p:txBody>
      </p:sp>
      <p:sp>
        <p:nvSpPr>
          <p:cNvPr id="69" name="Text 67"/>
          <p:cNvSpPr/>
          <p:nvPr/>
        </p:nvSpPr>
        <p:spPr>
          <a:xfrm>
            <a:off x="1143000" y="6062472"/>
            <a:ext cx="7132320" cy="146304"/>
          </a:xfrm>
          <a:prstGeom prst="rect">
            <a:avLst/>
          </a:prstGeom>
          <a:noFill/>
          <a:ln/>
        </p:spPr>
        <p:txBody>
          <a:bodyPr wrap="square" lIns="381" tIns="381" rIns="381" bIns="381" rtlCol="0" anchor="t">
            <a:normAutofit/>
          </a:bodyPr>
          <a:lstStyle/>
          <a:p>
            <a:pPr marL="0" indent="0" algn="l">
              <a:buNone/>
            </a:pPr>
            <a:r>
              <a:rPr lang="en-US" sz="580" dirty="0">
                <a:solidFill>
                  <a:srgbClr val="FFFFFF"/>
                </a:solidFill>
                <a:latin typeface="Arial" pitchFamily="34" charset="0"/>
                <a:ea typeface="Arial" pitchFamily="34" charset="-122"/>
                <a:cs typeface="Arial" pitchFamily="34" charset="-120"/>
              </a:rPr>
              <a:t>Spend the day exploring, then return to the lodge to recharge before your next island adventure.</a:t>
            </a:r>
            <a:endParaRPr lang="en-US" sz="580" dirty="0"/>
          </a:p>
        </p:txBody>
      </p:sp>
      <p:sp>
        <p:nvSpPr>
          <p:cNvPr id="70" name="Shape 68">
            <a:hlinkClick r:id="rId8" action="ppaction://hlinksldjump"/>
          </p:cNvPr>
          <p:cNvSpPr/>
          <p:nvPr/>
        </p:nvSpPr>
        <p:spPr>
          <a:xfrm>
            <a:off x="8366760" y="5806440"/>
            <a:ext cx="1298448" cy="310896"/>
          </a:xfrm>
          <a:prstGeom prst="roundRect">
            <a:avLst>
              <a:gd name="adj" fmla="val 35294"/>
            </a:avLst>
          </a:prstGeom>
          <a:solidFill>
            <a:srgbClr val="CDA059"/>
          </a:solidFill>
          <a:ln w="12700">
            <a:solidFill>
              <a:srgbClr val="CDA059">
                <a:alpha val="0"/>
              </a:srgbClr>
            </a:solidFill>
            <a:prstDash val="solid"/>
          </a:ln>
        </p:spPr>
        <p:txBody>
          <a:bodyPr/>
          <a:lstStyle/>
          <a:p>
            <a:endParaRPr lang="en-US"/>
          </a:p>
        </p:txBody>
      </p:sp>
      <p:sp>
        <p:nvSpPr>
          <p:cNvPr id="71" name="Text 69">
            <a:hlinkClick r:id="rId8" action="ppaction://hlinksldjump"/>
          </p:cNvPr>
          <p:cNvSpPr/>
          <p:nvPr/>
        </p:nvSpPr>
        <p:spPr>
          <a:xfrm>
            <a:off x="8394192" y="5888736"/>
            <a:ext cx="1243584" cy="109728"/>
          </a:xfrm>
          <a:prstGeom prst="rect">
            <a:avLst/>
          </a:prstGeom>
          <a:noFill/>
          <a:ln/>
        </p:spPr>
        <p:txBody>
          <a:bodyPr wrap="square" lIns="381" tIns="381" rIns="381" bIns="381" rtlCol="0" anchor="ctr">
            <a:normAutofit/>
          </a:bodyPr>
          <a:lstStyle/>
          <a:p>
            <a:pPr marL="0" indent="0" algn="ctr">
              <a:buNone/>
            </a:pPr>
            <a:r>
              <a:rPr lang="en-US" sz="640" b="1" u="sng" dirty="0">
                <a:solidFill>
                  <a:srgbClr val="132133"/>
                </a:solidFill>
                <a:latin typeface="Arial" pitchFamily="34" charset="0"/>
                <a:ea typeface="Arial" pitchFamily="34" charset="-122"/>
                <a:cs typeface="Arial" pitchFamily="34" charset="-120"/>
                <a:hlinkClick r:id="rId8" action="ppaction://hlinksldjump">
                  <a:extLst>
                    <a:ext uri="{A12FA001-AC4F-418D-AE19-62706E023703}">
                      <ahyp:hlinkClr xmlns:ahyp="http://schemas.microsoft.com/office/drawing/2018/hyperlinkcolor" val="tx"/>
                    </a:ext>
                  </a:extLst>
                </a:hlinkClick>
              </a:rPr>
              <a:t>Reserve Your Room</a:t>
            </a:r>
            <a:endParaRPr lang="en-US" sz="640" dirty="0"/>
          </a:p>
        </p:txBody>
      </p:sp>
      <p:sp>
        <p:nvSpPr>
          <p:cNvPr id="72" name="Shape 70">
            <a:hlinkClick r:id="rId5" action="ppaction://hlinksldjump"/>
          </p:cNvPr>
          <p:cNvSpPr/>
          <p:nvPr/>
        </p:nvSpPr>
        <p:spPr>
          <a:xfrm>
            <a:off x="9802368" y="5806440"/>
            <a:ext cx="914400" cy="310896"/>
          </a:xfrm>
          <a:prstGeom prst="roundRect">
            <a:avLst>
              <a:gd name="adj" fmla="val 35294"/>
            </a:avLst>
          </a:prstGeom>
          <a:solidFill>
            <a:srgbClr val="FFFFFF">
              <a:alpha val="30000"/>
            </a:srgbClr>
          </a:solidFill>
          <a:ln w="12700">
            <a:solidFill>
              <a:srgbClr val="536273">
                <a:alpha val="70000"/>
              </a:srgbClr>
            </a:solidFill>
            <a:prstDash val="solid"/>
          </a:ln>
        </p:spPr>
        <p:txBody>
          <a:bodyPr/>
          <a:lstStyle/>
          <a:p>
            <a:endParaRPr lang="en-US"/>
          </a:p>
        </p:txBody>
      </p:sp>
      <p:sp>
        <p:nvSpPr>
          <p:cNvPr id="73" name="Text 71">
            <a:hlinkClick r:id="rId5" action="ppaction://hlinksldjump"/>
          </p:cNvPr>
          <p:cNvSpPr/>
          <p:nvPr/>
        </p:nvSpPr>
        <p:spPr>
          <a:xfrm>
            <a:off x="9829800" y="5888736"/>
            <a:ext cx="859536" cy="109728"/>
          </a:xfrm>
          <a:prstGeom prst="rect">
            <a:avLst/>
          </a:prstGeom>
          <a:noFill/>
          <a:ln/>
        </p:spPr>
        <p:txBody>
          <a:bodyPr wrap="square" lIns="381" tIns="381" rIns="381" bIns="381" rtlCol="0" anchor="ctr">
            <a:normAutofit/>
          </a:bodyPr>
          <a:lstStyle/>
          <a:p>
            <a:pPr marL="0" indent="0" algn="ctr">
              <a:buNone/>
            </a:pPr>
            <a:r>
              <a:rPr lang="en-US" sz="640" b="1" u="sng" dirty="0">
                <a:solidFill>
                  <a:srgbClr val="132133"/>
                </a:solidFill>
                <a:latin typeface="Arial" pitchFamily="34" charset="0"/>
                <a:ea typeface="Arial" pitchFamily="34" charset="-122"/>
                <a:cs typeface="Arial" pitchFamily="34" charset="-120"/>
                <a:hlinkClick r:id="rId5" action="ppaction://hlinksldjump">
                  <a:extLst>
                    <a:ext uri="{A12FA001-AC4F-418D-AE19-62706E023703}">
                      <ahyp:hlinkClr xmlns:ahyp="http://schemas.microsoft.com/office/drawing/2018/hyperlinkcolor" val="tx"/>
                    </a:ext>
                  </a:extLst>
                </a:hlinkClick>
              </a:rPr>
              <a:t>Compare Rooms</a:t>
            </a:r>
            <a:endParaRPr lang="en-US" sz="64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28600"/>
            <a:ext cx="5943600" cy="365760"/>
          </a:xfrm>
          <a:prstGeom prst="rect">
            <a:avLst/>
          </a:prstGeom>
          <a:noFill/>
          <a:ln/>
        </p:spPr>
        <p:txBody>
          <a:bodyPr wrap="square" lIns="381" tIns="381" rIns="381" bIns="381" rtlCol="0" anchor="ctr">
            <a:normAutofit/>
          </a:bodyPr>
          <a:lstStyle/>
          <a:p>
            <a:pPr marL="0" indent="0" algn="l">
              <a:buNone/>
            </a:pPr>
            <a:r>
              <a:rPr lang="en-US" sz="2000" b="1" dirty="0">
                <a:solidFill>
                  <a:srgbClr val="132133"/>
                </a:solidFill>
                <a:latin typeface="Georgia" pitchFamily="34" charset="0"/>
                <a:ea typeface="Georgia" pitchFamily="34" charset="-122"/>
                <a:cs typeface="Georgia" pitchFamily="34" charset="-120"/>
              </a:rPr>
              <a:t>Contact Page Prototype</a:t>
            </a:r>
            <a:endParaRPr lang="en-US" sz="2000" dirty="0"/>
          </a:p>
        </p:txBody>
      </p:sp>
      <p:sp>
        <p:nvSpPr>
          <p:cNvPr id="3" name="Text 1"/>
          <p:cNvSpPr/>
          <p:nvPr/>
        </p:nvSpPr>
        <p:spPr>
          <a:xfrm>
            <a:off x="512064" y="630936"/>
            <a:ext cx="6492240" cy="228600"/>
          </a:xfrm>
          <a:prstGeom prst="rect">
            <a:avLst/>
          </a:prstGeom>
          <a:noFill/>
          <a:ln/>
        </p:spPr>
        <p:txBody>
          <a:bodyPr wrap="square" lIns="381" tIns="381" rIns="381" bIns="381" rtlCol="0" anchor="ctr">
            <a:normAutofit/>
          </a:bodyPr>
          <a:lstStyle/>
          <a:p>
            <a:pPr marL="0" indent="0" algn="l">
              <a:buNone/>
            </a:pPr>
            <a:r>
              <a:rPr lang="en-US" sz="850" dirty="0">
                <a:solidFill>
                  <a:srgbClr val="536273"/>
                </a:solidFill>
                <a:latin typeface="Arial" pitchFamily="34" charset="0"/>
                <a:ea typeface="Arial" pitchFamily="34" charset="-122"/>
                <a:cs typeface="Arial" pitchFamily="34" charset="-120"/>
              </a:rPr>
              <a:t>Purpose: let guests ask questions before or after booking while keeping booking and lookup paths visible.</a:t>
            </a:r>
            <a:endParaRPr lang="en-US" sz="850" dirty="0"/>
          </a:p>
        </p:txBody>
      </p:sp>
      <p:sp>
        <p:nvSpPr>
          <p:cNvPr id="4" name="Text 2"/>
          <p:cNvSpPr/>
          <p:nvPr/>
        </p:nvSpPr>
        <p:spPr>
          <a:xfrm>
            <a:off x="8823960" y="256032"/>
            <a:ext cx="2743200" cy="228600"/>
          </a:xfrm>
          <a:prstGeom prst="rect">
            <a:avLst/>
          </a:prstGeom>
          <a:noFill/>
          <a:ln/>
        </p:spPr>
        <p:txBody>
          <a:bodyPr wrap="square" lIns="381" tIns="381" rIns="381" bIns="381" rtlCol="0" anchor="ctr">
            <a:normAutofit/>
          </a:bodyPr>
          <a:lstStyle/>
          <a:p>
            <a:pPr marL="0" indent="0" algn="r">
              <a:buNone/>
            </a:pPr>
            <a:r>
              <a:rPr lang="en-US" sz="800" b="1" dirty="0">
                <a:solidFill>
                  <a:srgbClr val="536273"/>
                </a:solidFill>
                <a:latin typeface="Arial" pitchFamily="34" charset="0"/>
                <a:ea typeface="Arial" pitchFamily="34" charset="-122"/>
                <a:cs typeface="Arial" pitchFamily="34" charset="-120"/>
              </a:rPr>
              <a:t>Moffat Bay Lodge Prototype</a:t>
            </a:r>
            <a:endParaRPr lang="en-US" sz="800" dirty="0"/>
          </a:p>
        </p:txBody>
      </p:sp>
      <p:sp>
        <p:nvSpPr>
          <p:cNvPr id="5" name="Shape 3"/>
          <p:cNvSpPr/>
          <p:nvPr/>
        </p:nvSpPr>
        <p:spPr>
          <a:xfrm>
            <a:off x="502920" y="896112"/>
            <a:ext cx="11201400" cy="5440680"/>
          </a:xfrm>
          <a:prstGeom prst="roundRect">
            <a:avLst>
              <a:gd name="adj" fmla="val 1513"/>
            </a:avLst>
          </a:prstGeom>
          <a:solidFill>
            <a:srgbClr val="FFFAF2"/>
          </a:solidFill>
          <a:ln w="12700">
            <a:solidFill>
              <a:srgbClr val="E9DFCF"/>
            </a:solidFill>
            <a:prstDash val="solid"/>
          </a:ln>
          <a:effectLst>
            <a:outerShdw blurRad="25400" dist="12700" dir="2700000" algn="bl" rotWithShape="0">
              <a:srgbClr val="132133">
                <a:alpha val="10000"/>
              </a:srgbClr>
            </a:outerShdw>
          </a:effectLst>
        </p:spPr>
        <p:txBody>
          <a:bodyPr/>
          <a:lstStyle/>
          <a:p>
            <a:endParaRPr lang="en-US"/>
          </a:p>
        </p:txBody>
      </p:sp>
      <p:sp>
        <p:nvSpPr>
          <p:cNvPr id="6" name="Shape 4"/>
          <p:cNvSpPr/>
          <p:nvPr/>
        </p:nvSpPr>
        <p:spPr>
          <a:xfrm>
            <a:off x="502920" y="896112"/>
            <a:ext cx="11201400" cy="384048"/>
          </a:xfrm>
          <a:prstGeom prst="rect">
            <a:avLst/>
          </a:prstGeom>
          <a:solidFill>
            <a:srgbClr val="FFFFFF"/>
          </a:solidFill>
          <a:ln w="12700">
            <a:solidFill>
              <a:srgbClr val="E9DFCF"/>
            </a:solidFill>
            <a:prstDash val="solid"/>
          </a:ln>
        </p:spPr>
        <p:txBody>
          <a:bodyPr/>
          <a:lstStyle/>
          <a:p>
            <a:endParaRPr lang="en-US"/>
          </a:p>
        </p:txBody>
      </p:sp>
      <p:sp>
        <p:nvSpPr>
          <p:cNvPr id="10" name="Shape 8"/>
          <p:cNvSpPr/>
          <p:nvPr/>
        </p:nvSpPr>
        <p:spPr>
          <a:xfrm>
            <a:off x="1280160" y="987552"/>
            <a:ext cx="3657600" cy="192024"/>
          </a:xfrm>
          <a:prstGeom prst="roundRect">
            <a:avLst>
              <a:gd name="adj" fmla="val 28571"/>
            </a:avLst>
          </a:prstGeom>
          <a:solidFill>
            <a:srgbClr val="F5EFE5"/>
          </a:solidFill>
          <a:ln w="12700">
            <a:solidFill>
              <a:srgbClr val="E9DFCF">
                <a:alpha val="80000"/>
              </a:srgbClr>
            </a:solidFill>
            <a:prstDash val="solid"/>
          </a:ln>
        </p:spPr>
        <p:txBody>
          <a:bodyPr/>
          <a:lstStyle/>
          <a:p>
            <a:endParaRPr lang="en-US"/>
          </a:p>
        </p:txBody>
      </p:sp>
      <p:sp>
        <p:nvSpPr>
          <p:cNvPr id="11" name="Text 9"/>
          <p:cNvSpPr/>
          <p:nvPr/>
        </p:nvSpPr>
        <p:spPr>
          <a:xfrm>
            <a:off x="1408176" y="1014984"/>
            <a:ext cx="3337560" cy="109728"/>
          </a:xfrm>
          <a:prstGeom prst="rect">
            <a:avLst/>
          </a:prstGeom>
          <a:noFill/>
          <a:ln/>
        </p:spPr>
        <p:txBody>
          <a:bodyPr wrap="square" lIns="381" tIns="381" rIns="381" bIns="381" rtlCol="0" anchor="ctr">
            <a:normAutofit/>
          </a:bodyPr>
          <a:lstStyle/>
          <a:p>
            <a:pPr marL="0" indent="0" algn="l">
              <a:buNone/>
            </a:pPr>
            <a:r>
              <a:rPr lang="en-US" sz="550" dirty="0">
                <a:solidFill>
                  <a:srgbClr val="536273"/>
                </a:solidFill>
                <a:latin typeface="Arial" pitchFamily="34" charset="0"/>
                <a:ea typeface="Arial" pitchFamily="34" charset="-122"/>
                <a:cs typeface="Arial" pitchFamily="34" charset="-120"/>
              </a:rPr>
              <a:t>moffatbaylodge.com/contact.html</a:t>
            </a:r>
            <a:endParaRPr lang="en-US" sz="550" dirty="0"/>
          </a:p>
        </p:txBody>
      </p:sp>
      <p:sp>
        <p:nvSpPr>
          <p:cNvPr id="12" name="Shape 10"/>
          <p:cNvSpPr/>
          <p:nvPr/>
        </p:nvSpPr>
        <p:spPr>
          <a:xfrm>
            <a:off x="502920" y="1280160"/>
            <a:ext cx="11201400" cy="530352"/>
          </a:xfrm>
          <a:prstGeom prst="rect">
            <a:avLst/>
          </a:prstGeom>
          <a:solidFill>
            <a:srgbClr val="FAF5EC"/>
          </a:solidFill>
          <a:ln w="12700">
            <a:solidFill>
              <a:srgbClr val="E9DFCF">
                <a:alpha val="90000"/>
              </a:srgbClr>
            </a:solidFill>
            <a:prstDash val="solid"/>
          </a:ln>
        </p:spPr>
        <p:txBody>
          <a:bodyPr/>
          <a:lstStyle/>
          <a:p>
            <a:endParaRPr lang="en-US"/>
          </a:p>
        </p:txBody>
      </p:sp>
      <p:sp>
        <p:nvSpPr>
          <p:cNvPr id="13" name="Shape 11"/>
          <p:cNvSpPr/>
          <p:nvPr/>
        </p:nvSpPr>
        <p:spPr>
          <a:xfrm>
            <a:off x="731520" y="1399032"/>
            <a:ext cx="256032" cy="256032"/>
          </a:xfrm>
          <a:prstGeom prst="ellipse">
            <a:avLst/>
          </a:prstGeom>
          <a:solidFill>
            <a:srgbClr val="276F7B"/>
          </a:solidFill>
          <a:ln w="12700">
            <a:solidFill>
              <a:srgbClr val="276F7B"/>
            </a:solidFill>
            <a:prstDash val="solid"/>
          </a:ln>
        </p:spPr>
        <p:txBody>
          <a:bodyPr/>
          <a:lstStyle/>
          <a:p>
            <a:endParaRPr lang="en-US"/>
          </a:p>
        </p:txBody>
      </p:sp>
      <p:sp>
        <p:nvSpPr>
          <p:cNvPr id="14" name="Text 12"/>
          <p:cNvSpPr/>
          <p:nvPr/>
        </p:nvSpPr>
        <p:spPr>
          <a:xfrm>
            <a:off x="731520" y="1426464"/>
            <a:ext cx="256032" cy="109728"/>
          </a:xfrm>
          <a:prstGeom prst="rect">
            <a:avLst/>
          </a:prstGeom>
          <a:noFill/>
          <a:ln/>
        </p:spPr>
        <p:txBody>
          <a:bodyPr wrap="square" lIns="381" tIns="381" rIns="381" bIns="381" rtlCol="0" anchor="ctr">
            <a:normAutofit/>
          </a:bodyPr>
          <a:lstStyle/>
          <a:p>
            <a:pPr marL="0" indent="0" algn="ctr">
              <a:buNone/>
            </a:pPr>
            <a:r>
              <a:rPr lang="en-US" sz="700" b="1" dirty="0">
                <a:solidFill>
                  <a:srgbClr val="FFFFFF"/>
                </a:solidFill>
                <a:latin typeface="Georgia" pitchFamily="34" charset="0"/>
                <a:ea typeface="Georgia" pitchFamily="34" charset="-122"/>
                <a:cs typeface="Georgia" pitchFamily="34" charset="-120"/>
              </a:rPr>
              <a:t>MB</a:t>
            </a:r>
            <a:endParaRPr lang="en-US" sz="700" dirty="0"/>
          </a:p>
        </p:txBody>
      </p:sp>
      <p:sp>
        <p:nvSpPr>
          <p:cNvPr id="15" name="Text 13"/>
          <p:cNvSpPr/>
          <p:nvPr/>
        </p:nvSpPr>
        <p:spPr>
          <a:xfrm>
            <a:off x="1069848" y="1435608"/>
            <a:ext cx="1691640" cy="118872"/>
          </a:xfrm>
          <a:prstGeom prst="rect">
            <a:avLst/>
          </a:prstGeom>
          <a:noFill/>
          <a:ln/>
        </p:spPr>
        <p:txBody>
          <a:bodyPr wrap="square" lIns="381" tIns="381" rIns="381" bIns="381" rtlCol="0" anchor="ctr">
            <a:normAutofit/>
          </a:bodyPr>
          <a:lstStyle/>
          <a:p>
            <a:pPr marL="0" indent="0" algn="l">
              <a:buNone/>
            </a:pPr>
            <a:r>
              <a:rPr lang="en-US" sz="680" b="1" dirty="0">
                <a:solidFill>
                  <a:srgbClr val="132133"/>
                </a:solidFill>
                <a:latin typeface="Arial" pitchFamily="34" charset="0"/>
                <a:ea typeface="Arial" pitchFamily="34" charset="-122"/>
                <a:cs typeface="Arial" pitchFamily="34" charset="-120"/>
              </a:rPr>
              <a:t>MOFFAT BAY LODGE</a:t>
            </a:r>
            <a:endParaRPr lang="en-US" sz="680" dirty="0"/>
          </a:p>
        </p:txBody>
      </p:sp>
      <p:sp>
        <p:nvSpPr>
          <p:cNvPr id="16" name="Text 14">
            <a:hlinkClick r:id="rId3" action="ppaction://hlinksldjump"/>
          </p:cNvPr>
          <p:cNvSpPr/>
          <p:nvPr/>
        </p:nvSpPr>
        <p:spPr>
          <a:xfrm>
            <a:off x="3291840" y="1453896"/>
            <a:ext cx="402336" cy="118872"/>
          </a:xfrm>
          <a:prstGeom prst="rect">
            <a:avLst/>
          </a:prstGeom>
          <a:noFill/>
          <a:ln/>
        </p:spPr>
        <p:txBody>
          <a:bodyPr wrap="square" lIns="381" tIns="381" rIns="381" bIns="381" rtlCol="0" anchor="ctr">
            <a:normAutofit/>
          </a:bodyPr>
          <a:lstStyle/>
          <a:p>
            <a:pPr marL="0" indent="0" algn="ctr">
              <a:buNone/>
            </a:pPr>
            <a:r>
              <a:rPr lang="en-US" sz="640" b="1" u="sng" dirty="0">
                <a:solidFill>
                  <a:srgbClr val="2A3B50"/>
                </a:solidFill>
                <a:latin typeface="Arial" pitchFamily="34" charset="0"/>
                <a:ea typeface="Arial" pitchFamily="34" charset="-122"/>
                <a:cs typeface="Arial" pitchFamily="34" charset="-120"/>
                <a:hlinkClick r:id="rId3" action="ppaction://hlinksldjump">
                  <a:extLst>
                    <a:ext uri="{A12FA001-AC4F-418D-AE19-62706E023703}">
                      <ahyp:hlinkClr xmlns:ahyp="http://schemas.microsoft.com/office/drawing/2018/hyperlinkcolor" val="tx"/>
                    </a:ext>
                  </a:extLst>
                </a:hlinkClick>
              </a:rPr>
              <a:t>Home</a:t>
            </a:r>
            <a:endParaRPr lang="en-US" sz="640" dirty="0"/>
          </a:p>
        </p:txBody>
      </p:sp>
      <p:sp>
        <p:nvSpPr>
          <p:cNvPr id="17" name="Text 15">
            <a:hlinkClick r:id="rId4" action="ppaction://hlinksldjump"/>
          </p:cNvPr>
          <p:cNvSpPr/>
          <p:nvPr/>
        </p:nvSpPr>
        <p:spPr>
          <a:xfrm>
            <a:off x="3895344" y="1453896"/>
            <a:ext cx="420624" cy="118872"/>
          </a:xfrm>
          <a:prstGeom prst="rect">
            <a:avLst/>
          </a:prstGeom>
          <a:noFill/>
          <a:ln/>
        </p:spPr>
        <p:txBody>
          <a:bodyPr wrap="square" lIns="381" tIns="381" rIns="381" bIns="381" rtlCol="0" anchor="ctr">
            <a:normAutofit/>
          </a:bodyPr>
          <a:lstStyle/>
          <a:p>
            <a:pPr marL="0" indent="0" algn="ctr">
              <a:buNone/>
            </a:pPr>
            <a:r>
              <a:rPr lang="en-US" sz="640" b="1" u="sng" dirty="0">
                <a:solidFill>
                  <a:srgbClr val="2A3B50"/>
                </a:solidFill>
                <a:latin typeface="Arial" pitchFamily="34" charset="0"/>
                <a:ea typeface="Arial" pitchFamily="34" charset="-122"/>
                <a:cs typeface="Arial" pitchFamily="34" charset="-120"/>
                <a:hlinkClick r:id="rId4" action="ppaction://hlinksldjump">
                  <a:extLst>
                    <a:ext uri="{A12FA001-AC4F-418D-AE19-62706E023703}">
                      <ahyp:hlinkClr xmlns:ahyp="http://schemas.microsoft.com/office/drawing/2018/hyperlinkcolor" val="tx"/>
                    </a:ext>
                  </a:extLst>
                </a:hlinkClick>
              </a:rPr>
              <a:t>About</a:t>
            </a:r>
            <a:endParaRPr lang="en-US" sz="640" dirty="0"/>
          </a:p>
        </p:txBody>
      </p:sp>
      <p:sp>
        <p:nvSpPr>
          <p:cNvPr id="18" name="Text 16">
            <a:hlinkClick r:id="rId5" action="ppaction://hlinksldjump"/>
          </p:cNvPr>
          <p:cNvSpPr/>
          <p:nvPr/>
        </p:nvSpPr>
        <p:spPr>
          <a:xfrm>
            <a:off x="4517136" y="1453896"/>
            <a:ext cx="960120" cy="118872"/>
          </a:xfrm>
          <a:prstGeom prst="rect">
            <a:avLst/>
          </a:prstGeom>
          <a:noFill/>
          <a:ln/>
        </p:spPr>
        <p:txBody>
          <a:bodyPr wrap="square" lIns="381" tIns="381" rIns="381" bIns="381" rtlCol="0" anchor="ctr">
            <a:normAutofit/>
          </a:bodyPr>
          <a:lstStyle/>
          <a:p>
            <a:pPr marL="0" indent="0" algn="ctr">
              <a:buNone/>
            </a:pPr>
            <a:r>
              <a:rPr lang="en-US" sz="640" b="1" u="sng" dirty="0">
                <a:solidFill>
                  <a:srgbClr val="2A3B50"/>
                </a:solidFill>
                <a:latin typeface="Arial" pitchFamily="34" charset="0"/>
                <a:ea typeface="Arial" pitchFamily="34" charset="-122"/>
                <a:cs typeface="Arial" pitchFamily="34" charset="-120"/>
                <a:hlinkClick r:id="rId5" action="ppaction://hlinksldjump">
                  <a:extLst>
                    <a:ext uri="{A12FA001-AC4F-418D-AE19-62706E023703}">
                      <ahyp:hlinkClr xmlns:ahyp="http://schemas.microsoft.com/office/drawing/2018/hyperlinkcolor" val="tx"/>
                    </a:ext>
                  </a:extLst>
                </a:hlinkClick>
              </a:rPr>
              <a:t>Rooms &amp; Pricing</a:t>
            </a:r>
            <a:endParaRPr lang="en-US" sz="640" dirty="0"/>
          </a:p>
        </p:txBody>
      </p:sp>
      <p:sp>
        <p:nvSpPr>
          <p:cNvPr id="19" name="Text 17">
            <a:hlinkClick r:id="rId6" action="ppaction://hlinksldjump"/>
          </p:cNvPr>
          <p:cNvSpPr/>
          <p:nvPr/>
        </p:nvSpPr>
        <p:spPr>
          <a:xfrm>
            <a:off x="5678424" y="1453896"/>
            <a:ext cx="685800" cy="118872"/>
          </a:xfrm>
          <a:prstGeom prst="rect">
            <a:avLst/>
          </a:prstGeom>
          <a:noFill/>
          <a:ln/>
        </p:spPr>
        <p:txBody>
          <a:bodyPr wrap="square" lIns="381" tIns="381" rIns="381" bIns="381" rtlCol="0" anchor="ctr">
            <a:normAutofit/>
          </a:bodyPr>
          <a:lstStyle/>
          <a:p>
            <a:pPr marL="0" indent="0" algn="ctr">
              <a:buNone/>
            </a:pPr>
            <a:r>
              <a:rPr lang="en-US" sz="640" b="1" u="sng" dirty="0">
                <a:solidFill>
                  <a:srgbClr val="2A3B50"/>
                </a:solidFill>
                <a:latin typeface="Arial" pitchFamily="34" charset="0"/>
                <a:ea typeface="Arial" pitchFamily="34" charset="-122"/>
                <a:cs typeface="Arial" pitchFamily="34" charset="-120"/>
                <a:hlinkClick r:id="rId6" action="ppaction://hlinksldjump">
                  <a:extLst>
                    <a:ext uri="{A12FA001-AC4F-418D-AE19-62706E023703}">
                      <ahyp:hlinkClr xmlns:ahyp="http://schemas.microsoft.com/office/drawing/2018/hyperlinkcolor" val="tx"/>
                    </a:ext>
                  </a:extLst>
                </a:hlinkClick>
              </a:rPr>
              <a:t>Attractions</a:t>
            </a:r>
            <a:endParaRPr lang="en-US" sz="640" dirty="0"/>
          </a:p>
        </p:txBody>
      </p:sp>
      <p:sp>
        <p:nvSpPr>
          <p:cNvPr id="20" name="Text 18">
            <a:hlinkClick r:id="rId7" action="ppaction://hlinksldjump"/>
          </p:cNvPr>
          <p:cNvSpPr/>
          <p:nvPr/>
        </p:nvSpPr>
        <p:spPr>
          <a:xfrm>
            <a:off x="6565392" y="1453896"/>
            <a:ext cx="475488" cy="118872"/>
          </a:xfrm>
          <a:prstGeom prst="rect">
            <a:avLst/>
          </a:prstGeom>
          <a:noFill/>
          <a:ln/>
        </p:spPr>
        <p:txBody>
          <a:bodyPr wrap="square" lIns="381" tIns="381" rIns="381" bIns="381" rtlCol="0" anchor="ctr">
            <a:normAutofit/>
          </a:bodyPr>
          <a:lstStyle/>
          <a:p>
            <a:pPr marL="0" indent="0" algn="ctr">
              <a:buNone/>
            </a:pPr>
            <a:r>
              <a:rPr lang="en-US" sz="640" b="1" u="sng" dirty="0">
                <a:solidFill>
                  <a:srgbClr val="276F7B"/>
                </a:solidFill>
                <a:latin typeface="Arial" pitchFamily="34" charset="0"/>
                <a:ea typeface="Arial" pitchFamily="34" charset="-122"/>
                <a:cs typeface="Arial" pitchFamily="34" charset="-120"/>
                <a:hlinkClick r:id="rId7" action="ppaction://hlinksldjump">
                  <a:extLst>
                    <a:ext uri="{A12FA001-AC4F-418D-AE19-62706E023703}">
                      <ahyp:hlinkClr xmlns:ahyp="http://schemas.microsoft.com/office/drawing/2018/hyperlinkcolor" val="tx"/>
                    </a:ext>
                  </a:extLst>
                </a:hlinkClick>
              </a:rPr>
              <a:t>Contact</a:t>
            </a:r>
            <a:endParaRPr lang="en-US" sz="640" dirty="0"/>
          </a:p>
        </p:txBody>
      </p:sp>
      <p:sp>
        <p:nvSpPr>
          <p:cNvPr id="21" name="Shape 19"/>
          <p:cNvSpPr/>
          <p:nvPr/>
        </p:nvSpPr>
        <p:spPr>
          <a:xfrm>
            <a:off x="6611112" y="1627632"/>
            <a:ext cx="384048" cy="22860"/>
          </a:xfrm>
          <a:prstGeom prst="rect">
            <a:avLst/>
          </a:prstGeom>
          <a:solidFill>
            <a:srgbClr val="2F8694"/>
          </a:solidFill>
          <a:ln w="12700">
            <a:solidFill>
              <a:srgbClr val="2F8694"/>
            </a:solidFill>
            <a:prstDash val="solid"/>
          </a:ln>
        </p:spPr>
        <p:txBody>
          <a:bodyPr/>
          <a:lstStyle/>
          <a:p>
            <a:endParaRPr lang="en-US"/>
          </a:p>
        </p:txBody>
      </p:sp>
      <p:sp>
        <p:nvSpPr>
          <p:cNvPr id="22" name="Text 20">
            <a:hlinkClick r:id="rId8" action="ppaction://hlinksldjump"/>
          </p:cNvPr>
          <p:cNvSpPr/>
          <p:nvPr/>
        </p:nvSpPr>
        <p:spPr>
          <a:xfrm>
            <a:off x="7242048" y="1453896"/>
            <a:ext cx="420624" cy="118872"/>
          </a:xfrm>
          <a:prstGeom prst="rect">
            <a:avLst/>
          </a:prstGeom>
          <a:noFill/>
          <a:ln/>
        </p:spPr>
        <p:txBody>
          <a:bodyPr wrap="square" lIns="381" tIns="381" rIns="381" bIns="381" rtlCol="0" anchor="ctr">
            <a:normAutofit/>
          </a:bodyPr>
          <a:lstStyle/>
          <a:p>
            <a:pPr marL="0" indent="0" algn="ctr">
              <a:buNone/>
            </a:pPr>
            <a:r>
              <a:rPr lang="en-US" sz="640" b="1" u="sng" dirty="0">
                <a:solidFill>
                  <a:srgbClr val="2A3B50"/>
                </a:solidFill>
                <a:latin typeface="Arial" pitchFamily="34" charset="0"/>
                <a:ea typeface="Arial" pitchFamily="34" charset="-122"/>
                <a:cs typeface="Arial" pitchFamily="34" charset="-120"/>
                <a:hlinkClick r:id="rId8" action="ppaction://hlinksldjump">
                  <a:extLst>
                    <a:ext uri="{A12FA001-AC4F-418D-AE19-62706E023703}">
                      <ahyp:hlinkClr xmlns:ahyp="http://schemas.microsoft.com/office/drawing/2018/hyperlinkcolor" val="tx"/>
                    </a:ext>
                  </a:extLst>
                </a:hlinkClick>
              </a:rPr>
              <a:t>Book</a:t>
            </a:r>
            <a:endParaRPr lang="en-US" sz="640" dirty="0"/>
          </a:p>
        </p:txBody>
      </p:sp>
      <p:sp>
        <p:nvSpPr>
          <p:cNvPr id="23" name="Shape 21">
            <a:hlinkClick r:id="rId9" action="ppaction://hlinksldjump"/>
          </p:cNvPr>
          <p:cNvSpPr/>
          <p:nvPr/>
        </p:nvSpPr>
        <p:spPr>
          <a:xfrm>
            <a:off x="10378440" y="1417320"/>
            <a:ext cx="530352" cy="283464"/>
          </a:xfrm>
          <a:prstGeom prst="roundRect">
            <a:avLst>
              <a:gd name="adj" fmla="val 25806"/>
            </a:avLst>
          </a:prstGeom>
          <a:solidFill>
            <a:srgbClr val="132133"/>
          </a:solidFill>
          <a:ln w="12700">
            <a:solidFill>
              <a:srgbClr val="132133">
                <a:alpha val="0"/>
              </a:srgbClr>
            </a:solidFill>
            <a:prstDash val="solid"/>
          </a:ln>
        </p:spPr>
        <p:txBody>
          <a:bodyPr/>
          <a:lstStyle/>
          <a:p>
            <a:endParaRPr lang="en-US"/>
          </a:p>
        </p:txBody>
      </p:sp>
      <p:sp>
        <p:nvSpPr>
          <p:cNvPr id="24" name="Text 22">
            <a:hlinkClick r:id="rId9" action="ppaction://hlinksldjump"/>
          </p:cNvPr>
          <p:cNvSpPr/>
          <p:nvPr/>
        </p:nvSpPr>
        <p:spPr>
          <a:xfrm>
            <a:off x="10396728" y="1444752"/>
            <a:ext cx="493776" cy="182880"/>
          </a:xfrm>
          <a:prstGeom prst="rect">
            <a:avLst/>
          </a:prstGeom>
          <a:noFill/>
          <a:ln/>
        </p:spPr>
        <p:txBody>
          <a:bodyPr wrap="square" lIns="381" tIns="381" rIns="381" bIns="381" rtlCol="0" anchor="ctr">
            <a:normAutofit/>
          </a:bodyPr>
          <a:lstStyle/>
          <a:p>
            <a:pPr marL="0" indent="0" algn="ctr">
              <a:buNone/>
            </a:pPr>
            <a:r>
              <a:rPr lang="en-US" sz="600" b="1" u="sng" dirty="0">
                <a:solidFill>
                  <a:srgbClr val="FFFFFF"/>
                </a:solidFill>
                <a:latin typeface="Arial" pitchFamily="34" charset="0"/>
                <a:ea typeface="Arial" pitchFamily="34" charset="-122"/>
                <a:cs typeface="Arial" pitchFamily="34" charset="-120"/>
                <a:hlinkClick r:id="rId9" action="ppaction://hlinksldjump">
                  <a:extLst>
                    <a:ext uri="{A12FA001-AC4F-418D-AE19-62706E023703}">
                      <ahyp:hlinkClr xmlns:ahyp="http://schemas.microsoft.com/office/drawing/2018/hyperlinkcolor" val="tx"/>
                    </a:ext>
                  </a:extLst>
                </a:hlinkClick>
              </a:rPr>
              <a:t>Login</a:t>
            </a:r>
            <a:endParaRPr lang="en-US" sz="600" dirty="0"/>
          </a:p>
        </p:txBody>
      </p:sp>
      <p:sp>
        <p:nvSpPr>
          <p:cNvPr id="25" name="Shape 23">
            <a:hlinkClick r:id="rId10" action="ppaction://hlinksldjump"/>
          </p:cNvPr>
          <p:cNvSpPr/>
          <p:nvPr/>
        </p:nvSpPr>
        <p:spPr>
          <a:xfrm>
            <a:off x="10991088" y="1417320"/>
            <a:ext cx="585216" cy="283464"/>
          </a:xfrm>
          <a:prstGeom prst="roundRect">
            <a:avLst>
              <a:gd name="adj" fmla="val 25806"/>
            </a:avLst>
          </a:prstGeom>
          <a:solidFill>
            <a:srgbClr val="276F7B"/>
          </a:solidFill>
          <a:ln w="12700">
            <a:solidFill>
              <a:srgbClr val="276F7B">
                <a:alpha val="0"/>
              </a:srgbClr>
            </a:solidFill>
            <a:prstDash val="solid"/>
          </a:ln>
        </p:spPr>
        <p:txBody>
          <a:bodyPr/>
          <a:lstStyle/>
          <a:p>
            <a:endParaRPr lang="en-US"/>
          </a:p>
        </p:txBody>
      </p:sp>
      <p:sp>
        <p:nvSpPr>
          <p:cNvPr id="26" name="Text 24">
            <a:hlinkClick r:id="rId10" action="ppaction://hlinksldjump"/>
          </p:cNvPr>
          <p:cNvSpPr/>
          <p:nvPr/>
        </p:nvSpPr>
        <p:spPr>
          <a:xfrm>
            <a:off x="11009376" y="1444752"/>
            <a:ext cx="548640" cy="182880"/>
          </a:xfrm>
          <a:prstGeom prst="rect">
            <a:avLst/>
          </a:prstGeom>
          <a:noFill/>
          <a:ln/>
        </p:spPr>
        <p:txBody>
          <a:bodyPr wrap="square" lIns="381" tIns="381" rIns="381" bIns="381" rtlCol="0" anchor="ctr">
            <a:normAutofit/>
          </a:bodyPr>
          <a:lstStyle/>
          <a:p>
            <a:pPr marL="0" indent="0" algn="ctr">
              <a:buNone/>
            </a:pPr>
            <a:r>
              <a:rPr lang="en-US" sz="600" b="1" u="sng" dirty="0">
                <a:solidFill>
                  <a:srgbClr val="FFFFFF"/>
                </a:solidFill>
                <a:latin typeface="Arial" pitchFamily="34" charset="0"/>
                <a:ea typeface="Arial" pitchFamily="34" charset="-122"/>
                <a:cs typeface="Arial" pitchFamily="34" charset="-120"/>
                <a:hlinkClick r:id="rId10" action="ppaction://hlinksldjump">
                  <a:extLst>
                    <a:ext uri="{A12FA001-AC4F-418D-AE19-62706E023703}">
                      <ahyp:hlinkClr xmlns:ahyp="http://schemas.microsoft.com/office/drawing/2018/hyperlinkcolor" val="tx"/>
                    </a:ext>
                  </a:extLst>
                </a:hlinkClick>
              </a:rPr>
              <a:t>Register</a:t>
            </a:r>
            <a:endParaRPr lang="en-US" sz="600" dirty="0"/>
          </a:p>
        </p:txBody>
      </p:sp>
      <p:sp>
        <p:nvSpPr>
          <p:cNvPr id="27" name="Text 25"/>
          <p:cNvSpPr/>
          <p:nvPr/>
        </p:nvSpPr>
        <p:spPr>
          <a:xfrm>
            <a:off x="502920" y="6510528"/>
            <a:ext cx="6400800" cy="201168"/>
          </a:xfrm>
          <a:prstGeom prst="rect">
            <a:avLst/>
          </a:prstGeom>
          <a:noFill/>
          <a:ln/>
        </p:spPr>
        <p:txBody>
          <a:bodyPr wrap="square" lIns="381" tIns="381" rIns="381" bIns="381" rtlCol="0" anchor="ctr">
            <a:normAutofit/>
          </a:bodyPr>
          <a:lstStyle/>
          <a:p>
            <a:pPr marL="0" indent="0" algn="l">
              <a:buNone/>
            </a:pPr>
            <a:r>
              <a:rPr lang="en-US" sz="710" dirty="0">
                <a:solidFill>
                  <a:srgbClr val="536273"/>
                </a:solidFill>
                <a:latin typeface="Arial" pitchFamily="34" charset="0"/>
                <a:ea typeface="Arial" pitchFamily="34" charset="-122"/>
                <a:cs typeface="Arial" pitchFamily="34" charset="-120"/>
              </a:rPr>
              <a:t>Slide 7 | Editable components | Use Slide Show mode to click through the prototype</a:t>
            </a:r>
            <a:endParaRPr lang="en-US" sz="710" dirty="0"/>
          </a:p>
        </p:txBody>
      </p:sp>
      <p:sp>
        <p:nvSpPr>
          <p:cNvPr id="28" name="Shape 26">
            <a:hlinkClick r:id="rId3" action="ppaction://hlinksldjump"/>
          </p:cNvPr>
          <p:cNvSpPr/>
          <p:nvPr/>
        </p:nvSpPr>
        <p:spPr>
          <a:xfrm>
            <a:off x="7635240" y="6455664"/>
            <a:ext cx="749808" cy="283464"/>
          </a:xfrm>
          <a:prstGeom prst="roundRect">
            <a:avLst>
              <a:gd name="adj" fmla="val 25806"/>
            </a:avLst>
          </a:prstGeom>
          <a:solidFill>
            <a:srgbClr val="FFFFFF">
              <a:alpha val="30000"/>
            </a:srgbClr>
          </a:solidFill>
          <a:ln w="12700">
            <a:solidFill>
              <a:srgbClr val="536273">
                <a:alpha val="50000"/>
              </a:srgbClr>
            </a:solidFill>
            <a:prstDash val="solid"/>
          </a:ln>
        </p:spPr>
        <p:txBody>
          <a:bodyPr/>
          <a:lstStyle/>
          <a:p>
            <a:endParaRPr lang="en-US"/>
          </a:p>
        </p:txBody>
      </p:sp>
      <p:sp>
        <p:nvSpPr>
          <p:cNvPr id="29" name="Text 27">
            <a:hlinkClick r:id="rId3" action="ppaction://hlinksldjump"/>
          </p:cNvPr>
          <p:cNvSpPr/>
          <p:nvPr/>
        </p:nvSpPr>
        <p:spPr>
          <a:xfrm>
            <a:off x="7653528" y="6483096"/>
            <a:ext cx="713232" cy="182880"/>
          </a:xfrm>
          <a:prstGeom prst="rect">
            <a:avLst/>
          </a:prstGeom>
          <a:noFill/>
          <a:ln/>
        </p:spPr>
        <p:txBody>
          <a:bodyPr wrap="square" lIns="381" tIns="381" rIns="381" bIns="381" rtlCol="0" anchor="ctr">
            <a:normAutofit/>
          </a:bodyPr>
          <a:lstStyle/>
          <a:p>
            <a:pPr marL="0" indent="0" algn="ctr">
              <a:buNone/>
            </a:pPr>
            <a:r>
              <a:rPr lang="en-US" sz="800" b="1" u="sng" dirty="0">
                <a:solidFill>
                  <a:srgbClr val="2A3B50"/>
                </a:solidFill>
                <a:latin typeface="Arial" pitchFamily="34" charset="0"/>
                <a:ea typeface="Arial" pitchFamily="34" charset="-122"/>
                <a:cs typeface="Arial" pitchFamily="34" charset="-120"/>
                <a:hlinkClick r:id="rId3" action="ppaction://hlinksldjump">
                  <a:extLst>
                    <a:ext uri="{A12FA001-AC4F-418D-AE19-62706E023703}">
                      <ahyp:hlinkClr xmlns:ahyp="http://schemas.microsoft.com/office/drawing/2018/hyperlinkcolor" val="tx"/>
                    </a:ext>
                  </a:extLst>
                </a:hlinkClick>
              </a:rPr>
              <a:t>Home</a:t>
            </a:r>
            <a:endParaRPr lang="en-US" sz="800" dirty="0"/>
          </a:p>
        </p:txBody>
      </p:sp>
      <p:sp>
        <p:nvSpPr>
          <p:cNvPr id="30" name="Shape 28">
            <a:hlinkClick r:id="rId5" action="ppaction://hlinksldjump"/>
          </p:cNvPr>
          <p:cNvSpPr/>
          <p:nvPr/>
        </p:nvSpPr>
        <p:spPr>
          <a:xfrm>
            <a:off x="8476488" y="6455664"/>
            <a:ext cx="749808" cy="283464"/>
          </a:xfrm>
          <a:prstGeom prst="roundRect">
            <a:avLst>
              <a:gd name="adj" fmla="val 25806"/>
            </a:avLst>
          </a:prstGeom>
          <a:solidFill>
            <a:srgbClr val="FFFFFF">
              <a:alpha val="30000"/>
            </a:srgbClr>
          </a:solidFill>
          <a:ln w="12700">
            <a:solidFill>
              <a:srgbClr val="536273">
                <a:alpha val="50000"/>
              </a:srgbClr>
            </a:solidFill>
            <a:prstDash val="solid"/>
          </a:ln>
        </p:spPr>
        <p:txBody>
          <a:bodyPr/>
          <a:lstStyle/>
          <a:p>
            <a:endParaRPr lang="en-US"/>
          </a:p>
        </p:txBody>
      </p:sp>
      <p:sp>
        <p:nvSpPr>
          <p:cNvPr id="31" name="Text 29">
            <a:hlinkClick r:id="rId5" action="ppaction://hlinksldjump"/>
          </p:cNvPr>
          <p:cNvSpPr/>
          <p:nvPr/>
        </p:nvSpPr>
        <p:spPr>
          <a:xfrm>
            <a:off x="8494776" y="6483096"/>
            <a:ext cx="713232" cy="182880"/>
          </a:xfrm>
          <a:prstGeom prst="rect">
            <a:avLst/>
          </a:prstGeom>
          <a:noFill/>
          <a:ln/>
        </p:spPr>
        <p:txBody>
          <a:bodyPr wrap="square" lIns="381" tIns="381" rIns="381" bIns="381" rtlCol="0" anchor="ctr">
            <a:normAutofit/>
          </a:bodyPr>
          <a:lstStyle/>
          <a:p>
            <a:pPr marL="0" indent="0" algn="ctr">
              <a:buNone/>
            </a:pPr>
            <a:r>
              <a:rPr lang="en-US" sz="800" b="1" u="sng" dirty="0">
                <a:solidFill>
                  <a:srgbClr val="2A3B50"/>
                </a:solidFill>
                <a:latin typeface="Arial" pitchFamily="34" charset="0"/>
                <a:ea typeface="Arial" pitchFamily="34" charset="-122"/>
                <a:cs typeface="Arial" pitchFamily="34" charset="-120"/>
                <a:hlinkClick r:id="rId5" action="ppaction://hlinksldjump">
                  <a:extLst>
                    <a:ext uri="{A12FA001-AC4F-418D-AE19-62706E023703}">
                      <ahyp:hlinkClr xmlns:ahyp="http://schemas.microsoft.com/office/drawing/2018/hyperlinkcolor" val="tx"/>
                    </a:ext>
                  </a:extLst>
                </a:hlinkClick>
              </a:rPr>
              <a:t>Rooms</a:t>
            </a:r>
            <a:endParaRPr lang="en-US" sz="800" dirty="0"/>
          </a:p>
        </p:txBody>
      </p:sp>
      <p:sp>
        <p:nvSpPr>
          <p:cNvPr id="32" name="Shape 30">
            <a:hlinkClick r:id="rId8" action="ppaction://hlinksldjump"/>
          </p:cNvPr>
          <p:cNvSpPr/>
          <p:nvPr/>
        </p:nvSpPr>
        <p:spPr>
          <a:xfrm>
            <a:off x="9317736" y="6455664"/>
            <a:ext cx="749808" cy="283464"/>
          </a:xfrm>
          <a:prstGeom prst="roundRect">
            <a:avLst>
              <a:gd name="adj" fmla="val 25806"/>
            </a:avLst>
          </a:prstGeom>
          <a:solidFill>
            <a:srgbClr val="FFFFFF">
              <a:alpha val="30000"/>
            </a:srgbClr>
          </a:solidFill>
          <a:ln w="12700">
            <a:solidFill>
              <a:srgbClr val="536273">
                <a:alpha val="50000"/>
              </a:srgbClr>
            </a:solidFill>
            <a:prstDash val="solid"/>
          </a:ln>
        </p:spPr>
        <p:txBody>
          <a:bodyPr/>
          <a:lstStyle/>
          <a:p>
            <a:endParaRPr lang="en-US"/>
          </a:p>
        </p:txBody>
      </p:sp>
      <p:sp>
        <p:nvSpPr>
          <p:cNvPr id="33" name="Text 31">
            <a:hlinkClick r:id="rId8" action="ppaction://hlinksldjump"/>
          </p:cNvPr>
          <p:cNvSpPr/>
          <p:nvPr/>
        </p:nvSpPr>
        <p:spPr>
          <a:xfrm>
            <a:off x="9336024" y="6483096"/>
            <a:ext cx="713232" cy="182880"/>
          </a:xfrm>
          <a:prstGeom prst="rect">
            <a:avLst/>
          </a:prstGeom>
          <a:noFill/>
          <a:ln/>
        </p:spPr>
        <p:txBody>
          <a:bodyPr wrap="square" lIns="381" tIns="381" rIns="381" bIns="381" rtlCol="0" anchor="ctr">
            <a:normAutofit/>
          </a:bodyPr>
          <a:lstStyle/>
          <a:p>
            <a:pPr marL="0" indent="0" algn="ctr">
              <a:buNone/>
            </a:pPr>
            <a:r>
              <a:rPr lang="en-US" sz="800" b="1" u="sng" dirty="0">
                <a:solidFill>
                  <a:srgbClr val="2A3B50"/>
                </a:solidFill>
                <a:latin typeface="Arial" pitchFamily="34" charset="0"/>
                <a:ea typeface="Arial" pitchFamily="34" charset="-122"/>
                <a:cs typeface="Arial" pitchFamily="34" charset="-120"/>
                <a:hlinkClick r:id="rId8" action="ppaction://hlinksldjump">
                  <a:extLst>
                    <a:ext uri="{A12FA001-AC4F-418D-AE19-62706E023703}">
                      <ahyp:hlinkClr xmlns:ahyp="http://schemas.microsoft.com/office/drawing/2018/hyperlinkcolor" val="tx"/>
                    </a:ext>
                  </a:extLst>
                </a:hlinkClick>
              </a:rPr>
              <a:t>Book</a:t>
            </a:r>
            <a:endParaRPr lang="en-US" sz="800" dirty="0"/>
          </a:p>
        </p:txBody>
      </p:sp>
      <p:sp>
        <p:nvSpPr>
          <p:cNvPr id="34" name="Shape 32">
            <a:hlinkClick r:id="rId11" action="ppaction://hlinksldjump"/>
          </p:cNvPr>
          <p:cNvSpPr/>
          <p:nvPr/>
        </p:nvSpPr>
        <p:spPr>
          <a:xfrm>
            <a:off x="10158984" y="6455664"/>
            <a:ext cx="749808" cy="283464"/>
          </a:xfrm>
          <a:prstGeom prst="roundRect">
            <a:avLst>
              <a:gd name="adj" fmla="val 25806"/>
            </a:avLst>
          </a:prstGeom>
          <a:solidFill>
            <a:srgbClr val="FFFFFF">
              <a:alpha val="30000"/>
            </a:srgbClr>
          </a:solidFill>
          <a:ln w="12700">
            <a:solidFill>
              <a:srgbClr val="536273">
                <a:alpha val="50000"/>
              </a:srgbClr>
            </a:solidFill>
            <a:prstDash val="solid"/>
          </a:ln>
        </p:spPr>
        <p:txBody>
          <a:bodyPr/>
          <a:lstStyle/>
          <a:p>
            <a:endParaRPr lang="en-US"/>
          </a:p>
        </p:txBody>
      </p:sp>
      <p:sp>
        <p:nvSpPr>
          <p:cNvPr id="35" name="Text 33">
            <a:hlinkClick r:id="rId11" action="ppaction://hlinksldjump"/>
          </p:cNvPr>
          <p:cNvSpPr/>
          <p:nvPr/>
        </p:nvSpPr>
        <p:spPr>
          <a:xfrm>
            <a:off x="10177272" y="6483096"/>
            <a:ext cx="713232" cy="182880"/>
          </a:xfrm>
          <a:prstGeom prst="rect">
            <a:avLst/>
          </a:prstGeom>
          <a:noFill/>
          <a:ln/>
        </p:spPr>
        <p:txBody>
          <a:bodyPr wrap="square" lIns="381" tIns="381" rIns="381" bIns="381" rtlCol="0" anchor="ctr">
            <a:normAutofit/>
          </a:bodyPr>
          <a:lstStyle/>
          <a:p>
            <a:pPr marL="0" indent="0" algn="ctr">
              <a:buNone/>
            </a:pPr>
            <a:r>
              <a:rPr lang="en-US" sz="800" b="1" u="sng" dirty="0">
                <a:solidFill>
                  <a:srgbClr val="2A3B50"/>
                </a:solidFill>
                <a:latin typeface="Arial" pitchFamily="34" charset="0"/>
                <a:ea typeface="Arial" pitchFamily="34" charset="-122"/>
                <a:cs typeface="Arial" pitchFamily="34" charset="-120"/>
                <a:hlinkClick r:id="rId11" action="ppaction://hlinksldjump">
                  <a:extLst>
                    <a:ext uri="{A12FA001-AC4F-418D-AE19-62706E023703}">
                      <ahyp:hlinkClr xmlns:ahyp="http://schemas.microsoft.com/office/drawing/2018/hyperlinkcolor" val="tx"/>
                    </a:ext>
                  </a:extLst>
                </a:hlinkClick>
              </a:rPr>
              <a:t>Lookup</a:t>
            </a:r>
            <a:endParaRPr lang="en-US" sz="800" dirty="0"/>
          </a:p>
        </p:txBody>
      </p:sp>
      <p:sp>
        <p:nvSpPr>
          <p:cNvPr id="36" name="Shape 34">
            <a:hlinkClick r:id="rId12" action="ppaction://hlinksldjump"/>
          </p:cNvPr>
          <p:cNvSpPr/>
          <p:nvPr/>
        </p:nvSpPr>
        <p:spPr>
          <a:xfrm>
            <a:off x="11000232" y="6455664"/>
            <a:ext cx="868680" cy="283464"/>
          </a:xfrm>
          <a:prstGeom prst="roundRect">
            <a:avLst>
              <a:gd name="adj" fmla="val 25806"/>
            </a:avLst>
          </a:prstGeom>
          <a:solidFill>
            <a:srgbClr val="132133"/>
          </a:solidFill>
          <a:ln w="12700">
            <a:solidFill>
              <a:srgbClr val="132133">
                <a:alpha val="0"/>
              </a:srgbClr>
            </a:solidFill>
            <a:prstDash val="solid"/>
          </a:ln>
        </p:spPr>
        <p:txBody>
          <a:bodyPr/>
          <a:lstStyle/>
          <a:p>
            <a:endParaRPr lang="en-US"/>
          </a:p>
        </p:txBody>
      </p:sp>
      <p:sp>
        <p:nvSpPr>
          <p:cNvPr id="37" name="Text 35">
            <a:hlinkClick r:id="rId12" action="ppaction://hlinksldjump"/>
          </p:cNvPr>
          <p:cNvSpPr/>
          <p:nvPr/>
        </p:nvSpPr>
        <p:spPr>
          <a:xfrm>
            <a:off x="11018520" y="6483096"/>
            <a:ext cx="832104" cy="182880"/>
          </a:xfrm>
          <a:prstGeom prst="rect">
            <a:avLst/>
          </a:prstGeom>
          <a:noFill/>
          <a:ln/>
        </p:spPr>
        <p:txBody>
          <a:bodyPr wrap="square" lIns="381" tIns="381" rIns="381" bIns="381" rtlCol="0" anchor="ctr">
            <a:normAutofit/>
          </a:bodyPr>
          <a:lstStyle/>
          <a:p>
            <a:pPr marL="0" indent="0" algn="ctr">
              <a:buNone/>
            </a:pPr>
            <a:r>
              <a:rPr lang="en-US" sz="770" b="1" u="sng" dirty="0">
                <a:solidFill>
                  <a:srgbClr val="FFFFFF"/>
                </a:solidFill>
                <a:latin typeface="Arial" pitchFamily="34" charset="0"/>
                <a:ea typeface="Arial" pitchFamily="34" charset="-122"/>
                <a:cs typeface="Arial" pitchFamily="34" charset="-120"/>
                <a:hlinkClick r:id="rId12" action="ppaction://hlinksldjump">
                  <a:extLst>
                    <a:ext uri="{A12FA001-AC4F-418D-AE19-62706E023703}">
                      <ahyp:hlinkClr xmlns:ahyp="http://schemas.microsoft.com/office/drawing/2018/hyperlinkcolor" val="tx"/>
                    </a:ext>
                  </a:extLst>
                </a:hlinkClick>
              </a:rPr>
              <a:t>Site Flow</a:t>
            </a:r>
            <a:endParaRPr lang="en-US" sz="770" dirty="0"/>
          </a:p>
        </p:txBody>
      </p:sp>
      <p:sp>
        <p:nvSpPr>
          <p:cNvPr id="38" name="Text 36"/>
          <p:cNvSpPr/>
          <p:nvPr/>
        </p:nvSpPr>
        <p:spPr>
          <a:xfrm>
            <a:off x="822960" y="2103120"/>
            <a:ext cx="9509760" cy="146304"/>
          </a:xfrm>
          <a:prstGeom prst="rect">
            <a:avLst/>
          </a:prstGeom>
          <a:noFill/>
          <a:ln/>
        </p:spPr>
        <p:txBody>
          <a:bodyPr wrap="square" lIns="381" tIns="381" rIns="381" bIns="381" rtlCol="0" anchor="ctr">
            <a:normAutofit/>
          </a:bodyPr>
          <a:lstStyle/>
          <a:p>
            <a:pPr marL="0" indent="0" algn="l">
              <a:buNone/>
            </a:pPr>
            <a:r>
              <a:rPr lang="en-US" sz="680" b="1" dirty="0">
                <a:solidFill>
                  <a:srgbClr val="276F7B"/>
                </a:solidFill>
                <a:latin typeface="Arial" pitchFamily="34" charset="0"/>
                <a:ea typeface="Arial" pitchFamily="34" charset="-122"/>
                <a:cs typeface="Arial" pitchFamily="34" charset="-120"/>
              </a:rPr>
              <a:t>GET IN TOUCH</a:t>
            </a:r>
            <a:endParaRPr lang="en-US" sz="680" dirty="0"/>
          </a:p>
        </p:txBody>
      </p:sp>
      <p:sp>
        <p:nvSpPr>
          <p:cNvPr id="39" name="Text 37"/>
          <p:cNvSpPr/>
          <p:nvPr/>
        </p:nvSpPr>
        <p:spPr>
          <a:xfrm>
            <a:off x="822960" y="2304288"/>
            <a:ext cx="9509760" cy="393192"/>
          </a:xfrm>
          <a:prstGeom prst="rect">
            <a:avLst/>
          </a:prstGeom>
          <a:noFill/>
          <a:ln/>
        </p:spPr>
        <p:txBody>
          <a:bodyPr wrap="square" lIns="381" tIns="381" rIns="381" bIns="381" rtlCol="0" anchor="ctr">
            <a:normAutofit/>
          </a:bodyPr>
          <a:lstStyle/>
          <a:p>
            <a:pPr marL="0" indent="0" algn="l">
              <a:buNone/>
            </a:pPr>
            <a:r>
              <a:rPr lang="en-US" sz="2000" dirty="0">
                <a:solidFill>
                  <a:srgbClr val="132133"/>
                </a:solidFill>
                <a:latin typeface="Georgia" pitchFamily="34" charset="0"/>
                <a:ea typeface="Georgia" pitchFamily="34" charset="-122"/>
                <a:cs typeface="Georgia" pitchFamily="34" charset="-120"/>
              </a:rPr>
              <a:t>Contact Moffat Bay Lodge</a:t>
            </a:r>
            <a:endParaRPr lang="en-US" sz="2000" dirty="0"/>
          </a:p>
        </p:txBody>
      </p:sp>
      <p:sp>
        <p:nvSpPr>
          <p:cNvPr id="40" name="Text 38"/>
          <p:cNvSpPr/>
          <p:nvPr/>
        </p:nvSpPr>
        <p:spPr>
          <a:xfrm>
            <a:off x="822960" y="2798064"/>
            <a:ext cx="9509760" cy="256032"/>
          </a:xfrm>
          <a:prstGeom prst="rect">
            <a:avLst/>
          </a:prstGeom>
          <a:noFill/>
          <a:ln/>
        </p:spPr>
        <p:txBody>
          <a:bodyPr wrap="square" lIns="381" tIns="381" rIns="381" bIns="381" rtlCol="0" anchor="t">
            <a:normAutofit/>
          </a:bodyPr>
          <a:lstStyle/>
          <a:p>
            <a:pPr marL="0" indent="0" algn="l">
              <a:buNone/>
            </a:pPr>
            <a:r>
              <a:rPr lang="en-US" sz="840" dirty="0">
                <a:solidFill>
                  <a:srgbClr val="2A3B50"/>
                </a:solidFill>
                <a:latin typeface="Arial" pitchFamily="34" charset="0"/>
                <a:ea typeface="Arial" pitchFamily="34" charset="-122"/>
                <a:cs typeface="Arial" pitchFamily="34" charset="-120"/>
              </a:rPr>
              <a:t>Questions about rooms, activities, reservations, or your upcoming stay? Our lodge team is here to help.</a:t>
            </a:r>
            <a:endParaRPr lang="en-US" sz="840" dirty="0"/>
          </a:p>
        </p:txBody>
      </p:sp>
      <p:sp>
        <p:nvSpPr>
          <p:cNvPr id="41" name="Shape 39"/>
          <p:cNvSpPr/>
          <p:nvPr/>
        </p:nvSpPr>
        <p:spPr>
          <a:xfrm>
            <a:off x="813816" y="3337560"/>
            <a:ext cx="4206240" cy="2697480"/>
          </a:xfrm>
          <a:prstGeom prst="roundRect">
            <a:avLst>
              <a:gd name="adj" fmla="val 3390"/>
            </a:avLst>
          </a:prstGeom>
          <a:solidFill>
            <a:srgbClr val="FFFFFF">
              <a:alpha val="90000"/>
            </a:srgbClr>
          </a:solidFill>
          <a:ln w="12700">
            <a:solidFill>
              <a:srgbClr val="E9DFCF">
                <a:alpha val="80000"/>
              </a:srgbClr>
            </a:solidFill>
            <a:prstDash val="solid"/>
          </a:ln>
          <a:effectLst>
            <a:outerShdw blurRad="12700" dist="8890" dir="2700000" algn="bl" rotWithShape="0">
              <a:srgbClr val="132133">
                <a:alpha val="7000"/>
              </a:srgbClr>
            </a:outerShdw>
          </a:effectLst>
        </p:spPr>
        <p:txBody>
          <a:bodyPr/>
          <a:lstStyle/>
          <a:p>
            <a:endParaRPr lang="en-US"/>
          </a:p>
        </p:txBody>
      </p:sp>
      <p:sp>
        <p:nvSpPr>
          <p:cNvPr id="42" name="Shape 40"/>
          <p:cNvSpPr/>
          <p:nvPr/>
        </p:nvSpPr>
        <p:spPr>
          <a:xfrm>
            <a:off x="822960" y="3337560"/>
            <a:ext cx="4206240" cy="54864"/>
          </a:xfrm>
          <a:prstGeom prst="rect">
            <a:avLst/>
          </a:prstGeom>
          <a:solidFill>
            <a:srgbClr val="2F8694"/>
          </a:solidFill>
          <a:ln w="12700">
            <a:solidFill>
              <a:srgbClr val="2F8694"/>
            </a:solidFill>
            <a:prstDash val="solid"/>
          </a:ln>
        </p:spPr>
        <p:txBody>
          <a:bodyPr/>
          <a:lstStyle/>
          <a:p>
            <a:endParaRPr lang="en-US"/>
          </a:p>
        </p:txBody>
      </p:sp>
      <p:sp>
        <p:nvSpPr>
          <p:cNvPr id="43" name="Text 41"/>
          <p:cNvSpPr/>
          <p:nvPr/>
        </p:nvSpPr>
        <p:spPr>
          <a:xfrm>
            <a:off x="987552" y="3502152"/>
            <a:ext cx="3877056" cy="292608"/>
          </a:xfrm>
          <a:prstGeom prst="rect">
            <a:avLst/>
          </a:prstGeom>
          <a:noFill/>
          <a:ln/>
        </p:spPr>
        <p:txBody>
          <a:bodyPr wrap="square" lIns="381" tIns="381" rIns="381" bIns="381" rtlCol="0" anchor="ctr">
            <a:normAutofit/>
          </a:bodyPr>
          <a:lstStyle/>
          <a:p>
            <a:pPr marL="0" indent="0" algn="l">
              <a:buNone/>
            </a:pPr>
            <a:r>
              <a:rPr lang="en-US" sz="1250" dirty="0">
                <a:solidFill>
                  <a:srgbClr val="132133"/>
                </a:solidFill>
                <a:latin typeface="Georgia" pitchFamily="34" charset="0"/>
                <a:ea typeface="Georgia" pitchFamily="34" charset="-122"/>
                <a:cs typeface="Georgia" pitchFamily="34" charset="-120"/>
              </a:rPr>
              <a:t>Lodge Contact Details</a:t>
            </a:r>
            <a:endParaRPr lang="en-US" sz="1250" dirty="0"/>
          </a:p>
        </p:txBody>
      </p:sp>
      <p:sp>
        <p:nvSpPr>
          <p:cNvPr id="44" name="Text 42"/>
          <p:cNvSpPr/>
          <p:nvPr/>
        </p:nvSpPr>
        <p:spPr>
          <a:xfrm>
            <a:off x="987552" y="3840480"/>
            <a:ext cx="3877056" cy="2039112"/>
          </a:xfrm>
          <a:prstGeom prst="rect">
            <a:avLst/>
          </a:prstGeom>
          <a:noFill/>
          <a:ln/>
        </p:spPr>
        <p:txBody>
          <a:bodyPr wrap="square" lIns="381" tIns="381" rIns="381" bIns="381" rtlCol="0" anchor="t">
            <a:normAutofit/>
          </a:bodyPr>
          <a:lstStyle/>
          <a:p>
            <a:pPr marL="0" indent="0" algn="l">
              <a:lnSpc>
                <a:spcPct val="150000"/>
              </a:lnSpc>
              <a:buNone/>
            </a:pPr>
            <a:r>
              <a:rPr lang="en-US" sz="680" dirty="0">
                <a:solidFill>
                  <a:srgbClr val="2A3B50"/>
                </a:solidFill>
                <a:latin typeface="Arial" pitchFamily="34" charset="0"/>
                <a:ea typeface="Arial" pitchFamily="34" charset="-122"/>
                <a:cs typeface="Arial" pitchFamily="34" charset="-120"/>
              </a:rPr>
              <a:t>Phone: (555) 410-2233</a:t>
            </a:r>
            <a:endParaRPr lang="en-US" sz="680" dirty="0"/>
          </a:p>
          <a:p>
            <a:pPr marL="0" indent="0" algn="l">
              <a:lnSpc>
                <a:spcPct val="150000"/>
              </a:lnSpc>
              <a:buNone/>
            </a:pPr>
            <a:r>
              <a:rPr lang="en-US" sz="680" dirty="0">
                <a:solidFill>
                  <a:srgbClr val="2A3B50"/>
                </a:solidFill>
                <a:latin typeface="Arial" pitchFamily="34" charset="0"/>
                <a:ea typeface="Arial" pitchFamily="34" charset="-122"/>
                <a:cs typeface="Arial" pitchFamily="34" charset="-120"/>
              </a:rPr>
              <a:t>Email: stay@moffatbaylodge.com</a:t>
            </a:r>
            <a:endParaRPr lang="en-US" sz="680" dirty="0"/>
          </a:p>
          <a:p>
            <a:pPr marL="0" indent="0" algn="l">
              <a:lnSpc>
                <a:spcPct val="150000"/>
              </a:lnSpc>
              <a:buNone/>
            </a:pPr>
            <a:r>
              <a:rPr lang="en-US" sz="680" dirty="0">
                <a:solidFill>
                  <a:srgbClr val="2A3B50"/>
                </a:solidFill>
                <a:latin typeface="Arial" pitchFamily="34" charset="0"/>
                <a:ea typeface="Arial" pitchFamily="34" charset="-122"/>
                <a:cs typeface="Arial" pitchFamily="34" charset="-120"/>
              </a:rPr>
              <a:t>Address: 14 Harbor Crest Road, Moffat Bay Island</a:t>
            </a:r>
            <a:endParaRPr lang="en-US" sz="680" dirty="0"/>
          </a:p>
          <a:p>
            <a:pPr marL="0" indent="0" algn="l">
              <a:lnSpc>
                <a:spcPct val="150000"/>
              </a:lnSpc>
              <a:buNone/>
            </a:pPr>
            <a:r>
              <a:rPr lang="en-US" sz="680" dirty="0">
                <a:solidFill>
                  <a:srgbClr val="2A3B50"/>
                </a:solidFill>
                <a:latin typeface="Arial" pitchFamily="34" charset="0"/>
                <a:ea typeface="Arial" pitchFamily="34" charset="-122"/>
                <a:cs typeface="Arial" pitchFamily="34" charset="-120"/>
              </a:rPr>
              <a:t>Front Desk Hours: 24/7</a:t>
            </a:r>
            <a:endParaRPr lang="en-US" sz="680" dirty="0"/>
          </a:p>
        </p:txBody>
      </p:sp>
      <p:sp>
        <p:nvSpPr>
          <p:cNvPr id="45" name="Shape 43">
            <a:hlinkClick r:id="rId5" action="ppaction://hlinksldjump"/>
          </p:cNvPr>
          <p:cNvSpPr/>
          <p:nvPr/>
        </p:nvSpPr>
        <p:spPr>
          <a:xfrm>
            <a:off x="1024128" y="5596128"/>
            <a:ext cx="868680" cy="310896"/>
          </a:xfrm>
          <a:prstGeom prst="roundRect">
            <a:avLst>
              <a:gd name="adj" fmla="val 35294"/>
            </a:avLst>
          </a:prstGeom>
          <a:solidFill>
            <a:srgbClr val="FFFFFF">
              <a:alpha val="30000"/>
            </a:srgbClr>
          </a:solidFill>
          <a:ln w="12700">
            <a:solidFill>
              <a:srgbClr val="536273">
                <a:alpha val="70000"/>
              </a:srgbClr>
            </a:solidFill>
            <a:prstDash val="solid"/>
          </a:ln>
        </p:spPr>
        <p:txBody>
          <a:bodyPr/>
          <a:lstStyle/>
          <a:p>
            <a:endParaRPr lang="en-US"/>
          </a:p>
        </p:txBody>
      </p:sp>
      <p:sp>
        <p:nvSpPr>
          <p:cNvPr id="46" name="Text 44">
            <a:hlinkClick r:id="rId5" action="ppaction://hlinksldjump"/>
          </p:cNvPr>
          <p:cNvSpPr/>
          <p:nvPr/>
        </p:nvSpPr>
        <p:spPr>
          <a:xfrm>
            <a:off x="1051560" y="5678424"/>
            <a:ext cx="813816" cy="109728"/>
          </a:xfrm>
          <a:prstGeom prst="rect">
            <a:avLst/>
          </a:prstGeom>
          <a:noFill/>
          <a:ln/>
        </p:spPr>
        <p:txBody>
          <a:bodyPr wrap="square" lIns="381" tIns="381" rIns="381" bIns="381" rtlCol="0" anchor="ctr">
            <a:normAutofit/>
          </a:bodyPr>
          <a:lstStyle/>
          <a:p>
            <a:pPr marL="0" indent="0" algn="ctr">
              <a:buNone/>
            </a:pPr>
            <a:r>
              <a:rPr lang="en-US" sz="640" b="1" u="sng" dirty="0">
                <a:solidFill>
                  <a:srgbClr val="132133"/>
                </a:solidFill>
                <a:latin typeface="Arial" pitchFamily="34" charset="0"/>
                <a:ea typeface="Arial" pitchFamily="34" charset="-122"/>
                <a:cs typeface="Arial" pitchFamily="34" charset="-120"/>
                <a:hlinkClick r:id="rId5" action="ppaction://hlinksldjump">
                  <a:extLst>
                    <a:ext uri="{A12FA001-AC4F-418D-AE19-62706E023703}">
                      <ahyp:hlinkClr xmlns:ahyp="http://schemas.microsoft.com/office/drawing/2018/hyperlinkcolor" val="tx"/>
                    </a:ext>
                  </a:extLst>
                </a:hlinkClick>
              </a:rPr>
              <a:t>View Rooms</a:t>
            </a:r>
            <a:endParaRPr lang="en-US" sz="640" dirty="0"/>
          </a:p>
        </p:txBody>
      </p:sp>
      <p:sp>
        <p:nvSpPr>
          <p:cNvPr id="47" name="Shape 45">
            <a:hlinkClick r:id="rId11" action="ppaction://hlinksldjump"/>
          </p:cNvPr>
          <p:cNvSpPr/>
          <p:nvPr/>
        </p:nvSpPr>
        <p:spPr>
          <a:xfrm>
            <a:off x="2029968" y="5596128"/>
            <a:ext cx="1234440" cy="310896"/>
          </a:xfrm>
          <a:prstGeom prst="roundRect">
            <a:avLst>
              <a:gd name="adj" fmla="val 35294"/>
            </a:avLst>
          </a:prstGeom>
          <a:solidFill>
            <a:srgbClr val="132133"/>
          </a:solidFill>
          <a:ln w="12700">
            <a:solidFill>
              <a:srgbClr val="132133">
                <a:alpha val="0"/>
              </a:srgbClr>
            </a:solidFill>
            <a:prstDash val="solid"/>
          </a:ln>
        </p:spPr>
        <p:txBody>
          <a:bodyPr/>
          <a:lstStyle/>
          <a:p>
            <a:endParaRPr lang="en-US"/>
          </a:p>
        </p:txBody>
      </p:sp>
      <p:sp>
        <p:nvSpPr>
          <p:cNvPr id="48" name="Text 46">
            <a:hlinkClick r:id="rId11" action="ppaction://hlinksldjump"/>
          </p:cNvPr>
          <p:cNvSpPr/>
          <p:nvPr/>
        </p:nvSpPr>
        <p:spPr>
          <a:xfrm>
            <a:off x="2057400" y="5678424"/>
            <a:ext cx="1179576" cy="109728"/>
          </a:xfrm>
          <a:prstGeom prst="rect">
            <a:avLst/>
          </a:prstGeom>
          <a:noFill/>
          <a:ln/>
        </p:spPr>
        <p:txBody>
          <a:bodyPr wrap="square" lIns="381" tIns="381" rIns="381" bIns="381" rtlCol="0" anchor="ctr">
            <a:normAutofit/>
          </a:bodyPr>
          <a:lstStyle/>
          <a:p>
            <a:pPr marL="0" indent="0" algn="ctr">
              <a:buNone/>
            </a:pPr>
            <a:r>
              <a:rPr lang="en-US" sz="640" b="1" u="sng" dirty="0">
                <a:solidFill>
                  <a:srgbClr val="FFFFFF"/>
                </a:solidFill>
                <a:latin typeface="Arial" pitchFamily="34" charset="0"/>
                <a:ea typeface="Arial" pitchFamily="34" charset="-122"/>
                <a:cs typeface="Arial" pitchFamily="34" charset="-120"/>
                <a:hlinkClick r:id="rId11" action="ppaction://hlinksldjump">
                  <a:extLst>
                    <a:ext uri="{A12FA001-AC4F-418D-AE19-62706E023703}">
                      <ahyp:hlinkClr xmlns:ahyp="http://schemas.microsoft.com/office/drawing/2018/hyperlinkcolor" val="tx"/>
                    </a:ext>
                  </a:extLst>
                </a:hlinkClick>
              </a:rPr>
              <a:t>Lookup Reservation</a:t>
            </a:r>
            <a:endParaRPr lang="en-US" sz="640" dirty="0"/>
          </a:p>
        </p:txBody>
      </p:sp>
      <p:sp>
        <p:nvSpPr>
          <p:cNvPr id="49" name="Shape 47"/>
          <p:cNvSpPr/>
          <p:nvPr/>
        </p:nvSpPr>
        <p:spPr>
          <a:xfrm>
            <a:off x="5394960" y="3337560"/>
            <a:ext cx="5349240" cy="2697480"/>
          </a:xfrm>
          <a:prstGeom prst="roundRect">
            <a:avLst>
              <a:gd name="adj" fmla="val 3390"/>
            </a:avLst>
          </a:prstGeom>
          <a:solidFill>
            <a:srgbClr val="FFFFFF">
              <a:alpha val="92000"/>
            </a:srgbClr>
          </a:solidFill>
          <a:ln w="12700">
            <a:solidFill>
              <a:srgbClr val="E9DFCF"/>
            </a:solidFill>
            <a:prstDash val="solid"/>
          </a:ln>
          <a:effectLst>
            <a:outerShdw blurRad="12700" dist="7620" dir="2700000" algn="bl" rotWithShape="0">
              <a:srgbClr val="132133">
                <a:alpha val="7000"/>
              </a:srgbClr>
            </a:outerShdw>
          </a:effectLst>
        </p:spPr>
        <p:txBody>
          <a:bodyPr/>
          <a:lstStyle/>
          <a:p>
            <a:endParaRPr lang="en-US"/>
          </a:p>
        </p:txBody>
      </p:sp>
      <p:sp>
        <p:nvSpPr>
          <p:cNvPr id="50" name="Text 48"/>
          <p:cNvSpPr/>
          <p:nvPr/>
        </p:nvSpPr>
        <p:spPr>
          <a:xfrm>
            <a:off x="5623560" y="3566160"/>
            <a:ext cx="2377440" cy="219456"/>
          </a:xfrm>
          <a:prstGeom prst="rect">
            <a:avLst/>
          </a:prstGeom>
          <a:noFill/>
          <a:ln/>
        </p:spPr>
        <p:txBody>
          <a:bodyPr wrap="square" lIns="381" tIns="381" rIns="381" bIns="381" rtlCol="0" anchor="ctr">
            <a:normAutofit/>
          </a:bodyPr>
          <a:lstStyle/>
          <a:p>
            <a:pPr marL="0" indent="0" algn="l">
              <a:buNone/>
            </a:pPr>
            <a:r>
              <a:rPr lang="en-US" sz="1300" dirty="0">
                <a:solidFill>
                  <a:srgbClr val="132133"/>
                </a:solidFill>
                <a:latin typeface="Georgia" pitchFamily="34" charset="0"/>
                <a:ea typeface="Georgia" pitchFamily="34" charset="-122"/>
                <a:cs typeface="Georgia" pitchFamily="34" charset="-120"/>
              </a:rPr>
              <a:t>Send an Inquiry</a:t>
            </a:r>
            <a:endParaRPr lang="en-US" sz="1300" dirty="0"/>
          </a:p>
        </p:txBody>
      </p:sp>
      <p:sp>
        <p:nvSpPr>
          <p:cNvPr id="51" name="Text 49"/>
          <p:cNvSpPr/>
          <p:nvPr/>
        </p:nvSpPr>
        <p:spPr>
          <a:xfrm>
            <a:off x="5623560" y="3959352"/>
            <a:ext cx="2331720" cy="100584"/>
          </a:xfrm>
          <a:prstGeom prst="rect">
            <a:avLst/>
          </a:prstGeom>
          <a:noFill/>
          <a:ln/>
        </p:spPr>
        <p:txBody>
          <a:bodyPr wrap="square" lIns="381" tIns="381" rIns="381" bIns="381" rtlCol="0" anchor="ctr">
            <a:normAutofit/>
          </a:bodyPr>
          <a:lstStyle/>
          <a:p>
            <a:pPr marL="0" indent="0" algn="l">
              <a:buNone/>
            </a:pPr>
            <a:r>
              <a:rPr lang="en-US" sz="530" b="1" dirty="0">
                <a:solidFill>
                  <a:srgbClr val="2A3B50"/>
                </a:solidFill>
                <a:latin typeface="Arial" pitchFamily="34" charset="0"/>
                <a:ea typeface="Arial" pitchFamily="34" charset="-122"/>
                <a:cs typeface="Arial" pitchFamily="34" charset="-120"/>
              </a:rPr>
              <a:t>Full Name</a:t>
            </a:r>
            <a:endParaRPr lang="en-US" sz="530" dirty="0"/>
          </a:p>
        </p:txBody>
      </p:sp>
      <p:sp>
        <p:nvSpPr>
          <p:cNvPr id="52" name="Shape 50"/>
          <p:cNvSpPr/>
          <p:nvPr/>
        </p:nvSpPr>
        <p:spPr>
          <a:xfrm>
            <a:off x="5623560" y="4087368"/>
            <a:ext cx="2331720" cy="310896"/>
          </a:xfrm>
          <a:prstGeom prst="roundRect">
            <a:avLst>
              <a:gd name="adj" fmla="val 11765"/>
            </a:avLst>
          </a:prstGeom>
          <a:solidFill>
            <a:srgbClr val="FFFFFF"/>
          </a:solidFill>
          <a:ln w="12700">
            <a:solidFill>
              <a:srgbClr val="B8C2C5">
                <a:alpha val="80000"/>
              </a:srgbClr>
            </a:solidFill>
            <a:prstDash val="solid"/>
          </a:ln>
        </p:spPr>
        <p:txBody>
          <a:bodyPr/>
          <a:lstStyle/>
          <a:p>
            <a:endParaRPr lang="en-US"/>
          </a:p>
        </p:txBody>
      </p:sp>
      <p:sp>
        <p:nvSpPr>
          <p:cNvPr id="53" name="Text 51"/>
          <p:cNvSpPr/>
          <p:nvPr/>
        </p:nvSpPr>
        <p:spPr>
          <a:xfrm>
            <a:off x="5696712" y="4178808"/>
            <a:ext cx="2185416" cy="82296"/>
          </a:xfrm>
          <a:prstGeom prst="rect">
            <a:avLst/>
          </a:prstGeom>
          <a:noFill/>
          <a:ln/>
        </p:spPr>
        <p:txBody>
          <a:bodyPr wrap="square" lIns="381" tIns="381" rIns="381" bIns="381" rtlCol="0" anchor="ctr">
            <a:normAutofit/>
          </a:bodyPr>
          <a:lstStyle/>
          <a:p>
            <a:pPr marL="0" indent="0" algn="l">
              <a:buNone/>
            </a:pPr>
            <a:r>
              <a:rPr lang="en-US" sz="510" dirty="0">
                <a:solidFill>
                  <a:srgbClr val="536273"/>
                </a:solidFill>
                <a:latin typeface="Arial" pitchFamily="34" charset="0"/>
                <a:ea typeface="Arial" pitchFamily="34" charset="-122"/>
                <a:cs typeface="Arial" pitchFamily="34" charset="-120"/>
              </a:rPr>
              <a:t>Your name</a:t>
            </a:r>
            <a:endParaRPr lang="en-US" sz="510" dirty="0"/>
          </a:p>
        </p:txBody>
      </p:sp>
      <p:sp>
        <p:nvSpPr>
          <p:cNvPr id="54" name="Text 52"/>
          <p:cNvSpPr/>
          <p:nvPr/>
        </p:nvSpPr>
        <p:spPr>
          <a:xfrm>
            <a:off x="8229600" y="3959352"/>
            <a:ext cx="2331720" cy="100584"/>
          </a:xfrm>
          <a:prstGeom prst="rect">
            <a:avLst/>
          </a:prstGeom>
          <a:noFill/>
          <a:ln/>
        </p:spPr>
        <p:txBody>
          <a:bodyPr wrap="square" lIns="381" tIns="381" rIns="381" bIns="381" rtlCol="0" anchor="ctr">
            <a:normAutofit/>
          </a:bodyPr>
          <a:lstStyle/>
          <a:p>
            <a:pPr marL="0" indent="0" algn="l">
              <a:buNone/>
            </a:pPr>
            <a:r>
              <a:rPr lang="en-US" sz="530" b="1" dirty="0">
                <a:solidFill>
                  <a:srgbClr val="2A3B50"/>
                </a:solidFill>
                <a:latin typeface="Arial" pitchFamily="34" charset="0"/>
                <a:ea typeface="Arial" pitchFamily="34" charset="-122"/>
                <a:cs typeface="Arial" pitchFamily="34" charset="-120"/>
              </a:rPr>
              <a:t>Email</a:t>
            </a:r>
            <a:endParaRPr lang="en-US" sz="530" dirty="0"/>
          </a:p>
        </p:txBody>
      </p:sp>
      <p:sp>
        <p:nvSpPr>
          <p:cNvPr id="55" name="Shape 53"/>
          <p:cNvSpPr/>
          <p:nvPr/>
        </p:nvSpPr>
        <p:spPr>
          <a:xfrm>
            <a:off x="8229600" y="4087368"/>
            <a:ext cx="2331720" cy="310896"/>
          </a:xfrm>
          <a:prstGeom prst="roundRect">
            <a:avLst>
              <a:gd name="adj" fmla="val 11765"/>
            </a:avLst>
          </a:prstGeom>
          <a:solidFill>
            <a:srgbClr val="FFFFFF"/>
          </a:solidFill>
          <a:ln w="12700">
            <a:solidFill>
              <a:srgbClr val="B8C2C5">
                <a:alpha val="80000"/>
              </a:srgbClr>
            </a:solidFill>
            <a:prstDash val="solid"/>
          </a:ln>
        </p:spPr>
        <p:txBody>
          <a:bodyPr/>
          <a:lstStyle/>
          <a:p>
            <a:endParaRPr lang="en-US"/>
          </a:p>
        </p:txBody>
      </p:sp>
      <p:sp>
        <p:nvSpPr>
          <p:cNvPr id="56" name="Text 54"/>
          <p:cNvSpPr/>
          <p:nvPr/>
        </p:nvSpPr>
        <p:spPr>
          <a:xfrm>
            <a:off x="8302752" y="4178808"/>
            <a:ext cx="2185416" cy="82296"/>
          </a:xfrm>
          <a:prstGeom prst="rect">
            <a:avLst/>
          </a:prstGeom>
          <a:noFill/>
          <a:ln/>
        </p:spPr>
        <p:txBody>
          <a:bodyPr wrap="square" lIns="381" tIns="381" rIns="381" bIns="381" rtlCol="0" anchor="ctr">
            <a:normAutofit/>
          </a:bodyPr>
          <a:lstStyle/>
          <a:p>
            <a:pPr marL="0" indent="0" algn="l">
              <a:buNone/>
            </a:pPr>
            <a:r>
              <a:rPr lang="en-US" sz="510" dirty="0">
                <a:solidFill>
                  <a:srgbClr val="536273"/>
                </a:solidFill>
                <a:latin typeface="Arial" pitchFamily="34" charset="0"/>
                <a:ea typeface="Arial" pitchFamily="34" charset="-122"/>
                <a:cs typeface="Arial" pitchFamily="34" charset="-120"/>
              </a:rPr>
              <a:t>you@example.com</a:t>
            </a:r>
            <a:endParaRPr lang="en-US" sz="510" dirty="0"/>
          </a:p>
        </p:txBody>
      </p:sp>
      <p:sp>
        <p:nvSpPr>
          <p:cNvPr id="57" name="Text 55"/>
          <p:cNvSpPr/>
          <p:nvPr/>
        </p:nvSpPr>
        <p:spPr>
          <a:xfrm>
            <a:off x="5623560" y="4645152"/>
            <a:ext cx="4937760" cy="100584"/>
          </a:xfrm>
          <a:prstGeom prst="rect">
            <a:avLst/>
          </a:prstGeom>
          <a:noFill/>
          <a:ln/>
        </p:spPr>
        <p:txBody>
          <a:bodyPr wrap="square" lIns="381" tIns="381" rIns="381" bIns="381" rtlCol="0" anchor="ctr">
            <a:normAutofit/>
          </a:bodyPr>
          <a:lstStyle/>
          <a:p>
            <a:pPr marL="0" indent="0" algn="l">
              <a:buNone/>
            </a:pPr>
            <a:r>
              <a:rPr lang="en-US" sz="530" b="1" dirty="0">
                <a:solidFill>
                  <a:srgbClr val="2A3B50"/>
                </a:solidFill>
                <a:latin typeface="Arial" pitchFamily="34" charset="0"/>
                <a:ea typeface="Arial" pitchFamily="34" charset="-122"/>
                <a:cs typeface="Arial" pitchFamily="34" charset="-120"/>
              </a:rPr>
              <a:t>Message</a:t>
            </a:r>
            <a:endParaRPr lang="en-US" sz="530" dirty="0"/>
          </a:p>
        </p:txBody>
      </p:sp>
      <p:sp>
        <p:nvSpPr>
          <p:cNvPr id="58" name="Shape 56"/>
          <p:cNvSpPr/>
          <p:nvPr/>
        </p:nvSpPr>
        <p:spPr>
          <a:xfrm>
            <a:off x="5623560" y="4773168"/>
            <a:ext cx="4937760" cy="713232"/>
          </a:xfrm>
          <a:prstGeom prst="roundRect">
            <a:avLst>
              <a:gd name="adj" fmla="val 5128"/>
            </a:avLst>
          </a:prstGeom>
          <a:solidFill>
            <a:srgbClr val="FFFFFF"/>
          </a:solidFill>
          <a:ln w="12700">
            <a:solidFill>
              <a:srgbClr val="B8C2C5">
                <a:alpha val="80000"/>
              </a:srgbClr>
            </a:solidFill>
            <a:prstDash val="solid"/>
          </a:ln>
        </p:spPr>
        <p:txBody>
          <a:bodyPr/>
          <a:lstStyle/>
          <a:p>
            <a:endParaRPr lang="en-US"/>
          </a:p>
        </p:txBody>
      </p:sp>
      <p:sp>
        <p:nvSpPr>
          <p:cNvPr id="59" name="Text 57"/>
          <p:cNvSpPr/>
          <p:nvPr/>
        </p:nvSpPr>
        <p:spPr>
          <a:xfrm>
            <a:off x="5696712" y="4864608"/>
            <a:ext cx="4791456" cy="82296"/>
          </a:xfrm>
          <a:prstGeom prst="rect">
            <a:avLst/>
          </a:prstGeom>
          <a:noFill/>
          <a:ln/>
        </p:spPr>
        <p:txBody>
          <a:bodyPr wrap="square" lIns="381" tIns="381" rIns="381" bIns="381" rtlCol="0" anchor="ctr">
            <a:normAutofit/>
          </a:bodyPr>
          <a:lstStyle/>
          <a:p>
            <a:pPr marL="0" indent="0" algn="l">
              <a:buNone/>
            </a:pPr>
            <a:r>
              <a:rPr lang="en-US" sz="510" dirty="0">
                <a:solidFill>
                  <a:srgbClr val="536273"/>
                </a:solidFill>
                <a:latin typeface="Arial" pitchFamily="34" charset="0"/>
                <a:ea typeface="Arial" pitchFamily="34" charset="-122"/>
                <a:cs typeface="Arial" pitchFamily="34" charset="-120"/>
              </a:rPr>
              <a:t>How can we help?</a:t>
            </a:r>
            <a:endParaRPr lang="en-US" sz="510" dirty="0"/>
          </a:p>
        </p:txBody>
      </p:sp>
      <p:sp>
        <p:nvSpPr>
          <p:cNvPr id="60" name="Shape 58">
            <a:hlinkClick r:id="rId7" action="ppaction://hlinksldjump"/>
          </p:cNvPr>
          <p:cNvSpPr/>
          <p:nvPr/>
        </p:nvSpPr>
        <p:spPr>
          <a:xfrm>
            <a:off x="5623560" y="5577840"/>
            <a:ext cx="1170432" cy="310896"/>
          </a:xfrm>
          <a:prstGeom prst="roundRect">
            <a:avLst>
              <a:gd name="adj" fmla="val 35294"/>
            </a:avLst>
          </a:prstGeom>
          <a:solidFill>
            <a:srgbClr val="CDA059"/>
          </a:solidFill>
          <a:ln w="12700">
            <a:solidFill>
              <a:srgbClr val="CDA059">
                <a:alpha val="0"/>
              </a:srgbClr>
            </a:solidFill>
            <a:prstDash val="solid"/>
          </a:ln>
        </p:spPr>
        <p:txBody>
          <a:bodyPr/>
          <a:lstStyle/>
          <a:p>
            <a:endParaRPr lang="en-US"/>
          </a:p>
        </p:txBody>
      </p:sp>
      <p:sp>
        <p:nvSpPr>
          <p:cNvPr id="61" name="Text 59">
            <a:hlinkClick r:id="rId7" action="ppaction://hlinksldjump"/>
          </p:cNvPr>
          <p:cNvSpPr/>
          <p:nvPr/>
        </p:nvSpPr>
        <p:spPr>
          <a:xfrm>
            <a:off x="5650992" y="5660136"/>
            <a:ext cx="1115568" cy="109728"/>
          </a:xfrm>
          <a:prstGeom prst="rect">
            <a:avLst/>
          </a:prstGeom>
          <a:noFill/>
          <a:ln/>
        </p:spPr>
        <p:txBody>
          <a:bodyPr wrap="square" lIns="381" tIns="381" rIns="381" bIns="381" rtlCol="0" anchor="ctr">
            <a:normAutofit/>
          </a:bodyPr>
          <a:lstStyle/>
          <a:p>
            <a:pPr marL="0" indent="0" algn="ctr">
              <a:buNone/>
            </a:pPr>
            <a:r>
              <a:rPr lang="en-US" sz="640" b="1" u="sng" dirty="0">
                <a:solidFill>
                  <a:srgbClr val="132133"/>
                </a:solidFill>
                <a:latin typeface="Arial" pitchFamily="34" charset="0"/>
                <a:ea typeface="Arial" pitchFamily="34" charset="-122"/>
                <a:cs typeface="Arial" pitchFamily="34" charset="-120"/>
                <a:hlinkClick r:id="rId7" action="ppaction://hlinksldjump">
                  <a:extLst>
                    <a:ext uri="{A12FA001-AC4F-418D-AE19-62706E023703}">
                      <ahyp:hlinkClr xmlns:ahyp="http://schemas.microsoft.com/office/drawing/2018/hyperlinkcolor" val="tx"/>
                    </a:ext>
                  </a:extLst>
                </a:hlinkClick>
              </a:rPr>
              <a:t>Send Message</a:t>
            </a:r>
            <a:endParaRPr lang="en-US" sz="64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28600"/>
            <a:ext cx="5943600" cy="365760"/>
          </a:xfrm>
          <a:prstGeom prst="rect">
            <a:avLst/>
          </a:prstGeom>
          <a:noFill/>
          <a:ln/>
        </p:spPr>
        <p:txBody>
          <a:bodyPr wrap="square" lIns="381" tIns="381" rIns="381" bIns="381" rtlCol="0" anchor="ctr">
            <a:normAutofit/>
          </a:bodyPr>
          <a:lstStyle/>
          <a:p>
            <a:pPr marL="0" indent="0" algn="l">
              <a:buNone/>
            </a:pPr>
            <a:r>
              <a:rPr lang="en-US" sz="2000" b="1" dirty="0">
                <a:solidFill>
                  <a:srgbClr val="132133"/>
                </a:solidFill>
                <a:latin typeface="Georgia" pitchFamily="34" charset="0"/>
                <a:ea typeface="Georgia" pitchFamily="34" charset="-122"/>
                <a:cs typeface="Georgia" pitchFamily="34" charset="-120"/>
              </a:rPr>
              <a:t>Login Page Prototype</a:t>
            </a:r>
            <a:endParaRPr lang="en-US" sz="2000" dirty="0"/>
          </a:p>
        </p:txBody>
      </p:sp>
      <p:sp>
        <p:nvSpPr>
          <p:cNvPr id="3" name="Text 1"/>
          <p:cNvSpPr/>
          <p:nvPr/>
        </p:nvSpPr>
        <p:spPr>
          <a:xfrm>
            <a:off x="512064" y="630936"/>
            <a:ext cx="6492240" cy="228600"/>
          </a:xfrm>
          <a:prstGeom prst="rect">
            <a:avLst/>
          </a:prstGeom>
          <a:noFill/>
          <a:ln/>
        </p:spPr>
        <p:txBody>
          <a:bodyPr wrap="square" lIns="381" tIns="381" rIns="381" bIns="381" rtlCol="0" anchor="ctr">
            <a:normAutofit/>
          </a:bodyPr>
          <a:lstStyle/>
          <a:p>
            <a:pPr marL="0" indent="0" algn="l">
              <a:buNone/>
            </a:pPr>
            <a:r>
              <a:rPr lang="en-US" sz="850" dirty="0">
                <a:solidFill>
                  <a:srgbClr val="536273"/>
                </a:solidFill>
                <a:latin typeface="Arial" pitchFamily="34" charset="0"/>
                <a:ea typeface="Arial" pitchFamily="34" charset="-122"/>
                <a:cs typeface="Arial" pitchFamily="34" charset="-120"/>
              </a:rPr>
              <a:t>Purpose: let returning guests sign in before confirming or managing reservations.</a:t>
            </a:r>
            <a:endParaRPr lang="en-US" sz="850" dirty="0"/>
          </a:p>
        </p:txBody>
      </p:sp>
      <p:sp>
        <p:nvSpPr>
          <p:cNvPr id="4" name="Text 2"/>
          <p:cNvSpPr/>
          <p:nvPr/>
        </p:nvSpPr>
        <p:spPr>
          <a:xfrm>
            <a:off x="8823960" y="256032"/>
            <a:ext cx="2743200" cy="228600"/>
          </a:xfrm>
          <a:prstGeom prst="rect">
            <a:avLst/>
          </a:prstGeom>
          <a:noFill/>
          <a:ln/>
        </p:spPr>
        <p:txBody>
          <a:bodyPr wrap="square" lIns="381" tIns="381" rIns="381" bIns="381" rtlCol="0" anchor="ctr">
            <a:normAutofit/>
          </a:bodyPr>
          <a:lstStyle/>
          <a:p>
            <a:pPr marL="0" indent="0" algn="r">
              <a:buNone/>
            </a:pPr>
            <a:r>
              <a:rPr lang="en-US" sz="800" b="1" dirty="0">
                <a:solidFill>
                  <a:srgbClr val="536273"/>
                </a:solidFill>
                <a:latin typeface="Arial" pitchFamily="34" charset="0"/>
                <a:ea typeface="Arial" pitchFamily="34" charset="-122"/>
                <a:cs typeface="Arial" pitchFamily="34" charset="-120"/>
              </a:rPr>
              <a:t>Moffat Bay Lodge Prototype</a:t>
            </a:r>
            <a:endParaRPr lang="en-US" sz="800" dirty="0"/>
          </a:p>
        </p:txBody>
      </p:sp>
      <p:sp>
        <p:nvSpPr>
          <p:cNvPr id="5" name="Shape 3"/>
          <p:cNvSpPr/>
          <p:nvPr/>
        </p:nvSpPr>
        <p:spPr>
          <a:xfrm>
            <a:off x="502920" y="896112"/>
            <a:ext cx="11201400" cy="5440680"/>
          </a:xfrm>
          <a:prstGeom prst="roundRect">
            <a:avLst>
              <a:gd name="adj" fmla="val 1513"/>
            </a:avLst>
          </a:prstGeom>
          <a:solidFill>
            <a:srgbClr val="FFFAF2"/>
          </a:solidFill>
          <a:ln w="12700">
            <a:solidFill>
              <a:srgbClr val="E9DFCF"/>
            </a:solidFill>
            <a:prstDash val="solid"/>
          </a:ln>
          <a:effectLst>
            <a:outerShdw blurRad="25400" dist="12700" dir="2700000" algn="bl" rotWithShape="0">
              <a:srgbClr val="132133">
                <a:alpha val="10000"/>
              </a:srgbClr>
            </a:outerShdw>
          </a:effectLst>
        </p:spPr>
        <p:txBody>
          <a:bodyPr/>
          <a:lstStyle/>
          <a:p>
            <a:endParaRPr lang="en-US"/>
          </a:p>
        </p:txBody>
      </p:sp>
      <p:sp>
        <p:nvSpPr>
          <p:cNvPr id="6" name="Shape 4"/>
          <p:cNvSpPr/>
          <p:nvPr/>
        </p:nvSpPr>
        <p:spPr>
          <a:xfrm>
            <a:off x="502920" y="896112"/>
            <a:ext cx="11201400" cy="384048"/>
          </a:xfrm>
          <a:prstGeom prst="rect">
            <a:avLst/>
          </a:prstGeom>
          <a:solidFill>
            <a:srgbClr val="FFFFFF"/>
          </a:solidFill>
          <a:ln w="12700">
            <a:solidFill>
              <a:srgbClr val="E9DFCF"/>
            </a:solidFill>
            <a:prstDash val="solid"/>
          </a:ln>
        </p:spPr>
        <p:txBody>
          <a:bodyPr/>
          <a:lstStyle/>
          <a:p>
            <a:endParaRPr lang="en-US"/>
          </a:p>
        </p:txBody>
      </p:sp>
      <p:sp>
        <p:nvSpPr>
          <p:cNvPr id="10" name="Shape 8"/>
          <p:cNvSpPr/>
          <p:nvPr/>
        </p:nvSpPr>
        <p:spPr>
          <a:xfrm>
            <a:off x="1280160" y="987552"/>
            <a:ext cx="3657600" cy="192024"/>
          </a:xfrm>
          <a:prstGeom prst="roundRect">
            <a:avLst>
              <a:gd name="adj" fmla="val 28571"/>
            </a:avLst>
          </a:prstGeom>
          <a:solidFill>
            <a:srgbClr val="F5EFE5"/>
          </a:solidFill>
          <a:ln w="12700">
            <a:solidFill>
              <a:srgbClr val="E9DFCF">
                <a:alpha val="80000"/>
              </a:srgbClr>
            </a:solidFill>
            <a:prstDash val="solid"/>
          </a:ln>
        </p:spPr>
        <p:txBody>
          <a:bodyPr/>
          <a:lstStyle/>
          <a:p>
            <a:endParaRPr lang="en-US"/>
          </a:p>
        </p:txBody>
      </p:sp>
      <p:sp>
        <p:nvSpPr>
          <p:cNvPr id="11" name="Text 9"/>
          <p:cNvSpPr/>
          <p:nvPr/>
        </p:nvSpPr>
        <p:spPr>
          <a:xfrm>
            <a:off x="1408176" y="1014984"/>
            <a:ext cx="3337560" cy="109728"/>
          </a:xfrm>
          <a:prstGeom prst="rect">
            <a:avLst/>
          </a:prstGeom>
          <a:noFill/>
          <a:ln/>
        </p:spPr>
        <p:txBody>
          <a:bodyPr wrap="square" lIns="381" tIns="381" rIns="381" bIns="381" rtlCol="0" anchor="ctr">
            <a:normAutofit/>
          </a:bodyPr>
          <a:lstStyle/>
          <a:p>
            <a:pPr marL="0" indent="0" algn="l">
              <a:buNone/>
            </a:pPr>
            <a:r>
              <a:rPr lang="en-US" sz="550" dirty="0">
                <a:solidFill>
                  <a:srgbClr val="536273"/>
                </a:solidFill>
                <a:latin typeface="Arial" pitchFamily="34" charset="0"/>
                <a:ea typeface="Arial" pitchFamily="34" charset="-122"/>
                <a:cs typeface="Arial" pitchFamily="34" charset="-120"/>
              </a:rPr>
              <a:t>moffatbaylodge.com/login.html</a:t>
            </a:r>
            <a:endParaRPr lang="en-US" sz="550" dirty="0"/>
          </a:p>
        </p:txBody>
      </p:sp>
      <p:sp>
        <p:nvSpPr>
          <p:cNvPr id="12" name="Shape 10"/>
          <p:cNvSpPr/>
          <p:nvPr/>
        </p:nvSpPr>
        <p:spPr>
          <a:xfrm>
            <a:off x="502920" y="1280160"/>
            <a:ext cx="11201400" cy="530352"/>
          </a:xfrm>
          <a:prstGeom prst="rect">
            <a:avLst/>
          </a:prstGeom>
          <a:solidFill>
            <a:srgbClr val="FAF5EC"/>
          </a:solidFill>
          <a:ln w="12700">
            <a:solidFill>
              <a:srgbClr val="E9DFCF">
                <a:alpha val="90000"/>
              </a:srgbClr>
            </a:solidFill>
            <a:prstDash val="solid"/>
          </a:ln>
        </p:spPr>
        <p:txBody>
          <a:bodyPr/>
          <a:lstStyle/>
          <a:p>
            <a:endParaRPr lang="en-US"/>
          </a:p>
        </p:txBody>
      </p:sp>
      <p:sp>
        <p:nvSpPr>
          <p:cNvPr id="13" name="Shape 11"/>
          <p:cNvSpPr/>
          <p:nvPr/>
        </p:nvSpPr>
        <p:spPr>
          <a:xfrm>
            <a:off x="731520" y="1399032"/>
            <a:ext cx="256032" cy="256032"/>
          </a:xfrm>
          <a:prstGeom prst="ellipse">
            <a:avLst/>
          </a:prstGeom>
          <a:solidFill>
            <a:srgbClr val="276F7B"/>
          </a:solidFill>
          <a:ln w="12700">
            <a:solidFill>
              <a:srgbClr val="276F7B"/>
            </a:solidFill>
            <a:prstDash val="solid"/>
          </a:ln>
        </p:spPr>
        <p:txBody>
          <a:bodyPr/>
          <a:lstStyle/>
          <a:p>
            <a:endParaRPr lang="en-US"/>
          </a:p>
        </p:txBody>
      </p:sp>
      <p:sp>
        <p:nvSpPr>
          <p:cNvPr id="14" name="Text 12"/>
          <p:cNvSpPr/>
          <p:nvPr/>
        </p:nvSpPr>
        <p:spPr>
          <a:xfrm>
            <a:off x="731520" y="1426464"/>
            <a:ext cx="256032" cy="109728"/>
          </a:xfrm>
          <a:prstGeom prst="rect">
            <a:avLst/>
          </a:prstGeom>
          <a:noFill/>
          <a:ln/>
        </p:spPr>
        <p:txBody>
          <a:bodyPr wrap="square" lIns="381" tIns="381" rIns="381" bIns="381" rtlCol="0" anchor="ctr">
            <a:normAutofit/>
          </a:bodyPr>
          <a:lstStyle/>
          <a:p>
            <a:pPr marL="0" indent="0" algn="ctr">
              <a:buNone/>
            </a:pPr>
            <a:r>
              <a:rPr lang="en-US" sz="700" b="1" dirty="0">
                <a:solidFill>
                  <a:srgbClr val="FFFFFF"/>
                </a:solidFill>
                <a:latin typeface="Georgia" pitchFamily="34" charset="0"/>
                <a:ea typeface="Georgia" pitchFamily="34" charset="-122"/>
                <a:cs typeface="Georgia" pitchFamily="34" charset="-120"/>
              </a:rPr>
              <a:t>MB</a:t>
            </a:r>
            <a:endParaRPr lang="en-US" sz="700" dirty="0"/>
          </a:p>
        </p:txBody>
      </p:sp>
      <p:sp>
        <p:nvSpPr>
          <p:cNvPr id="15" name="Text 13"/>
          <p:cNvSpPr/>
          <p:nvPr/>
        </p:nvSpPr>
        <p:spPr>
          <a:xfrm>
            <a:off x="1069848" y="1435608"/>
            <a:ext cx="1691640" cy="118872"/>
          </a:xfrm>
          <a:prstGeom prst="rect">
            <a:avLst/>
          </a:prstGeom>
          <a:noFill/>
          <a:ln/>
        </p:spPr>
        <p:txBody>
          <a:bodyPr wrap="square" lIns="381" tIns="381" rIns="381" bIns="381" rtlCol="0" anchor="ctr">
            <a:normAutofit/>
          </a:bodyPr>
          <a:lstStyle/>
          <a:p>
            <a:pPr marL="0" indent="0" algn="l">
              <a:buNone/>
            </a:pPr>
            <a:r>
              <a:rPr lang="en-US" sz="680" b="1" dirty="0">
                <a:solidFill>
                  <a:srgbClr val="132133"/>
                </a:solidFill>
                <a:latin typeface="Arial" pitchFamily="34" charset="0"/>
                <a:ea typeface="Arial" pitchFamily="34" charset="-122"/>
                <a:cs typeface="Arial" pitchFamily="34" charset="-120"/>
              </a:rPr>
              <a:t>MOFFAT BAY LODGE</a:t>
            </a:r>
            <a:endParaRPr lang="en-US" sz="680" dirty="0"/>
          </a:p>
        </p:txBody>
      </p:sp>
      <p:sp>
        <p:nvSpPr>
          <p:cNvPr id="16" name="Text 14">
            <a:hlinkClick r:id="rId3" action="ppaction://hlinksldjump"/>
          </p:cNvPr>
          <p:cNvSpPr/>
          <p:nvPr/>
        </p:nvSpPr>
        <p:spPr>
          <a:xfrm>
            <a:off x="3291840" y="1453896"/>
            <a:ext cx="402336" cy="118872"/>
          </a:xfrm>
          <a:prstGeom prst="rect">
            <a:avLst/>
          </a:prstGeom>
          <a:noFill/>
          <a:ln/>
        </p:spPr>
        <p:txBody>
          <a:bodyPr wrap="square" lIns="381" tIns="381" rIns="381" bIns="381" rtlCol="0" anchor="ctr">
            <a:normAutofit/>
          </a:bodyPr>
          <a:lstStyle/>
          <a:p>
            <a:pPr marL="0" indent="0" algn="ctr">
              <a:buNone/>
            </a:pPr>
            <a:r>
              <a:rPr lang="en-US" sz="640" b="1" u="sng" dirty="0">
                <a:solidFill>
                  <a:srgbClr val="2A3B50"/>
                </a:solidFill>
                <a:latin typeface="Arial" pitchFamily="34" charset="0"/>
                <a:ea typeface="Arial" pitchFamily="34" charset="-122"/>
                <a:cs typeface="Arial" pitchFamily="34" charset="-120"/>
                <a:hlinkClick r:id="rId3" action="ppaction://hlinksldjump">
                  <a:extLst>
                    <a:ext uri="{A12FA001-AC4F-418D-AE19-62706E023703}">
                      <ahyp:hlinkClr xmlns:ahyp="http://schemas.microsoft.com/office/drawing/2018/hyperlinkcolor" val="tx"/>
                    </a:ext>
                  </a:extLst>
                </a:hlinkClick>
              </a:rPr>
              <a:t>Home</a:t>
            </a:r>
            <a:endParaRPr lang="en-US" sz="640" dirty="0"/>
          </a:p>
        </p:txBody>
      </p:sp>
      <p:sp>
        <p:nvSpPr>
          <p:cNvPr id="17" name="Text 15">
            <a:hlinkClick r:id="rId4" action="ppaction://hlinksldjump"/>
          </p:cNvPr>
          <p:cNvSpPr/>
          <p:nvPr/>
        </p:nvSpPr>
        <p:spPr>
          <a:xfrm>
            <a:off x="3895344" y="1453896"/>
            <a:ext cx="420624" cy="118872"/>
          </a:xfrm>
          <a:prstGeom prst="rect">
            <a:avLst/>
          </a:prstGeom>
          <a:noFill/>
          <a:ln/>
        </p:spPr>
        <p:txBody>
          <a:bodyPr wrap="square" lIns="381" tIns="381" rIns="381" bIns="381" rtlCol="0" anchor="ctr">
            <a:normAutofit/>
          </a:bodyPr>
          <a:lstStyle/>
          <a:p>
            <a:pPr marL="0" indent="0" algn="ctr">
              <a:buNone/>
            </a:pPr>
            <a:r>
              <a:rPr lang="en-US" sz="640" b="1" u="sng" dirty="0">
                <a:solidFill>
                  <a:srgbClr val="2A3B50"/>
                </a:solidFill>
                <a:latin typeface="Arial" pitchFamily="34" charset="0"/>
                <a:ea typeface="Arial" pitchFamily="34" charset="-122"/>
                <a:cs typeface="Arial" pitchFamily="34" charset="-120"/>
                <a:hlinkClick r:id="rId4" action="ppaction://hlinksldjump">
                  <a:extLst>
                    <a:ext uri="{A12FA001-AC4F-418D-AE19-62706E023703}">
                      <ahyp:hlinkClr xmlns:ahyp="http://schemas.microsoft.com/office/drawing/2018/hyperlinkcolor" val="tx"/>
                    </a:ext>
                  </a:extLst>
                </a:hlinkClick>
              </a:rPr>
              <a:t>About</a:t>
            </a:r>
            <a:endParaRPr lang="en-US" sz="640" dirty="0"/>
          </a:p>
        </p:txBody>
      </p:sp>
      <p:sp>
        <p:nvSpPr>
          <p:cNvPr id="18" name="Text 16">
            <a:hlinkClick r:id="rId5" action="ppaction://hlinksldjump"/>
          </p:cNvPr>
          <p:cNvSpPr/>
          <p:nvPr/>
        </p:nvSpPr>
        <p:spPr>
          <a:xfrm>
            <a:off x="4517136" y="1453896"/>
            <a:ext cx="960120" cy="118872"/>
          </a:xfrm>
          <a:prstGeom prst="rect">
            <a:avLst/>
          </a:prstGeom>
          <a:noFill/>
          <a:ln/>
        </p:spPr>
        <p:txBody>
          <a:bodyPr wrap="square" lIns="381" tIns="381" rIns="381" bIns="381" rtlCol="0" anchor="ctr">
            <a:normAutofit/>
          </a:bodyPr>
          <a:lstStyle/>
          <a:p>
            <a:pPr marL="0" indent="0" algn="ctr">
              <a:buNone/>
            </a:pPr>
            <a:r>
              <a:rPr lang="en-US" sz="640" b="1" u="sng" dirty="0">
                <a:solidFill>
                  <a:srgbClr val="2A3B50"/>
                </a:solidFill>
                <a:latin typeface="Arial" pitchFamily="34" charset="0"/>
                <a:ea typeface="Arial" pitchFamily="34" charset="-122"/>
                <a:cs typeface="Arial" pitchFamily="34" charset="-120"/>
                <a:hlinkClick r:id="rId5" action="ppaction://hlinksldjump">
                  <a:extLst>
                    <a:ext uri="{A12FA001-AC4F-418D-AE19-62706E023703}">
                      <ahyp:hlinkClr xmlns:ahyp="http://schemas.microsoft.com/office/drawing/2018/hyperlinkcolor" val="tx"/>
                    </a:ext>
                  </a:extLst>
                </a:hlinkClick>
              </a:rPr>
              <a:t>Rooms &amp; Pricing</a:t>
            </a:r>
            <a:endParaRPr lang="en-US" sz="640" dirty="0"/>
          </a:p>
        </p:txBody>
      </p:sp>
      <p:sp>
        <p:nvSpPr>
          <p:cNvPr id="19" name="Text 17">
            <a:hlinkClick r:id="rId6" action="ppaction://hlinksldjump"/>
          </p:cNvPr>
          <p:cNvSpPr/>
          <p:nvPr/>
        </p:nvSpPr>
        <p:spPr>
          <a:xfrm>
            <a:off x="5678424" y="1453896"/>
            <a:ext cx="685800" cy="118872"/>
          </a:xfrm>
          <a:prstGeom prst="rect">
            <a:avLst/>
          </a:prstGeom>
          <a:noFill/>
          <a:ln/>
        </p:spPr>
        <p:txBody>
          <a:bodyPr wrap="square" lIns="381" tIns="381" rIns="381" bIns="381" rtlCol="0" anchor="ctr">
            <a:normAutofit/>
          </a:bodyPr>
          <a:lstStyle/>
          <a:p>
            <a:pPr marL="0" indent="0" algn="ctr">
              <a:buNone/>
            </a:pPr>
            <a:r>
              <a:rPr lang="en-US" sz="640" b="1" u="sng" dirty="0">
                <a:solidFill>
                  <a:srgbClr val="2A3B50"/>
                </a:solidFill>
                <a:latin typeface="Arial" pitchFamily="34" charset="0"/>
                <a:ea typeface="Arial" pitchFamily="34" charset="-122"/>
                <a:cs typeface="Arial" pitchFamily="34" charset="-120"/>
                <a:hlinkClick r:id="rId6" action="ppaction://hlinksldjump">
                  <a:extLst>
                    <a:ext uri="{A12FA001-AC4F-418D-AE19-62706E023703}">
                      <ahyp:hlinkClr xmlns:ahyp="http://schemas.microsoft.com/office/drawing/2018/hyperlinkcolor" val="tx"/>
                    </a:ext>
                  </a:extLst>
                </a:hlinkClick>
              </a:rPr>
              <a:t>Attractions</a:t>
            </a:r>
            <a:endParaRPr lang="en-US" sz="640" dirty="0"/>
          </a:p>
        </p:txBody>
      </p:sp>
      <p:sp>
        <p:nvSpPr>
          <p:cNvPr id="20" name="Text 18">
            <a:hlinkClick r:id="rId7" action="ppaction://hlinksldjump"/>
          </p:cNvPr>
          <p:cNvSpPr/>
          <p:nvPr/>
        </p:nvSpPr>
        <p:spPr>
          <a:xfrm>
            <a:off x="6565392" y="1453896"/>
            <a:ext cx="475488" cy="118872"/>
          </a:xfrm>
          <a:prstGeom prst="rect">
            <a:avLst/>
          </a:prstGeom>
          <a:noFill/>
          <a:ln/>
        </p:spPr>
        <p:txBody>
          <a:bodyPr wrap="square" lIns="381" tIns="381" rIns="381" bIns="381" rtlCol="0" anchor="ctr">
            <a:normAutofit/>
          </a:bodyPr>
          <a:lstStyle/>
          <a:p>
            <a:pPr marL="0" indent="0" algn="ctr">
              <a:buNone/>
            </a:pPr>
            <a:r>
              <a:rPr lang="en-US" sz="640" b="1" u="sng" dirty="0">
                <a:solidFill>
                  <a:srgbClr val="2A3B50"/>
                </a:solidFill>
                <a:latin typeface="Arial" pitchFamily="34" charset="0"/>
                <a:ea typeface="Arial" pitchFamily="34" charset="-122"/>
                <a:cs typeface="Arial" pitchFamily="34" charset="-120"/>
                <a:hlinkClick r:id="rId7" action="ppaction://hlinksldjump">
                  <a:extLst>
                    <a:ext uri="{A12FA001-AC4F-418D-AE19-62706E023703}">
                      <ahyp:hlinkClr xmlns:ahyp="http://schemas.microsoft.com/office/drawing/2018/hyperlinkcolor" val="tx"/>
                    </a:ext>
                  </a:extLst>
                </a:hlinkClick>
              </a:rPr>
              <a:t>Contact</a:t>
            </a:r>
            <a:endParaRPr lang="en-US" sz="640" dirty="0"/>
          </a:p>
        </p:txBody>
      </p:sp>
      <p:sp>
        <p:nvSpPr>
          <p:cNvPr id="21" name="Text 19">
            <a:hlinkClick r:id="rId8" action="ppaction://hlinksldjump"/>
          </p:cNvPr>
          <p:cNvSpPr/>
          <p:nvPr/>
        </p:nvSpPr>
        <p:spPr>
          <a:xfrm>
            <a:off x="7242048" y="1453896"/>
            <a:ext cx="420624" cy="118872"/>
          </a:xfrm>
          <a:prstGeom prst="rect">
            <a:avLst/>
          </a:prstGeom>
          <a:noFill/>
          <a:ln/>
        </p:spPr>
        <p:txBody>
          <a:bodyPr wrap="square" lIns="381" tIns="381" rIns="381" bIns="381" rtlCol="0" anchor="ctr">
            <a:normAutofit/>
          </a:bodyPr>
          <a:lstStyle/>
          <a:p>
            <a:pPr marL="0" indent="0" algn="ctr">
              <a:buNone/>
            </a:pPr>
            <a:r>
              <a:rPr lang="en-US" sz="640" b="1" u="sng" dirty="0">
                <a:solidFill>
                  <a:srgbClr val="2A3B50"/>
                </a:solidFill>
                <a:latin typeface="Arial" pitchFamily="34" charset="0"/>
                <a:ea typeface="Arial" pitchFamily="34" charset="-122"/>
                <a:cs typeface="Arial" pitchFamily="34" charset="-120"/>
                <a:hlinkClick r:id="rId8" action="ppaction://hlinksldjump">
                  <a:extLst>
                    <a:ext uri="{A12FA001-AC4F-418D-AE19-62706E023703}">
                      <ahyp:hlinkClr xmlns:ahyp="http://schemas.microsoft.com/office/drawing/2018/hyperlinkcolor" val="tx"/>
                    </a:ext>
                  </a:extLst>
                </a:hlinkClick>
              </a:rPr>
              <a:t>Book</a:t>
            </a:r>
            <a:endParaRPr lang="en-US" sz="640" dirty="0"/>
          </a:p>
        </p:txBody>
      </p:sp>
      <p:sp>
        <p:nvSpPr>
          <p:cNvPr id="22" name="Shape 20">
            <a:hlinkClick r:id="rId9" action="ppaction://hlinksldjump"/>
          </p:cNvPr>
          <p:cNvSpPr/>
          <p:nvPr/>
        </p:nvSpPr>
        <p:spPr>
          <a:xfrm>
            <a:off x="10378440" y="1417320"/>
            <a:ext cx="530352" cy="283464"/>
          </a:xfrm>
          <a:prstGeom prst="roundRect">
            <a:avLst>
              <a:gd name="adj" fmla="val 25806"/>
            </a:avLst>
          </a:prstGeom>
          <a:solidFill>
            <a:srgbClr val="132133"/>
          </a:solidFill>
          <a:ln w="12700">
            <a:solidFill>
              <a:srgbClr val="132133">
                <a:alpha val="0"/>
              </a:srgbClr>
            </a:solidFill>
            <a:prstDash val="solid"/>
          </a:ln>
        </p:spPr>
        <p:txBody>
          <a:bodyPr/>
          <a:lstStyle/>
          <a:p>
            <a:endParaRPr lang="en-US"/>
          </a:p>
        </p:txBody>
      </p:sp>
      <p:sp>
        <p:nvSpPr>
          <p:cNvPr id="23" name="Text 21">
            <a:hlinkClick r:id="rId9" action="ppaction://hlinksldjump"/>
          </p:cNvPr>
          <p:cNvSpPr/>
          <p:nvPr/>
        </p:nvSpPr>
        <p:spPr>
          <a:xfrm>
            <a:off x="10396728" y="1444752"/>
            <a:ext cx="493776" cy="182880"/>
          </a:xfrm>
          <a:prstGeom prst="rect">
            <a:avLst/>
          </a:prstGeom>
          <a:noFill/>
          <a:ln/>
        </p:spPr>
        <p:txBody>
          <a:bodyPr wrap="square" lIns="381" tIns="381" rIns="381" bIns="381" rtlCol="0" anchor="ctr">
            <a:normAutofit/>
          </a:bodyPr>
          <a:lstStyle/>
          <a:p>
            <a:pPr marL="0" indent="0" algn="ctr">
              <a:buNone/>
            </a:pPr>
            <a:r>
              <a:rPr lang="en-US" sz="600" b="1" u="sng" dirty="0">
                <a:solidFill>
                  <a:srgbClr val="FFFFFF"/>
                </a:solidFill>
                <a:latin typeface="Arial" pitchFamily="34" charset="0"/>
                <a:ea typeface="Arial" pitchFamily="34" charset="-122"/>
                <a:cs typeface="Arial" pitchFamily="34" charset="-120"/>
                <a:hlinkClick r:id="rId9" action="ppaction://hlinksldjump">
                  <a:extLst>
                    <a:ext uri="{A12FA001-AC4F-418D-AE19-62706E023703}">
                      <ahyp:hlinkClr xmlns:ahyp="http://schemas.microsoft.com/office/drawing/2018/hyperlinkcolor" val="tx"/>
                    </a:ext>
                  </a:extLst>
                </a:hlinkClick>
              </a:rPr>
              <a:t>Login</a:t>
            </a:r>
            <a:endParaRPr lang="en-US" sz="600" dirty="0"/>
          </a:p>
        </p:txBody>
      </p:sp>
      <p:sp>
        <p:nvSpPr>
          <p:cNvPr id="24" name="Shape 22">
            <a:hlinkClick r:id="rId10" action="ppaction://hlinksldjump"/>
          </p:cNvPr>
          <p:cNvSpPr/>
          <p:nvPr/>
        </p:nvSpPr>
        <p:spPr>
          <a:xfrm>
            <a:off x="10991088" y="1417320"/>
            <a:ext cx="585216" cy="283464"/>
          </a:xfrm>
          <a:prstGeom prst="roundRect">
            <a:avLst>
              <a:gd name="adj" fmla="val 25806"/>
            </a:avLst>
          </a:prstGeom>
          <a:solidFill>
            <a:srgbClr val="276F7B"/>
          </a:solidFill>
          <a:ln w="12700">
            <a:solidFill>
              <a:srgbClr val="276F7B">
                <a:alpha val="0"/>
              </a:srgbClr>
            </a:solidFill>
            <a:prstDash val="solid"/>
          </a:ln>
        </p:spPr>
        <p:txBody>
          <a:bodyPr/>
          <a:lstStyle/>
          <a:p>
            <a:endParaRPr lang="en-US"/>
          </a:p>
        </p:txBody>
      </p:sp>
      <p:sp>
        <p:nvSpPr>
          <p:cNvPr id="25" name="Text 23">
            <a:hlinkClick r:id="rId10" action="ppaction://hlinksldjump"/>
          </p:cNvPr>
          <p:cNvSpPr/>
          <p:nvPr/>
        </p:nvSpPr>
        <p:spPr>
          <a:xfrm>
            <a:off x="11009376" y="1444752"/>
            <a:ext cx="548640" cy="182880"/>
          </a:xfrm>
          <a:prstGeom prst="rect">
            <a:avLst/>
          </a:prstGeom>
          <a:noFill/>
          <a:ln/>
        </p:spPr>
        <p:txBody>
          <a:bodyPr wrap="square" lIns="381" tIns="381" rIns="381" bIns="381" rtlCol="0" anchor="ctr">
            <a:normAutofit/>
          </a:bodyPr>
          <a:lstStyle/>
          <a:p>
            <a:pPr marL="0" indent="0" algn="ctr">
              <a:buNone/>
            </a:pPr>
            <a:r>
              <a:rPr lang="en-US" sz="600" b="1" u="sng" dirty="0">
                <a:solidFill>
                  <a:srgbClr val="FFFFFF"/>
                </a:solidFill>
                <a:latin typeface="Arial" pitchFamily="34" charset="0"/>
                <a:ea typeface="Arial" pitchFamily="34" charset="-122"/>
                <a:cs typeface="Arial" pitchFamily="34" charset="-120"/>
                <a:hlinkClick r:id="rId10" action="ppaction://hlinksldjump">
                  <a:extLst>
                    <a:ext uri="{A12FA001-AC4F-418D-AE19-62706E023703}">
                      <ahyp:hlinkClr xmlns:ahyp="http://schemas.microsoft.com/office/drawing/2018/hyperlinkcolor" val="tx"/>
                    </a:ext>
                  </a:extLst>
                </a:hlinkClick>
              </a:rPr>
              <a:t>Register</a:t>
            </a:r>
            <a:endParaRPr lang="en-US" sz="600" dirty="0"/>
          </a:p>
        </p:txBody>
      </p:sp>
      <p:sp>
        <p:nvSpPr>
          <p:cNvPr id="26" name="Text 24"/>
          <p:cNvSpPr/>
          <p:nvPr/>
        </p:nvSpPr>
        <p:spPr>
          <a:xfrm>
            <a:off x="502920" y="6510528"/>
            <a:ext cx="6400800" cy="201168"/>
          </a:xfrm>
          <a:prstGeom prst="rect">
            <a:avLst/>
          </a:prstGeom>
          <a:noFill/>
          <a:ln/>
        </p:spPr>
        <p:txBody>
          <a:bodyPr wrap="square" lIns="381" tIns="381" rIns="381" bIns="381" rtlCol="0" anchor="ctr">
            <a:normAutofit/>
          </a:bodyPr>
          <a:lstStyle/>
          <a:p>
            <a:pPr marL="0" indent="0" algn="l">
              <a:buNone/>
            </a:pPr>
            <a:r>
              <a:rPr lang="en-US" sz="710" dirty="0">
                <a:solidFill>
                  <a:srgbClr val="536273"/>
                </a:solidFill>
                <a:latin typeface="Arial" pitchFamily="34" charset="0"/>
                <a:ea typeface="Arial" pitchFamily="34" charset="-122"/>
                <a:cs typeface="Arial" pitchFamily="34" charset="-120"/>
              </a:rPr>
              <a:t>Slide 8 | Editable components | Use Slide Show mode to click through the prototype</a:t>
            </a:r>
            <a:endParaRPr lang="en-US" sz="710" dirty="0"/>
          </a:p>
        </p:txBody>
      </p:sp>
      <p:sp>
        <p:nvSpPr>
          <p:cNvPr id="27" name="Shape 25">
            <a:hlinkClick r:id="rId3" action="ppaction://hlinksldjump"/>
          </p:cNvPr>
          <p:cNvSpPr/>
          <p:nvPr/>
        </p:nvSpPr>
        <p:spPr>
          <a:xfrm>
            <a:off x="7635240" y="6455664"/>
            <a:ext cx="749808" cy="283464"/>
          </a:xfrm>
          <a:prstGeom prst="roundRect">
            <a:avLst>
              <a:gd name="adj" fmla="val 25806"/>
            </a:avLst>
          </a:prstGeom>
          <a:solidFill>
            <a:srgbClr val="FFFFFF">
              <a:alpha val="30000"/>
            </a:srgbClr>
          </a:solidFill>
          <a:ln w="12700">
            <a:solidFill>
              <a:srgbClr val="536273">
                <a:alpha val="50000"/>
              </a:srgbClr>
            </a:solidFill>
            <a:prstDash val="solid"/>
          </a:ln>
        </p:spPr>
        <p:txBody>
          <a:bodyPr/>
          <a:lstStyle/>
          <a:p>
            <a:endParaRPr lang="en-US"/>
          </a:p>
        </p:txBody>
      </p:sp>
      <p:sp>
        <p:nvSpPr>
          <p:cNvPr id="28" name="Text 26">
            <a:hlinkClick r:id="rId3" action="ppaction://hlinksldjump"/>
          </p:cNvPr>
          <p:cNvSpPr/>
          <p:nvPr/>
        </p:nvSpPr>
        <p:spPr>
          <a:xfrm>
            <a:off x="7653528" y="6483096"/>
            <a:ext cx="713232" cy="182880"/>
          </a:xfrm>
          <a:prstGeom prst="rect">
            <a:avLst/>
          </a:prstGeom>
          <a:noFill/>
          <a:ln/>
        </p:spPr>
        <p:txBody>
          <a:bodyPr wrap="square" lIns="381" tIns="381" rIns="381" bIns="381" rtlCol="0" anchor="ctr">
            <a:normAutofit/>
          </a:bodyPr>
          <a:lstStyle/>
          <a:p>
            <a:pPr marL="0" indent="0" algn="ctr">
              <a:buNone/>
            </a:pPr>
            <a:r>
              <a:rPr lang="en-US" sz="800" b="1" u="sng" dirty="0">
                <a:solidFill>
                  <a:srgbClr val="2A3B50"/>
                </a:solidFill>
                <a:latin typeface="Arial" pitchFamily="34" charset="0"/>
                <a:ea typeface="Arial" pitchFamily="34" charset="-122"/>
                <a:cs typeface="Arial" pitchFamily="34" charset="-120"/>
                <a:hlinkClick r:id="rId3" action="ppaction://hlinksldjump">
                  <a:extLst>
                    <a:ext uri="{A12FA001-AC4F-418D-AE19-62706E023703}">
                      <ahyp:hlinkClr xmlns:ahyp="http://schemas.microsoft.com/office/drawing/2018/hyperlinkcolor" val="tx"/>
                    </a:ext>
                  </a:extLst>
                </a:hlinkClick>
              </a:rPr>
              <a:t>Home</a:t>
            </a:r>
            <a:endParaRPr lang="en-US" sz="800" dirty="0"/>
          </a:p>
        </p:txBody>
      </p:sp>
      <p:sp>
        <p:nvSpPr>
          <p:cNvPr id="29" name="Shape 27">
            <a:hlinkClick r:id="rId5" action="ppaction://hlinksldjump"/>
          </p:cNvPr>
          <p:cNvSpPr/>
          <p:nvPr/>
        </p:nvSpPr>
        <p:spPr>
          <a:xfrm>
            <a:off x="8476488" y="6455664"/>
            <a:ext cx="749808" cy="283464"/>
          </a:xfrm>
          <a:prstGeom prst="roundRect">
            <a:avLst>
              <a:gd name="adj" fmla="val 25806"/>
            </a:avLst>
          </a:prstGeom>
          <a:solidFill>
            <a:srgbClr val="FFFFFF">
              <a:alpha val="30000"/>
            </a:srgbClr>
          </a:solidFill>
          <a:ln w="12700">
            <a:solidFill>
              <a:srgbClr val="536273">
                <a:alpha val="50000"/>
              </a:srgbClr>
            </a:solidFill>
            <a:prstDash val="solid"/>
          </a:ln>
        </p:spPr>
        <p:txBody>
          <a:bodyPr/>
          <a:lstStyle/>
          <a:p>
            <a:endParaRPr lang="en-US"/>
          </a:p>
        </p:txBody>
      </p:sp>
      <p:sp>
        <p:nvSpPr>
          <p:cNvPr id="30" name="Text 28">
            <a:hlinkClick r:id="rId5" action="ppaction://hlinksldjump"/>
          </p:cNvPr>
          <p:cNvSpPr/>
          <p:nvPr/>
        </p:nvSpPr>
        <p:spPr>
          <a:xfrm>
            <a:off x="8494776" y="6483096"/>
            <a:ext cx="713232" cy="182880"/>
          </a:xfrm>
          <a:prstGeom prst="rect">
            <a:avLst/>
          </a:prstGeom>
          <a:noFill/>
          <a:ln/>
        </p:spPr>
        <p:txBody>
          <a:bodyPr wrap="square" lIns="381" tIns="381" rIns="381" bIns="381" rtlCol="0" anchor="ctr">
            <a:normAutofit/>
          </a:bodyPr>
          <a:lstStyle/>
          <a:p>
            <a:pPr marL="0" indent="0" algn="ctr">
              <a:buNone/>
            </a:pPr>
            <a:r>
              <a:rPr lang="en-US" sz="800" b="1" u="sng" dirty="0">
                <a:solidFill>
                  <a:srgbClr val="2A3B50"/>
                </a:solidFill>
                <a:latin typeface="Arial" pitchFamily="34" charset="0"/>
                <a:ea typeface="Arial" pitchFamily="34" charset="-122"/>
                <a:cs typeface="Arial" pitchFamily="34" charset="-120"/>
                <a:hlinkClick r:id="rId5" action="ppaction://hlinksldjump">
                  <a:extLst>
                    <a:ext uri="{A12FA001-AC4F-418D-AE19-62706E023703}">
                      <ahyp:hlinkClr xmlns:ahyp="http://schemas.microsoft.com/office/drawing/2018/hyperlinkcolor" val="tx"/>
                    </a:ext>
                  </a:extLst>
                </a:hlinkClick>
              </a:rPr>
              <a:t>Rooms</a:t>
            </a:r>
            <a:endParaRPr lang="en-US" sz="800" dirty="0"/>
          </a:p>
        </p:txBody>
      </p:sp>
      <p:sp>
        <p:nvSpPr>
          <p:cNvPr id="31" name="Shape 29">
            <a:hlinkClick r:id="rId8" action="ppaction://hlinksldjump"/>
          </p:cNvPr>
          <p:cNvSpPr/>
          <p:nvPr/>
        </p:nvSpPr>
        <p:spPr>
          <a:xfrm>
            <a:off x="9317736" y="6455664"/>
            <a:ext cx="749808" cy="283464"/>
          </a:xfrm>
          <a:prstGeom prst="roundRect">
            <a:avLst>
              <a:gd name="adj" fmla="val 25806"/>
            </a:avLst>
          </a:prstGeom>
          <a:solidFill>
            <a:srgbClr val="FFFFFF">
              <a:alpha val="30000"/>
            </a:srgbClr>
          </a:solidFill>
          <a:ln w="12700">
            <a:solidFill>
              <a:srgbClr val="536273">
                <a:alpha val="50000"/>
              </a:srgbClr>
            </a:solidFill>
            <a:prstDash val="solid"/>
          </a:ln>
        </p:spPr>
        <p:txBody>
          <a:bodyPr/>
          <a:lstStyle/>
          <a:p>
            <a:endParaRPr lang="en-US"/>
          </a:p>
        </p:txBody>
      </p:sp>
      <p:sp>
        <p:nvSpPr>
          <p:cNvPr id="32" name="Text 30">
            <a:hlinkClick r:id="rId8" action="ppaction://hlinksldjump"/>
          </p:cNvPr>
          <p:cNvSpPr/>
          <p:nvPr/>
        </p:nvSpPr>
        <p:spPr>
          <a:xfrm>
            <a:off x="9336024" y="6483096"/>
            <a:ext cx="713232" cy="182880"/>
          </a:xfrm>
          <a:prstGeom prst="rect">
            <a:avLst/>
          </a:prstGeom>
          <a:noFill/>
          <a:ln/>
        </p:spPr>
        <p:txBody>
          <a:bodyPr wrap="square" lIns="381" tIns="381" rIns="381" bIns="381" rtlCol="0" anchor="ctr">
            <a:normAutofit/>
          </a:bodyPr>
          <a:lstStyle/>
          <a:p>
            <a:pPr marL="0" indent="0" algn="ctr">
              <a:buNone/>
            </a:pPr>
            <a:r>
              <a:rPr lang="en-US" sz="800" b="1" u="sng" dirty="0">
                <a:solidFill>
                  <a:srgbClr val="2A3B50"/>
                </a:solidFill>
                <a:latin typeface="Arial" pitchFamily="34" charset="0"/>
                <a:ea typeface="Arial" pitchFamily="34" charset="-122"/>
                <a:cs typeface="Arial" pitchFamily="34" charset="-120"/>
                <a:hlinkClick r:id="rId8" action="ppaction://hlinksldjump">
                  <a:extLst>
                    <a:ext uri="{A12FA001-AC4F-418D-AE19-62706E023703}">
                      <ahyp:hlinkClr xmlns:ahyp="http://schemas.microsoft.com/office/drawing/2018/hyperlinkcolor" val="tx"/>
                    </a:ext>
                  </a:extLst>
                </a:hlinkClick>
              </a:rPr>
              <a:t>Book</a:t>
            </a:r>
            <a:endParaRPr lang="en-US" sz="800" dirty="0"/>
          </a:p>
        </p:txBody>
      </p:sp>
      <p:sp>
        <p:nvSpPr>
          <p:cNvPr id="33" name="Shape 31">
            <a:hlinkClick r:id="rId11" action="ppaction://hlinksldjump"/>
          </p:cNvPr>
          <p:cNvSpPr/>
          <p:nvPr/>
        </p:nvSpPr>
        <p:spPr>
          <a:xfrm>
            <a:off x="10158984" y="6455664"/>
            <a:ext cx="749808" cy="283464"/>
          </a:xfrm>
          <a:prstGeom prst="roundRect">
            <a:avLst>
              <a:gd name="adj" fmla="val 25806"/>
            </a:avLst>
          </a:prstGeom>
          <a:solidFill>
            <a:srgbClr val="FFFFFF">
              <a:alpha val="30000"/>
            </a:srgbClr>
          </a:solidFill>
          <a:ln w="12700">
            <a:solidFill>
              <a:srgbClr val="536273">
                <a:alpha val="50000"/>
              </a:srgbClr>
            </a:solidFill>
            <a:prstDash val="solid"/>
          </a:ln>
        </p:spPr>
        <p:txBody>
          <a:bodyPr/>
          <a:lstStyle/>
          <a:p>
            <a:endParaRPr lang="en-US"/>
          </a:p>
        </p:txBody>
      </p:sp>
      <p:sp>
        <p:nvSpPr>
          <p:cNvPr id="34" name="Text 32">
            <a:hlinkClick r:id="rId11" action="ppaction://hlinksldjump"/>
          </p:cNvPr>
          <p:cNvSpPr/>
          <p:nvPr/>
        </p:nvSpPr>
        <p:spPr>
          <a:xfrm>
            <a:off x="10177272" y="6483096"/>
            <a:ext cx="713232" cy="182880"/>
          </a:xfrm>
          <a:prstGeom prst="rect">
            <a:avLst/>
          </a:prstGeom>
          <a:noFill/>
          <a:ln/>
        </p:spPr>
        <p:txBody>
          <a:bodyPr wrap="square" lIns="381" tIns="381" rIns="381" bIns="381" rtlCol="0" anchor="ctr">
            <a:normAutofit/>
          </a:bodyPr>
          <a:lstStyle/>
          <a:p>
            <a:pPr marL="0" indent="0" algn="ctr">
              <a:buNone/>
            </a:pPr>
            <a:r>
              <a:rPr lang="en-US" sz="800" b="1" u="sng" dirty="0">
                <a:solidFill>
                  <a:srgbClr val="2A3B50"/>
                </a:solidFill>
                <a:latin typeface="Arial" pitchFamily="34" charset="0"/>
                <a:ea typeface="Arial" pitchFamily="34" charset="-122"/>
                <a:cs typeface="Arial" pitchFamily="34" charset="-120"/>
                <a:hlinkClick r:id="rId11" action="ppaction://hlinksldjump">
                  <a:extLst>
                    <a:ext uri="{A12FA001-AC4F-418D-AE19-62706E023703}">
                      <ahyp:hlinkClr xmlns:ahyp="http://schemas.microsoft.com/office/drawing/2018/hyperlinkcolor" val="tx"/>
                    </a:ext>
                  </a:extLst>
                </a:hlinkClick>
              </a:rPr>
              <a:t>Lookup</a:t>
            </a:r>
            <a:endParaRPr lang="en-US" sz="800" dirty="0"/>
          </a:p>
        </p:txBody>
      </p:sp>
      <p:sp>
        <p:nvSpPr>
          <p:cNvPr id="35" name="Shape 33">
            <a:hlinkClick r:id="rId12" action="ppaction://hlinksldjump"/>
          </p:cNvPr>
          <p:cNvSpPr/>
          <p:nvPr/>
        </p:nvSpPr>
        <p:spPr>
          <a:xfrm>
            <a:off x="11000232" y="6455664"/>
            <a:ext cx="868680" cy="283464"/>
          </a:xfrm>
          <a:prstGeom prst="roundRect">
            <a:avLst>
              <a:gd name="adj" fmla="val 25806"/>
            </a:avLst>
          </a:prstGeom>
          <a:solidFill>
            <a:srgbClr val="132133"/>
          </a:solidFill>
          <a:ln w="12700">
            <a:solidFill>
              <a:srgbClr val="132133">
                <a:alpha val="0"/>
              </a:srgbClr>
            </a:solidFill>
            <a:prstDash val="solid"/>
          </a:ln>
        </p:spPr>
        <p:txBody>
          <a:bodyPr/>
          <a:lstStyle/>
          <a:p>
            <a:endParaRPr lang="en-US"/>
          </a:p>
        </p:txBody>
      </p:sp>
      <p:sp>
        <p:nvSpPr>
          <p:cNvPr id="36" name="Text 34">
            <a:hlinkClick r:id="rId12" action="ppaction://hlinksldjump"/>
          </p:cNvPr>
          <p:cNvSpPr/>
          <p:nvPr/>
        </p:nvSpPr>
        <p:spPr>
          <a:xfrm>
            <a:off x="11018520" y="6483096"/>
            <a:ext cx="832104" cy="182880"/>
          </a:xfrm>
          <a:prstGeom prst="rect">
            <a:avLst/>
          </a:prstGeom>
          <a:noFill/>
          <a:ln/>
        </p:spPr>
        <p:txBody>
          <a:bodyPr wrap="square" lIns="381" tIns="381" rIns="381" bIns="381" rtlCol="0" anchor="ctr">
            <a:normAutofit/>
          </a:bodyPr>
          <a:lstStyle/>
          <a:p>
            <a:pPr marL="0" indent="0" algn="ctr">
              <a:buNone/>
            </a:pPr>
            <a:r>
              <a:rPr lang="en-US" sz="770" b="1" u="sng" dirty="0">
                <a:solidFill>
                  <a:srgbClr val="FFFFFF"/>
                </a:solidFill>
                <a:latin typeface="Arial" pitchFamily="34" charset="0"/>
                <a:ea typeface="Arial" pitchFamily="34" charset="-122"/>
                <a:cs typeface="Arial" pitchFamily="34" charset="-120"/>
                <a:hlinkClick r:id="rId12" action="ppaction://hlinksldjump">
                  <a:extLst>
                    <a:ext uri="{A12FA001-AC4F-418D-AE19-62706E023703}">
                      <ahyp:hlinkClr xmlns:ahyp="http://schemas.microsoft.com/office/drawing/2018/hyperlinkcolor" val="tx"/>
                    </a:ext>
                  </a:extLst>
                </a:hlinkClick>
              </a:rPr>
              <a:t>Site Flow</a:t>
            </a:r>
            <a:endParaRPr lang="en-US" sz="770" dirty="0"/>
          </a:p>
        </p:txBody>
      </p:sp>
      <p:sp>
        <p:nvSpPr>
          <p:cNvPr id="37" name="Text 35"/>
          <p:cNvSpPr/>
          <p:nvPr/>
        </p:nvSpPr>
        <p:spPr>
          <a:xfrm>
            <a:off x="822960" y="2103120"/>
            <a:ext cx="9509760" cy="146304"/>
          </a:xfrm>
          <a:prstGeom prst="rect">
            <a:avLst/>
          </a:prstGeom>
          <a:noFill/>
          <a:ln/>
        </p:spPr>
        <p:txBody>
          <a:bodyPr wrap="square" lIns="381" tIns="381" rIns="381" bIns="381" rtlCol="0" anchor="ctr">
            <a:normAutofit/>
          </a:bodyPr>
          <a:lstStyle/>
          <a:p>
            <a:pPr marL="0" indent="0" algn="l">
              <a:buNone/>
            </a:pPr>
            <a:r>
              <a:rPr lang="en-US" sz="680" b="1" dirty="0">
                <a:solidFill>
                  <a:srgbClr val="276F7B"/>
                </a:solidFill>
                <a:latin typeface="Arial" pitchFamily="34" charset="0"/>
                <a:ea typeface="Arial" pitchFamily="34" charset="-122"/>
                <a:cs typeface="Arial" pitchFamily="34" charset="-120"/>
              </a:rPr>
              <a:t>GUEST ACCESS</a:t>
            </a:r>
            <a:endParaRPr lang="en-US" sz="680" dirty="0"/>
          </a:p>
        </p:txBody>
      </p:sp>
      <p:sp>
        <p:nvSpPr>
          <p:cNvPr id="38" name="Text 36"/>
          <p:cNvSpPr/>
          <p:nvPr/>
        </p:nvSpPr>
        <p:spPr>
          <a:xfrm>
            <a:off x="822960" y="2304288"/>
            <a:ext cx="9509760" cy="393192"/>
          </a:xfrm>
          <a:prstGeom prst="rect">
            <a:avLst/>
          </a:prstGeom>
          <a:noFill/>
          <a:ln/>
        </p:spPr>
        <p:txBody>
          <a:bodyPr wrap="square" lIns="381" tIns="381" rIns="381" bIns="381" rtlCol="0" anchor="ctr">
            <a:normAutofit/>
          </a:bodyPr>
          <a:lstStyle/>
          <a:p>
            <a:pPr marL="0" indent="0" algn="l">
              <a:buNone/>
            </a:pPr>
            <a:r>
              <a:rPr lang="en-US" sz="2000" dirty="0">
                <a:solidFill>
                  <a:srgbClr val="132133"/>
                </a:solidFill>
                <a:latin typeface="Georgia" pitchFamily="34" charset="0"/>
                <a:ea typeface="Georgia" pitchFamily="34" charset="-122"/>
                <a:cs typeface="Georgia" pitchFamily="34" charset="-120"/>
              </a:rPr>
              <a:t>Welcome Back</a:t>
            </a:r>
            <a:endParaRPr lang="en-US" sz="2000" dirty="0"/>
          </a:p>
        </p:txBody>
      </p:sp>
      <p:sp>
        <p:nvSpPr>
          <p:cNvPr id="39" name="Text 37"/>
          <p:cNvSpPr/>
          <p:nvPr/>
        </p:nvSpPr>
        <p:spPr>
          <a:xfrm>
            <a:off x="822960" y="2798064"/>
            <a:ext cx="9509760" cy="256032"/>
          </a:xfrm>
          <a:prstGeom prst="rect">
            <a:avLst/>
          </a:prstGeom>
          <a:noFill/>
          <a:ln/>
        </p:spPr>
        <p:txBody>
          <a:bodyPr wrap="square" lIns="381" tIns="381" rIns="381" bIns="381" rtlCol="0" anchor="t">
            <a:normAutofit/>
          </a:bodyPr>
          <a:lstStyle/>
          <a:p>
            <a:pPr marL="0" indent="0" algn="l">
              <a:buNone/>
            </a:pPr>
            <a:r>
              <a:rPr lang="en-US" sz="840" dirty="0">
                <a:solidFill>
                  <a:srgbClr val="2A3B50"/>
                </a:solidFill>
                <a:latin typeface="Arial" pitchFamily="34" charset="0"/>
                <a:ea typeface="Arial" pitchFamily="34" charset="-122"/>
                <a:cs typeface="Arial" pitchFamily="34" charset="-120"/>
              </a:rPr>
              <a:t>Log in with your email and password to continue to your Moffat Bay Lodge reservation.</a:t>
            </a:r>
            <a:endParaRPr lang="en-US" sz="840" dirty="0"/>
          </a:p>
        </p:txBody>
      </p:sp>
      <p:sp>
        <p:nvSpPr>
          <p:cNvPr id="40" name="Shape 38"/>
          <p:cNvSpPr/>
          <p:nvPr/>
        </p:nvSpPr>
        <p:spPr>
          <a:xfrm>
            <a:off x="822960" y="3337560"/>
            <a:ext cx="4800600" cy="2423160"/>
          </a:xfrm>
          <a:prstGeom prst="roundRect">
            <a:avLst>
              <a:gd name="adj" fmla="val 3774"/>
            </a:avLst>
          </a:prstGeom>
          <a:solidFill>
            <a:srgbClr val="FFFFFF">
              <a:alpha val="92000"/>
            </a:srgbClr>
          </a:solidFill>
          <a:ln w="12700">
            <a:solidFill>
              <a:srgbClr val="E9DFCF"/>
            </a:solidFill>
            <a:prstDash val="solid"/>
          </a:ln>
          <a:effectLst>
            <a:outerShdw blurRad="12700" dist="7620" dir="2700000" algn="bl" rotWithShape="0">
              <a:srgbClr val="132133">
                <a:alpha val="7000"/>
              </a:srgbClr>
            </a:outerShdw>
          </a:effectLst>
        </p:spPr>
        <p:txBody>
          <a:bodyPr/>
          <a:lstStyle/>
          <a:p>
            <a:endParaRPr lang="en-US"/>
          </a:p>
        </p:txBody>
      </p:sp>
      <p:sp>
        <p:nvSpPr>
          <p:cNvPr id="41" name="Text 39"/>
          <p:cNvSpPr/>
          <p:nvPr/>
        </p:nvSpPr>
        <p:spPr>
          <a:xfrm>
            <a:off x="1051560" y="3566160"/>
            <a:ext cx="2103120" cy="219456"/>
          </a:xfrm>
          <a:prstGeom prst="rect">
            <a:avLst/>
          </a:prstGeom>
          <a:noFill/>
          <a:ln/>
        </p:spPr>
        <p:txBody>
          <a:bodyPr wrap="square" lIns="381" tIns="381" rIns="381" bIns="381" rtlCol="0" anchor="ctr">
            <a:normAutofit/>
          </a:bodyPr>
          <a:lstStyle/>
          <a:p>
            <a:pPr marL="0" indent="0" algn="l">
              <a:buNone/>
            </a:pPr>
            <a:r>
              <a:rPr lang="en-US" sz="1300" dirty="0">
                <a:solidFill>
                  <a:srgbClr val="132133"/>
                </a:solidFill>
                <a:latin typeface="Georgia" pitchFamily="34" charset="0"/>
                <a:ea typeface="Georgia" pitchFamily="34" charset="-122"/>
                <a:cs typeface="Georgia" pitchFamily="34" charset="-120"/>
              </a:rPr>
              <a:t>Login</a:t>
            </a:r>
            <a:endParaRPr lang="en-US" sz="1300" dirty="0"/>
          </a:p>
        </p:txBody>
      </p:sp>
      <p:sp>
        <p:nvSpPr>
          <p:cNvPr id="42" name="Text 40"/>
          <p:cNvSpPr/>
          <p:nvPr/>
        </p:nvSpPr>
        <p:spPr>
          <a:xfrm>
            <a:off x="1051560" y="3977640"/>
            <a:ext cx="4343400" cy="100584"/>
          </a:xfrm>
          <a:prstGeom prst="rect">
            <a:avLst/>
          </a:prstGeom>
          <a:noFill/>
          <a:ln/>
        </p:spPr>
        <p:txBody>
          <a:bodyPr wrap="square" lIns="381" tIns="381" rIns="381" bIns="381" rtlCol="0" anchor="ctr">
            <a:normAutofit/>
          </a:bodyPr>
          <a:lstStyle/>
          <a:p>
            <a:pPr marL="0" indent="0" algn="l">
              <a:buNone/>
            </a:pPr>
            <a:r>
              <a:rPr lang="en-US" sz="530" b="1" dirty="0">
                <a:solidFill>
                  <a:srgbClr val="2A3B50"/>
                </a:solidFill>
                <a:latin typeface="Arial" pitchFamily="34" charset="0"/>
                <a:ea typeface="Arial" pitchFamily="34" charset="-122"/>
                <a:cs typeface="Arial" pitchFamily="34" charset="-120"/>
              </a:rPr>
              <a:t>Email Address</a:t>
            </a:r>
            <a:endParaRPr lang="en-US" sz="530" dirty="0"/>
          </a:p>
        </p:txBody>
      </p:sp>
      <p:sp>
        <p:nvSpPr>
          <p:cNvPr id="43" name="Shape 41"/>
          <p:cNvSpPr/>
          <p:nvPr/>
        </p:nvSpPr>
        <p:spPr>
          <a:xfrm>
            <a:off x="1051560" y="4105656"/>
            <a:ext cx="4343400" cy="310896"/>
          </a:xfrm>
          <a:prstGeom prst="roundRect">
            <a:avLst>
              <a:gd name="adj" fmla="val 11765"/>
            </a:avLst>
          </a:prstGeom>
          <a:solidFill>
            <a:srgbClr val="FFFFFF"/>
          </a:solidFill>
          <a:ln w="12700">
            <a:solidFill>
              <a:srgbClr val="B8C2C5">
                <a:alpha val="80000"/>
              </a:srgbClr>
            </a:solidFill>
            <a:prstDash val="solid"/>
          </a:ln>
        </p:spPr>
        <p:txBody>
          <a:bodyPr/>
          <a:lstStyle/>
          <a:p>
            <a:endParaRPr lang="en-US"/>
          </a:p>
        </p:txBody>
      </p:sp>
      <p:sp>
        <p:nvSpPr>
          <p:cNvPr id="44" name="Text 42"/>
          <p:cNvSpPr/>
          <p:nvPr/>
        </p:nvSpPr>
        <p:spPr>
          <a:xfrm>
            <a:off x="1124712" y="4197096"/>
            <a:ext cx="4197096" cy="82296"/>
          </a:xfrm>
          <a:prstGeom prst="rect">
            <a:avLst/>
          </a:prstGeom>
          <a:noFill/>
          <a:ln/>
        </p:spPr>
        <p:txBody>
          <a:bodyPr wrap="square" lIns="381" tIns="381" rIns="381" bIns="381" rtlCol="0" anchor="ctr">
            <a:normAutofit/>
          </a:bodyPr>
          <a:lstStyle/>
          <a:p>
            <a:pPr marL="0" indent="0" algn="l">
              <a:buNone/>
            </a:pPr>
            <a:r>
              <a:rPr lang="en-US" sz="510" dirty="0">
                <a:solidFill>
                  <a:srgbClr val="536273"/>
                </a:solidFill>
                <a:latin typeface="Arial" pitchFamily="34" charset="0"/>
                <a:ea typeface="Arial" pitchFamily="34" charset="-122"/>
                <a:cs typeface="Arial" pitchFamily="34" charset="-120"/>
              </a:rPr>
              <a:t>demo@moffatbay.com</a:t>
            </a:r>
            <a:endParaRPr lang="en-US" sz="510" dirty="0"/>
          </a:p>
        </p:txBody>
      </p:sp>
      <p:sp>
        <p:nvSpPr>
          <p:cNvPr id="45" name="Text 43"/>
          <p:cNvSpPr/>
          <p:nvPr/>
        </p:nvSpPr>
        <p:spPr>
          <a:xfrm>
            <a:off x="1051560" y="4636008"/>
            <a:ext cx="4343400" cy="100584"/>
          </a:xfrm>
          <a:prstGeom prst="rect">
            <a:avLst/>
          </a:prstGeom>
          <a:noFill/>
          <a:ln/>
        </p:spPr>
        <p:txBody>
          <a:bodyPr wrap="square" lIns="381" tIns="381" rIns="381" bIns="381" rtlCol="0" anchor="ctr">
            <a:normAutofit/>
          </a:bodyPr>
          <a:lstStyle/>
          <a:p>
            <a:pPr marL="0" indent="0" algn="l">
              <a:buNone/>
            </a:pPr>
            <a:r>
              <a:rPr lang="en-US" sz="530" b="1" dirty="0">
                <a:solidFill>
                  <a:srgbClr val="2A3B50"/>
                </a:solidFill>
                <a:latin typeface="Arial" pitchFamily="34" charset="0"/>
                <a:ea typeface="Arial" pitchFamily="34" charset="-122"/>
                <a:cs typeface="Arial" pitchFamily="34" charset="-120"/>
              </a:rPr>
              <a:t>Password</a:t>
            </a:r>
            <a:endParaRPr lang="en-US" sz="530" dirty="0"/>
          </a:p>
        </p:txBody>
      </p:sp>
      <p:sp>
        <p:nvSpPr>
          <p:cNvPr id="46" name="Shape 44"/>
          <p:cNvSpPr/>
          <p:nvPr/>
        </p:nvSpPr>
        <p:spPr>
          <a:xfrm>
            <a:off x="1051560" y="4764024"/>
            <a:ext cx="4343400" cy="310896"/>
          </a:xfrm>
          <a:prstGeom prst="roundRect">
            <a:avLst>
              <a:gd name="adj" fmla="val 11765"/>
            </a:avLst>
          </a:prstGeom>
          <a:solidFill>
            <a:srgbClr val="FFFFFF"/>
          </a:solidFill>
          <a:ln w="12700">
            <a:solidFill>
              <a:srgbClr val="B8C2C5">
                <a:alpha val="80000"/>
              </a:srgbClr>
            </a:solidFill>
            <a:prstDash val="solid"/>
          </a:ln>
        </p:spPr>
        <p:txBody>
          <a:bodyPr/>
          <a:lstStyle/>
          <a:p>
            <a:endParaRPr lang="en-US"/>
          </a:p>
        </p:txBody>
      </p:sp>
      <p:sp>
        <p:nvSpPr>
          <p:cNvPr id="47" name="Text 45"/>
          <p:cNvSpPr/>
          <p:nvPr/>
        </p:nvSpPr>
        <p:spPr>
          <a:xfrm>
            <a:off x="1124712" y="4855464"/>
            <a:ext cx="4197096" cy="82296"/>
          </a:xfrm>
          <a:prstGeom prst="rect">
            <a:avLst/>
          </a:prstGeom>
          <a:noFill/>
          <a:ln/>
        </p:spPr>
        <p:txBody>
          <a:bodyPr wrap="square" lIns="381" tIns="381" rIns="381" bIns="381" rtlCol="0" anchor="ctr">
            <a:normAutofit/>
          </a:bodyPr>
          <a:lstStyle/>
          <a:p>
            <a:pPr marL="0" indent="0" algn="l">
              <a:buNone/>
            </a:pPr>
            <a:r>
              <a:rPr lang="en-US" sz="510" dirty="0">
                <a:solidFill>
                  <a:srgbClr val="536273"/>
                </a:solidFill>
                <a:latin typeface="Arial" pitchFamily="34" charset="0"/>
                <a:ea typeface="Arial" pitchFamily="34" charset="-122"/>
                <a:cs typeface="Arial" pitchFamily="34" charset="-120"/>
              </a:rPr>
              <a:t>••••••••</a:t>
            </a:r>
            <a:endParaRPr lang="en-US" sz="510" dirty="0"/>
          </a:p>
        </p:txBody>
      </p:sp>
      <p:sp>
        <p:nvSpPr>
          <p:cNvPr id="48" name="Shape 46">
            <a:hlinkClick r:id="rId11" action="ppaction://hlinksldjump"/>
          </p:cNvPr>
          <p:cNvSpPr/>
          <p:nvPr/>
        </p:nvSpPr>
        <p:spPr>
          <a:xfrm>
            <a:off x="1051560" y="5303520"/>
            <a:ext cx="777240" cy="310896"/>
          </a:xfrm>
          <a:prstGeom prst="roundRect">
            <a:avLst>
              <a:gd name="adj" fmla="val 35294"/>
            </a:avLst>
          </a:prstGeom>
          <a:solidFill>
            <a:srgbClr val="CDA059"/>
          </a:solidFill>
          <a:ln w="12700">
            <a:solidFill>
              <a:srgbClr val="CDA059">
                <a:alpha val="0"/>
              </a:srgbClr>
            </a:solidFill>
            <a:prstDash val="solid"/>
          </a:ln>
        </p:spPr>
        <p:txBody>
          <a:bodyPr/>
          <a:lstStyle/>
          <a:p>
            <a:endParaRPr lang="en-US"/>
          </a:p>
        </p:txBody>
      </p:sp>
      <p:sp>
        <p:nvSpPr>
          <p:cNvPr id="49" name="Text 47">
            <a:hlinkClick r:id="rId11" action="ppaction://hlinksldjump"/>
          </p:cNvPr>
          <p:cNvSpPr/>
          <p:nvPr/>
        </p:nvSpPr>
        <p:spPr>
          <a:xfrm>
            <a:off x="1078992" y="5385816"/>
            <a:ext cx="722376" cy="109728"/>
          </a:xfrm>
          <a:prstGeom prst="rect">
            <a:avLst/>
          </a:prstGeom>
          <a:noFill/>
          <a:ln/>
        </p:spPr>
        <p:txBody>
          <a:bodyPr wrap="square" lIns="381" tIns="381" rIns="381" bIns="381" rtlCol="0" anchor="ctr">
            <a:normAutofit/>
          </a:bodyPr>
          <a:lstStyle/>
          <a:p>
            <a:pPr marL="0" indent="0" algn="ctr">
              <a:buNone/>
            </a:pPr>
            <a:r>
              <a:rPr lang="en-US" sz="640" b="1" u="sng" dirty="0">
                <a:solidFill>
                  <a:srgbClr val="132133"/>
                </a:solidFill>
                <a:latin typeface="Arial" pitchFamily="34" charset="0"/>
                <a:ea typeface="Arial" pitchFamily="34" charset="-122"/>
                <a:cs typeface="Arial" pitchFamily="34" charset="-120"/>
                <a:hlinkClick r:id="rId11" action="ppaction://hlinksldjump">
                  <a:extLst>
                    <a:ext uri="{A12FA001-AC4F-418D-AE19-62706E023703}">
                      <ahyp:hlinkClr xmlns:ahyp="http://schemas.microsoft.com/office/drawing/2018/hyperlinkcolor" val="tx"/>
                    </a:ext>
                  </a:extLst>
                </a:hlinkClick>
              </a:rPr>
              <a:t>Login</a:t>
            </a:r>
            <a:endParaRPr lang="en-US" sz="640" dirty="0"/>
          </a:p>
        </p:txBody>
      </p:sp>
      <p:sp>
        <p:nvSpPr>
          <p:cNvPr id="50" name="Text 48"/>
          <p:cNvSpPr/>
          <p:nvPr/>
        </p:nvSpPr>
        <p:spPr>
          <a:xfrm>
            <a:off x="1965960" y="5376672"/>
            <a:ext cx="3291840" cy="118872"/>
          </a:xfrm>
          <a:prstGeom prst="rect">
            <a:avLst/>
          </a:prstGeom>
          <a:noFill/>
          <a:ln/>
        </p:spPr>
        <p:txBody>
          <a:bodyPr wrap="square" lIns="381" tIns="381" rIns="381" bIns="381" rtlCol="0" anchor="ctr">
            <a:normAutofit/>
          </a:bodyPr>
          <a:lstStyle/>
          <a:p>
            <a:pPr marL="0" indent="0" algn="l">
              <a:buNone/>
            </a:pPr>
            <a:r>
              <a:rPr lang="en-US" sz="560" dirty="0">
                <a:solidFill>
                  <a:srgbClr val="536273"/>
                </a:solidFill>
                <a:latin typeface="Arial" pitchFamily="34" charset="0"/>
                <a:ea typeface="Arial" pitchFamily="34" charset="-122"/>
                <a:cs typeface="Arial" pitchFamily="34" charset="-120"/>
              </a:rPr>
              <a:t>Demo account: demo@moffatbay.com / DemoPass1</a:t>
            </a:r>
            <a:endParaRPr lang="en-US" sz="560" dirty="0"/>
          </a:p>
        </p:txBody>
      </p:sp>
      <p:sp>
        <p:nvSpPr>
          <p:cNvPr id="51" name="Shape 49"/>
          <p:cNvSpPr/>
          <p:nvPr/>
        </p:nvSpPr>
        <p:spPr>
          <a:xfrm>
            <a:off x="5989320" y="3337560"/>
            <a:ext cx="4754880" cy="2423160"/>
          </a:xfrm>
          <a:prstGeom prst="roundRect">
            <a:avLst>
              <a:gd name="adj" fmla="val 3774"/>
            </a:avLst>
          </a:prstGeom>
          <a:solidFill>
            <a:srgbClr val="FFFFFF">
              <a:alpha val="90000"/>
            </a:srgbClr>
          </a:solidFill>
          <a:ln w="12700">
            <a:solidFill>
              <a:srgbClr val="E9DFCF">
                <a:alpha val="80000"/>
              </a:srgbClr>
            </a:solidFill>
            <a:prstDash val="solid"/>
          </a:ln>
          <a:effectLst>
            <a:outerShdw blurRad="12700" dist="8890" dir="2700000" algn="bl" rotWithShape="0">
              <a:srgbClr val="132133">
                <a:alpha val="7000"/>
              </a:srgbClr>
            </a:outerShdw>
          </a:effectLst>
        </p:spPr>
        <p:txBody>
          <a:bodyPr/>
          <a:lstStyle/>
          <a:p>
            <a:endParaRPr lang="en-US"/>
          </a:p>
        </p:txBody>
      </p:sp>
      <p:sp>
        <p:nvSpPr>
          <p:cNvPr id="52" name="Text 50"/>
          <p:cNvSpPr/>
          <p:nvPr/>
        </p:nvSpPr>
        <p:spPr>
          <a:xfrm>
            <a:off x="6153912" y="3502152"/>
            <a:ext cx="4425696" cy="292608"/>
          </a:xfrm>
          <a:prstGeom prst="rect">
            <a:avLst/>
          </a:prstGeom>
          <a:noFill/>
          <a:ln/>
        </p:spPr>
        <p:txBody>
          <a:bodyPr wrap="square" lIns="381" tIns="381" rIns="381" bIns="381" rtlCol="0" anchor="ctr">
            <a:normAutofit/>
          </a:bodyPr>
          <a:lstStyle/>
          <a:p>
            <a:pPr marL="0" indent="0" algn="l">
              <a:buNone/>
            </a:pPr>
            <a:r>
              <a:rPr lang="en-US" sz="1250" dirty="0">
                <a:solidFill>
                  <a:srgbClr val="132133"/>
                </a:solidFill>
                <a:latin typeface="Georgia" pitchFamily="34" charset="0"/>
                <a:ea typeface="Georgia" pitchFamily="34" charset="-122"/>
                <a:cs typeface="Georgia" pitchFamily="34" charset="-120"/>
              </a:rPr>
              <a:t>New to Moffat Bay?</a:t>
            </a:r>
            <a:endParaRPr lang="en-US" sz="1250" dirty="0"/>
          </a:p>
        </p:txBody>
      </p:sp>
      <p:sp>
        <p:nvSpPr>
          <p:cNvPr id="53" name="Text 51"/>
          <p:cNvSpPr/>
          <p:nvPr/>
        </p:nvSpPr>
        <p:spPr>
          <a:xfrm>
            <a:off x="6153912" y="3840480"/>
            <a:ext cx="4425696" cy="1764792"/>
          </a:xfrm>
          <a:prstGeom prst="rect">
            <a:avLst/>
          </a:prstGeom>
          <a:noFill/>
          <a:ln/>
        </p:spPr>
        <p:txBody>
          <a:bodyPr wrap="square" lIns="381" tIns="381" rIns="381" bIns="381" rtlCol="0" anchor="t">
            <a:normAutofit/>
          </a:bodyPr>
          <a:lstStyle/>
          <a:p>
            <a:pPr marL="0" indent="0" algn="l">
              <a:buNone/>
            </a:pPr>
            <a:r>
              <a:rPr lang="en-US" sz="680" dirty="0">
                <a:solidFill>
                  <a:srgbClr val="2A3B50"/>
                </a:solidFill>
                <a:latin typeface="Arial" pitchFamily="34" charset="0"/>
                <a:ea typeface="Arial" pitchFamily="34" charset="-122"/>
                <a:cs typeface="Arial" pitchFamily="34" charset="-120"/>
              </a:rPr>
              <a:t>Create a free account to confirm a lodge reservation. You can browse rooms, rates, attractions, and other pages without signing in.</a:t>
            </a:r>
            <a:endParaRPr lang="en-US" sz="680" dirty="0"/>
          </a:p>
        </p:txBody>
      </p:sp>
      <p:sp>
        <p:nvSpPr>
          <p:cNvPr id="54" name="Shape 52">
            <a:hlinkClick r:id="rId10" action="ppaction://hlinksldjump"/>
          </p:cNvPr>
          <p:cNvSpPr/>
          <p:nvPr/>
        </p:nvSpPr>
        <p:spPr>
          <a:xfrm>
            <a:off x="6199632" y="5138928"/>
            <a:ext cx="1143000" cy="310896"/>
          </a:xfrm>
          <a:prstGeom prst="roundRect">
            <a:avLst>
              <a:gd name="adj" fmla="val 35294"/>
            </a:avLst>
          </a:prstGeom>
          <a:solidFill>
            <a:srgbClr val="132133"/>
          </a:solidFill>
          <a:ln w="12700">
            <a:solidFill>
              <a:srgbClr val="132133">
                <a:alpha val="0"/>
              </a:srgbClr>
            </a:solidFill>
            <a:prstDash val="solid"/>
          </a:ln>
        </p:spPr>
        <p:txBody>
          <a:bodyPr/>
          <a:lstStyle/>
          <a:p>
            <a:endParaRPr lang="en-US"/>
          </a:p>
        </p:txBody>
      </p:sp>
      <p:sp>
        <p:nvSpPr>
          <p:cNvPr id="55" name="Text 53">
            <a:hlinkClick r:id="rId10" action="ppaction://hlinksldjump"/>
          </p:cNvPr>
          <p:cNvSpPr/>
          <p:nvPr/>
        </p:nvSpPr>
        <p:spPr>
          <a:xfrm>
            <a:off x="6227064" y="5221224"/>
            <a:ext cx="1088136" cy="109728"/>
          </a:xfrm>
          <a:prstGeom prst="rect">
            <a:avLst/>
          </a:prstGeom>
          <a:noFill/>
          <a:ln/>
        </p:spPr>
        <p:txBody>
          <a:bodyPr wrap="square" lIns="381" tIns="381" rIns="381" bIns="381" rtlCol="0" anchor="ctr">
            <a:normAutofit/>
          </a:bodyPr>
          <a:lstStyle/>
          <a:p>
            <a:pPr marL="0" indent="0" algn="ctr">
              <a:buNone/>
            </a:pPr>
            <a:r>
              <a:rPr lang="en-US" sz="640" b="1" u="sng" dirty="0">
                <a:solidFill>
                  <a:srgbClr val="FFFFFF"/>
                </a:solidFill>
                <a:latin typeface="Arial" pitchFamily="34" charset="0"/>
                <a:ea typeface="Arial" pitchFamily="34" charset="-122"/>
                <a:cs typeface="Arial" pitchFamily="34" charset="-120"/>
                <a:hlinkClick r:id="rId10" action="ppaction://hlinksldjump">
                  <a:extLst>
                    <a:ext uri="{A12FA001-AC4F-418D-AE19-62706E023703}">
                      <ahyp:hlinkClr xmlns:ahyp="http://schemas.microsoft.com/office/drawing/2018/hyperlinkcolor" val="tx"/>
                    </a:ext>
                  </a:extLst>
                </a:hlinkClick>
              </a:rPr>
              <a:t>Create Account</a:t>
            </a:r>
            <a:endParaRPr lang="en-US" sz="640" dirty="0"/>
          </a:p>
        </p:txBody>
      </p:sp>
      <p:sp>
        <p:nvSpPr>
          <p:cNvPr id="56" name="Shape 54">
            <a:hlinkClick r:id="rId5" action="ppaction://hlinksldjump"/>
          </p:cNvPr>
          <p:cNvSpPr/>
          <p:nvPr/>
        </p:nvSpPr>
        <p:spPr>
          <a:xfrm>
            <a:off x="7479792" y="5138928"/>
            <a:ext cx="1051560" cy="310896"/>
          </a:xfrm>
          <a:prstGeom prst="roundRect">
            <a:avLst>
              <a:gd name="adj" fmla="val 35294"/>
            </a:avLst>
          </a:prstGeom>
          <a:solidFill>
            <a:srgbClr val="FFFFFF">
              <a:alpha val="30000"/>
            </a:srgbClr>
          </a:solidFill>
          <a:ln w="12700">
            <a:solidFill>
              <a:srgbClr val="536273">
                <a:alpha val="70000"/>
              </a:srgbClr>
            </a:solidFill>
            <a:prstDash val="solid"/>
          </a:ln>
        </p:spPr>
        <p:txBody>
          <a:bodyPr/>
          <a:lstStyle/>
          <a:p>
            <a:endParaRPr lang="en-US"/>
          </a:p>
        </p:txBody>
      </p:sp>
      <p:sp>
        <p:nvSpPr>
          <p:cNvPr id="57" name="Text 55">
            <a:hlinkClick r:id="rId5" action="ppaction://hlinksldjump"/>
          </p:cNvPr>
          <p:cNvSpPr/>
          <p:nvPr/>
        </p:nvSpPr>
        <p:spPr>
          <a:xfrm>
            <a:off x="7507224" y="5221224"/>
            <a:ext cx="996696" cy="109728"/>
          </a:xfrm>
          <a:prstGeom prst="rect">
            <a:avLst/>
          </a:prstGeom>
          <a:noFill/>
          <a:ln/>
        </p:spPr>
        <p:txBody>
          <a:bodyPr wrap="square" lIns="381" tIns="381" rIns="381" bIns="381" rtlCol="0" anchor="ctr">
            <a:normAutofit/>
          </a:bodyPr>
          <a:lstStyle/>
          <a:p>
            <a:pPr marL="0" indent="0" algn="ctr">
              <a:buNone/>
            </a:pPr>
            <a:r>
              <a:rPr lang="en-US" sz="640" b="1" u="sng" dirty="0">
                <a:solidFill>
                  <a:srgbClr val="132133"/>
                </a:solidFill>
                <a:latin typeface="Arial" pitchFamily="34" charset="0"/>
                <a:ea typeface="Arial" pitchFamily="34" charset="-122"/>
                <a:cs typeface="Arial" pitchFamily="34" charset="-120"/>
                <a:hlinkClick r:id="rId5" action="ppaction://hlinksldjump">
                  <a:extLst>
                    <a:ext uri="{A12FA001-AC4F-418D-AE19-62706E023703}">
                      <ahyp:hlinkClr xmlns:ahyp="http://schemas.microsoft.com/office/drawing/2018/hyperlinkcolor" val="tx"/>
                    </a:ext>
                  </a:extLst>
                </a:hlinkClick>
              </a:rPr>
              <a:t>Browse Rooms</a:t>
            </a:r>
            <a:endParaRPr lang="en-US" sz="64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28600"/>
            <a:ext cx="5943600" cy="365760"/>
          </a:xfrm>
          <a:prstGeom prst="rect">
            <a:avLst/>
          </a:prstGeom>
          <a:noFill/>
          <a:ln/>
        </p:spPr>
        <p:txBody>
          <a:bodyPr wrap="square" lIns="381" tIns="381" rIns="381" bIns="381" rtlCol="0" anchor="ctr">
            <a:normAutofit/>
          </a:bodyPr>
          <a:lstStyle/>
          <a:p>
            <a:pPr marL="0" indent="0" algn="l">
              <a:buNone/>
            </a:pPr>
            <a:r>
              <a:rPr lang="en-US" sz="2000" b="1" dirty="0">
                <a:solidFill>
                  <a:srgbClr val="132133"/>
                </a:solidFill>
                <a:latin typeface="Georgia" pitchFamily="34" charset="0"/>
                <a:ea typeface="Georgia" pitchFamily="34" charset="-122"/>
                <a:cs typeface="Georgia" pitchFamily="34" charset="-120"/>
              </a:rPr>
              <a:t>Register Page Prototype</a:t>
            </a:r>
            <a:endParaRPr lang="en-US" sz="2000" dirty="0"/>
          </a:p>
        </p:txBody>
      </p:sp>
      <p:sp>
        <p:nvSpPr>
          <p:cNvPr id="3" name="Text 1"/>
          <p:cNvSpPr/>
          <p:nvPr/>
        </p:nvSpPr>
        <p:spPr>
          <a:xfrm>
            <a:off x="512064" y="630936"/>
            <a:ext cx="6492240" cy="228600"/>
          </a:xfrm>
          <a:prstGeom prst="rect">
            <a:avLst/>
          </a:prstGeom>
          <a:noFill/>
          <a:ln/>
        </p:spPr>
        <p:txBody>
          <a:bodyPr wrap="square" lIns="381" tIns="381" rIns="381" bIns="381" rtlCol="0" anchor="ctr">
            <a:normAutofit/>
          </a:bodyPr>
          <a:lstStyle/>
          <a:p>
            <a:pPr marL="0" indent="0" algn="l">
              <a:buNone/>
            </a:pPr>
            <a:r>
              <a:rPr lang="en-US" sz="850" dirty="0">
                <a:solidFill>
                  <a:srgbClr val="536273"/>
                </a:solidFill>
                <a:latin typeface="Arial" pitchFamily="34" charset="0"/>
                <a:ea typeface="Arial" pitchFamily="34" charset="-122"/>
                <a:cs typeface="Arial" pitchFamily="34" charset="-120"/>
              </a:rPr>
              <a:t>Purpose: collect guest account details before booking confirmation and future lookup.</a:t>
            </a:r>
            <a:endParaRPr lang="en-US" sz="850" dirty="0"/>
          </a:p>
        </p:txBody>
      </p:sp>
      <p:sp>
        <p:nvSpPr>
          <p:cNvPr id="4" name="Text 2"/>
          <p:cNvSpPr/>
          <p:nvPr/>
        </p:nvSpPr>
        <p:spPr>
          <a:xfrm>
            <a:off x="8823960" y="256032"/>
            <a:ext cx="2743200" cy="228600"/>
          </a:xfrm>
          <a:prstGeom prst="rect">
            <a:avLst/>
          </a:prstGeom>
          <a:noFill/>
          <a:ln/>
        </p:spPr>
        <p:txBody>
          <a:bodyPr wrap="square" lIns="381" tIns="381" rIns="381" bIns="381" rtlCol="0" anchor="ctr">
            <a:normAutofit/>
          </a:bodyPr>
          <a:lstStyle/>
          <a:p>
            <a:pPr marL="0" indent="0" algn="r">
              <a:buNone/>
            </a:pPr>
            <a:r>
              <a:rPr lang="en-US" sz="800" b="1" dirty="0">
                <a:solidFill>
                  <a:srgbClr val="536273"/>
                </a:solidFill>
                <a:latin typeface="Arial" pitchFamily="34" charset="0"/>
                <a:ea typeface="Arial" pitchFamily="34" charset="-122"/>
                <a:cs typeface="Arial" pitchFamily="34" charset="-120"/>
              </a:rPr>
              <a:t>Moffat Bay Lodge Prototype</a:t>
            </a:r>
            <a:endParaRPr lang="en-US" sz="800" dirty="0"/>
          </a:p>
        </p:txBody>
      </p:sp>
      <p:sp>
        <p:nvSpPr>
          <p:cNvPr id="5" name="Shape 3"/>
          <p:cNvSpPr/>
          <p:nvPr/>
        </p:nvSpPr>
        <p:spPr>
          <a:xfrm>
            <a:off x="502920" y="896112"/>
            <a:ext cx="11201400" cy="5440680"/>
          </a:xfrm>
          <a:prstGeom prst="roundRect">
            <a:avLst>
              <a:gd name="adj" fmla="val 1513"/>
            </a:avLst>
          </a:prstGeom>
          <a:solidFill>
            <a:srgbClr val="FFFAF2"/>
          </a:solidFill>
          <a:ln w="12700">
            <a:solidFill>
              <a:srgbClr val="E9DFCF"/>
            </a:solidFill>
            <a:prstDash val="solid"/>
          </a:ln>
          <a:effectLst>
            <a:outerShdw blurRad="25400" dist="12700" dir="2700000" algn="bl" rotWithShape="0">
              <a:srgbClr val="132133">
                <a:alpha val="10000"/>
              </a:srgbClr>
            </a:outerShdw>
          </a:effectLst>
        </p:spPr>
        <p:txBody>
          <a:bodyPr/>
          <a:lstStyle/>
          <a:p>
            <a:endParaRPr lang="en-US"/>
          </a:p>
        </p:txBody>
      </p:sp>
      <p:sp>
        <p:nvSpPr>
          <p:cNvPr id="6" name="Shape 4"/>
          <p:cNvSpPr/>
          <p:nvPr/>
        </p:nvSpPr>
        <p:spPr>
          <a:xfrm>
            <a:off x="502920" y="896112"/>
            <a:ext cx="11201400" cy="384048"/>
          </a:xfrm>
          <a:prstGeom prst="rect">
            <a:avLst/>
          </a:prstGeom>
          <a:solidFill>
            <a:srgbClr val="FFFFFF"/>
          </a:solidFill>
          <a:ln w="12700">
            <a:solidFill>
              <a:srgbClr val="E9DFCF"/>
            </a:solidFill>
            <a:prstDash val="solid"/>
          </a:ln>
        </p:spPr>
        <p:txBody>
          <a:bodyPr/>
          <a:lstStyle/>
          <a:p>
            <a:endParaRPr lang="en-US"/>
          </a:p>
        </p:txBody>
      </p:sp>
      <p:sp>
        <p:nvSpPr>
          <p:cNvPr id="10" name="Shape 8"/>
          <p:cNvSpPr/>
          <p:nvPr/>
        </p:nvSpPr>
        <p:spPr>
          <a:xfrm>
            <a:off x="1280160" y="987552"/>
            <a:ext cx="3657600" cy="192024"/>
          </a:xfrm>
          <a:prstGeom prst="roundRect">
            <a:avLst>
              <a:gd name="adj" fmla="val 28571"/>
            </a:avLst>
          </a:prstGeom>
          <a:solidFill>
            <a:srgbClr val="F5EFE5"/>
          </a:solidFill>
          <a:ln w="12700">
            <a:solidFill>
              <a:srgbClr val="E9DFCF">
                <a:alpha val="80000"/>
              </a:srgbClr>
            </a:solidFill>
            <a:prstDash val="solid"/>
          </a:ln>
        </p:spPr>
        <p:txBody>
          <a:bodyPr/>
          <a:lstStyle/>
          <a:p>
            <a:endParaRPr lang="en-US"/>
          </a:p>
        </p:txBody>
      </p:sp>
      <p:sp>
        <p:nvSpPr>
          <p:cNvPr id="11" name="Text 9"/>
          <p:cNvSpPr/>
          <p:nvPr/>
        </p:nvSpPr>
        <p:spPr>
          <a:xfrm>
            <a:off x="1408176" y="1014984"/>
            <a:ext cx="3337560" cy="109728"/>
          </a:xfrm>
          <a:prstGeom prst="rect">
            <a:avLst/>
          </a:prstGeom>
          <a:noFill/>
          <a:ln/>
        </p:spPr>
        <p:txBody>
          <a:bodyPr wrap="square" lIns="381" tIns="381" rIns="381" bIns="381" rtlCol="0" anchor="ctr">
            <a:normAutofit/>
          </a:bodyPr>
          <a:lstStyle/>
          <a:p>
            <a:pPr marL="0" indent="0" algn="l">
              <a:buNone/>
            </a:pPr>
            <a:r>
              <a:rPr lang="en-US" sz="550" dirty="0">
                <a:solidFill>
                  <a:srgbClr val="536273"/>
                </a:solidFill>
                <a:latin typeface="Arial" pitchFamily="34" charset="0"/>
                <a:ea typeface="Arial" pitchFamily="34" charset="-122"/>
                <a:cs typeface="Arial" pitchFamily="34" charset="-120"/>
              </a:rPr>
              <a:t>moffatbaylodge.com/register.html</a:t>
            </a:r>
            <a:endParaRPr lang="en-US" sz="550" dirty="0"/>
          </a:p>
        </p:txBody>
      </p:sp>
      <p:sp>
        <p:nvSpPr>
          <p:cNvPr id="12" name="Shape 10"/>
          <p:cNvSpPr/>
          <p:nvPr/>
        </p:nvSpPr>
        <p:spPr>
          <a:xfrm>
            <a:off x="502920" y="1280160"/>
            <a:ext cx="11201400" cy="530352"/>
          </a:xfrm>
          <a:prstGeom prst="rect">
            <a:avLst/>
          </a:prstGeom>
          <a:solidFill>
            <a:srgbClr val="FAF5EC"/>
          </a:solidFill>
          <a:ln w="12700">
            <a:solidFill>
              <a:srgbClr val="E9DFCF">
                <a:alpha val="90000"/>
              </a:srgbClr>
            </a:solidFill>
            <a:prstDash val="solid"/>
          </a:ln>
        </p:spPr>
        <p:txBody>
          <a:bodyPr/>
          <a:lstStyle/>
          <a:p>
            <a:endParaRPr lang="en-US"/>
          </a:p>
        </p:txBody>
      </p:sp>
      <p:sp>
        <p:nvSpPr>
          <p:cNvPr id="13" name="Shape 11"/>
          <p:cNvSpPr/>
          <p:nvPr/>
        </p:nvSpPr>
        <p:spPr>
          <a:xfrm>
            <a:off x="731520" y="1399032"/>
            <a:ext cx="256032" cy="256032"/>
          </a:xfrm>
          <a:prstGeom prst="ellipse">
            <a:avLst/>
          </a:prstGeom>
          <a:solidFill>
            <a:srgbClr val="276F7B"/>
          </a:solidFill>
          <a:ln w="12700">
            <a:solidFill>
              <a:srgbClr val="276F7B"/>
            </a:solidFill>
            <a:prstDash val="solid"/>
          </a:ln>
        </p:spPr>
        <p:txBody>
          <a:bodyPr/>
          <a:lstStyle/>
          <a:p>
            <a:endParaRPr lang="en-US"/>
          </a:p>
        </p:txBody>
      </p:sp>
      <p:sp>
        <p:nvSpPr>
          <p:cNvPr id="14" name="Text 12"/>
          <p:cNvSpPr/>
          <p:nvPr/>
        </p:nvSpPr>
        <p:spPr>
          <a:xfrm>
            <a:off x="731520" y="1426464"/>
            <a:ext cx="256032" cy="109728"/>
          </a:xfrm>
          <a:prstGeom prst="rect">
            <a:avLst/>
          </a:prstGeom>
          <a:noFill/>
          <a:ln/>
        </p:spPr>
        <p:txBody>
          <a:bodyPr wrap="square" lIns="381" tIns="381" rIns="381" bIns="381" rtlCol="0" anchor="ctr">
            <a:normAutofit/>
          </a:bodyPr>
          <a:lstStyle/>
          <a:p>
            <a:pPr marL="0" indent="0" algn="ctr">
              <a:buNone/>
            </a:pPr>
            <a:r>
              <a:rPr lang="en-US" sz="700" b="1" dirty="0">
                <a:solidFill>
                  <a:srgbClr val="FFFFFF"/>
                </a:solidFill>
                <a:latin typeface="Georgia" pitchFamily="34" charset="0"/>
                <a:ea typeface="Georgia" pitchFamily="34" charset="-122"/>
                <a:cs typeface="Georgia" pitchFamily="34" charset="-120"/>
              </a:rPr>
              <a:t>MB</a:t>
            </a:r>
            <a:endParaRPr lang="en-US" sz="700" dirty="0"/>
          </a:p>
        </p:txBody>
      </p:sp>
      <p:sp>
        <p:nvSpPr>
          <p:cNvPr id="15" name="Text 13"/>
          <p:cNvSpPr/>
          <p:nvPr/>
        </p:nvSpPr>
        <p:spPr>
          <a:xfrm>
            <a:off x="1069848" y="1435608"/>
            <a:ext cx="1691640" cy="118872"/>
          </a:xfrm>
          <a:prstGeom prst="rect">
            <a:avLst/>
          </a:prstGeom>
          <a:noFill/>
          <a:ln/>
        </p:spPr>
        <p:txBody>
          <a:bodyPr wrap="square" lIns="381" tIns="381" rIns="381" bIns="381" rtlCol="0" anchor="ctr">
            <a:normAutofit/>
          </a:bodyPr>
          <a:lstStyle/>
          <a:p>
            <a:pPr marL="0" indent="0" algn="l">
              <a:buNone/>
            </a:pPr>
            <a:r>
              <a:rPr lang="en-US" sz="680" b="1" dirty="0">
                <a:solidFill>
                  <a:srgbClr val="132133"/>
                </a:solidFill>
                <a:latin typeface="Arial" pitchFamily="34" charset="0"/>
                <a:ea typeface="Arial" pitchFamily="34" charset="-122"/>
                <a:cs typeface="Arial" pitchFamily="34" charset="-120"/>
              </a:rPr>
              <a:t>MOFFAT BAY LODGE</a:t>
            </a:r>
            <a:endParaRPr lang="en-US" sz="680" dirty="0"/>
          </a:p>
        </p:txBody>
      </p:sp>
      <p:sp>
        <p:nvSpPr>
          <p:cNvPr id="16" name="Text 14">
            <a:hlinkClick r:id="rId3" action="ppaction://hlinksldjump"/>
          </p:cNvPr>
          <p:cNvSpPr/>
          <p:nvPr/>
        </p:nvSpPr>
        <p:spPr>
          <a:xfrm>
            <a:off x="3291840" y="1453896"/>
            <a:ext cx="402336" cy="118872"/>
          </a:xfrm>
          <a:prstGeom prst="rect">
            <a:avLst/>
          </a:prstGeom>
          <a:noFill/>
          <a:ln/>
        </p:spPr>
        <p:txBody>
          <a:bodyPr wrap="square" lIns="381" tIns="381" rIns="381" bIns="381" rtlCol="0" anchor="ctr">
            <a:normAutofit/>
          </a:bodyPr>
          <a:lstStyle/>
          <a:p>
            <a:pPr marL="0" indent="0" algn="ctr">
              <a:buNone/>
            </a:pPr>
            <a:r>
              <a:rPr lang="en-US" sz="640" b="1" u="sng" dirty="0">
                <a:solidFill>
                  <a:srgbClr val="2A3B50"/>
                </a:solidFill>
                <a:latin typeface="Arial" pitchFamily="34" charset="0"/>
                <a:ea typeface="Arial" pitchFamily="34" charset="-122"/>
                <a:cs typeface="Arial" pitchFamily="34" charset="-120"/>
                <a:hlinkClick r:id="rId3" action="ppaction://hlinksldjump">
                  <a:extLst>
                    <a:ext uri="{A12FA001-AC4F-418D-AE19-62706E023703}">
                      <ahyp:hlinkClr xmlns:ahyp="http://schemas.microsoft.com/office/drawing/2018/hyperlinkcolor" val="tx"/>
                    </a:ext>
                  </a:extLst>
                </a:hlinkClick>
              </a:rPr>
              <a:t>Home</a:t>
            </a:r>
            <a:endParaRPr lang="en-US" sz="640" dirty="0"/>
          </a:p>
        </p:txBody>
      </p:sp>
      <p:sp>
        <p:nvSpPr>
          <p:cNvPr id="17" name="Text 15">
            <a:hlinkClick r:id="rId4" action="ppaction://hlinksldjump"/>
          </p:cNvPr>
          <p:cNvSpPr/>
          <p:nvPr/>
        </p:nvSpPr>
        <p:spPr>
          <a:xfrm>
            <a:off x="3895344" y="1453896"/>
            <a:ext cx="420624" cy="118872"/>
          </a:xfrm>
          <a:prstGeom prst="rect">
            <a:avLst/>
          </a:prstGeom>
          <a:noFill/>
          <a:ln/>
        </p:spPr>
        <p:txBody>
          <a:bodyPr wrap="square" lIns="381" tIns="381" rIns="381" bIns="381" rtlCol="0" anchor="ctr">
            <a:normAutofit/>
          </a:bodyPr>
          <a:lstStyle/>
          <a:p>
            <a:pPr marL="0" indent="0" algn="ctr">
              <a:buNone/>
            </a:pPr>
            <a:r>
              <a:rPr lang="en-US" sz="640" b="1" u="sng" dirty="0">
                <a:solidFill>
                  <a:srgbClr val="2A3B50"/>
                </a:solidFill>
                <a:latin typeface="Arial" pitchFamily="34" charset="0"/>
                <a:ea typeface="Arial" pitchFamily="34" charset="-122"/>
                <a:cs typeface="Arial" pitchFamily="34" charset="-120"/>
                <a:hlinkClick r:id="rId4" action="ppaction://hlinksldjump">
                  <a:extLst>
                    <a:ext uri="{A12FA001-AC4F-418D-AE19-62706E023703}">
                      <ahyp:hlinkClr xmlns:ahyp="http://schemas.microsoft.com/office/drawing/2018/hyperlinkcolor" val="tx"/>
                    </a:ext>
                  </a:extLst>
                </a:hlinkClick>
              </a:rPr>
              <a:t>About</a:t>
            </a:r>
            <a:endParaRPr lang="en-US" sz="640" dirty="0"/>
          </a:p>
        </p:txBody>
      </p:sp>
      <p:sp>
        <p:nvSpPr>
          <p:cNvPr id="18" name="Text 16">
            <a:hlinkClick r:id="rId5" action="ppaction://hlinksldjump"/>
          </p:cNvPr>
          <p:cNvSpPr/>
          <p:nvPr/>
        </p:nvSpPr>
        <p:spPr>
          <a:xfrm>
            <a:off x="4517136" y="1453896"/>
            <a:ext cx="960120" cy="118872"/>
          </a:xfrm>
          <a:prstGeom prst="rect">
            <a:avLst/>
          </a:prstGeom>
          <a:noFill/>
          <a:ln/>
        </p:spPr>
        <p:txBody>
          <a:bodyPr wrap="square" lIns="381" tIns="381" rIns="381" bIns="381" rtlCol="0" anchor="ctr">
            <a:normAutofit/>
          </a:bodyPr>
          <a:lstStyle/>
          <a:p>
            <a:pPr marL="0" indent="0" algn="ctr">
              <a:buNone/>
            </a:pPr>
            <a:r>
              <a:rPr lang="en-US" sz="640" b="1" u="sng" dirty="0">
                <a:solidFill>
                  <a:srgbClr val="2A3B50"/>
                </a:solidFill>
                <a:latin typeface="Arial" pitchFamily="34" charset="0"/>
                <a:ea typeface="Arial" pitchFamily="34" charset="-122"/>
                <a:cs typeface="Arial" pitchFamily="34" charset="-120"/>
                <a:hlinkClick r:id="rId5" action="ppaction://hlinksldjump">
                  <a:extLst>
                    <a:ext uri="{A12FA001-AC4F-418D-AE19-62706E023703}">
                      <ahyp:hlinkClr xmlns:ahyp="http://schemas.microsoft.com/office/drawing/2018/hyperlinkcolor" val="tx"/>
                    </a:ext>
                  </a:extLst>
                </a:hlinkClick>
              </a:rPr>
              <a:t>Rooms &amp; Pricing</a:t>
            </a:r>
            <a:endParaRPr lang="en-US" sz="640" dirty="0"/>
          </a:p>
        </p:txBody>
      </p:sp>
      <p:sp>
        <p:nvSpPr>
          <p:cNvPr id="19" name="Text 17">
            <a:hlinkClick r:id="rId6" action="ppaction://hlinksldjump"/>
          </p:cNvPr>
          <p:cNvSpPr/>
          <p:nvPr/>
        </p:nvSpPr>
        <p:spPr>
          <a:xfrm>
            <a:off x="5678424" y="1453896"/>
            <a:ext cx="685800" cy="118872"/>
          </a:xfrm>
          <a:prstGeom prst="rect">
            <a:avLst/>
          </a:prstGeom>
          <a:noFill/>
          <a:ln/>
        </p:spPr>
        <p:txBody>
          <a:bodyPr wrap="square" lIns="381" tIns="381" rIns="381" bIns="381" rtlCol="0" anchor="ctr">
            <a:normAutofit/>
          </a:bodyPr>
          <a:lstStyle/>
          <a:p>
            <a:pPr marL="0" indent="0" algn="ctr">
              <a:buNone/>
            </a:pPr>
            <a:r>
              <a:rPr lang="en-US" sz="640" b="1" u="sng" dirty="0">
                <a:solidFill>
                  <a:srgbClr val="2A3B50"/>
                </a:solidFill>
                <a:latin typeface="Arial" pitchFamily="34" charset="0"/>
                <a:ea typeface="Arial" pitchFamily="34" charset="-122"/>
                <a:cs typeface="Arial" pitchFamily="34" charset="-120"/>
                <a:hlinkClick r:id="rId6" action="ppaction://hlinksldjump">
                  <a:extLst>
                    <a:ext uri="{A12FA001-AC4F-418D-AE19-62706E023703}">
                      <ahyp:hlinkClr xmlns:ahyp="http://schemas.microsoft.com/office/drawing/2018/hyperlinkcolor" val="tx"/>
                    </a:ext>
                  </a:extLst>
                </a:hlinkClick>
              </a:rPr>
              <a:t>Attractions</a:t>
            </a:r>
            <a:endParaRPr lang="en-US" sz="640" dirty="0"/>
          </a:p>
        </p:txBody>
      </p:sp>
      <p:sp>
        <p:nvSpPr>
          <p:cNvPr id="20" name="Text 18">
            <a:hlinkClick r:id="rId7" action="ppaction://hlinksldjump"/>
          </p:cNvPr>
          <p:cNvSpPr/>
          <p:nvPr/>
        </p:nvSpPr>
        <p:spPr>
          <a:xfrm>
            <a:off x="6565392" y="1453896"/>
            <a:ext cx="475488" cy="118872"/>
          </a:xfrm>
          <a:prstGeom prst="rect">
            <a:avLst/>
          </a:prstGeom>
          <a:noFill/>
          <a:ln/>
        </p:spPr>
        <p:txBody>
          <a:bodyPr wrap="square" lIns="381" tIns="381" rIns="381" bIns="381" rtlCol="0" anchor="ctr">
            <a:normAutofit/>
          </a:bodyPr>
          <a:lstStyle/>
          <a:p>
            <a:pPr marL="0" indent="0" algn="ctr">
              <a:buNone/>
            </a:pPr>
            <a:r>
              <a:rPr lang="en-US" sz="640" b="1" u="sng" dirty="0">
                <a:solidFill>
                  <a:srgbClr val="2A3B50"/>
                </a:solidFill>
                <a:latin typeface="Arial" pitchFamily="34" charset="0"/>
                <a:ea typeface="Arial" pitchFamily="34" charset="-122"/>
                <a:cs typeface="Arial" pitchFamily="34" charset="-120"/>
                <a:hlinkClick r:id="rId7" action="ppaction://hlinksldjump">
                  <a:extLst>
                    <a:ext uri="{A12FA001-AC4F-418D-AE19-62706E023703}">
                      <ahyp:hlinkClr xmlns:ahyp="http://schemas.microsoft.com/office/drawing/2018/hyperlinkcolor" val="tx"/>
                    </a:ext>
                  </a:extLst>
                </a:hlinkClick>
              </a:rPr>
              <a:t>Contact</a:t>
            </a:r>
            <a:endParaRPr lang="en-US" sz="640" dirty="0"/>
          </a:p>
        </p:txBody>
      </p:sp>
      <p:sp>
        <p:nvSpPr>
          <p:cNvPr id="21" name="Text 19">
            <a:hlinkClick r:id="rId8" action="ppaction://hlinksldjump"/>
          </p:cNvPr>
          <p:cNvSpPr/>
          <p:nvPr/>
        </p:nvSpPr>
        <p:spPr>
          <a:xfrm>
            <a:off x="7242048" y="1453896"/>
            <a:ext cx="420624" cy="118872"/>
          </a:xfrm>
          <a:prstGeom prst="rect">
            <a:avLst/>
          </a:prstGeom>
          <a:noFill/>
          <a:ln/>
        </p:spPr>
        <p:txBody>
          <a:bodyPr wrap="square" lIns="381" tIns="381" rIns="381" bIns="381" rtlCol="0" anchor="ctr">
            <a:normAutofit/>
          </a:bodyPr>
          <a:lstStyle/>
          <a:p>
            <a:pPr marL="0" indent="0" algn="ctr">
              <a:buNone/>
            </a:pPr>
            <a:r>
              <a:rPr lang="en-US" sz="640" b="1" u="sng" dirty="0">
                <a:solidFill>
                  <a:srgbClr val="2A3B50"/>
                </a:solidFill>
                <a:latin typeface="Arial" pitchFamily="34" charset="0"/>
                <a:ea typeface="Arial" pitchFamily="34" charset="-122"/>
                <a:cs typeface="Arial" pitchFamily="34" charset="-120"/>
                <a:hlinkClick r:id="rId8" action="ppaction://hlinksldjump">
                  <a:extLst>
                    <a:ext uri="{A12FA001-AC4F-418D-AE19-62706E023703}">
                      <ahyp:hlinkClr xmlns:ahyp="http://schemas.microsoft.com/office/drawing/2018/hyperlinkcolor" val="tx"/>
                    </a:ext>
                  </a:extLst>
                </a:hlinkClick>
              </a:rPr>
              <a:t>Book</a:t>
            </a:r>
            <a:endParaRPr lang="en-US" sz="640" dirty="0"/>
          </a:p>
        </p:txBody>
      </p:sp>
      <p:sp>
        <p:nvSpPr>
          <p:cNvPr id="22" name="Shape 20">
            <a:hlinkClick r:id="rId9" action="ppaction://hlinksldjump"/>
          </p:cNvPr>
          <p:cNvSpPr/>
          <p:nvPr/>
        </p:nvSpPr>
        <p:spPr>
          <a:xfrm>
            <a:off x="10378440" y="1417320"/>
            <a:ext cx="530352" cy="283464"/>
          </a:xfrm>
          <a:prstGeom prst="roundRect">
            <a:avLst>
              <a:gd name="adj" fmla="val 25806"/>
            </a:avLst>
          </a:prstGeom>
          <a:solidFill>
            <a:srgbClr val="132133"/>
          </a:solidFill>
          <a:ln w="12700">
            <a:solidFill>
              <a:srgbClr val="132133">
                <a:alpha val="0"/>
              </a:srgbClr>
            </a:solidFill>
            <a:prstDash val="solid"/>
          </a:ln>
        </p:spPr>
        <p:txBody>
          <a:bodyPr/>
          <a:lstStyle/>
          <a:p>
            <a:endParaRPr lang="en-US"/>
          </a:p>
        </p:txBody>
      </p:sp>
      <p:sp>
        <p:nvSpPr>
          <p:cNvPr id="23" name="Text 21">
            <a:hlinkClick r:id="rId9" action="ppaction://hlinksldjump"/>
          </p:cNvPr>
          <p:cNvSpPr/>
          <p:nvPr/>
        </p:nvSpPr>
        <p:spPr>
          <a:xfrm>
            <a:off x="10396728" y="1444752"/>
            <a:ext cx="493776" cy="182880"/>
          </a:xfrm>
          <a:prstGeom prst="rect">
            <a:avLst/>
          </a:prstGeom>
          <a:noFill/>
          <a:ln/>
        </p:spPr>
        <p:txBody>
          <a:bodyPr wrap="square" lIns="381" tIns="381" rIns="381" bIns="381" rtlCol="0" anchor="ctr">
            <a:normAutofit/>
          </a:bodyPr>
          <a:lstStyle/>
          <a:p>
            <a:pPr marL="0" indent="0" algn="ctr">
              <a:buNone/>
            </a:pPr>
            <a:r>
              <a:rPr lang="en-US" sz="600" b="1" u="sng" dirty="0">
                <a:solidFill>
                  <a:srgbClr val="FFFFFF"/>
                </a:solidFill>
                <a:latin typeface="Arial" pitchFamily="34" charset="0"/>
                <a:ea typeface="Arial" pitchFamily="34" charset="-122"/>
                <a:cs typeface="Arial" pitchFamily="34" charset="-120"/>
                <a:hlinkClick r:id="rId9" action="ppaction://hlinksldjump">
                  <a:extLst>
                    <a:ext uri="{A12FA001-AC4F-418D-AE19-62706E023703}">
                      <ahyp:hlinkClr xmlns:ahyp="http://schemas.microsoft.com/office/drawing/2018/hyperlinkcolor" val="tx"/>
                    </a:ext>
                  </a:extLst>
                </a:hlinkClick>
              </a:rPr>
              <a:t>Login</a:t>
            </a:r>
            <a:endParaRPr lang="en-US" sz="600" dirty="0"/>
          </a:p>
        </p:txBody>
      </p:sp>
      <p:sp>
        <p:nvSpPr>
          <p:cNvPr id="24" name="Shape 22">
            <a:hlinkClick r:id="rId10" action="ppaction://hlinksldjump"/>
          </p:cNvPr>
          <p:cNvSpPr/>
          <p:nvPr/>
        </p:nvSpPr>
        <p:spPr>
          <a:xfrm>
            <a:off x="10991088" y="1417320"/>
            <a:ext cx="585216" cy="283464"/>
          </a:xfrm>
          <a:prstGeom prst="roundRect">
            <a:avLst>
              <a:gd name="adj" fmla="val 25806"/>
            </a:avLst>
          </a:prstGeom>
          <a:solidFill>
            <a:srgbClr val="276F7B"/>
          </a:solidFill>
          <a:ln w="12700">
            <a:solidFill>
              <a:srgbClr val="276F7B">
                <a:alpha val="0"/>
              </a:srgbClr>
            </a:solidFill>
            <a:prstDash val="solid"/>
          </a:ln>
        </p:spPr>
        <p:txBody>
          <a:bodyPr/>
          <a:lstStyle/>
          <a:p>
            <a:endParaRPr lang="en-US"/>
          </a:p>
        </p:txBody>
      </p:sp>
      <p:sp>
        <p:nvSpPr>
          <p:cNvPr id="25" name="Text 23">
            <a:hlinkClick r:id="rId10" action="ppaction://hlinksldjump"/>
          </p:cNvPr>
          <p:cNvSpPr/>
          <p:nvPr/>
        </p:nvSpPr>
        <p:spPr>
          <a:xfrm>
            <a:off x="11009376" y="1444752"/>
            <a:ext cx="548640" cy="182880"/>
          </a:xfrm>
          <a:prstGeom prst="rect">
            <a:avLst/>
          </a:prstGeom>
          <a:noFill/>
          <a:ln/>
        </p:spPr>
        <p:txBody>
          <a:bodyPr wrap="square" lIns="381" tIns="381" rIns="381" bIns="381" rtlCol="0" anchor="ctr">
            <a:normAutofit/>
          </a:bodyPr>
          <a:lstStyle/>
          <a:p>
            <a:pPr marL="0" indent="0" algn="ctr">
              <a:buNone/>
            </a:pPr>
            <a:r>
              <a:rPr lang="en-US" sz="600" b="1" u="sng" dirty="0">
                <a:solidFill>
                  <a:srgbClr val="FFFFFF"/>
                </a:solidFill>
                <a:latin typeface="Arial" pitchFamily="34" charset="0"/>
                <a:ea typeface="Arial" pitchFamily="34" charset="-122"/>
                <a:cs typeface="Arial" pitchFamily="34" charset="-120"/>
                <a:hlinkClick r:id="rId10" action="ppaction://hlinksldjump">
                  <a:extLst>
                    <a:ext uri="{A12FA001-AC4F-418D-AE19-62706E023703}">
                      <ahyp:hlinkClr xmlns:ahyp="http://schemas.microsoft.com/office/drawing/2018/hyperlinkcolor" val="tx"/>
                    </a:ext>
                  </a:extLst>
                </a:hlinkClick>
              </a:rPr>
              <a:t>Register</a:t>
            </a:r>
            <a:endParaRPr lang="en-US" sz="600" dirty="0"/>
          </a:p>
        </p:txBody>
      </p:sp>
      <p:sp>
        <p:nvSpPr>
          <p:cNvPr id="26" name="Text 24"/>
          <p:cNvSpPr/>
          <p:nvPr/>
        </p:nvSpPr>
        <p:spPr>
          <a:xfrm>
            <a:off x="502920" y="6510528"/>
            <a:ext cx="6400800" cy="201168"/>
          </a:xfrm>
          <a:prstGeom prst="rect">
            <a:avLst/>
          </a:prstGeom>
          <a:noFill/>
          <a:ln/>
        </p:spPr>
        <p:txBody>
          <a:bodyPr wrap="square" lIns="381" tIns="381" rIns="381" bIns="381" rtlCol="0" anchor="ctr">
            <a:normAutofit/>
          </a:bodyPr>
          <a:lstStyle/>
          <a:p>
            <a:pPr marL="0" indent="0" algn="l">
              <a:buNone/>
            </a:pPr>
            <a:r>
              <a:rPr lang="en-US" sz="710" dirty="0">
                <a:solidFill>
                  <a:srgbClr val="536273"/>
                </a:solidFill>
                <a:latin typeface="Arial" pitchFamily="34" charset="0"/>
                <a:ea typeface="Arial" pitchFamily="34" charset="-122"/>
                <a:cs typeface="Arial" pitchFamily="34" charset="-120"/>
              </a:rPr>
              <a:t>Slide 9 | Editable components | Use Slide Show mode to click through the prototype</a:t>
            </a:r>
            <a:endParaRPr lang="en-US" sz="710" dirty="0"/>
          </a:p>
        </p:txBody>
      </p:sp>
      <p:sp>
        <p:nvSpPr>
          <p:cNvPr id="27" name="Shape 25">
            <a:hlinkClick r:id="rId3" action="ppaction://hlinksldjump"/>
          </p:cNvPr>
          <p:cNvSpPr/>
          <p:nvPr/>
        </p:nvSpPr>
        <p:spPr>
          <a:xfrm>
            <a:off x="7635240" y="6455664"/>
            <a:ext cx="749808" cy="283464"/>
          </a:xfrm>
          <a:prstGeom prst="roundRect">
            <a:avLst>
              <a:gd name="adj" fmla="val 25806"/>
            </a:avLst>
          </a:prstGeom>
          <a:solidFill>
            <a:srgbClr val="FFFFFF">
              <a:alpha val="30000"/>
            </a:srgbClr>
          </a:solidFill>
          <a:ln w="12700">
            <a:solidFill>
              <a:srgbClr val="536273">
                <a:alpha val="50000"/>
              </a:srgbClr>
            </a:solidFill>
            <a:prstDash val="solid"/>
          </a:ln>
        </p:spPr>
        <p:txBody>
          <a:bodyPr/>
          <a:lstStyle/>
          <a:p>
            <a:endParaRPr lang="en-US"/>
          </a:p>
        </p:txBody>
      </p:sp>
      <p:sp>
        <p:nvSpPr>
          <p:cNvPr id="28" name="Text 26">
            <a:hlinkClick r:id="rId3" action="ppaction://hlinksldjump"/>
          </p:cNvPr>
          <p:cNvSpPr/>
          <p:nvPr/>
        </p:nvSpPr>
        <p:spPr>
          <a:xfrm>
            <a:off x="7653528" y="6483096"/>
            <a:ext cx="713232" cy="182880"/>
          </a:xfrm>
          <a:prstGeom prst="rect">
            <a:avLst/>
          </a:prstGeom>
          <a:noFill/>
          <a:ln/>
        </p:spPr>
        <p:txBody>
          <a:bodyPr wrap="square" lIns="381" tIns="381" rIns="381" bIns="381" rtlCol="0" anchor="ctr">
            <a:normAutofit/>
          </a:bodyPr>
          <a:lstStyle/>
          <a:p>
            <a:pPr marL="0" indent="0" algn="ctr">
              <a:buNone/>
            </a:pPr>
            <a:r>
              <a:rPr lang="en-US" sz="800" b="1" u="sng" dirty="0">
                <a:solidFill>
                  <a:srgbClr val="2A3B50"/>
                </a:solidFill>
                <a:latin typeface="Arial" pitchFamily="34" charset="0"/>
                <a:ea typeface="Arial" pitchFamily="34" charset="-122"/>
                <a:cs typeface="Arial" pitchFamily="34" charset="-120"/>
                <a:hlinkClick r:id="rId3" action="ppaction://hlinksldjump">
                  <a:extLst>
                    <a:ext uri="{A12FA001-AC4F-418D-AE19-62706E023703}">
                      <ahyp:hlinkClr xmlns:ahyp="http://schemas.microsoft.com/office/drawing/2018/hyperlinkcolor" val="tx"/>
                    </a:ext>
                  </a:extLst>
                </a:hlinkClick>
              </a:rPr>
              <a:t>Home</a:t>
            </a:r>
            <a:endParaRPr lang="en-US" sz="800" dirty="0"/>
          </a:p>
        </p:txBody>
      </p:sp>
      <p:sp>
        <p:nvSpPr>
          <p:cNvPr id="29" name="Shape 27">
            <a:hlinkClick r:id="rId5" action="ppaction://hlinksldjump"/>
          </p:cNvPr>
          <p:cNvSpPr/>
          <p:nvPr/>
        </p:nvSpPr>
        <p:spPr>
          <a:xfrm>
            <a:off x="8476488" y="6455664"/>
            <a:ext cx="749808" cy="283464"/>
          </a:xfrm>
          <a:prstGeom prst="roundRect">
            <a:avLst>
              <a:gd name="adj" fmla="val 25806"/>
            </a:avLst>
          </a:prstGeom>
          <a:solidFill>
            <a:srgbClr val="FFFFFF">
              <a:alpha val="30000"/>
            </a:srgbClr>
          </a:solidFill>
          <a:ln w="12700">
            <a:solidFill>
              <a:srgbClr val="536273">
                <a:alpha val="50000"/>
              </a:srgbClr>
            </a:solidFill>
            <a:prstDash val="solid"/>
          </a:ln>
        </p:spPr>
        <p:txBody>
          <a:bodyPr/>
          <a:lstStyle/>
          <a:p>
            <a:endParaRPr lang="en-US"/>
          </a:p>
        </p:txBody>
      </p:sp>
      <p:sp>
        <p:nvSpPr>
          <p:cNvPr id="30" name="Text 28">
            <a:hlinkClick r:id="rId5" action="ppaction://hlinksldjump"/>
          </p:cNvPr>
          <p:cNvSpPr/>
          <p:nvPr/>
        </p:nvSpPr>
        <p:spPr>
          <a:xfrm>
            <a:off x="8494776" y="6483096"/>
            <a:ext cx="713232" cy="182880"/>
          </a:xfrm>
          <a:prstGeom prst="rect">
            <a:avLst/>
          </a:prstGeom>
          <a:noFill/>
          <a:ln/>
        </p:spPr>
        <p:txBody>
          <a:bodyPr wrap="square" lIns="381" tIns="381" rIns="381" bIns="381" rtlCol="0" anchor="ctr">
            <a:normAutofit/>
          </a:bodyPr>
          <a:lstStyle/>
          <a:p>
            <a:pPr marL="0" indent="0" algn="ctr">
              <a:buNone/>
            </a:pPr>
            <a:r>
              <a:rPr lang="en-US" sz="800" b="1" u="sng" dirty="0">
                <a:solidFill>
                  <a:srgbClr val="2A3B50"/>
                </a:solidFill>
                <a:latin typeface="Arial" pitchFamily="34" charset="0"/>
                <a:ea typeface="Arial" pitchFamily="34" charset="-122"/>
                <a:cs typeface="Arial" pitchFamily="34" charset="-120"/>
                <a:hlinkClick r:id="rId5" action="ppaction://hlinksldjump">
                  <a:extLst>
                    <a:ext uri="{A12FA001-AC4F-418D-AE19-62706E023703}">
                      <ahyp:hlinkClr xmlns:ahyp="http://schemas.microsoft.com/office/drawing/2018/hyperlinkcolor" val="tx"/>
                    </a:ext>
                  </a:extLst>
                </a:hlinkClick>
              </a:rPr>
              <a:t>Rooms</a:t>
            </a:r>
            <a:endParaRPr lang="en-US" sz="800" dirty="0"/>
          </a:p>
        </p:txBody>
      </p:sp>
      <p:sp>
        <p:nvSpPr>
          <p:cNvPr id="31" name="Shape 29">
            <a:hlinkClick r:id="rId8" action="ppaction://hlinksldjump"/>
          </p:cNvPr>
          <p:cNvSpPr/>
          <p:nvPr/>
        </p:nvSpPr>
        <p:spPr>
          <a:xfrm>
            <a:off x="9317736" y="6455664"/>
            <a:ext cx="749808" cy="283464"/>
          </a:xfrm>
          <a:prstGeom prst="roundRect">
            <a:avLst>
              <a:gd name="adj" fmla="val 25806"/>
            </a:avLst>
          </a:prstGeom>
          <a:solidFill>
            <a:srgbClr val="FFFFFF">
              <a:alpha val="30000"/>
            </a:srgbClr>
          </a:solidFill>
          <a:ln w="12700">
            <a:solidFill>
              <a:srgbClr val="536273">
                <a:alpha val="50000"/>
              </a:srgbClr>
            </a:solidFill>
            <a:prstDash val="solid"/>
          </a:ln>
        </p:spPr>
        <p:txBody>
          <a:bodyPr/>
          <a:lstStyle/>
          <a:p>
            <a:endParaRPr lang="en-US"/>
          </a:p>
        </p:txBody>
      </p:sp>
      <p:sp>
        <p:nvSpPr>
          <p:cNvPr id="32" name="Text 30">
            <a:hlinkClick r:id="rId8" action="ppaction://hlinksldjump"/>
          </p:cNvPr>
          <p:cNvSpPr/>
          <p:nvPr/>
        </p:nvSpPr>
        <p:spPr>
          <a:xfrm>
            <a:off x="9336024" y="6483096"/>
            <a:ext cx="713232" cy="182880"/>
          </a:xfrm>
          <a:prstGeom prst="rect">
            <a:avLst/>
          </a:prstGeom>
          <a:noFill/>
          <a:ln/>
        </p:spPr>
        <p:txBody>
          <a:bodyPr wrap="square" lIns="381" tIns="381" rIns="381" bIns="381" rtlCol="0" anchor="ctr">
            <a:normAutofit/>
          </a:bodyPr>
          <a:lstStyle/>
          <a:p>
            <a:pPr marL="0" indent="0" algn="ctr">
              <a:buNone/>
            </a:pPr>
            <a:r>
              <a:rPr lang="en-US" sz="800" b="1" u="sng" dirty="0">
                <a:solidFill>
                  <a:srgbClr val="2A3B50"/>
                </a:solidFill>
                <a:latin typeface="Arial" pitchFamily="34" charset="0"/>
                <a:ea typeface="Arial" pitchFamily="34" charset="-122"/>
                <a:cs typeface="Arial" pitchFamily="34" charset="-120"/>
                <a:hlinkClick r:id="rId8" action="ppaction://hlinksldjump">
                  <a:extLst>
                    <a:ext uri="{A12FA001-AC4F-418D-AE19-62706E023703}">
                      <ahyp:hlinkClr xmlns:ahyp="http://schemas.microsoft.com/office/drawing/2018/hyperlinkcolor" val="tx"/>
                    </a:ext>
                  </a:extLst>
                </a:hlinkClick>
              </a:rPr>
              <a:t>Book</a:t>
            </a:r>
            <a:endParaRPr lang="en-US" sz="800" dirty="0"/>
          </a:p>
        </p:txBody>
      </p:sp>
      <p:sp>
        <p:nvSpPr>
          <p:cNvPr id="33" name="Shape 31">
            <a:hlinkClick r:id="rId11" action="ppaction://hlinksldjump"/>
          </p:cNvPr>
          <p:cNvSpPr/>
          <p:nvPr/>
        </p:nvSpPr>
        <p:spPr>
          <a:xfrm>
            <a:off x="10158984" y="6455664"/>
            <a:ext cx="749808" cy="283464"/>
          </a:xfrm>
          <a:prstGeom prst="roundRect">
            <a:avLst>
              <a:gd name="adj" fmla="val 25806"/>
            </a:avLst>
          </a:prstGeom>
          <a:solidFill>
            <a:srgbClr val="FFFFFF">
              <a:alpha val="30000"/>
            </a:srgbClr>
          </a:solidFill>
          <a:ln w="12700">
            <a:solidFill>
              <a:srgbClr val="536273">
                <a:alpha val="50000"/>
              </a:srgbClr>
            </a:solidFill>
            <a:prstDash val="solid"/>
          </a:ln>
        </p:spPr>
        <p:txBody>
          <a:bodyPr/>
          <a:lstStyle/>
          <a:p>
            <a:endParaRPr lang="en-US"/>
          </a:p>
        </p:txBody>
      </p:sp>
      <p:sp>
        <p:nvSpPr>
          <p:cNvPr id="34" name="Text 32">
            <a:hlinkClick r:id="rId11" action="ppaction://hlinksldjump"/>
          </p:cNvPr>
          <p:cNvSpPr/>
          <p:nvPr/>
        </p:nvSpPr>
        <p:spPr>
          <a:xfrm>
            <a:off x="10177272" y="6483096"/>
            <a:ext cx="713232" cy="182880"/>
          </a:xfrm>
          <a:prstGeom prst="rect">
            <a:avLst/>
          </a:prstGeom>
          <a:noFill/>
          <a:ln/>
        </p:spPr>
        <p:txBody>
          <a:bodyPr wrap="square" lIns="381" tIns="381" rIns="381" bIns="381" rtlCol="0" anchor="ctr">
            <a:normAutofit/>
          </a:bodyPr>
          <a:lstStyle/>
          <a:p>
            <a:pPr marL="0" indent="0" algn="ctr">
              <a:buNone/>
            </a:pPr>
            <a:r>
              <a:rPr lang="en-US" sz="800" b="1" u="sng" dirty="0">
                <a:solidFill>
                  <a:srgbClr val="2A3B50"/>
                </a:solidFill>
                <a:latin typeface="Arial" pitchFamily="34" charset="0"/>
                <a:ea typeface="Arial" pitchFamily="34" charset="-122"/>
                <a:cs typeface="Arial" pitchFamily="34" charset="-120"/>
                <a:hlinkClick r:id="rId11" action="ppaction://hlinksldjump">
                  <a:extLst>
                    <a:ext uri="{A12FA001-AC4F-418D-AE19-62706E023703}">
                      <ahyp:hlinkClr xmlns:ahyp="http://schemas.microsoft.com/office/drawing/2018/hyperlinkcolor" val="tx"/>
                    </a:ext>
                  </a:extLst>
                </a:hlinkClick>
              </a:rPr>
              <a:t>Lookup</a:t>
            </a:r>
            <a:endParaRPr lang="en-US" sz="800" dirty="0"/>
          </a:p>
        </p:txBody>
      </p:sp>
      <p:sp>
        <p:nvSpPr>
          <p:cNvPr id="35" name="Shape 33">
            <a:hlinkClick r:id="rId12" action="ppaction://hlinksldjump"/>
          </p:cNvPr>
          <p:cNvSpPr/>
          <p:nvPr/>
        </p:nvSpPr>
        <p:spPr>
          <a:xfrm>
            <a:off x="11000232" y="6455664"/>
            <a:ext cx="868680" cy="283464"/>
          </a:xfrm>
          <a:prstGeom prst="roundRect">
            <a:avLst>
              <a:gd name="adj" fmla="val 25806"/>
            </a:avLst>
          </a:prstGeom>
          <a:solidFill>
            <a:srgbClr val="132133"/>
          </a:solidFill>
          <a:ln w="12700">
            <a:solidFill>
              <a:srgbClr val="132133">
                <a:alpha val="0"/>
              </a:srgbClr>
            </a:solidFill>
            <a:prstDash val="solid"/>
          </a:ln>
        </p:spPr>
        <p:txBody>
          <a:bodyPr/>
          <a:lstStyle/>
          <a:p>
            <a:endParaRPr lang="en-US"/>
          </a:p>
        </p:txBody>
      </p:sp>
      <p:sp>
        <p:nvSpPr>
          <p:cNvPr id="36" name="Text 34">
            <a:hlinkClick r:id="rId12" action="ppaction://hlinksldjump"/>
          </p:cNvPr>
          <p:cNvSpPr/>
          <p:nvPr/>
        </p:nvSpPr>
        <p:spPr>
          <a:xfrm>
            <a:off x="11018520" y="6483096"/>
            <a:ext cx="832104" cy="182880"/>
          </a:xfrm>
          <a:prstGeom prst="rect">
            <a:avLst/>
          </a:prstGeom>
          <a:noFill/>
          <a:ln/>
        </p:spPr>
        <p:txBody>
          <a:bodyPr wrap="square" lIns="381" tIns="381" rIns="381" bIns="381" rtlCol="0" anchor="ctr">
            <a:normAutofit/>
          </a:bodyPr>
          <a:lstStyle/>
          <a:p>
            <a:pPr marL="0" indent="0" algn="ctr">
              <a:buNone/>
            </a:pPr>
            <a:r>
              <a:rPr lang="en-US" sz="770" b="1" u="sng" dirty="0">
                <a:solidFill>
                  <a:srgbClr val="FFFFFF"/>
                </a:solidFill>
                <a:latin typeface="Arial" pitchFamily="34" charset="0"/>
                <a:ea typeface="Arial" pitchFamily="34" charset="-122"/>
                <a:cs typeface="Arial" pitchFamily="34" charset="-120"/>
                <a:hlinkClick r:id="rId12" action="ppaction://hlinksldjump">
                  <a:extLst>
                    <a:ext uri="{A12FA001-AC4F-418D-AE19-62706E023703}">
                      <ahyp:hlinkClr xmlns:ahyp="http://schemas.microsoft.com/office/drawing/2018/hyperlinkcolor" val="tx"/>
                    </a:ext>
                  </a:extLst>
                </a:hlinkClick>
              </a:rPr>
              <a:t>Site Flow</a:t>
            </a:r>
            <a:endParaRPr lang="en-US" sz="770" dirty="0"/>
          </a:p>
        </p:txBody>
      </p:sp>
      <p:sp>
        <p:nvSpPr>
          <p:cNvPr id="37" name="Text 35"/>
          <p:cNvSpPr/>
          <p:nvPr/>
        </p:nvSpPr>
        <p:spPr>
          <a:xfrm>
            <a:off x="822960" y="2103120"/>
            <a:ext cx="9509760" cy="146304"/>
          </a:xfrm>
          <a:prstGeom prst="rect">
            <a:avLst/>
          </a:prstGeom>
          <a:noFill/>
          <a:ln/>
        </p:spPr>
        <p:txBody>
          <a:bodyPr wrap="square" lIns="381" tIns="381" rIns="381" bIns="381" rtlCol="0" anchor="ctr">
            <a:normAutofit/>
          </a:bodyPr>
          <a:lstStyle/>
          <a:p>
            <a:pPr marL="0" indent="0" algn="l">
              <a:buNone/>
            </a:pPr>
            <a:r>
              <a:rPr lang="en-US" sz="680" b="1" dirty="0">
                <a:solidFill>
                  <a:srgbClr val="276F7B"/>
                </a:solidFill>
                <a:latin typeface="Arial" pitchFamily="34" charset="0"/>
                <a:ea typeface="Arial" pitchFamily="34" charset="-122"/>
                <a:cs typeface="Arial" pitchFamily="34" charset="-120"/>
              </a:rPr>
              <a:t>CREATE AN ACCOUNT</a:t>
            </a:r>
            <a:endParaRPr lang="en-US" sz="680" dirty="0"/>
          </a:p>
        </p:txBody>
      </p:sp>
      <p:sp>
        <p:nvSpPr>
          <p:cNvPr id="38" name="Text 36"/>
          <p:cNvSpPr/>
          <p:nvPr/>
        </p:nvSpPr>
        <p:spPr>
          <a:xfrm>
            <a:off x="822960" y="2304288"/>
            <a:ext cx="9509760" cy="393192"/>
          </a:xfrm>
          <a:prstGeom prst="rect">
            <a:avLst/>
          </a:prstGeom>
          <a:noFill/>
          <a:ln/>
        </p:spPr>
        <p:txBody>
          <a:bodyPr wrap="square" lIns="381" tIns="381" rIns="381" bIns="381" rtlCol="0" anchor="ctr">
            <a:normAutofit/>
          </a:bodyPr>
          <a:lstStyle/>
          <a:p>
            <a:pPr marL="0" indent="0" algn="l">
              <a:buNone/>
            </a:pPr>
            <a:r>
              <a:rPr lang="en-US" sz="2000" dirty="0">
                <a:solidFill>
                  <a:srgbClr val="132133"/>
                </a:solidFill>
                <a:latin typeface="Georgia" pitchFamily="34" charset="0"/>
                <a:ea typeface="Georgia" pitchFamily="34" charset="-122"/>
                <a:cs typeface="Georgia" pitchFamily="34" charset="-120"/>
              </a:rPr>
              <a:t>Register for Your Free Account</a:t>
            </a:r>
            <a:endParaRPr lang="en-US" sz="2000" dirty="0"/>
          </a:p>
        </p:txBody>
      </p:sp>
      <p:sp>
        <p:nvSpPr>
          <p:cNvPr id="39" name="Text 37"/>
          <p:cNvSpPr/>
          <p:nvPr/>
        </p:nvSpPr>
        <p:spPr>
          <a:xfrm>
            <a:off x="822960" y="2798064"/>
            <a:ext cx="9509760" cy="256032"/>
          </a:xfrm>
          <a:prstGeom prst="rect">
            <a:avLst/>
          </a:prstGeom>
          <a:noFill/>
          <a:ln/>
        </p:spPr>
        <p:txBody>
          <a:bodyPr wrap="square" lIns="381" tIns="381" rIns="381" bIns="381" rtlCol="0" anchor="t">
            <a:normAutofit/>
          </a:bodyPr>
          <a:lstStyle/>
          <a:p>
            <a:pPr marL="0" indent="0" algn="l">
              <a:buNone/>
            </a:pPr>
            <a:r>
              <a:rPr lang="en-US" sz="840" dirty="0">
                <a:solidFill>
                  <a:srgbClr val="2A3B50"/>
                </a:solidFill>
                <a:latin typeface="Arial" pitchFamily="34" charset="0"/>
                <a:ea typeface="Arial" pitchFamily="34" charset="-122"/>
                <a:cs typeface="Arial" pitchFamily="34" charset="-120"/>
              </a:rPr>
              <a:t>Create an account to confirm reservations and return later to look up your stay.</a:t>
            </a:r>
            <a:endParaRPr lang="en-US" sz="840" dirty="0"/>
          </a:p>
        </p:txBody>
      </p:sp>
      <p:sp>
        <p:nvSpPr>
          <p:cNvPr id="40" name="Shape 38"/>
          <p:cNvSpPr/>
          <p:nvPr/>
        </p:nvSpPr>
        <p:spPr>
          <a:xfrm>
            <a:off x="822960" y="3337560"/>
            <a:ext cx="5486400" cy="2880360"/>
          </a:xfrm>
          <a:prstGeom prst="roundRect">
            <a:avLst>
              <a:gd name="adj" fmla="val 3175"/>
            </a:avLst>
          </a:prstGeom>
          <a:solidFill>
            <a:srgbClr val="FFFFFF">
              <a:alpha val="92000"/>
            </a:srgbClr>
          </a:solidFill>
          <a:ln w="12700">
            <a:solidFill>
              <a:srgbClr val="E9DFCF"/>
            </a:solidFill>
            <a:prstDash val="solid"/>
          </a:ln>
          <a:effectLst>
            <a:outerShdw blurRad="12700" dist="7620" dir="2700000" algn="bl" rotWithShape="0">
              <a:srgbClr val="132133">
                <a:alpha val="7000"/>
              </a:srgbClr>
            </a:outerShdw>
          </a:effectLst>
        </p:spPr>
        <p:txBody>
          <a:bodyPr/>
          <a:lstStyle/>
          <a:p>
            <a:endParaRPr lang="en-US"/>
          </a:p>
        </p:txBody>
      </p:sp>
      <p:sp>
        <p:nvSpPr>
          <p:cNvPr id="41" name="Text 39"/>
          <p:cNvSpPr/>
          <p:nvPr/>
        </p:nvSpPr>
        <p:spPr>
          <a:xfrm>
            <a:off x="1051560" y="3547872"/>
            <a:ext cx="2468880" cy="210312"/>
          </a:xfrm>
          <a:prstGeom prst="rect">
            <a:avLst/>
          </a:prstGeom>
          <a:noFill/>
          <a:ln/>
        </p:spPr>
        <p:txBody>
          <a:bodyPr wrap="square" lIns="381" tIns="381" rIns="381" bIns="381" rtlCol="0" anchor="ctr">
            <a:normAutofit/>
          </a:bodyPr>
          <a:lstStyle/>
          <a:p>
            <a:pPr marL="0" indent="0" algn="l">
              <a:buNone/>
            </a:pPr>
            <a:r>
              <a:rPr lang="en-US" sz="1300" dirty="0">
                <a:solidFill>
                  <a:srgbClr val="132133"/>
                </a:solidFill>
                <a:latin typeface="Georgia" pitchFamily="34" charset="0"/>
                <a:ea typeface="Georgia" pitchFamily="34" charset="-122"/>
                <a:cs typeface="Georgia" pitchFamily="34" charset="-120"/>
              </a:rPr>
              <a:t>Guest Information</a:t>
            </a:r>
            <a:endParaRPr lang="en-US" sz="1300" dirty="0"/>
          </a:p>
        </p:txBody>
      </p:sp>
      <p:sp>
        <p:nvSpPr>
          <p:cNvPr id="42" name="Text 40"/>
          <p:cNvSpPr/>
          <p:nvPr/>
        </p:nvSpPr>
        <p:spPr>
          <a:xfrm>
            <a:off x="1051560" y="3913632"/>
            <a:ext cx="2331720" cy="100584"/>
          </a:xfrm>
          <a:prstGeom prst="rect">
            <a:avLst/>
          </a:prstGeom>
          <a:noFill/>
          <a:ln/>
        </p:spPr>
        <p:txBody>
          <a:bodyPr wrap="square" lIns="381" tIns="381" rIns="381" bIns="381" rtlCol="0" anchor="ctr">
            <a:normAutofit/>
          </a:bodyPr>
          <a:lstStyle/>
          <a:p>
            <a:pPr marL="0" indent="0" algn="l">
              <a:buNone/>
            </a:pPr>
            <a:r>
              <a:rPr lang="en-US" sz="530" b="1" dirty="0">
                <a:solidFill>
                  <a:srgbClr val="2A3B50"/>
                </a:solidFill>
                <a:latin typeface="Arial" pitchFamily="34" charset="0"/>
                <a:ea typeface="Arial" pitchFamily="34" charset="-122"/>
                <a:cs typeface="Arial" pitchFamily="34" charset="-120"/>
              </a:rPr>
              <a:t>Email Address</a:t>
            </a:r>
            <a:endParaRPr lang="en-US" sz="530" dirty="0"/>
          </a:p>
        </p:txBody>
      </p:sp>
      <p:sp>
        <p:nvSpPr>
          <p:cNvPr id="43" name="Shape 41"/>
          <p:cNvSpPr/>
          <p:nvPr/>
        </p:nvSpPr>
        <p:spPr>
          <a:xfrm>
            <a:off x="1051560" y="4041648"/>
            <a:ext cx="2331720" cy="310896"/>
          </a:xfrm>
          <a:prstGeom prst="roundRect">
            <a:avLst>
              <a:gd name="adj" fmla="val 11765"/>
            </a:avLst>
          </a:prstGeom>
          <a:solidFill>
            <a:srgbClr val="FFFFFF"/>
          </a:solidFill>
          <a:ln w="12700">
            <a:solidFill>
              <a:srgbClr val="B8C2C5">
                <a:alpha val="80000"/>
              </a:srgbClr>
            </a:solidFill>
            <a:prstDash val="solid"/>
          </a:ln>
        </p:spPr>
        <p:txBody>
          <a:bodyPr/>
          <a:lstStyle/>
          <a:p>
            <a:endParaRPr lang="en-US"/>
          </a:p>
        </p:txBody>
      </p:sp>
      <p:sp>
        <p:nvSpPr>
          <p:cNvPr id="44" name="Text 42"/>
          <p:cNvSpPr/>
          <p:nvPr/>
        </p:nvSpPr>
        <p:spPr>
          <a:xfrm>
            <a:off x="1124712" y="4133088"/>
            <a:ext cx="2185416" cy="82296"/>
          </a:xfrm>
          <a:prstGeom prst="rect">
            <a:avLst/>
          </a:prstGeom>
          <a:noFill/>
          <a:ln/>
        </p:spPr>
        <p:txBody>
          <a:bodyPr wrap="square" lIns="381" tIns="381" rIns="381" bIns="381" rtlCol="0" anchor="ctr">
            <a:normAutofit/>
          </a:bodyPr>
          <a:lstStyle/>
          <a:p>
            <a:pPr marL="0" indent="0" algn="l">
              <a:buNone/>
            </a:pPr>
            <a:r>
              <a:rPr lang="en-US" sz="510" dirty="0">
                <a:solidFill>
                  <a:srgbClr val="536273"/>
                </a:solidFill>
                <a:latin typeface="Arial" pitchFamily="34" charset="0"/>
                <a:ea typeface="Arial" pitchFamily="34" charset="-122"/>
                <a:cs typeface="Arial" pitchFamily="34" charset="-120"/>
              </a:rPr>
              <a:t>you@example.com</a:t>
            </a:r>
            <a:endParaRPr lang="en-US" sz="510" dirty="0"/>
          </a:p>
        </p:txBody>
      </p:sp>
      <p:sp>
        <p:nvSpPr>
          <p:cNvPr id="45" name="Text 43"/>
          <p:cNvSpPr/>
          <p:nvPr/>
        </p:nvSpPr>
        <p:spPr>
          <a:xfrm>
            <a:off x="3703320" y="3913632"/>
            <a:ext cx="2331720" cy="100584"/>
          </a:xfrm>
          <a:prstGeom prst="rect">
            <a:avLst/>
          </a:prstGeom>
          <a:noFill/>
          <a:ln/>
        </p:spPr>
        <p:txBody>
          <a:bodyPr wrap="square" lIns="381" tIns="381" rIns="381" bIns="381" rtlCol="0" anchor="ctr">
            <a:normAutofit/>
          </a:bodyPr>
          <a:lstStyle/>
          <a:p>
            <a:pPr marL="0" indent="0" algn="l">
              <a:buNone/>
            </a:pPr>
            <a:r>
              <a:rPr lang="en-US" sz="530" b="1" dirty="0">
                <a:solidFill>
                  <a:srgbClr val="2A3B50"/>
                </a:solidFill>
                <a:latin typeface="Arial" pitchFamily="34" charset="0"/>
                <a:ea typeface="Arial" pitchFamily="34" charset="-122"/>
                <a:cs typeface="Arial" pitchFamily="34" charset="-120"/>
              </a:rPr>
              <a:t>Telephone</a:t>
            </a:r>
            <a:endParaRPr lang="en-US" sz="530" dirty="0"/>
          </a:p>
        </p:txBody>
      </p:sp>
      <p:sp>
        <p:nvSpPr>
          <p:cNvPr id="46" name="Shape 44"/>
          <p:cNvSpPr/>
          <p:nvPr/>
        </p:nvSpPr>
        <p:spPr>
          <a:xfrm>
            <a:off x="3703320" y="4041648"/>
            <a:ext cx="2331720" cy="310896"/>
          </a:xfrm>
          <a:prstGeom prst="roundRect">
            <a:avLst>
              <a:gd name="adj" fmla="val 11765"/>
            </a:avLst>
          </a:prstGeom>
          <a:solidFill>
            <a:srgbClr val="FFFFFF"/>
          </a:solidFill>
          <a:ln w="12700">
            <a:solidFill>
              <a:srgbClr val="B8C2C5">
                <a:alpha val="80000"/>
              </a:srgbClr>
            </a:solidFill>
            <a:prstDash val="solid"/>
          </a:ln>
        </p:spPr>
        <p:txBody>
          <a:bodyPr/>
          <a:lstStyle/>
          <a:p>
            <a:endParaRPr lang="en-US"/>
          </a:p>
        </p:txBody>
      </p:sp>
      <p:sp>
        <p:nvSpPr>
          <p:cNvPr id="47" name="Text 45"/>
          <p:cNvSpPr/>
          <p:nvPr/>
        </p:nvSpPr>
        <p:spPr>
          <a:xfrm>
            <a:off x="3776472" y="4133088"/>
            <a:ext cx="2185416" cy="82296"/>
          </a:xfrm>
          <a:prstGeom prst="rect">
            <a:avLst/>
          </a:prstGeom>
          <a:noFill/>
          <a:ln/>
        </p:spPr>
        <p:txBody>
          <a:bodyPr wrap="square" lIns="381" tIns="381" rIns="381" bIns="381" rtlCol="0" anchor="ctr">
            <a:normAutofit/>
          </a:bodyPr>
          <a:lstStyle/>
          <a:p>
            <a:pPr marL="0" indent="0" algn="l">
              <a:buNone/>
            </a:pPr>
            <a:r>
              <a:rPr lang="en-US" sz="510" dirty="0">
                <a:solidFill>
                  <a:srgbClr val="536273"/>
                </a:solidFill>
                <a:latin typeface="Arial" pitchFamily="34" charset="0"/>
                <a:ea typeface="Arial" pitchFamily="34" charset="-122"/>
                <a:cs typeface="Arial" pitchFamily="34" charset="-120"/>
              </a:rPr>
              <a:t>(555) 123-4567</a:t>
            </a:r>
            <a:endParaRPr lang="en-US" sz="510" dirty="0"/>
          </a:p>
        </p:txBody>
      </p:sp>
      <p:sp>
        <p:nvSpPr>
          <p:cNvPr id="48" name="Text 46"/>
          <p:cNvSpPr/>
          <p:nvPr/>
        </p:nvSpPr>
        <p:spPr>
          <a:xfrm>
            <a:off x="1051560" y="4535424"/>
            <a:ext cx="2331720" cy="100584"/>
          </a:xfrm>
          <a:prstGeom prst="rect">
            <a:avLst/>
          </a:prstGeom>
          <a:noFill/>
          <a:ln/>
        </p:spPr>
        <p:txBody>
          <a:bodyPr wrap="square" lIns="381" tIns="381" rIns="381" bIns="381" rtlCol="0" anchor="ctr">
            <a:normAutofit/>
          </a:bodyPr>
          <a:lstStyle/>
          <a:p>
            <a:pPr marL="0" indent="0" algn="l">
              <a:buNone/>
            </a:pPr>
            <a:r>
              <a:rPr lang="en-US" sz="530" b="1" dirty="0">
                <a:solidFill>
                  <a:srgbClr val="2A3B50"/>
                </a:solidFill>
                <a:latin typeface="Arial" pitchFamily="34" charset="0"/>
                <a:ea typeface="Arial" pitchFamily="34" charset="-122"/>
                <a:cs typeface="Arial" pitchFamily="34" charset="-120"/>
              </a:rPr>
              <a:t>First Name</a:t>
            </a:r>
            <a:endParaRPr lang="en-US" sz="530" dirty="0"/>
          </a:p>
        </p:txBody>
      </p:sp>
      <p:sp>
        <p:nvSpPr>
          <p:cNvPr id="49" name="Shape 47"/>
          <p:cNvSpPr/>
          <p:nvPr/>
        </p:nvSpPr>
        <p:spPr>
          <a:xfrm>
            <a:off x="1051560" y="4663440"/>
            <a:ext cx="2331720" cy="310896"/>
          </a:xfrm>
          <a:prstGeom prst="roundRect">
            <a:avLst>
              <a:gd name="adj" fmla="val 11765"/>
            </a:avLst>
          </a:prstGeom>
          <a:solidFill>
            <a:srgbClr val="FFFFFF"/>
          </a:solidFill>
          <a:ln w="12700">
            <a:solidFill>
              <a:srgbClr val="B8C2C5">
                <a:alpha val="80000"/>
              </a:srgbClr>
            </a:solidFill>
            <a:prstDash val="solid"/>
          </a:ln>
        </p:spPr>
        <p:txBody>
          <a:bodyPr/>
          <a:lstStyle/>
          <a:p>
            <a:endParaRPr lang="en-US"/>
          </a:p>
        </p:txBody>
      </p:sp>
      <p:sp>
        <p:nvSpPr>
          <p:cNvPr id="50" name="Text 48"/>
          <p:cNvSpPr/>
          <p:nvPr/>
        </p:nvSpPr>
        <p:spPr>
          <a:xfrm>
            <a:off x="1124712" y="4754880"/>
            <a:ext cx="2185416" cy="82296"/>
          </a:xfrm>
          <a:prstGeom prst="rect">
            <a:avLst/>
          </a:prstGeom>
          <a:noFill/>
          <a:ln/>
        </p:spPr>
        <p:txBody>
          <a:bodyPr wrap="square" lIns="381" tIns="381" rIns="381" bIns="381" rtlCol="0" anchor="ctr">
            <a:normAutofit/>
          </a:bodyPr>
          <a:lstStyle/>
          <a:p>
            <a:pPr marL="0" indent="0" algn="l">
              <a:buNone/>
            </a:pPr>
            <a:r>
              <a:rPr lang="en-US" sz="510" dirty="0">
                <a:solidFill>
                  <a:srgbClr val="536273"/>
                </a:solidFill>
                <a:latin typeface="Arial" pitchFamily="34" charset="0"/>
                <a:ea typeface="Arial" pitchFamily="34" charset="-122"/>
                <a:cs typeface="Arial" pitchFamily="34" charset="-120"/>
              </a:rPr>
              <a:t>First</a:t>
            </a:r>
            <a:endParaRPr lang="en-US" sz="510" dirty="0"/>
          </a:p>
        </p:txBody>
      </p:sp>
      <p:sp>
        <p:nvSpPr>
          <p:cNvPr id="51" name="Text 49"/>
          <p:cNvSpPr/>
          <p:nvPr/>
        </p:nvSpPr>
        <p:spPr>
          <a:xfrm>
            <a:off x="3703320" y="4535424"/>
            <a:ext cx="2331720" cy="100584"/>
          </a:xfrm>
          <a:prstGeom prst="rect">
            <a:avLst/>
          </a:prstGeom>
          <a:noFill/>
          <a:ln/>
        </p:spPr>
        <p:txBody>
          <a:bodyPr wrap="square" lIns="381" tIns="381" rIns="381" bIns="381" rtlCol="0" anchor="ctr">
            <a:normAutofit/>
          </a:bodyPr>
          <a:lstStyle/>
          <a:p>
            <a:pPr marL="0" indent="0" algn="l">
              <a:buNone/>
            </a:pPr>
            <a:r>
              <a:rPr lang="en-US" sz="530" b="1" dirty="0">
                <a:solidFill>
                  <a:srgbClr val="2A3B50"/>
                </a:solidFill>
                <a:latin typeface="Arial" pitchFamily="34" charset="0"/>
                <a:ea typeface="Arial" pitchFamily="34" charset="-122"/>
                <a:cs typeface="Arial" pitchFamily="34" charset="-120"/>
              </a:rPr>
              <a:t>Last Name</a:t>
            </a:r>
            <a:endParaRPr lang="en-US" sz="530" dirty="0"/>
          </a:p>
        </p:txBody>
      </p:sp>
      <p:sp>
        <p:nvSpPr>
          <p:cNvPr id="52" name="Shape 50"/>
          <p:cNvSpPr/>
          <p:nvPr/>
        </p:nvSpPr>
        <p:spPr>
          <a:xfrm>
            <a:off x="3703320" y="4663440"/>
            <a:ext cx="2331720" cy="310896"/>
          </a:xfrm>
          <a:prstGeom prst="roundRect">
            <a:avLst>
              <a:gd name="adj" fmla="val 11765"/>
            </a:avLst>
          </a:prstGeom>
          <a:solidFill>
            <a:srgbClr val="FFFFFF"/>
          </a:solidFill>
          <a:ln w="12700">
            <a:solidFill>
              <a:srgbClr val="B8C2C5">
                <a:alpha val="80000"/>
              </a:srgbClr>
            </a:solidFill>
            <a:prstDash val="solid"/>
          </a:ln>
        </p:spPr>
        <p:txBody>
          <a:bodyPr/>
          <a:lstStyle/>
          <a:p>
            <a:endParaRPr lang="en-US"/>
          </a:p>
        </p:txBody>
      </p:sp>
      <p:sp>
        <p:nvSpPr>
          <p:cNvPr id="53" name="Text 51"/>
          <p:cNvSpPr/>
          <p:nvPr/>
        </p:nvSpPr>
        <p:spPr>
          <a:xfrm>
            <a:off x="3776472" y="4754880"/>
            <a:ext cx="2185416" cy="82296"/>
          </a:xfrm>
          <a:prstGeom prst="rect">
            <a:avLst/>
          </a:prstGeom>
          <a:noFill/>
          <a:ln/>
        </p:spPr>
        <p:txBody>
          <a:bodyPr wrap="square" lIns="381" tIns="381" rIns="381" bIns="381" rtlCol="0" anchor="ctr">
            <a:normAutofit/>
          </a:bodyPr>
          <a:lstStyle/>
          <a:p>
            <a:pPr marL="0" indent="0" algn="l">
              <a:buNone/>
            </a:pPr>
            <a:r>
              <a:rPr lang="en-US" sz="510" dirty="0">
                <a:solidFill>
                  <a:srgbClr val="536273"/>
                </a:solidFill>
                <a:latin typeface="Arial" pitchFamily="34" charset="0"/>
                <a:ea typeface="Arial" pitchFamily="34" charset="-122"/>
                <a:cs typeface="Arial" pitchFamily="34" charset="-120"/>
              </a:rPr>
              <a:t>Last</a:t>
            </a:r>
            <a:endParaRPr lang="en-US" sz="510" dirty="0"/>
          </a:p>
        </p:txBody>
      </p:sp>
      <p:sp>
        <p:nvSpPr>
          <p:cNvPr id="54" name="Text 52"/>
          <p:cNvSpPr/>
          <p:nvPr/>
        </p:nvSpPr>
        <p:spPr>
          <a:xfrm>
            <a:off x="1051560" y="5157216"/>
            <a:ext cx="2331720" cy="100584"/>
          </a:xfrm>
          <a:prstGeom prst="rect">
            <a:avLst/>
          </a:prstGeom>
          <a:noFill/>
          <a:ln/>
        </p:spPr>
        <p:txBody>
          <a:bodyPr wrap="square" lIns="381" tIns="381" rIns="381" bIns="381" rtlCol="0" anchor="ctr">
            <a:normAutofit/>
          </a:bodyPr>
          <a:lstStyle/>
          <a:p>
            <a:pPr marL="0" indent="0" algn="l">
              <a:buNone/>
            </a:pPr>
            <a:r>
              <a:rPr lang="en-US" sz="530" b="1" dirty="0">
                <a:solidFill>
                  <a:srgbClr val="2A3B50"/>
                </a:solidFill>
                <a:latin typeface="Arial" pitchFamily="34" charset="0"/>
                <a:ea typeface="Arial" pitchFamily="34" charset="-122"/>
                <a:cs typeface="Arial" pitchFamily="34" charset="-120"/>
              </a:rPr>
              <a:t>Password</a:t>
            </a:r>
            <a:endParaRPr lang="en-US" sz="530" dirty="0"/>
          </a:p>
        </p:txBody>
      </p:sp>
      <p:sp>
        <p:nvSpPr>
          <p:cNvPr id="55" name="Shape 53"/>
          <p:cNvSpPr/>
          <p:nvPr/>
        </p:nvSpPr>
        <p:spPr>
          <a:xfrm>
            <a:off x="1051560" y="5285232"/>
            <a:ext cx="2331720" cy="310896"/>
          </a:xfrm>
          <a:prstGeom prst="roundRect">
            <a:avLst>
              <a:gd name="adj" fmla="val 11765"/>
            </a:avLst>
          </a:prstGeom>
          <a:solidFill>
            <a:srgbClr val="FFFFFF"/>
          </a:solidFill>
          <a:ln w="12700">
            <a:solidFill>
              <a:srgbClr val="B8C2C5">
                <a:alpha val="80000"/>
              </a:srgbClr>
            </a:solidFill>
            <a:prstDash val="solid"/>
          </a:ln>
        </p:spPr>
        <p:txBody>
          <a:bodyPr/>
          <a:lstStyle/>
          <a:p>
            <a:endParaRPr lang="en-US"/>
          </a:p>
        </p:txBody>
      </p:sp>
      <p:sp>
        <p:nvSpPr>
          <p:cNvPr id="56" name="Text 54"/>
          <p:cNvSpPr/>
          <p:nvPr/>
        </p:nvSpPr>
        <p:spPr>
          <a:xfrm>
            <a:off x="1124712" y="5376672"/>
            <a:ext cx="2185416" cy="82296"/>
          </a:xfrm>
          <a:prstGeom prst="rect">
            <a:avLst/>
          </a:prstGeom>
          <a:noFill/>
          <a:ln/>
        </p:spPr>
        <p:txBody>
          <a:bodyPr wrap="square" lIns="381" tIns="381" rIns="381" bIns="381" rtlCol="0" anchor="ctr">
            <a:normAutofit/>
          </a:bodyPr>
          <a:lstStyle/>
          <a:p>
            <a:pPr marL="0" indent="0" algn="l">
              <a:buNone/>
            </a:pPr>
            <a:r>
              <a:rPr lang="en-US" sz="510" dirty="0">
                <a:solidFill>
                  <a:srgbClr val="536273"/>
                </a:solidFill>
                <a:latin typeface="Arial" pitchFamily="34" charset="0"/>
                <a:ea typeface="Arial" pitchFamily="34" charset="-122"/>
                <a:cs typeface="Arial" pitchFamily="34" charset="-120"/>
              </a:rPr>
              <a:t>••••••••</a:t>
            </a:r>
            <a:endParaRPr lang="en-US" sz="510" dirty="0"/>
          </a:p>
        </p:txBody>
      </p:sp>
      <p:sp>
        <p:nvSpPr>
          <p:cNvPr id="57" name="Text 55"/>
          <p:cNvSpPr/>
          <p:nvPr/>
        </p:nvSpPr>
        <p:spPr>
          <a:xfrm>
            <a:off x="3703320" y="5157216"/>
            <a:ext cx="2331720" cy="100584"/>
          </a:xfrm>
          <a:prstGeom prst="rect">
            <a:avLst/>
          </a:prstGeom>
          <a:noFill/>
          <a:ln/>
        </p:spPr>
        <p:txBody>
          <a:bodyPr wrap="square" lIns="381" tIns="381" rIns="381" bIns="381" rtlCol="0" anchor="ctr">
            <a:normAutofit/>
          </a:bodyPr>
          <a:lstStyle/>
          <a:p>
            <a:pPr marL="0" indent="0" algn="l">
              <a:buNone/>
            </a:pPr>
            <a:r>
              <a:rPr lang="en-US" sz="530" b="1" dirty="0">
                <a:solidFill>
                  <a:srgbClr val="2A3B50"/>
                </a:solidFill>
                <a:latin typeface="Arial" pitchFamily="34" charset="0"/>
                <a:ea typeface="Arial" pitchFamily="34" charset="-122"/>
                <a:cs typeface="Arial" pitchFamily="34" charset="-120"/>
              </a:rPr>
              <a:t>Confirm Password</a:t>
            </a:r>
            <a:endParaRPr lang="en-US" sz="530" dirty="0"/>
          </a:p>
        </p:txBody>
      </p:sp>
      <p:sp>
        <p:nvSpPr>
          <p:cNvPr id="58" name="Shape 56"/>
          <p:cNvSpPr/>
          <p:nvPr/>
        </p:nvSpPr>
        <p:spPr>
          <a:xfrm>
            <a:off x="3703320" y="5285232"/>
            <a:ext cx="2331720" cy="310896"/>
          </a:xfrm>
          <a:prstGeom prst="roundRect">
            <a:avLst>
              <a:gd name="adj" fmla="val 11765"/>
            </a:avLst>
          </a:prstGeom>
          <a:solidFill>
            <a:srgbClr val="FFFFFF"/>
          </a:solidFill>
          <a:ln w="12700">
            <a:solidFill>
              <a:srgbClr val="B8C2C5">
                <a:alpha val="80000"/>
              </a:srgbClr>
            </a:solidFill>
            <a:prstDash val="solid"/>
          </a:ln>
        </p:spPr>
        <p:txBody>
          <a:bodyPr/>
          <a:lstStyle/>
          <a:p>
            <a:endParaRPr lang="en-US"/>
          </a:p>
        </p:txBody>
      </p:sp>
      <p:sp>
        <p:nvSpPr>
          <p:cNvPr id="59" name="Text 57"/>
          <p:cNvSpPr/>
          <p:nvPr/>
        </p:nvSpPr>
        <p:spPr>
          <a:xfrm>
            <a:off x="3776472" y="5376672"/>
            <a:ext cx="2185416" cy="82296"/>
          </a:xfrm>
          <a:prstGeom prst="rect">
            <a:avLst/>
          </a:prstGeom>
          <a:noFill/>
          <a:ln/>
        </p:spPr>
        <p:txBody>
          <a:bodyPr wrap="square" lIns="381" tIns="381" rIns="381" bIns="381" rtlCol="0" anchor="ctr">
            <a:normAutofit/>
          </a:bodyPr>
          <a:lstStyle/>
          <a:p>
            <a:pPr marL="0" indent="0" algn="l">
              <a:buNone/>
            </a:pPr>
            <a:r>
              <a:rPr lang="en-US" sz="510" dirty="0">
                <a:solidFill>
                  <a:srgbClr val="536273"/>
                </a:solidFill>
                <a:latin typeface="Arial" pitchFamily="34" charset="0"/>
                <a:ea typeface="Arial" pitchFamily="34" charset="-122"/>
                <a:cs typeface="Arial" pitchFamily="34" charset="-120"/>
              </a:rPr>
              <a:t>••••••••</a:t>
            </a:r>
            <a:endParaRPr lang="en-US" sz="510" dirty="0"/>
          </a:p>
        </p:txBody>
      </p:sp>
      <p:sp>
        <p:nvSpPr>
          <p:cNvPr id="60" name="Shape 58">
            <a:hlinkClick r:id="rId8" action="ppaction://hlinksldjump"/>
          </p:cNvPr>
          <p:cNvSpPr/>
          <p:nvPr/>
        </p:nvSpPr>
        <p:spPr>
          <a:xfrm>
            <a:off x="1051560" y="5806440"/>
            <a:ext cx="1234440" cy="310896"/>
          </a:xfrm>
          <a:prstGeom prst="roundRect">
            <a:avLst>
              <a:gd name="adj" fmla="val 35294"/>
            </a:avLst>
          </a:prstGeom>
          <a:solidFill>
            <a:srgbClr val="CDA059"/>
          </a:solidFill>
          <a:ln w="12700">
            <a:solidFill>
              <a:srgbClr val="CDA059">
                <a:alpha val="0"/>
              </a:srgbClr>
            </a:solidFill>
            <a:prstDash val="solid"/>
          </a:ln>
        </p:spPr>
        <p:txBody>
          <a:bodyPr/>
          <a:lstStyle/>
          <a:p>
            <a:endParaRPr lang="en-US"/>
          </a:p>
        </p:txBody>
      </p:sp>
      <p:sp>
        <p:nvSpPr>
          <p:cNvPr id="61" name="Text 59">
            <a:hlinkClick r:id="rId8" action="ppaction://hlinksldjump"/>
          </p:cNvPr>
          <p:cNvSpPr/>
          <p:nvPr/>
        </p:nvSpPr>
        <p:spPr>
          <a:xfrm>
            <a:off x="1078992" y="5888736"/>
            <a:ext cx="1179576" cy="109728"/>
          </a:xfrm>
          <a:prstGeom prst="rect">
            <a:avLst/>
          </a:prstGeom>
          <a:noFill/>
          <a:ln/>
        </p:spPr>
        <p:txBody>
          <a:bodyPr wrap="square" lIns="381" tIns="381" rIns="381" bIns="381" rtlCol="0" anchor="ctr">
            <a:normAutofit/>
          </a:bodyPr>
          <a:lstStyle/>
          <a:p>
            <a:pPr marL="0" indent="0" algn="ctr">
              <a:buNone/>
            </a:pPr>
            <a:r>
              <a:rPr lang="en-US" sz="640" b="1" u="sng" dirty="0">
                <a:solidFill>
                  <a:srgbClr val="132133"/>
                </a:solidFill>
                <a:latin typeface="Arial" pitchFamily="34" charset="0"/>
                <a:ea typeface="Arial" pitchFamily="34" charset="-122"/>
                <a:cs typeface="Arial" pitchFamily="34" charset="-120"/>
                <a:hlinkClick r:id="rId8" action="ppaction://hlinksldjump">
                  <a:extLst>
                    <a:ext uri="{A12FA001-AC4F-418D-AE19-62706E023703}">
                      <ahyp:hlinkClr xmlns:ahyp="http://schemas.microsoft.com/office/drawing/2018/hyperlinkcolor" val="tx"/>
                    </a:ext>
                  </a:extLst>
                </a:hlinkClick>
              </a:rPr>
              <a:t>Create Account</a:t>
            </a:r>
            <a:endParaRPr lang="en-US" sz="640" dirty="0"/>
          </a:p>
        </p:txBody>
      </p:sp>
      <p:sp>
        <p:nvSpPr>
          <p:cNvPr id="62" name="Shape 60"/>
          <p:cNvSpPr/>
          <p:nvPr/>
        </p:nvSpPr>
        <p:spPr>
          <a:xfrm>
            <a:off x="6720840" y="3337560"/>
            <a:ext cx="4023360" cy="2880360"/>
          </a:xfrm>
          <a:prstGeom prst="roundRect">
            <a:avLst>
              <a:gd name="adj" fmla="val 3175"/>
            </a:avLst>
          </a:prstGeom>
          <a:solidFill>
            <a:srgbClr val="FFFFFF">
              <a:alpha val="90000"/>
            </a:srgbClr>
          </a:solidFill>
          <a:ln w="12700">
            <a:solidFill>
              <a:srgbClr val="E9DFCF">
                <a:alpha val="80000"/>
              </a:srgbClr>
            </a:solidFill>
            <a:prstDash val="solid"/>
          </a:ln>
          <a:effectLst>
            <a:outerShdw blurRad="12700" dist="8890" dir="2700000" algn="bl" rotWithShape="0">
              <a:srgbClr val="132133">
                <a:alpha val="7000"/>
              </a:srgbClr>
            </a:outerShdw>
          </a:effectLst>
        </p:spPr>
        <p:txBody>
          <a:bodyPr/>
          <a:lstStyle/>
          <a:p>
            <a:endParaRPr lang="en-US"/>
          </a:p>
        </p:txBody>
      </p:sp>
      <p:sp>
        <p:nvSpPr>
          <p:cNvPr id="63" name="Text 61"/>
          <p:cNvSpPr/>
          <p:nvPr/>
        </p:nvSpPr>
        <p:spPr>
          <a:xfrm>
            <a:off x="6885432" y="3502152"/>
            <a:ext cx="3694176" cy="292608"/>
          </a:xfrm>
          <a:prstGeom prst="rect">
            <a:avLst/>
          </a:prstGeom>
          <a:noFill/>
          <a:ln/>
        </p:spPr>
        <p:txBody>
          <a:bodyPr wrap="square" lIns="381" tIns="381" rIns="381" bIns="381" rtlCol="0" anchor="ctr">
            <a:normAutofit/>
          </a:bodyPr>
          <a:lstStyle/>
          <a:p>
            <a:pPr marL="0" indent="0" algn="l">
              <a:buNone/>
            </a:pPr>
            <a:r>
              <a:rPr lang="en-US" sz="1250" dirty="0">
                <a:solidFill>
                  <a:srgbClr val="132133"/>
                </a:solidFill>
                <a:latin typeface="Georgia" pitchFamily="34" charset="0"/>
                <a:ea typeface="Georgia" pitchFamily="34" charset="-122"/>
                <a:cs typeface="Georgia" pitchFamily="34" charset="-120"/>
              </a:rPr>
              <a:t>Why Register?</a:t>
            </a:r>
            <a:endParaRPr lang="en-US" sz="1250" dirty="0"/>
          </a:p>
        </p:txBody>
      </p:sp>
      <p:sp>
        <p:nvSpPr>
          <p:cNvPr id="64" name="Text 62"/>
          <p:cNvSpPr/>
          <p:nvPr/>
        </p:nvSpPr>
        <p:spPr>
          <a:xfrm>
            <a:off x="6885432" y="3840480"/>
            <a:ext cx="3694176" cy="2221992"/>
          </a:xfrm>
          <a:prstGeom prst="rect">
            <a:avLst/>
          </a:prstGeom>
          <a:noFill/>
          <a:ln/>
        </p:spPr>
        <p:txBody>
          <a:bodyPr wrap="square" lIns="381" tIns="381" rIns="381" bIns="381" rtlCol="0" anchor="t">
            <a:normAutofit/>
          </a:bodyPr>
          <a:lstStyle/>
          <a:p>
            <a:pPr marL="0" indent="0" algn="l">
              <a:buNone/>
            </a:pPr>
            <a:r>
              <a:rPr lang="en-US" sz="680" dirty="0">
                <a:solidFill>
                  <a:srgbClr val="2A3B50"/>
                </a:solidFill>
                <a:latin typeface="Arial" pitchFamily="34" charset="0"/>
                <a:ea typeface="Arial" pitchFamily="34" charset="-122"/>
                <a:cs typeface="Arial" pitchFamily="34" charset="-120"/>
              </a:rPr>
              <a:t>Browse freely, then use your account when you are ready to confirm a reservation. Registration supports booking, confirming reservations, and reservation lookup.</a:t>
            </a:r>
            <a:endParaRPr lang="en-US" sz="680" dirty="0"/>
          </a:p>
        </p:txBody>
      </p:sp>
      <p:sp>
        <p:nvSpPr>
          <p:cNvPr id="65" name="Shape 63">
            <a:hlinkClick r:id="rId9" action="ppaction://hlinksldjump"/>
          </p:cNvPr>
          <p:cNvSpPr/>
          <p:nvPr/>
        </p:nvSpPr>
        <p:spPr>
          <a:xfrm>
            <a:off x="6949440" y="5650992"/>
            <a:ext cx="1783080" cy="310896"/>
          </a:xfrm>
          <a:prstGeom prst="roundRect">
            <a:avLst>
              <a:gd name="adj" fmla="val 35294"/>
            </a:avLst>
          </a:prstGeom>
          <a:solidFill>
            <a:srgbClr val="FFFFFF">
              <a:alpha val="30000"/>
            </a:srgbClr>
          </a:solidFill>
          <a:ln w="12700">
            <a:solidFill>
              <a:srgbClr val="536273">
                <a:alpha val="70000"/>
              </a:srgbClr>
            </a:solidFill>
            <a:prstDash val="solid"/>
          </a:ln>
        </p:spPr>
        <p:txBody>
          <a:bodyPr/>
          <a:lstStyle/>
          <a:p>
            <a:endParaRPr lang="en-US"/>
          </a:p>
        </p:txBody>
      </p:sp>
      <p:sp>
        <p:nvSpPr>
          <p:cNvPr id="66" name="Text 64">
            <a:hlinkClick r:id="rId9" action="ppaction://hlinksldjump"/>
          </p:cNvPr>
          <p:cNvSpPr/>
          <p:nvPr/>
        </p:nvSpPr>
        <p:spPr>
          <a:xfrm>
            <a:off x="6976872" y="5733288"/>
            <a:ext cx="1728216" cy="109728"/>
          </a:xfrm>
          <a:prstGeom prst="rect">
            <a:avLst/>
          </a:prstGeom>
          <a:noFill/>
          <a:ln/>
        </p:spPr>
        <p:txBody>
          <a:bodyPr wrap="square" lIns="381" tIns="381" rIns="381" bIns="381" rtlCol="0" anchor="ctr">
            <a:normAutofit/>
          </a:bodyPr>
          <a:lstStyle/>
          <a:p>
            <a:pPr marL="0" indent="0" algn="ctr">
              <a:buNone/>
            </a:pPr>
            <a:r>
              <a:rPr lang="en-US" sz="640" b="1" u="sng" dirty="0">
                <a:solidFill>
                  <a:srgbClr val="132133"/>
                </a:solidFill>
                <a:latin typeface="Arial" pitchFamily="34" charset="0"/>
                <a:ea typeface="Arial" pitchFamily="34" charset="-122"/>
                <a:cs typeface="Arial" pitchFamily="34" charset="-120"/>
                <a:hlinkClick r:id="rId9" action="ppaction://hlinksldjump">
                  <a:extLst>
                    <a:ext uri="{A12FA001-AC4F-418D-AE19-62706E023703}">
                      <ahyp:hlinkClr xmlns:ahyp="http://schemas.microsoft.com/office/drawing/2018/hyperlinkcolor" val="tx"/>
                    </a:ext>
                  </a:extLst>
                </a:hlinkClick>
              </a:rPr>
              <a:t>Already Have an Account?</a:t>
            </a:r>
            <a:endParaRPr lang="en-US" sz="64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28600"/>
            <a:ext cx="5943600" cy="365760"/>
          </a:xfrm>
          <a:prstGeom prst="rect">
            <a:avLst/>
          </a:prstGeom>
          <a:noFill/>
          <a:ln/>
        </p:spPr>
        <p:txBody>
          <a:bodyPr wrap="square" lIns="381" tIns="381" rIns="381" bIns="381" rtlCol="0" anchor="ctr">
            <a:normAutofit/>
          </a:bodyPr>
          <a:lstStyle/>
          <a:p>
            <a:pPr marL="0" indent="0" algn="l">
              <a:buNone/>
            </a:pPr>
            <a:r>
              <a:rPr lang="en-US" sz="2000" b="1" dirty="0">
                <a:solidFill>
                  <a:srgbClr val="132133"/>
                </a:solidFill>
                <a:latin typeface="Georgia" pitchFamily="34" charset="0"/>
                <a:ea typeface="Georgia" pitchFamily="34" charset="-122"/>
                <a:cs typeface="Georgia" pitchFamily="34" charset="-120"/>
              </a:rPr>
              <a:t>Book Your Stay Prototype</a:t>
            </a:r>
            <a:endParaRPr lang="en-US" sz="2000" dirty="0"/>
          </a:p>
        </p:txBody>
      </p:sp>
      <p:sp>
        <p:nvSpPr>
          <p:cNvPr id="3" name="Text 1"/>
          <p:cNvSpPr/>
          <p:nvPr/>
        </p:nvSpPr>
        <p:spPr>
          <a:xfrm>
            <a:off x="512064" y="630936"/>
            <a:ext cx="6492240" cy="228600"/>
          </a:xfrm>
          <a:prstGeom prst="rect">
            <a:avLst/>
          </a:prstGeom>
          <a:noFill/>
          <a:ln/>
        </p:spPr>
        <p:txBody>
          <a:bodyPr wrap="square" lIns="381" tIns="381" rIns="381" bIns="381" rtlCol="0" anchor="ctr">
            <a:normAutofit/>
          </a:bodyPr>
          <a:lstStyle/>
          <a:p>
            <a:pPr marL="0" indent="0" algn="l">
              <a:buNone/>
            </a:pPr>
            <a:r>
              <a:rPr lang="en-US" sz="850" dirty="0">
                <a:solidFill>
                  <a:srgbClr val="536273"/>
                </a:solidFill>
                <a:latin typeface="Arial" pitchFamily="34" charset="0"/>
                <a:ea typeface="Arial" pitchFamily="34" charset="-122"/>
                <a:cs typeface="Arial" pitchFamily="34" charset="-120"/>
              </a:rPr>
              <a:t>Purpose: collect room, guest, and travel date details before reservation review.</a:t>
            </a:r>
            <a:endParaRPr lang="en-US" sz="850" dirty="0"/>
          </a:p>
        </p:txBody>
      </p:sp>
      <p:sp>
        <p:nvSpPr>
          <p:cNvPr id="4" name="Text 2"/>
          <p:cNvSpPr/>
          <p:nvPr/>
        </p:nvSpPr>
        <p:spPr>
          <a:xfrm>
            <a:off x="8823960" y="256032"/>
            <a:ext cx="2743200" cy="228600"/>
          </a:xfrm>
          <a:prstGeom prst="rect">
            <a:avLst/>
          </a:prstGeom>
          <a:noFill/>
          <a:ln/>
        </p:spPr>
        <p:txBody>
          <a:bodyPr wrap="square" lIns="381" tIns="381" rIns="381" bIns="381" rtlCol="0" anchor="ctr">
            <a:normAutofit/>
          </a:bodyPr>
          <a:lstStyle/>
          <a:p>
            <a:pPr marL="0" indent="0" algn="r">
              <a:buNone/>
            </a:pPr>
            <a:r>
              <a:rPr lang="en-US" sz="800" b="1" dirty="0">
                <a:solidFill>
                  <a:srgbClr val="536273"/>
                </a:solidFill>
                <a:latin typeface="Arial" pitchFamily="34" charset="0"/>
                <a:ea typeface="Arial" pitchFamily="34" charset="-122"/>
                <a:cs typeface="Arial" pitchFamily="34" charset="-120"/>
              </a:rPr>
              <a:t>Moffat Bay Lodge Prototype</a:t>
            </a:r>
            <a:endParaRPr lang="en-US" sz="800" dirty="0"/>
          </a:p>
        </p:txBody>
      </p:sp>
      <p:sp>
        <p:nvSpPr>
          <p:cNvPr id="5" name="Shape 3"/>
          <p:cNvSpPr/>
          <p:nvPr/>
        </p:nvSpPr>
        <p:spPr>
          <a:xfrm>
            <a:off x="502920" y="896112"/>
            <a:ext cx="11201400" cy="5440680"/>
          </a:xfrm>
          <a:prstGeom prst="roundRect">
            <a:avLst>
              <a:gd name="adj" fmla="val 1513"/>
            </a:avLst>
          </a:prstGeom>
          <a:solidFill>
            <a:srgbClr val="FFFAF2"/>
          </a:solidFill>
          <a:ln w="12700">
            <a:solidFill>
              <a:srgbClr val="E9DFCF"/>
            </a:solidFill>
            <a:prstDash val="solid"/>
          </a:ln>
          <a:effectLst>
            <a:outerShdw blurRad="25400" dist="12700" dir="2700000" algn="bl" rotWithShape="0">
              <a:srgbClr val="132133">
                <a:alpha val="10000"/>
              </a:srgbClr>
            </a:outerShdw>
          </a:effectLst>
        </p:spPr>
        <p:txBody>
          <a:bodyPr/>
          <a:lstStyle/>
          <a:p>
            <a:endParaRPr lang="en-US"/>
          </a:p>
        </p:txBody>
      </p:sp>
      <p:sp>
        <p:nvSpPr>
          <p:cNvPr id="6" name="Shape 4"/>
          <p:cNvSpPr/>
          <p:nvPr/>
        </p:nvSpPr>
        <p:spPr>
          <a:xfrm>
            <a:off x="502920" y="896112"/>
            <a:ext cx="11201400" cy="384048"/>
          </a:xfrm>
          <a:prstGeom prst="rect">
            <a:avLst/>
          </a:prstGeom>
          <a:solidFill>
            <a:srgbClr val="FFFFFF"/>
          </a:solidFill>
          <a:ln w="12700">
            <a:solidFill>
              <a:srgbClr val="E9DFCF"/>
            </a:solidFill>
            <a:prstDash val="solid"/>
          </a:ln>
        </p:spPr>
        <p:txBody>
          <a:bodyPr/>
          <a:lstStyle/>
          <a:p>
            <a:endParaRPr lang="en-US"/>
          </a:p>
        </p:txBody>
      </p:sp>
      <p:sp>
        <p:nvSpPr>
          <p:cNvPr id="10" name="Shape 8"/>
          <p:cNvSpPr/>
          <p:nvPr/>
        </p:nvSpPr>
        <p:spPr>
          <a:xfrm>
            <a:off x="1280160" y="987552"/>
            <a:ext cx="3657600" cy="192024"/>
          </a:xfrm>
          <a:prstGeom prst="roundRect">
            <a:avLst>
              <a:gd name="adj" fmla="val 28571"/>
            </a:avLst>
          </a:prstGeom>
          <a:solidFill>
            <a:srgbClr val="F5EFE5"/>
          </a:solidFill>
          <a:ln w="12700">
            <a:solidFill>
              <a:srgbClr val="E9DFCF">
                <a:alpha val="80000"/>
              </a:srgbClr>
            </a:solidFill>
            <a:prstDash val="solid"/>
          </a:ln>
        </p:spPr>
        <p:txBody>
          <a:bodyPr/>
          <a:lstStyle/>
          <a:p>
            <a:endParaRPr lang="en-US"/>
          </a:p>
        </p:txBody>
      </p:sp>
      <p:sp>
        <p:nvSpPr>
          <p:cNvPr id="11" name="Text 9"/>
          <p:cNvSpPr/>
          <p:nvPr/>
        </p:nvSpPr>
        <p:spPr>
          <a:xfrm>
            <a:off x="1408176" y="1014984"/>
            <a:ext cx="3337560" cy="109728"/>
          </a:xfrm>
          <a:prstGeom prst="rect">
            <a:avLst/>
          </a:prstGeom>
          <a:noFill/>
          <a:ln/>
        </p:spPr>
        <p:txBody>
          <a:bodyPr wrap="square" lIns="381" tIns="381" rIns="381" bIns="381" rtlCol="0" anchor="ctr">
            <a:normAutofit/>
          </a:bodyPr>
          <a:lstStyle/>
          <a:p>
            <a:pPr marL="0" indent="0" algn="l">
              <a:buNone/>
            </a:pPr>
            <a:r>
              <a:rPr lang="en-US" sz="550" dirty="0">
                <a:solidFill>
                  <a:srgbClr val="536273"/>
                </a:solidFill>
                <a:latin typeface="Arial" pitchFamily="34" charset="0"/>
                <a:ea typeface="Arial" pitchFamily="34" charset="-122"/>
                <a:cs typeface="Arial" pitchFamily="34" charset="-120"/>
              </a:rPr>
              <a:t>moffatbaylodge.com/reservation.html</a:t>
            </a:r>
            <a:endParaRPr lang="en-US" sz="550" dirty="0"/>
          </a:p>
        </p:txBody>
      </p:sp>
      <p:sp>
        <p:nvSpPr>
          <p:cNvPr id="12" name="Shape 10"/>
          <p:cNvSpPr/>
          <p:nvPr/>
        </p:nvSpPr>
        <p:spPr>
          <a:xfrm>
            <a:off x="502920" y="1280160"/>
            <a:ext cx="11201400" cy="530352"/>
          </a:xfrm>
          <a:prstGeom prst="rect">
            <a:avLst/>
          </a:prstGeom>
          <a:solidFill>
            <a:srgbClr val="FAF5EC"/>
          </a:solidFill>
          <a:ln w="12700">
            <a:solidFill>
              <a:srgbClr val="E9DFCF">
                <a:alpha val="90000"/>
              </a:srgbClr>
            </a:solidFill>
            <a:prstDash val="solid"/>
          </a:ln>
        </p:spPr>
        <p:txBody>
          <a:bodyPr/>
          <a:lstStyle/>
          <a:p>
            <a:endParaRPr lang="en-US"/>
          </a:p>
        </p:txBody>
      </p:sp>
      <p:sp>
        <p:nvSpPr>
          <p:cNvPr id="13" name="Shape 11"/>
          <p:cNvSpPr/>
          <p:nvPr/>
        </p:nvSpPr>
        <p:spPr>
          <a:xfrm>
            <a:off x="731520" y="1399032"/>
            <a:ext cx="256032" cy="256032"/>
          </a:xfrm>
          <a:prstGeom prst="ellipse">
            <a:avLst/>
          </a:prstGeom>
          <a:solidFill>
            <a:srgbClr val="276F7B"/>
          </a:solidFill>
          <a:ln w="12700">
            <a:solidFill>
              <a:srgbClr val="276F7B"/>
            </a:solidFill>
            <a:prstDash val="solid"/>
          </a:ln>
        </p:spPr>
        <p:txBody>
          <a:bodyPr/>
          <a:lstStyle/>
          <a:p>
            <a:endParaRPr lang="en-US"/>
          </a:p>
        </p:txBody>
      </p:sp>
      <p:sp>
        <p:nvSpPr>
          <p:cNvPr id="14" name="Text 12"/>
          <p:cNvSpPr/>
          <p:nvPr/>
        </p:nvSpPr>
        <p:spPr>
          <a:xfrm>
            <a:off x="731520" y="1426464"/>
            <a:ext cx="256032" cy="109728"/>
          </a:xfrm>
          <a:prstGeom prst="rect">
            <a:avLst/>
          </a:prstGeom>
          <a:noFill/>
          <a:ln/>
        </p:spPr>
        <p:txBody>
          <a:bodyPr wrap="square" lIns="381" tIns="381" rIns="381" bIns="381" rtlCol="0" anchor="ctr">
            <a:normAutofit/>
          </a:bodyPr>
          <a:lstStyle/>
          <a:p>
            <a:pPr marL="0" indent="0" algn="ctr">
              <a:buNone/>
            </a:pPr>
            <a:r>
              <a:rPr lang="en-US" sz="700" b="1" dirty="0">
                <a:solidFill>
                  <a:srgbClr val="FFFFFF"/>
                </a:solidFill>
                <a:latin typeface="Georgia" pitchFamily="34" charset="0"/>
                <a:ea typeface="Georgia" pitchFamily="34" charset="-122"/>
                <a:cs typeface="Georgia" pitchFamily="34" charset="-120"/>
              </a:rPr>
              <a:t>MB</a:t>
            </a:r>
            <a:endParaRPr lang="en-US" sz="700" dirty="0"/>
          </a:p>
        </p:txBody>
      </p:sp>
      <p:sp>
        <p:nvSpPr>
          <p:cNvPr id="15" name="Text 13"/>
          <p:cNvSpPr/>
          <p:nvPr/>
        </p:nvSpPr>
        <p:spPr>
          <a:xfrm>
            <a:off x="1069848" y="1435608"/>
            <a:ext cx="1691640" cy="118872"/>
          </a:xfrm>
          <a:prstGeom prst="rect">
            <a:avLst/>
          </a:prstGeom>
          <a:noFill/>
          <a:ln/>
        </p:spPr>
        <p:txBody>
          <a:bodyPr wrap="square" lIns="381" tIns="381" rIns="381" bIns="381" rtlCol="0" anchor="ctr">
            <a:normAutofit/>
          </a:bodyPr>
          <a:lstStyle/>
          <a:p>
            <a:pPr marL="0" indent="0" algn="l">
              <a:buNone/>
            </a:pPr>
            <a:r>
              <a:rPr lang="en-US" sz="680" b="1" dirty="0">
                <a:solidFill>
                  <a:srgbClr val="132133"/>
                </a:solidFill>
                <a:latin typeface="Arial" pitchFamily="34" charset="0"/>
                <a:ea typeface="Arial" pitchFamily="34" charset="-122"/>
                <a:cs typeface="Arial" pitchFamily="34" charset="-120"/>
              </a:rPr>
              <a:t>MOFFAT BAY LODGE</a:t>
            </a:r>
            <a:endParaRPr lang="en-US" sz="680" dirty="0"/>
          </a:p>
        </p:txBody>
      </p:sp>
      <p:sp>
        <p:nvSpPr>
          <p:cNvPr id="16" name="Text 14">
            <a:hlinkClick r:id="rId3" action="ppaction://hlinksldjump"/>
          </p:cNvPr>
          <p:cNvSpPr/>
          <p:nvPr/>
        </p:nvSpPr>
        <p:spPr>
          <a:xfrm>
            <a:off x="3291840" y="1453896"/>
            <a:ext cx="402336" cy="118872"/>
          </a:xfrm>
          <a:prstGeom prst="rect">
            <a:avLst/>
          </a:prstGeom>
          <a:noFill/>
          <a:ln/>
        </p:spPr>
        <p:txBody>
          <a:bodyPr wrap="square" lIns="381" tIns="381" rIns="381" bIns="381" rtlCol="0" anchor="ctr">
            <a:normAutofit/>
          </a:bodyPr>
          <a:lstStyle/>
          <a:p>
            <a:pPr marL="0" indent="0" algn="ctr">
              <a:buNone/>
            </a:pPr>
            <a:r>
              <a:rPr lang="en-US" sz="640" b="1" u="sng" dirty="0">
                <a:solidFill>
                  <a:srgbClr val="2A3B50"/>
                </a:solidFill>
                <a:latin typeface="Arial" pitchFamily="34" charset="0"/>
                <a:ea typeface="Arial" pitchFamily="34" charset="-122"/>
                <a:cs typeface="Arial" pitchFamily="34" charset="-120"/>
                <a:hlinkClick r:id="rId3" action="ppaction://hlinksldjump">
                  <a:extLst>
                    <a:ext uri="{A12FA001-AC4F-418D-AE19-62706E023703}">
                      <ahyp:hlinkClr xmlns:ahyp="http://schemas.microsoft.com/office/drawing/2018/hyperlinkcolor" val="tx"/>
                    </a:ext>
                  </a:extLst>
                </a:hlinkClick>
              </a:rPr>
              <a:t>Home</a:t>
            </a:r>
            <a:endParaRPr lang="en-US" sz="640" dirty="0"/>
          </a:p>
        </p:txBody>
      </p:sp>
      <p:sp>
        <p:nvSpPr>
          <p:cNvPr id="17" name="Text 15">
            <a:hlinkClick r:id="rId4" action="ppaction://hlinksldjump"/>
          </p:cNvPr>
          <p:cNvSpPr/>
          <p:nvPr/>
        </p:nvSpPr>
        <p:spPr>
          <a:xfrm>
            <a:off x="3895344" y="1453896"/>
            <a:ext cx="420624" cy="118872"/>
          </a:xfrm>
          <a:prstGeom prst="rect">
            <a:avLst/>
          </a:prstGeom>
          <a:noFill/>
          <a:ln/>
        </p:spPr>
        <p:txBody>
          <a:bodyPr wrap="square" lIns="381" tIns="381" rIns="381" bIns="381" rtlCol="0" anchor="ctr">
            <a:normAutofit/>
          </a:bodyPr>
          <a:lstStyle/>
          <a:p>
            <a:pPr marL="0" indent="0" algn="ctr">
              <a:buNone/>
            </a:pPr>
            <a:r>
              <a:rPr lang="en-US" sz="640" b="1" u="sng" dirty="0">
                <a:solidFill>
                  <a:srgbClr val="2A3B50"/>
                </a:solidFill>
                <a:latin typeface="Arial" pitchFamily="34" charset="0"/>
                <a:ea typeface="Arial" pitchFamily="34" charset="-122"/>
                <a:cs typeface="Arial" pitchFamily="34" charset="-120"/>
                <a:hlinkClick r:id="rId4" action="ppaction://hlinksldjump">
                  <a:extLst>
                    <a:ext uri="{A12FA001-AC4F-418D-AE19-62706E023703}">
                      <ahyp:hlinkClr xmlns:ahyp="http://schemas.microsoft.com/office/drawing/2018/hyperlinkcolor" val="tx"/>
                    </a:ext>
                  </a:extLst>
                </a:hlinkClick>
              </a:rPr>
              <a:t>About</a:t>
            </a:r>
            <a:endParaRPr lang="en-US" sz="640" dirty="0"/>
          </a:p>
        </p:txBody>
      </p:sp>
      <p:sp>
        <p:nvSpPr>
          <p:cNvPr id="18" name="Text 16">
            <a:hlinkClick r:id="rId5" action="ppaction://hlinksldjump"/>
          </p:cNvPr>
          <p:cNvSpPr/>
          <p:nvPr/>
        </p:nvSpPr>
        <p:spPr>
          <a:xfrm>
            <a:off x="4517136" y="1453896"/>
            <a:ext cx="960120" cy="118872"/>
          </a:xfrm>
          <a:prstGeom prst="rect">
            <a:avLst/>
          </a:prstGeom>
          <a:noFill/>
          <a:ln/>
        </p:spPr>
        <p:txBody>
          <a:bodyPr wrap="square" lIns="381" tIns="381" rIns="381" bIns="381" rtlCol="0" anchor="ctr">
            <a:normAutofit/>
          </a:bodyPr>
          <a:lstStyle/>
          <a:p>
            <a:pPr marL="0" indent="0" algn="ctr">
              <a:buNone/>
            </a:pPr>
            <a:r>
              <a:rPr lang="en-US" sz="640" b="1" u="sng" dirty="0">
                <a:solidFill>
                  <a:srgbClr val="2A3B50"/>
                </a:solidFill>
                <a:latin typeface="Arial" pitchFamily="34" charset="0"/>
                <a:ea typeface="Arial" pitchFamily="34" charset="-122"/>
                <a:cs typeface="Arial" pitchFamily="34" charset="-120"/>
                <a:hlinkClick r:id="rId5" action="ppaction://hlinksldjump">
                  <a:extLst>
                    <a:ext uri="{A12FA001-AC4F-418D-AE19-62706E023703}">
                      <ahyp:hlinkClr xmlns:ahyp="http://schemas.microsoft.com/office/drawing/2018/hyperlinkcolor" val="tx"/>
                    </a:ext>
                  </a:extLst>
                </a:hlinkClick>
              </a:rPr>
              <a:t>Rooms &amp; Pricing</a:t>
            </a:r>
            <a:endParaRPr lang="en-US" sz="640" dirty="0"/>
          </a:p>
        </p:txBody>
      </p:sp>
      <p:sp>
        <p:nvSpPr>
          <p:cNvPr id="19" name="Text 17">
            <a:hlinkClick r:id="rId6" action="ppaction://hlinksldjump"/>
          </p:cNvPr>
          <p:cNvSpPr/>
          <p:nvPr/>
        </p:nvSpPr>
        <p:spPr>
          <a:xfrm>
            <a:off x="5678424" y="1453896"/>
            <a:ext cx="685800" cy="118872"/>
          </a:xfrm>
          <a:prstGeom prst="rect">
            <a:avLst/>
          </a:prstGeom>
          <a:noFill/>
          <a:ln/>
        </p:spPr>
        <p:txBody>
          <a:bodyPr wrap="square" lIns="381" tIns="381" rIns="381" bIns="381" rtlCol="0" anchor="ctr">
            <a:normAutofit/>
          </a:bodyPr>
          <a:lstStyle/>
          <a:p>
            <a:pPr marL="0" indent="0" algn="ctr">
              <a:buNone/>
            </a:pPr>
            <a:r>
              <a:rPr lang="en-US" sz="640" b="1" u="sng" dirty="0">
                <a:solidFill>
                  <a:srgbClr val="2A3B50"/>
                </a:solidFill>
                <a:latin typeface="Arial" pitchFamily="34" charset="0"/>
                <a:ea typeface="Arial" pitchFamily="34" charset="-122"/>
                <a:cs typeface="Arial" pitchFamily="34" charset="-120"/>
                <a:hlinkClick r:id="rId6" action="ppaction://hlinksldjump">
                  <a:extLst>
                    <a:ext uri="{A12FA001-AC4F-418D-AE19-62706E023703}">
                      <ahyp:hlinkClr xmlns:ahyp="http://schemas.microsoft.com/office/drawing/2018/hyperlinkcolor" val="tx"/>
                    </a:ext>
                  </a:extLst>
                </a:hlinkClick>
              </a:rPr>
              <a:t>Attractions</a:t>
            </a:r>
            <a:endParaRPr lang="en-US" sz="640" dirty="0"/>
          </a:p>
        </p:txBody>
      </p:sp>
      <p:sp>
        <p:nvSpPr>
          <p:cNvPr id="20" name="Text 18">
            <a:hlinkClick r:id="rId7" action="ppaction://hlinksldjump"/>
          </p:cNvPr>
          <p:cNvSpPr/>
          <p:nvPr/>
        </p:nvSpPr>
        <p:spPr>
          <a:xfrm>
            <a:off x="6565392" y="1453896"/>
            <a:ext cx="475488" cy="118872"/>
          </a:xfrm>
          <a:prstGeom prst="rect">
            <a:avLst/>
          </a:prstGeom>
          <a:noFill/>
          <a:ln/>
        </p:spPr>
        <p:txBody>
          <a:bodyPr wrap="square" lIns="381" tIns="381" rIns="381" bIns="381" rtlCol="0" anchor="ctr">
            <a:normAutofit/>
          </a:bodyPr>
          <a:lstStyle/>
          <a:p>
            <a:pPr marL="0" indent="0" algn="ctr">
              <a:buNone/>
            </a:pPr>
            <a:r>
              <a:rPr lang="en-US" sz="640" b="1" u="sng" dirty="0">
                <a:solidFill>
                  <a:srgbClr val="2A3B50"/>
                </a:solidFill>
                <a:latin typeface="Arial" pitchFamily="34" charset="0"/>
                <a:ea typeface="Arial" pitchFamily="34" charset="-122"/>
                <a:cs typeface="Arial" pitchFamily="34" charset="-120"/>
                <a:hlinkClick r:id="rId7" action="ppaction://hlinksldjump">
                  <a:extLst>
                    <a:ext uri="{A12FA001-AC4F-418D-AE19-62706E023703}">
                      <ahyp:hlinkClr xmlns:ahyp="http://schemas.microsoft.com/office/drawing/2018/hyperlinkcolor" val="tx"/>
                    </a:ext>
                  </a:extLst>
                </a:hlinkClick>
              </a:rPr>
              <a:t>Contact</a:t>
            </a:r>
            <a:endParaRPr lang="en-US" sz="640" dirty="0"/>
          </a:p>
        </p:txBody>
      </p:sp>
      <p:sp>
        <p:nvSpPr>
          <p:cNvPr id="21" name="Text 19">
            <a:hlinkClick r:id="rId8" action="ppaction://hlinksldjump"/>
          </p:cNvPr>
          <p:cNvSpPr/>
          <p:nvPr/>
        </p:nvSpPr>
        <p:spPr>
          <a:xfrm>
            <a:off x="7242048" y="1453896"/>
            <a:ext cx="420624" cy="118872"/>
          </a:xfrm>
          <a:prstGeom prst="rect">
            <a:avLst/>
          </a:prstGeom>
          <a:noFill/>
          <a:ln/>
        </p:spPr>
        <p:txBody>
          <a:bodyPr wrap="square" lIns="381" tIns="381" rIns="381" bIns="381" rtlCol="0" anchor="ctr">
            <a:normAutofit/>
          </a:bodyPr>
          <a:lstStyle/>
          <a:p>
            <a:pPr marL="0" indent="0" algn="ctr">
              <a:buNone/>
            </a:pPr>
            <a:r>
              <a:rPr lang="en-US" sz="640" b="1" u="sng" dirty="0">
                <a:solidFill>
                  <a:srgbClr val="276F7B"/>
                </a:solidFill>
                <a:latin typeface="Arial" pitchFamily="34" charset="0"/>
                <a:ea typeface="Arial" pitchFamily="34" charset="-122"/>
                <a:cs typeface="Arial" pitchFamily="34" charset="-120"/>
                <a:hlinkClick r:id="rId8" action="ppaction://hlinksldjump">
                  <a:extLst>
                    <a:ext uri="{A12FA001-AC4F-418D-AE19-62706E023703}">
                      <ahyp:hlinkClr xmlns:ahyp="http://schemas.microsoft.com/office/drawing/2018/hyperlinkcolor" val="tx"/>
                    </a:ext>
                  </a:extLst>
                </a:hlinkClick>
              </a:rPr>
              <a:t>Book</a:t>
            </a:r>
            <a:endParaRPr lang="en-US" sz="640" dirty="0"/>
          </a:p>
        </p:txBody>
      </p:sp>
      <p:sp>
        <p:nvSpPr>
          <p:cNvPr id="22" name="Shape 20"/>
          <p:cNvSpPr/>
          <p:nvPr/>
        </p:nvSpPr>
        <p:spPr>
          <a:xfrm>
            <a:off x="7287768" y="1627632"/>
            <a:ext cx="329184" cy="22860"/>
          </a:xfrm>
          <a:prstGeom prst="rect">
            <a:avLst/>
          </a:prstGeom>
          <a:solidFill>
            <a:srgbClr val="2F8694"/>
          </a:solidFill>
          <a:ln w="12700">
            <a:solidFill>
              <a:srgbClr val="2F8694"/>
            </a:solidFill>
            <a:prstDash val="solid"/>
          </a:ln>
        </p:spPr>
        <p:txBody>
          <a:bodyPr/>
          <a:lstStyle/>
          <a:p>
            <a:endParaRPr lang="en-US"/>
          </a:p>
        </p:txBody>
      </p:sp>
      <p:sp>
        <p:nvSpPr>
          <p:cNvPr id="23" name="Shape 21">
            <a:hlinkClick r:id="rId9" action="ppaction://hlinksldjump"/>
          </p:cNvPr>
          <p:cNvSpPr/>
          <p:nvPr/>
        </p:nvSpPr>
        <p:spPr>
          <a:xfrm>
            <a:off x="10378440" y="1417320"/>
            <a:ext cx="530352" cy="283464"/>
          </a:xfrm>
          <a:prstGeom prst="roundRect">
            <a:avLst>
              <a:gd name="adj" fmla="val 25806"/>
            </a:avLst>
          </a:prstGeom>
          <a:solidFill>
            <a:srgbClr val="132133"/>
          </a:solidFill>
          <a:ln w="12700">
            <a:solidFill>
              <a:srgbClr val="132133">
                <a:alpha val="0"/>
              </a:srgbClr>
            </a:solidFill>
            <a:prstDash val="solid"/>
          </a:ln>
        </p:spPr>
        <p:txBody>
          <a:bodyPr/>
          <a:lstStyle/>
          <a:p>
            <a:endParaRPr lang="en-US"/>
          </a:p>
        </p:txBody>
      </p:sp>
      <p:sp>
        <p:nvSpPr>
          <p:cNvPr id="24" name="Text 22">
            <a:hlinkClick r:id="rId9" action="ppaction://hlinksldjump"/>
          </p:cNvPr>
          <p:cNvSpPr/>
          <p:nvPr/>
        </p:nvSpPr>
        <p:spPr>
          <a:xfrm>
            <a:off x="10396728" y="1444752"/>
            <a:ext cx="493776" cy="182880"/>
          </a:xfrm>
          <a:prstGeom prst="rect">
            <a:avLst/>
          </a:prstGeom>
          <a:noFill/>
          <a:ln/>
        </p:spPr>
        <p:txBody>
          <a:bodyPr wrap="square" lIns="381" tIns="381" rIns="381" bIns="381" rtlCol="0" anchor="ctr">
            <a:normAutofit/>
          </a:bodyPr>
          <a:lstStyle/>
          <a:p>
            <a:pPr marL="0" indent="0" algn="ctr">
              <a:buNone/>
            </a:pPr>
            <a:r>
              <a:rPr lang="en-US" sz="600" b="1" u="sng" dirty="0">
                <a:solidFill>
                  <a:srgbClr val="FFFFFF"/>
                </a:solidFill>
                <a:latin typeface="Arial" pitchFamily="34" charset="0"/>
                <a:ea typeface="Arial" pitchFamily="34" charset="-122"/>
                <a:cs typeface="Arial" pitchFamily="34" charset="-120"/>
                <a:hlinkClick r:id="rId9" action="ppaction://hlinksldjump">
                  <a:extLst>
                    <a:ext uri="{A12FA001-AC4F-418D-AE19-62706E023703}">
                      <ahyp:hlinkClr xmlns:ahyp="http://schemas.microsoft.com/office/drawing/2018/hyperlinkcolor" val="tx"/>
                    </a:ext>
                  </a:extLst>
                </a:hlinkClick>
              </a:rPr>
              <a:t>Login</a:t>
            </a:r>
            <a:endParaRPr lang="en-US" sz="600" dirty="0"/>
          </a:p>
        </p:txBody>
      </p:sp>
      <p:sp>
        <p:nvSpPr>
          <p:cNvPr id="25" name="Shape 23">
            <a:hlinkClick r:id="rId10" action="ppaction://hlinksldjump"/>
          </p:cNvPr>
          <p:cNvSpPr/>
          <p:nvPr/>
        </p:nvSpPr>
        <p:spPr>
          <a:xfrm>
            <a:off x="10991088" y="1417320"/>
            <a:ext cx="585216" cy="283464"/>
          </a:xfrm>
          <a:prstGeom prst="roundRect">
            <a:avLst>
              <a:gd name="adj" fmla="val 25806"/>
            </a:avLst>
          </a:prstGeom>
          <a:solidFill>
            <a:srgbClr val="276F7B"/>
          </a:solidFill>
          <a:ln w="12700">
            <a:solidFill>
              <a:srgbClr val="276F7B">
                <a:alpha val="0"/>
              </a:srgbClr>
            </a:solidFill>
            <a:prstDash val="solid"/>
          </a:ln>
        </p:spPr>
        <p:txBody>
          <a:bodyPr/>
          <a:lstStyle/>
          <a:p>
            <a:endParaRPr lang="en-US"/>
          </a:p>
        </p:txBody>
      </p:sp>
      <p:sp>
        <p:nvSpPr>
          <p:cNvPr id="26" name="Text 24">
            <a:hlinkClick r:id="rId10" action="ppaction://hlinksldjump"/>
          </p:cNvPr>
          <p:cNvSpPr/>
          <p:nvPr/>
        </p:nvSpPr>
        <p:spPr>
          <a:xfrm>
            <a:off x="11009376" y="1444752"/>
            <a:ext cx="548640" cy="182880"/>
          </a:xfrm>
          <a:prstGeom prst="rect">
            <a:avLst/>
          </a:prstGeom>
          <a:noFill/>
          <a:ln/>
        </p:spPr>
        <p:txBody>
          <a:bodyPr wrap="square" lIns="381" tIns="381" rIns="381" bIns="381" rtlCol="0" anchor="ctr">
            <a:normAutofit/>
          </a:bodyPr>
          <a:lstStyle/>
          <a:p>
            <a:pPr marL="0" indent="0" algn="ctr">
              <a:buNone/>
            </a:pPr>
            <a:r>
              <a:rPr lang="en-US" sz="600" b="1" u="sng" dirty="0">
                <a:solidFill>
                  <a:srgbClr val="FFFFFF"/>
                </a:solidFill>
                <a:latin typeface="Arial" pitchFamily="34" charset="0"/>
                <a:ea typeface="Arial" pitchFamily="34" charset="-122"/>
                <a:cs typeface="Arial" pitchFamily="34" charset="-120"/>
                <a:hlinkClick r:id="rId10" action="ppaction://hlinksldjump">
                  <a:extLst>
                    <a:ext uri="{A12FA001-AC4F-418D-AE19-62706E023703}">
                      <ahyp:hlinkClr xmlns:ahyp="http://schemas.microsoft.com/office/drawing/2018/hyperlinkcolor" val="tx"/>
                    </a:ext>
                  </a:extLst>
                </a:hlinkClick>
              </a:rPr>
              <a:t>Register</a:t>
            </a:r>
            <a:endParaRPr lang="en-US" sz="600" dirty="0"/>
          </a:p>
        </p:txBody>
      </p:sp>
      <p:sp>
        <p:nvSpPr>
          <p:cNvPr id="27" name="Text 25"/>
          <p:cNvSpPr/>
          <p:nvPr/>
        </p:nvSpPr>
        <p:spPr>
          <a:xfrm>
            <a:off x="502920" y="6510528"/>
            <a:ext cx="6400800" cy="201168"/>
          </a:xfrm>
          <a:prstGeom prst="rect">
            <a:avLst/>
          </a:prstGeom>
          <a:noFill/>
          <a:ln/>
        </p:spPr>
        <p:txBody>
          <a:bodyPr wrap="square" lIns="381" tIns="381" rIns="381" bIns="381" rtlCol="0" anchor="ctr">
            <a:normAutofit/>
          </a:bodyPr>
          <a:lstStyle/>
          <a:p>
            <a:pPr marL="0" indent="0" algn="l">
              <a:buNone/>
            </a:pPr>
            <a:r>
              <a:rPr lang="en-US" sz="710" dirty="0">
                <a:solidFill>
                  <a:srgbClr val="536273"/>
                </a:solidFill>
                <a:latin typeface="Arial" pitchFamily="34" charset="0"/>
                <a:ea typeface="Arial" pitchFamily="34" charset="-122"/>
                <a:cs typeface="Arial" pitchFamily="34" charset="-120"/>
              </a:rPr>
              <a:t>Slide 10 | Editable components | Use Slide Show mode to click through the prototype</a:t>
            </a:r>
            <a:endParaRPr lang="en-US" sz="710" dirty="0"/>
          </a:p>
        </p:txBody>
      </p:sp>
      <p:sp>
        <p:nvSpPr>
          <p:cNvPr id="28" name="Shape 26">
            <a:hlinkClick r:id="rId3" action="ppaction://hlinksldjump"/>
          </p:cNvPr>
          <p:cNvSpPr/>
          <p:nvPr/>
        </p:nvSpPr>
        <p:spPr>
          <a:xfrm>
            <a:off x="7635240" y="6455664"/>
            <a:ext cx="749808" cy="283464"/>
          </a:xfrm>
          <a:prstGeom prst="roundRect">
            <a:avLst>
              <a:gd name="adj" fmla="val 25806"/>
            </a:avLst>
          </a:prstGeom>
          <a:solidFill>
            <a:srgbClr val="FFFFFF">
              <a:alpha val="30000"/>
            </a:srgbClr>
          </a:solidFill>
          <a:ln w="12700">
            <a:solidFill>
              <a:srgbClr val="536273">
                <a:alpha val="50000"/>
              </a:srgbClr>
            </a:solidFill>
            <a:prstDash val="solid"/>
          </a:ln>
        </p:spPr>
        <p:txBody>
          <a:bodyPr/>
          <a:lstStyle/>
          <a:p>
            <a:endParaRPr lang="en-US"/>
          </a:p>
        </p:txBody>
      </p:sp>
      <p:sp>
        <p:nvSpPr>
          <p:cNvPr id="29" name="Text 27">
            <a:hlinkClick r:id="rId3" action="ppaction://hlinksldjump"/>
          </p:cNvPr>
          <p:cNvSpPr/>
          <p:nvPr/>
        </p:nvSpPr>
        <p:spPr>
          <a:xfrm>
            <a:off x="7653528" y="6483096"/>
            <a:ext cx="713232" cy="182880"/>
          </a:xfrm>
          <a:prstGeom prst="rect">
            <a:avLst/>
          </a:prstGeom>
          <a:noFill/>
          <a:ln/>
        </p:spPr>
        <p:txBody>
          <a:bodyPr wrap="square" lIns="381" tIns="381" rIns="381" bIns="381" rtlCol="0" anchor="ctr">
            <a:normAutofit/>
          </a:bodyPr>
          <a:lstStyle/>
          <a:p>
            <a:pPr marL="0" indent="0" algn="ctr">
              <a:buNone/>
            </a:pPr>
            <a:r>
              <a:rPr lang="en-US" sz="800" b="1" u="sng" dirty="0">
                <a:solidFill>
                  <a:srgbClr val="2A3B50"/>
                </a:solidFill>
                <a:latin typeface="Arial" pitchFamily="34" charset="0"/>
                <a:ea typeface="Arial" pitchFamily="34" charset="-122"/>
                <a:cs typeface="Arial" pitchFamily="34" charset="-120"/>
                <a:hlinkClick r:id="rId3" action="ppaction://hlinksldjump">
                  <a:extLst>
                    <a:ext uri="{A12FA001-AC4F-418D-AE19-62706E023703}">
                      <ahyp:hlinkClr xmlns:ahyp="http://schemas.microsoft.com/office/drawing/2018/hyperlinkcolor" val="tx"/>
                    </a:ext>
                  </a:extLst>
                </a:hlinkClick>
              </a:rPr>
              <a:t>Home</a:t>
            </a:r>
            <a:endParaRPr lang="en-US" sz="800" dirty="0"/>
          </a:p>
        </p:txBody>
      </p:sp>
      <p:sp>
        <p:nvSpPr>
          <p:cNvPr id="30" name="Shape 28">
            <a:hlinkClick r:id="rId5" action="ppaction://hlinksldjump"/>
          </p:cNvPr>
          <p:cNvSpPr/>
          <p:nvPr/>
        </p:nvSpPr>
        <p:spPr>
          <a:xfrm>
            <a:off x="8476488" y="6455664"/>
            <a:ext cx="749808" cy="283464"/>
          </a:xfrm>
          <a:prstGeom prst="roundRect">
            <a:avLst>
              <a:gd name="adj" fmla="val 25806"/>
            </a:avLst>
          </a:prstGeom>
          <a:solidFill>
            <a:srgbClr val="FFFFFF">
              <a:alpha val="30000"/>
            </a:srgbClr>
          </a:solidFill>
          <a:ln w="12700">
            <a:solidFill>
              <a:srgbClr val="536273">
                <a:alpha val="50000"/>
              </a:srgbClr>
            </a:solidFill>
            <a:prstDash val="solid"/>
          </a:ln>
        </p:spPr>
        <p:txBody>
          <a:bodyPr/>
          <a:lstStyle/>
          <a:p>
            <a:endParaRPr lang="en-US"/>
          </a:p>
        </p:txBody>
      </p:sp>
      <p:sp>
        <p:nvSpPr>
          <p:cNvPr id="31" name="Text 29">
            <a:hlinkClick r:id="rId5" action="ppaction://hlinksldjump"/>
          </p:cNvPr>
          <p:cNvSpPr/>
          <p:nvPr/>
        </p:nvSpPr>
        <p:spPr>
          <a:xfrm>
            <a:off x="8494776" y="6483096"/>
            <a:ext cx="713232" cy="182880"/>
          </a:xfrm>
          <a:prstGeom prst="rect">
            <a:avLst/>
          </a:prstGeom>
          <a:noFill/>
          <a:ln/>
        </p:spPr>
        <p:txBody>
          <a:bodyPr wrap="square" lIns="381" tIns="381" rIns="381" bIns="381" rtlCol="0" anchor="ctr">
            <a:normAutofit/>
          </a:bodyPr>
          <a:lstStyle/>
          <a:p>
            <a:pPr marL="0" indent="0" algn="ctr">
              <a:buNone/>
            </a:pPr>
            <a:r>
              <a:rPr lang="en-US" sz="800" b="1" u="sng" dirty="0">
                <a:solidFill>
                  <a:srgbClr val="2A3B50"/>
                </a:solidFill>
                <a:latin typeface="Arial" pitchFamily="34" charset="0"/>
                <a:ea typeface="Arial" pitchFamily="34" charset="-122"/>
                <a:cs typeface="Arial" pitchFamily="34" charset="-120"/>
                <a:hlinkClick r:id="rId5" action="ppaction://hlinksldjump">
                  <a:extLst>
                    <a:ext uri="{A12FA001-AC4F-418D-AE19-62706E023703}">
                      <ahyp:hlinkClr xmlns:ahyp="http://schemas.microsoft.com/office/drawing/2018/hyperlinkcolor" val="tx"/>
                    </a:ext>
                  </a:extLst>
                </a:hlinkClick>
              </a:rPr>
              <a:t>Rooms</a:t>
            </a:r>
            <a:endParaRPr lang="en-US" sz="800" dirty="0"/>
          </a:p>
        </p:txBody>
      </p:sp>
      <p:sp>
        <p:nvSpPr>
          <p:cNvPr id="32" name="Shape 30">
            <a:hlinkClick r:id="rId8" action="ppaction://hlinksldjump"/>
          </p:cNvPr>
          <p:cNvSpPr/>
          <p:nvPr/>
        </p:nvSpPr>
        <p:spPr>
          <a:xfrm>
            <a:off x="9317736" y="6455664"/>
            <a:ext cx="749808" cy="283464"/>
          </a:xfrm>
          <a:prstGeom prst="roundRect">
            <a:avLst>
              <a:gd name="adj" fmla="val 25806"/>
            </a:avLst>
          </a:prstGeom>
          <a:solidFill>
            <a:srgbClr val="FFFFFF">
              <a:alpha val="30000"/>
            </a:srgbClr>
          </a:solidFill>
          <a:ln w="12700">
            <a:solidFill>
              <a:srgbClr val="536273">
                <a:alpha val="50000"/>
              </a:srgbClr>
            </a:solidFill>
            <a:prstDash val="solid"/>
          </a:ln>
        </p:spPr>
        <p:txBody>
          <a:bodyPr/>
          <a:lstStyle/>
          <a:p>
            <a:endParaRPr lang="en-US"/>
          </a:p>
        </p:txBody>
      </p:sp>
      <p:sp>
        <p:nvSpPr>
          <p:cNvPr id="33" name="Text 31">
            <a:hlinkClick r:id="rId8" action="ppaction://hlinksldjump"/>
          </p:cNvPr>
          <p:cNvSpPr/>
          <p:nvPr/>
        </p:nvSpPr>
        <p:spPr>
          <a:xfrm>
            <a:off x="9336024" y="6483096"/>
            <a:ext cx="713232" cy="182880"/>
          </a:xfrm>
          <a:prstGeom prst="rect">
            <a:avLst/>
          </a:prstGeom>
          <a:noFill/>
          <a:ln/>
        </p:spPr>
        <p:txBody>
          <a:bodyPr wrap="square" lIns="381" tIns="381" rIns="381" bIns="381" rtlCol="0" anchor="ctr">
            <a:normAutofit/>
          </a:bodyPr>
          <a:lstStyle/>
          <a:p>
            <a:pPr marL="0" indent="0" algn="ctr">
              <a:buNone/>
            </a:pPr>
            <a:r>
              <a:rPr lang="en-US" sz="800" b="1" u="sng" dirty="0">
                <a:solidFill>
                  <a:srgbClr val="2A3B50"/>
                </a:solidFill>
                <a:latin typeface="Arial" pitchFamily="34" charset="0"/>
                <a:ea typeface="Arial" pitchFamily="34" charset="-122"/>
                <a:cs typeface="Arial" pitchFamily="34" charset="-120"/>
                <a:hlinkClick r:id="rId8" action="ppaction://hlinksldjump">
                  <a:extLst>
                    <a:ext uri="{A12FA001-AC4F-418D-AE19-62706E023703}">
                      <ahyp:hlinkClr xmlns:ahyp="http://schemas.microsoft.com/office/drawing/2018/hyperlinkcolor" val="tx"/>
                    </a:ext>
                  </a:extLst>
                </a:hlinkClick>
              </a:rPr>
              <a:t>Book</a:t>
            </a:r>
            <a:endParaRPr lang="en-US" sz="800" dirty="0"/>
          </a:p>
        </p:txBody>
      </p:sp>
      <p:sp>
        <p:nvSpPr>
          <p:cNvPr id="34" name="Shape 32">
            <a:hlinkClick r:id="rId11" action="ppaction://hlinksldjump"/>
          </p:cNvPr>
          <p:cNvSpPr/>
          <p:nvPr/>
        </p:nvSpPr>
        <p:spPr>
          <a:xfrm>
            <a:off x="10158984" y="6455664"/>
            <a:ext cx="749808" cy="283464"/>
          </a:xfrm>
          <a:prstGeom prst="roundRect">
            <a:avLst>
              <a:gd name="adj" fmla="val 25806"/>
            </a:avLst>
          </a:prstGeom>
          <a:solidFill>
            <a:srgbClr val="FFFFFF">
              <a:alpha val="30000"/>
            </a:srgbClr>
          </a:solidFill>
          <a:ln w="12700">
            <a:solidFill>
              <a:srgbClr val="536273">
                <a:alpha val="50000"/>
              </a:srgbClr>
            </a:solidFill>
            <a:prstDash val="solid"/>
          </a:ln>
        </p:spPr>
        <p:txBody>
          <a:bodyPr/>
          <a:lstStyle/>
          <a:p>
            <a:endParaRPr lang="en-US"/>
          </a:p>
        </p:txBody>
      </p:sp>
      <p:sp>
        <p:nvSpPr>
          <p:cNvPr id="35" name="Text 33">
            <a:hlinkClick r:id="rId11" action="ppaction://hlinksldjump"/>
          </p:cNvPr>
          <p:cNvSpPr/>
          <p:nvPr/>
        </p:nvSpPr>
        <p:spPr>
          <a:xfrm>
            <a:off x="10177272" y="6483096"/>
            <a:ext cx="713232" cy="182880"/>
          </a:xfrm>
          <a:prstGeom prst="rect">
            <a:avLst/>
          </a:prstGeom>
          <a:noFill/>
          <a:ln/>
        </p:spPr>
        <p:txBody>
          <a:bodyPr wrap="square" lIns="381" tIns="381" rIns="381" bIns="381" rtlCol="0" anchor="ctr">
            <a:normAutofit/>
          </a:bodyPr>
          <a:lstStyle/>
          <a:p>
            <a:pPr marL="0" indent="0" algn="ctr">
              <a:buNone/>
            </a:pPr>
            <a:r>
              <a:rPr lang="en-US" sz="800" b="1" u="sng" dirty="0">
                <a:solidFill>
                  <a:srgbClr val="2A3B50"/>
                </a:solidFill>
                <a:latin typeface="Arial" pitchFamily="34" charset="0"/>
                <a:ea typeface="Arial" pitchFamily="34" charset="-122"/>
                <a:cs typeface="Arial" pitchFamily="34" charset="-120"/>
                <a:hlinkClick r:id="rId11" action="ppaction://hlinksldjump">
                  <a:extLst>
                    <a:ext uri="{A12FA001-AC4F-418D-AE19-62706E023703}">
                      <ahyp:hlinkClr xmlns:ahyp="http://schemas.microsoft.com/office/drawing/2018/hyperlinkcolor" val="tx"/>
                    </a:ext>
                  </a:extLst>
                </a:hlinkClick>
              </a:rPr>
              <a:t>Lookup</a:t>
            </a:r>
            <a:endParaRPr lang="en-US" sz="800" dirty="0"/>
          </a:p>
        </p:txBody>
      </p:sp>
      <p:sp>
        <p:nvSpPr>
          <p:cNvPr id="36" name="Shape 34">
            <a:hlinkClick r:id="rId12" action="ppaction://hlinksldjump"/>
          </p:cNvPr>
          <p:cNvSpPr/>
          <p:nvPr/>
        </p:nvSpPr>
        <p:spPr>
          <a:xfrm>
            <a:off x="11000232" y="6455664"/>
            <a:ext cx="868680" cy="283464"/>
          </a:xfrm>
          <a:prstGeom prst="roundRect">
            <a:avLst>
              <a:gd name="adj" fmla="val 25806"/>
            </a:avLst>
          </a:prstGeom>
          <a:solidFill>
            <a:srgbClr val="132133"/>
          </a:solidFill>
          <a:ln w="12700">
            <a:solidFill>
              <a:srgbClr val="132133">
                <a:alpha val="0"/>
              </a:srgbClr>
            </a:solidFill>
            <a:prstDash val="solid"/>
          </a:ln>
        </p:spPr>
        <p:txBody>
          <a:bodyPr/>
          <a:lstStyle/>
          <a:p>
            <a:endParaRPr lang="en-US"/>
          </a:p>
        </p:txBody>
      </p:sp>
      <p:sp>
        <p:nvSpPr>
          <p:cNvPr id="37" name="Text 35">
            <a:hlinkClick r:id="rId12" action="ppaction://hlinksldjump"/>
          </p:cNvPr>
          <p:cNvSpPr/>
          <p:nvPr/>
        </p:nvSpPr>
        <p:spPr>
          <a:xfrm>
            <a:off x="11018520" y="6483096"/>
            <a:ext cx="832104" cy="182880"/>
          </a:xfrm>
          <a:prstGeom prst="rect">
            <a:avLst/>
          </a:prstGeom>
          <a:noFill/>
          <a:ln/>
        </p:spPr>
        <p:txBody>
          <a:bodyPr wrap="square" lIns="381" tIns="381" rIns="381" bIns="381" rtlCol="0" anchor="ctr">
            <a:normAutofit/>
          </a:bodyPr>
          <a:lstStyle/>
          <a:p>
            <a:pPr marL="0" indent="0" algn="ctr">
              <a:buNone/>
            </a:pPr>
            <a:r>
              <a:rPr lang="en-US" sz="770" b="1" u="sng" dirty="0">
                <a:solidFill>
                  <a:srgbClr val="FFFFFF"/>
                </a:solidFill>
                <a:latin typeface="Arial" pitchFamily="34" charset="0"/>
                <a:ea typeface="Arial" pitchFamily="34" charset="-122"/>
                <a:cs typeface="Arial" pitchFamily="34" charset="-120"/>
                <a:hlinkClick r:id="rId12" action="ppaction://hlinksldjump">
                  <a:extLst>
                    <a:ext uri="{A12FA001-AC4F-418D-AE19-62706E023703}">
                      <ahyp:hlinkClr xmlns:ahyp="http://schemas.microsoft.com/office/drawing/2018/hyperlinkcolor" val="tx"/>
                    </a:ext>
                  </a:extLst>
                </a:hlinkClick>
              </a:rPr>
              <a:t>Site Flow</a:t>
            </a:r>
            <a:endParaRPr lang="en-US" sz="770" dirty="0"/>
          </a:p>
        </p:txBody>
      </p:sp>
      <p:sp>
        <p:nvSpPr>
          <p:cNvPr id="38" name="Text 36"/>
          <p:cNvSpPr/>
          <p:nvPr/>
        </p:nvSpPr>
        <p:spPr>
          <a:xfrm>
            <a:off x="822960" y="2103120"/>
            <a:ext cx="9509760" cy="146304"/>
          </a:xfrm>
          <a:prstGeom prst="rect">
            <a:avLst/>
          </a:prstGeom>
          <a:noFill/>
          <a:ln/>
        </p:spPr>
        <p:txBody>
          <a:bodyPr wrap="square" lIns="381" tIns="381" rIns="381" bIns="381" rtlCol="0" anchor="ctr">
            <a:normAutofit/>
          </a:bodyPr>
          <a:lstStyle/>
          <a:p>
            <a:pPr marL="0" indent="0" algn="l">
              <a:buNone/>
            </a:pPr>
            <a:r>
              <a:rPr lang="en-US" sz="680" b="1" dirty="0">
                <a:solidFill>
                  <a:srgbClr val="276F7B"/>
                </a:solidFill>
                <a:latin typeface="Arial" pitchFamily="34" charset="0"/>
                <a:ea typeface="Arial" pitchFamily="34" charset="-122"/>
                <a:cs typeface="Arial" pitchFamily="34" charset="-120"/>
              </a:rPr>
              <a:t>PLAN YOUR GETAWAY</a:t>
            </a:r>
            <a:endParaRPr lang="en-US" sz="680" dirty="0"/>
          </a:p>
        </p:txBody>
      </p:sp>
      <p:sp>
        <p:nvSpPr>
          <p:cNvPr id="39" name="Text 37"/>
          <p:cNvSpPr/>
          <p:nvPr/>
        </p:nvSpPr>
        <p:spPr>
          <a:xfrm>
            <a:off x="822960" y="2304288"/>
            <a:ext cx="9509760" cy="393192"/>
          </a:xfrm>
          <a:prstGeom prst="rect">
            <a:avLst/>
          </a:prstGeom>
          <a:noFill/>
          <a:ln/>
        </p:spPr>
        <p:txBody>
          <a:bodyPr wrap="square" lIns="381" tIns="381" rIns="381" bIns="381" rtlCol="0" anchor="ctr">
            <a:normAutofit/>
          </a:bodyPr>
          <a:lstStyle/>
          <a:p>
            <a:pPr marL="0" indent="0" algn="l">
              <a:buNone/>
            </a:pPr>
            <a:r>
              <a:rPr lang="en-US" sz="2000" dirty="0">
                <a:solidFill>
                  <a:srgbClr val="132133"/>
                </a:solidFill>
                <a:latin typeface="Georgia" pitchFamily="34" charset="0"/>
                <a:ea typeface="Georgia" pitchFamily="34" charset="-122"/>
                <a:cs typeface="Georgia" pitchFamily="34" charset="-120"/>
              </a:rPr>
              <a:t>Book Your Vacation</a:t>
            </a:r>
            <a:endParaRPr lang="en-US" sz="2000" dirty="0"/>
          </a:p>
        </p:txBody>
      </p:sp>
      <p:sp>
        <p:nvSpPr>
          <p:cNvPr id="40" name="Text 38"/>
          <p:cNvSpPr/>
          <p:nvPr/>
        </p:nvSpPr>
        <p:spPr>
          <a:xfrm>
            <a:off x="822960" y="2798064"/>
            <a:ext cx="9509760" cy="256032"/>
          </a:xfrm>
          <a:prstGeom prst="rect">
            <a:avLst/>
          </a:prstGeom>
          <a:noFill/>
          <a:ln/>
        </p:spPr>
        <p:txBody>
          <a:bodyPr wrap="square" lIns="381" tIns="381" rIns="381" bIns="381" rtlCol="0" anchor="t">
            <a:normAutofit/>
          </a:bodyPr>
          <a:lstStyle/>
          <a:p>
            <a:pPr marL="0" indent="0" algn="l">
              <a:buNone/>
            </a:pPr>
            <a:r>
              <a:rPr lang="en-US" sz="840" dirty="0">
                <a:solidFill>
                  <a:srgbClr val="2A3B50"/>
                </a:solidFill>
                <a:latin typeface="Arial" pitchFamily="34" charset="0"/>
                <a:ea typeface="Arial" pitchFamily="34" charset="-122"/>
                <a:cs typeface="Arial" pitchFamily="34" charset="-120"/>
              </a:rPr>
              <a:t>Choose your room, guest count, and travel dates. Guests review the reservation before confirming it.</a:t>
            </a:r>
            <a:endParaRPr lang="en-US" sz="840" dirty="0"/>
          </a:p>
        </p:txBody>
      </p:sp>
      <p:sp>
        <p:nvSpPr>
          <p:cNvPr id="41" name="Shape 39"/>
          <p:cNvSpPr/>
          <p:nvPr/>
        </p:nvSpPr>
        <p:spPr>
          <a:xfrm>
            <a:off x="822960" y="3337560"/>
            <a:ext cx="5486400" cy="2697480"/>
          </a:xfrm>
          <a:prstGeom prst="roundRect">
            <a:avLst>
              <a:gd name="adj" fmla="val 3390"/>
            </a:avLst>
          </a:prstGeom>
          <a:solidFill>
            <a:srgbClr val="FFFFFF">
              <a:alpha val="92000"/>
            </a:srgbClr>
          </a:solidFill>
          <a:ln w="12700">
            <a:solidFill>
              <a:srgbClr val="E9DFCF"/>
            </a:solidFill>
            <a:prstDash val="solid"/>
          </a:ln>
          <a:effectLst>
            <a:outerShdw blurRad="12700" dist="7620" dir="2700000" algn="bl" rotWithShape="0">
              <a:srgbClr val="132133">
                <a:alpha val="7000"/>
              </a:srgbClr>
            </a:outerShdw>
          </a:effectLst>
        </p:spPr>
        <p:txBody>
          <a:bodyPr/>
          <a:lstStyle/>
          <a:p>
            <a:endParaRPr lang="en-US"/>
          </a:p>
        </p:txBody>
      </p:sp>
      <p:sp>
        <p:nvSpPr>
          <p:cNvPr id="42" name="Text 40"/>
          <p:cNvSpPr/>
          <p:nvPr/>
        </p:nvSpPr>
        <p:spPr>
          <a:xfrm>
            <a:off x="1051560" y="3547872"/>
            <a:ext cx="2468880" cy="210312"/>
          </a:xfrm>
          <a:prstGeom prst="rect">
            <a:avLst/>
          </a:prstGeom>
          <a:noFill/>
          <a:ln/>
        </p:spPr>
        <p:txBody>
          <a:bodyPr wrap="square" lIns="381" tIns="381" rIns="381" bIns="381" rtlCol="0" anchor="ctr">
            <a:normAutofit/>
          </a:bodyPr>
          <a:lstStyle/>
          <a:p>
            <a:pPr marL="0" indent="0" algn="l">
              <a:buNone/>
            </a:pPr>
            <a:r>
              <a:rPr lang="en-US" sz="1300" dirty="0">
                <a:solidFill>
                  <a:srgbClr val="132133"/>
                </a:solidFill>
                <a:latin typeface="Georgia" pitchFamily="34" charset="0"/>
                <a:ea typeface="Georgia" pitchFamily="34" charset="-122"/>
                <a:cs typeface="Georgia" pitchFamily="34" charset="-120"/>
              </a:rPr>
              <a:t>Reservation Details</a:t>
            </a:r>
            <a:endParaRPr lang="en-US" sz="1300" dirty="0"/>
          </a:p>
        </p:txBody>
      </p:sp>
      <p:sp>
        <p:nvSpPr>
          <p:cNvPr id="43" name="Text 41"/>
          <p:cNvSpPr/>
          <p:nvPr/>
        </p:nvSpPr>
        <p:spPr>
          <a:xfrm>
            <a:off x="1051560" y="3913632"/>
            <a:ext cx="2331720" cy="100584"/>
          </a:xfrm>
          <a:prstGeom prst="rect">
            <a:avLst/>
          </a:prstGeom>
          <a:noFill/>
          <a:ln/>
        </p:spPr>
        <p:txBody>
          <a:bodyPr wrap="square" lIns="381" tIns="381" rIns="381" bIns="381" rtlCol="0" anchor="ctr">
            <a:normAutofit/>
          </a:bodyPr>
          <a:lstStyle/>
          <a:p>
            <a:pPr marL="0" indent="0" algn="l">
              <a:buNone/>
            </a:pPr>
            <a:r>
              <a:rPr lang="en-US" sz="530" b="1" dirty="0">
                <a:solidFill>
                  <a:srgbClr val="2A3B50"/>
                </a:solidFill>
                <a:latin typeface="Arial" pitchFamily="34" charset="0"/>
                <a:ea typeface="Arial" pitchFamily="34" charset="-122"/>
                <a:cs typeface="Arial" pitchFamily="34" charset="-120"/>
              </a:rPr>
              <a:t>Room Size</a:t>
            </a:r>
            <a:endParaRPr lang="en-US" sz="530" dirty="0"/>
          </a:p>
        </p:txBody>
      </p:sp>
      <p:sp>
        <p:nvSpPr>
          <p:cNvPr id="44" name="Shape 42"/>
          <p:cNvSpPr/>
          <p:nvPr/>
        </p:nvSpPr>
        <p:spPr>
          <a:xfrm>
            <a:off x="1051560" y="4041648"/>
            <a:ext cx="2331720" cy="310896"/>
          </a:xfrm>
          <a:prstGeom prst="roundRect">
            <a:avLst>
              <a:gd name="adj" fmla="val 11765"/>
            </a:avLst>
          </a:prstGeom>
          <a:solidFill>
            <a:srgbClr val="FFFFFF"/>
          </a:solidFill>
          <a:ln w="12700">
            <a:solidFill>
              <a:srgbClr val="B8C2C5">
                <a:alpha val="80000"/>
              </a:srgbClr>
            </a:solidFill>
            <a:prstDash val="solid"/>
          </a:ln>
        </p:spPr>
        <p:txBody>
          <a:bodyPr/>
          <a:lstStyle/>
          <a:p>
            <a:endParaRPr lang="en-US"/>
          </a:p>
        </p:txBody>
      </p:sp>
      <p:sp>
        <p:nvSpPr>
          <p:cNvPr id="45" name="Text 43"/>
          <p:cNvSpPr/>
          <p:nvPr/>
        </p:nvSpPr>
        <p:spPr>
          <a:xfrm>
            <a:off x="1124712" y="4133088"/>
            <a:ext cx="2185416" cy="82296"/>
          </a:xfrm>
          <a:prstGeom prst="rect">
            <a:avLst/>
          </a:prstGeom>
          <a:noFill/>
          <a:ln/>
        </p:spPr>
        <p:txBody>
          <a:bodyPr wrap="square" lIns="381" tIns="381" rIns="381" bIns="381" rtlCol="0" anchor="ctr">
            <a:normAutofit/>
          </a:bodyPr>
          <a:lstStyle/>
          <a:p>
            <a:pPr marL="0" indent="0" algn="l">
              <a:buNone/>
            </a:pPr>
            <a:r>
              <a:rPr lang="en-US" sz="510" dirty="0">
                <a:solidFill>
                  <a:srgbClr val="536273"/>
                </a:solidFill>
                <a:latin typeface="Arial" pitchFamily="34" charset="0"/>
                <a:ea typeface="Arial" pitchFamily="34" charset="-122"/>
                <a:cs typeface="Arial" pitchFamily="34" charset="-120"/>
              </a:rPr>
              <a:t>Queen ($135)</a:t>
            </a:r>
            <a:endParaRPr lang="en-US" sz="510" dirty="0"/>
          </a:p>
        </p:txBody>
      </p:sp>
      <p:sp>
        <p:nvSpPr>
          <p:cNvPr id="46" name="Text 44"/>
          <p:cNvSpPr/>
          <p:nvPr/>
        </p:nvSpPr>
        <p:spPr>
          <a:xfrm>
            <a:off x="3218688" y="4123944"/>
            <a:ext cx="109728" cy="91440"/>
          </a:xfrm>
          <a:prstGeom prst="rect">
            <a:avLst/>
          </a:prstGeom>
          <a:noFill/>
          <a:ln/>
        </p:spPr>
        <p:txBody>
          <a:bodyPr wrap="square" lIns="381" tIns="381" rIns="381" bIns="381" rtlCol="0" anchor="ctr">
            <a:normAutofit lnSpcReduction="10000"/>
          </a:bodyPr>
          <a:lstStyle/>
          <a:p>
            <a:pPr marL="0" indent="0" algn="ctr">
              <a:buNone/>
            </a:pPr>
            <a:r>
              <a:rPr lang="en-US" sz="600" dirty="0">
                <a:solidFill>
                  <a:srgbClr val="2A3B50"/>
                </a:solidFill>
                <a:latin typeface="Arial" pitchFamily="34" charset="0"/>
                <a:ea typeface="Arial" pitchFamily="34" charset="-122"/>
                <a:cs typeface="Arial" pitchFamily="34" charset="-120"/>
              </a:rPr>
              <a:t>⌄</a:t>
            </a:r>
            <a:endParaRPr lang="en-US" sz="600" dirty="0"/>
          </a:p>
        </p:txBody>
      </p:sp>
      <p:sp>
        <p:nvSpPr>
          <p:cNvPr id="47" name="Text 45"/>
          <p:cNvSpPr/>
          <p:nvPr/>
        </p:nvSpPr>
        <p:spPr>
          <a:xfrm>
            <a:off x="3703320" y="3913632"/>
            <a:ext cx="2331720" cy="100584"/>
          </a:xfrm>
          <a:prstGeom prst="rect">
            <a:avLst/>
          </a:prstGeom>
          <a:noFill/>
          <a:ln/>
        </p:spPr>
        <p:txBody>
          <a:bodyPr wrap="square" lIns="381" tIns="381" rIns="381" bIns="381" rtlCol="0" anchor="ctr">
            <a:normAutofit/>
          </a:bodyPr>
          <a:lstStyle/>
          <a:p>
            <a:pPr marL="0" indent="0" algn="l">
              <a:buNone/>
            </a:pPr>
            <a:r>
              <a:rPr lang="en-US" sz="530" b="1" dirty="0">
                <a:solidFill>
                  <a:srgbClr val="2A3B50"/>
                </a:solidFill>
                <a:latin typeface="Arial" pitchFamily="34" charset="0"/>
                <a:ea typeface="Arial" pitchFamily="34" charset="-122"/>
                <a:cs typeface="Arial" pitchFamily="34" charset="-120"/>
              </a:rPr>
              <a:t>Number of Guests</a:t>
            </a:r>
            <a:endParaRPr lang="en-US" sz="530" dirty="0"/>
          </a:p>
        </p:txBody>
      </p:sp>
      <p:sp>
        <p:nvSpPr>
          <p:cNvPr id="48" name="Shape 46"/>
          <p:cNvSpPr/>
          <p:nvPr/>
        </p:nvSpPr>
        <p:spPr>
          <a:xfrm>
            <a:off x="3703320" y="4041648"/>
            <a:ext cx="2331720" cy="310896"/>
          </a:xfrm>
          <a:prstGeom prst="roundRect">
            <a:avLst>
              <a:gd name="adj" fmla="val 11765"/>
            </a:avLst>
          </a:prstGeom>
          <a:solidFill>
            <a:srgbClr val="FFFFFF"/>
          </a:solidFill>
          <a:ln w="12700">
            <a:solidFill>
              <a:srgbClr val="B8C2C5">
                <a:alpha val="80000"/>
              </a:srgbClr>
            </a:solidFill>
            <a:prstDash val="solid"/>
          </a:ln>
        </p:spPr>
        <p:txBody>
          <a:bodyPr/>
          <a:lstStyle/>
          <a:p>
            <a:endParaRPr lang="en-US"/>
          </a:p>
        </p:txBody>
      </p:sp>
      <p:sp>
        <p:nvSpPr>
          <p:cNvPr id="49" name="Text 47"/>
          <p:cNvSpPr/>
          <p:nvPr/>
        </p:nvSpPr>
        <p:spPr>
          <a:xfrm>
            <a:off x="3776472" y="4133088"/>
            <a:ext cx="2185416" cy="82296"/>
          </a:xfrm>
          <a:prstGeom prst="rect">
            <a:avLst/>
          </a:prstGeom>
          <a:noFill/>
          <a:ln/>
        </p:spPr>
        <p:txBody>
          <a:bodyPr wrap="square" lIns="381" tIns="381" rIns="381" bIns="381" rtlCol="0" anchor="ctr">
            <a:normAutofit/>
          </a:bodyPr>
          <a:lstStyle/>
          <a:p>
            <a:pPr marL="0" indent="0" algn="l">
              <a:buNone/>
            </a:pPr>
            <a:r>
              <a:rPr lang="en-US" sz="510" dirty="0">
                <a:solidFill>
                  <a:srgbClr val="536273"/>
                </a:solidFill>
                <a:latin typeface="Arial" pitchFamily="34" charset="0"/>
                <a:ea typeface="Arial" pitchFamily="34" charset="-122"/>
                <a:cs typeface="Arial" pitchFamily="34" charset="-120"/>
              </a:rPr>
              <a:t>2</a:t>
            </a:r>
            <a:endParaRPr lang="en-US" sz="510" dirty="0"/>
          </a:p>
        </p:txBody>
      </p:sp>
      <p:sp>
        <p:nvSpPr>
          <p:cNvPr id="50" name="Text 48"/>
          <p:cNvSpPr/>
          <p:nvPr/>
        </p:nvSpPr>
        <p:spPr>
          <a:xfrm>
            <a:off x="1051560" y="4590288"/>
            <a:ext cx="2331720" cy="100584"/>
          </a:xfrm>
          <a:prstGeom prst="rect">
            <a:avLst/>
          </a:prstGeom>
          <a:noFill/>
          <a:ln/>
        </p:spPr>
        <p:txBody>
          <a:bodyPr wrap="square" lIns="381" tIns="381" rIns="381" bIns="381" rtlCol="0" anchor="ctr">
            <a:normAutofit/>
          </a:bodyPr>
          <a:lstStyle/>
          <a:p>
            <a:pPr marL="0" indent="0" algn="l">
              <a:buNone/>
            </a:pPr>
            <a:r>
              <a:rPr lang="en-US" sz="530" b="1" dirty="0">
                <a:solidFill>
                  <a:srgbClr val="2A3B50"/>
                </a:solidFill>
                <a:latin typeface="Arial" pitchFamily="34" charset="0"/>
                <a:ea typeface="Arial" pitchFamily="34" charset="-122"/>
                <a:cs typeface="Arial" pitchFamily="34" charset="-120"/>
              </a:rPr>
              <a:t>Check-In Date</a:t>
            </a:r>
            <a:endParaRPr lang="en-US" sz="530" dirty="0"/>
          </a:p>
        </p:txBody>
      </p:sp>
      <p:sp>
        <p:nvSpPr>
          <p:cNvPr id="51" name="Shape 49"/>
          <p:cNvSpPr/>
          <p:nvPr/>
        </p:nvSpPr>
        <p:spPr>
          <a:xfrm>
            <a:off x="1051560" y="4718304"/>
            <a:ext cx="2331720" cy="310896"/>
          </a:xfrm>
          <a:prstGeom prst="roundRect">
            <a:avLst>
              <a:gd name="adj" fmla="val 11765"/>
            </a:avLst>
          </a:prstGeom>
          <a:solidFill>
            <a:srgbClr val="FFFFFF"/>
          </a:solidFill>
          <a:ln w="12700">
            <a:solidFill>
              <a:srgbClr val="B8C2C5">
                <a:alpha val="80000"/>
              </a:srgbClr>
            </a:solidFill>
            <a:prstDash val="solid"/>
          </a:ln>
        </p:spPr>
        <p:txBody>
          <a:bodyPr/>
          <a:lstStyle/>
          <a:p>
            <a:endParaRPr lang="en-US"/>
          </a:p>
        </p:txBody>
      </p:sp>
      <p:sp>
        <p:nvSpPr>
          <p:cNvPr id="52" name="Text 50"/>
          <p:cNvSpPr/>
          <p:nvPr/>
        </p:nvSpPr>
        <p:spPr>
          <a:xfrm>
            <a:off x="1124712" y="4809744"/>
            <a:ext cx="2185416" cy="82296"/>
          </a:xfrm>
          <a:prstGeom prst="rect">
            <a:avLst/>
          </a:prstGeom>
          <a:noFill/>
          <a:ln/>
        </p:spPr>
        <p:txBody>
          <a:bodyPr wrap="square" lIns="381" tIns="381" rIns="381" bIns="381" rtlCol="0" anchor="ctr">
            <a:normAutofit/>
          </a:bodyPr>
          <a:lstStyle/>
          <a:p>
            <a:pPr marL="0" indent="0" algn="l">
              <a:buNone/>
            </a:pPr>
            <a:r>
              <a:rPr lang="en-US" sz="510" dirty="0">
                <a:solidFill>
                  <a:srgbClr val="536273"/>
                </a:solidFill>
                <a:latin typeface="Arial" pitchFamily="34" charset="0"/>
                <a:ea typeface="Arial" pitchFamily="34" charset="-122"/>
                <a:cs typeface="Arial" pitchFamily="34" charset="-120"/>
              </a:rPr>
              <a:t>mm/dd/yyyy</a:t>
            </a:r>
            <a:endParaRPr lang="en-US" sz="510" dirty="0"/>
          </a:p>
        </p:txBody>
      </p:sp>
      <p:sp>
        <p:nvSpPr>
          <p:cNvPr id="53" name="Text 51"/>
          <p:cNvSpPr/>
          <p:nvPr/>
        </p:nvSpPr>
        <p:spPr>
          <a:xfrm>
            <a:off x="3703320" y="4590288"/>
            <a:ext cx="2331720" cy="100584"/>
          </a:xfrm>
          <a:prstGeom prst="rect">
            <a:avLst/>
          </a:prstGeom>
          <a:noFill/>
          <a:ln/>
        </p:spPr>
        <p:txBody>
          <a:bodyPr wrap="square" lIns="381" tIns="381" rIns="381" bIns="381" rtlCol="0" anchor="ctr">
            <a:normAutofit/>
          </a:bodyPr>
          <a:lstStyle/>
          <a:p>
            <a:pPr marL="0" indent="0" algn="l">
              <a:buNone/>
            </a:pPr>
            <a:r>
              <a:rPr lang="en-US" sz="530" b="1" dirty="0">
                <a:solidFill>
                  <a:srgbClr val="2A3B50"/>
                </a:solidFill>
                <a:latin typeface="Arial" pitchFamily="34" charset="0"/>
                <a:ea typeface="Arial" pitchFamily="34" charset="-122"/>
                <a:cs typeface="Arial" pitchFamily="34" charset="-120"/>
              </a:rPr>
              <a:t>Check-Out Date</a:t>
            </a:r>
            <a:endParaRPr lang="en-US" sz="530" dirty="0"/>
          </a:p>
        </p:txBody>
      </p:sp>
      <p:sp>
        <p:nvSpPr>
          <p:cNvPr id="54" name="Shape 52"/>
          <p:cNvSpPr/>
          <p:nvPr/>
        </p:nvSpPr>
        <p:spPr>
          <a:xfrm>
            <a:off x="3703320" y="4718304"/>
            <a:ext cx="2331720" cy="310896"/>
          </a:xfrm>
          <a:prstGeom prst="roundRect">
            <a:avLst>
              <a:gd name="adj" fmla="val 11765"/>
            </a:avLst>
          </a:prstGeom>
          <a:solidFill>
            <a:srgbClr val="FFFFFF"/>
          </a:solidFill>
          <a:ln w="12700">
            <a:solidFill>
              <a:srgbClr val="B8C2C5">
                <a:alpha val="80000"/>
              </a:srgbClr>
            </a:solidFill>
            <a:prstDash val="solid"/>
          </a:ln>
        </p:spPr>
        <p:txBody>
          <a:bodyPr/>
          <a:lstStyle/>
          <a:p>
            <a:endParaRPr lang="en-US"/>
          </a:p>
        </p:txBody>
      </p:sp>
      <p:sp>
        <p:nvSpPr>
          <p:cNvPr id="55" name="Text 53"/>
          <p:cNvSpPr/>
          <p:nvPr/>
        </p:nvSpPr>
        <p:spPr>
          <a:xfrm>
            <a:off x="3776472" y="4809744"/>
            <a:ext cx="2185416" cy="82296"/>
          </a:xfrm>
          <a:prstGeom prst="rect">
            <a:avLst/>
          </a:prstGeom>
          <a:noFill/>
          <a:ln/>
        </p:spPr>
        <p:txBody>
          <a:bodyPr wrap="square" lIns="381" tIns="381" rIns="381" bIns="381" rtlCol="0" anchor="ctr">
            <a:normAutofit/>
          </a:bodyPr>
          <a:lstStyle/>
          <a:p>
            <a:pPr marL="0" indent="0" algn="l">
              <a:buNone/>
            </a:pPr>
            <a:r>
              <a:rPr lang="en-US" sz="510" dirty="0">
                <a:solidFill>
                  <a:srgbClr val="536273"/>
                </a:solidFill>
                <a:latin typeface="Arial" pitchFamily="34" charset="0"/>
                <a:ea typeface="Arial" pitchFamily="34" charset="-122"/>
                <a:cs typeface="Arial" pitchFamily="34" charset="-120"/>
              </a:rPr>
              <a:t>mm/dd/yyyy</a:t>
            </a:r>
            <a:endParaRPr lang="en-US" sz="510" dirty="0"/>
          </a:p>
        </p:txBody>
      </p:sp>
      <p:sp>
        <p:nvSpPr>
          <p:cNvPr id="56" name="Shape 54">
            <a:hlinkClick r:id="rId13" action="ppaction://hlinksldjump"/>
          </p:cNvPr>
          <p:cNvSpPr/>
          <p:nvPr/>
        </p:nvSpPr>
        <p:spPr>
          <a:xfrm>
            <a:off x="1051560" y="5504688"/>
            <a:ext cx="1481328" cy="310896"/>
          </a:xfrm>
          <a:prstGeom prst="roundRect">
            <a:avLst>
              <a:gd name="adj" fmla="val 35294"/>
            </a:avLst>
          </a:prstGeom>
          <a:solidFill>
            <a:srgbClr val="CDA059"/>
          </a:solidFill>
          <a:ln w="12700">
            <a:solidFill>
              <a:srgbClr val="CDA059">
                <a:alpha val="0"/>
              </a:srgbClr>
            </a:solidFill>
            <a:prstDash val="solid"/>
          </a:ln>
        </p:spPr>
        <p:txBody>
          <a:bodyPr/>
          <a:lstStyle/>
          <a:p>
            <a:endParaRPr lang="en-US"/>
          </a:p>
        </p:txBody>
      </p:sp>
      <p:sp>
        <p:nvSpPr>
          <p:cNvPr id="57" name="Text 55">
            <a:hlinkClick r:id="rId13" action="ppaction://hlinksldjump"/>
          </p:cNvPr>
          <p:cNvSpPr/>
          <p:nvPr/>
        </p:nvSpPr>
        <p:spPr>
          <a:xfrm>
            <a:off x="1078992" y="5586984"/>
            <a:ext cx="1426464" cy="109728"/>
          </a:xfrm>
          <a:prstGeom prst="rect">
            <a:avLst/>
          </a:prstGeom>
          <a:noFill/>
          <a:ln/>
        </p:spPr>
        <p:txBody>
          <a:bodyPr wrap="square" lIns="381" tIns="381" rIns="381" bIns="381" rtlCol="0" anchor="ctr">
            <a:normAutofit/>
          </a:bodyPr>
          <a:lstStyle/>
          <a:p>
            <a:pPr marL="0" indent="0" algn="ctr">
              <a:buNone/>
            </a:pPr>
            <a:r>
              <a:rPr lang="en-US" sz="640" b="1" u="sng" dirty="0">
                <a:solidFill>
                  <a:srgbClr val="132133"/>
                </a:solidFill>
                <a:latin typeface="Arial" pitchFamily="34" charset="0"/>
                <a:ea typeface="Arial" pitchFamily="34" charset="-122"/>
                <a:cs typeface="Arial" pitchFamily="34" charset="-120"/>
                <a:hlinkClick r:id="rId13" action="ppaction://hlinksldjump">
                  <a:extLst>
                    <a:ext uri="{A12FA001-AC4F-418D-AE19-62706E023703}">
                      <ahyp:hlinkClr xmlns:ahyp="http://schemas.microsoft.com/office/drawing/2018/hyperlinkcolor" val="tx"/>
                    </a:ext>
                  </a:extLst>
                </a:hlinkClick>
              </a:rPr>
              <a:t>Review Reservation</a:t>
            </a:r>
            <a:endParaRPr lang="en-US" sz="640" dirty="0"/>
          </a:p>
        </p:txBody>
      </p:sp>
      <p:sp>
        <p:nvSpPr>
          <p:cNvPr id="58" name="Shape 56"/>
          <p:cNvSpPr/>
          <p:nvPr/>
        </p:nvSpPr>
        <p:spPr>
          <a:xfrm>
            <a:off x="6720840" y="3337560"/>
            <a:ext cx="4023360" cy="2697480"/>
          </a:xfrm>
          <a:prstGeom prst="roundRect">
            <a:avLst>
              <a:gd name="adj" fmla="val 3390"/>
            </a:avLst>
          </a:prstGeom>
          <a:solidFill>
            <a:srgbClr val="FFFFFF">
              <a:alpha val="90000"/>
            </a:srgbClr>
          </a:solidFill>
          <a:ln w="12700">
            <a:solidFill>
              <a:srgbClr val="E9DFCF">
                <a:alpha val="80000"/>
              </a:srgbClr>
            </a:solidFill>
            <a:prstDash val="solid"/>
          </a:ln>
          <a:effectLst>
            <a:outerShdw blurRad="12700" dist="8890" dir="2700000" algn="bl" rotWithShape="0">
              <a:srgbClr val="132133">
                <a:alpha val="7000"/>
              </a:srgbClr>
            </a:outerShdw>
          </a:effectLst>
        </p:spPr>
        <p:txBody>
          <a:bodyPr/>
          <a:lstStyle/>
          <a:p>
            <a:endParaRPr lang="en-US"/>
          </a:p>
        </p:txBody>
      </p:sp>
      <p:sp>
        <p:nvSpPr>
          <p:cNvPr id="59" name="Shape 57"/>
          <p:cNvSpPr/>
          <p:nvPr/>
        </p:nvSpPr>
        <p:spPr>
          <a:xfrm>
            <a:off x="6720840" y="3337560"/>
            <a:ext cx="4023360" cy="54864"/>
          </a:xfrm>
          <a:prstGeom prst="rect">
            <a:avLst/>
          </a:prstGeom>
          <a:solidFill>
            <a:srgbClr val="2F8694"/>
          </a:solidFill>
          <a:ln w="12700">
            <a:solidFill>
              <a:srgbClr val="2F8694"/>
            </a:solidFill>
            <a:prstDash val="solid"/>
          </a:ln>
        </p:spPr>
        <p:txBody>
          <a:bodyPr/>
          <a:lstStyle/>
          <a:p>
            <a:endParaRPr lang="en-US"/>
          </a:p>
        </p:txBody>
      </p:sp>
      <p:sp>
        <p:nvSpPr>
          <p:cNvPr id="60" name="Text 58"/>
          <p:cNvSpPr/>
          <p:nvPr/>
        </p:nvSpPr>
        <p:spPr>
          <a:xfrm>
            <a:off x="6885432" y="3502152"/>
            <a:ext cx="3694176" cy="292608"/>
          </a:xfrm>
          <a:prstGeom prst="rect">
            <a:avLst/>
          </a:prstGeom>
          <a:noFill/>
          <a:ln/>
        </p:spPr>
        <p:txBody>
          <a:bodyPr wrap="square" lIns="381" tIns="381" rIns="381" bIns="381" rtlCol="0" anchor="ctr">
            <a:normAutofit/>
          </a:bodyPr>
          <a:lstStyle/>
          <a:p>
            <a:pPr marL="0" indent="0" algn="l">
              <a:buNone/>
            </a:pPr>
            <a:r>
              <a:rPr lang="en-US" sz="1250" dirty="0">
                <a:solidFill>
                  <a:srgbClr val="132133"/>
                </a:solidFill>
                <a:latin typeface="Georgia" pitchFamily="34" charset="0"/>
                <a:ea typeface="Georgia" pitchFamily="34" charset="-122"/>
                <a:cs typeface="Georgia" pitchFamily="34" charset="-120"/>
              </a:rPr>
              <a:t>Before You Confirm</a:t>
            </a:r>
            <a:endParaRPr lang="en-US" sz="1250" dirty="0"/>
          </a:p>
        </p:txBody>
      </p:sp>
      <p:sp>
        <p:nvSpPr>
          <p:cNvPr id="61" name="Text 59"/>
          <p:cNvSpPr/>
          <p:nvPr/>
        </p:nvSpPr>
        <p:spPr>
          <a:xfrm>
            <a:off x="6885432" y="3840480"/>
            <a:ext cx="3694176" cy="2039112"/>
          </a:xfrm>
          <a:prstGeom prst="rect">
            <a:avLst/>
          </a:prstGeom>
          <a:noFill/>
          <a:ln/>
        </p:spPr>
        <p:txBody>
          <a:bodyPr wrap="square" lIns="381" tIns="381" rIns="381" bIns="381" rtlCol="0" anchor="t">
            <a:normAutofit/>
          </a:bodyPr>
          <a:lstStyle/>
          <a:p>
            <a:pPr marL="0" indent="0" algn="l">
              <a:buNone/>
            </a:pPr>
            <a:r>
              <a:rPr lang="en-US" sz="680" dirty="0">
                <a:solidFill>
                  <a:srgbClr val="2A3B50"/>
                </a:solidFill>
                <a:latin typeface="Arial" pitchFamily="34" charset="0"/>
                <a:ea typeface="Arial" pitchFamily="34" charset="-122"/>
                <a:cs typeface="Arial" pitchFamily="34" charset="-120"/>
              </a:rPr>
              <a:t>All rooms are at the same Moffat Bay Lodge location. The guest chooses a room type, not a separate property. Confirmation requires a free account and login.</a:t>
            </a:r>
            <a:endParaRPr lang="en-US" sz="680" dirty="0"/>
          </a:p>
        </p:txBody>
      </p:sp>
      <p:sp>
        <p:nvSpPr>
          <p:cNvPr id="62" name="Shape 60">
            <a:hlinkClick r:id="rId5" action="ppaction://hlinksldjump"/>
          </p:cNvPr>
          <p:cNvSpPr/>
          <p:nvPr/>
        </p:nvSpPr>
        <p:spPr>
          <a:xfrm>
            <a:off x="6949440" y="5413248"/>
            <a:ext cx="1097280" cy="310896"/>
          </a:xfrm>
          <a:prstGeom prst="roundRect">
            <a:avLst>
              <a:gd name="adj" fmla="val 35294"/>
            </a:avLst>
          </a:prstGeom>
          <a:solidFill>
            <a:srgbClr val="FFFFFF">
              <a:alpha val="30000"/>
            </a:srgbClr>
          </a:solidFill>
          <a:ln w="12700">
            <a:solidFill>
              <a:srgbClr val="536273">
                <a:alpha val="70000"/>
              </a:srgbClr>
            </a:solidFill>
            <a:prstDash val="solid"/>
          </a:ln>
        </p:spPr>
        <p:txBody>
          <a:bodyPr/>
          <a:lstStyle/>
          <a:p>
            <a:endParaRPr lang="en-US"/>
          </a:p>
        </p:txBody>
      </p:sp>
      <p:sp>
        <p:nvSpPr>
          <p:cNvPr id="63" name="Text 61">
            <a:hlinkClick r:id="rId5" action="ppaction://hlinksldjump"/>
          </p:cNvPr>
          <p:cNvSpPr/>
          <p:nvPr/>
        </p:nvSpPr>
        <p:spPr>
          <a:xfrm>
            <a:off x="6976872" y="5495544"/>
            <a:ext cx="1042416" cy="109728"/>
          </a:xfrm>
          <a:prstGeom prst="rect">
            <a:avLst/>
          </a:prstGeom>
          <a:noFill/>
          <a:ln/>
        </p:spPr>
        <p:txBody>
          <a:bodyPr wrap="square" lIns="381" tIns="381" rIns="381" bIns="381" rtlCol="0" anchor="ctr">
            <a:normAutofit/>
          </a:bodyPr>
          <a:lstStyle/>
          <a:p>
            <a:pPr marL="0" indent="0" algn="ctr">
              <a:buNone/>
            </a:pPr>
            <a:r>
              <a:rPr lang="en-US" sz="640" b="1" u="sng" dirty="0">
                <a:solidFill>
                  <a:srgbClr val="132133"/>
                </a:solidFill>
                <a:latin typeface="Arial" pitchFamily="34" charset="0"/>
                <a:ea typeface="Arial" pitchFamily="34" charset="-122"/>
                <a:cs typeface="Arial" pitchFamily="34" charset="-120"/>
                <a:hlinkClick r:id="rId5" action="ppaction://hlinksldjump">
                  <a:extLst>
                    <a:ext uri="{A12FA001-AC4F-418D-AE19-62706E023703}">
                      <ahyp:hlinkClr xmlns:ahyp="http://schemas.microsoft.com/office/drawing/2018/hyperlinkcolor" val="tx"/>
                    </a:ext>
                  </a:extLst>
                </a:hlinkClick>
              </a:rPr>
              <a:t>Compare Rooms</a:t>
            </a:r>
            <a:endParaRPr lang="en-US" sz="640" dirty="0"/>
          </a:p>
        </p:txBody>
      </p:sp>
      <p:sp>
        <p:nvSpPr>
          <p:cNvPr id="64" name="Shape 62">
            <a:hlinkClick r:id="rId9" action="ppaction://hlinksldjump"/>
          </p:cNvPr>
          <p:cNvSpPr/>
          <p:nvPr/>
        </p:nvSpPr>
        <p:spPr>
          <a:xfrm>
            <a:off x="8193024" y="5413248"/>
            <a:ext cx="713232" cy="310896"/>
          </a:xfrm>
          <a:prstGeom prst="roundRect">
            <a:avLst>
              <a:gd name="adj" fmla="val 35294"/>
            </a:avLst>
          </a:prstGeom>
          <a:solidFill>
            <a:srgbClr val="FFFFFF">
              <a:alpha val="30000"/>
            </a:srgbClr>
          </a:solidFill>
          <a:ln w="12700">
            <a:solidFill>
              <a:srgbClr val="536273">
                <a:alpha val="70000"/>
              </a:srgbClr>
            </a:solidFill>
            <a:prstDash val="solid"/>
          </a:ln>
        </p:spPr>
        <p:txBody>
          <a:bodyPr/>
          <a:lstStyle/>
          <a:p>
            <a:endParaRPr lang="en-US"/>
          </a:p>
        </p:txBody>
      </p:sp>
      <p:sp>
        <p:nvSpPr>
          <p:cNvPr id="65" name="Text 63">
            <a:hlinkClick r:id="rId9" action="ppaction://hlinksldjump"/>
          </p:cNvPr>
          <p:cNvSpPr/>
          <p:nvPr/>
        </p:nvSpPr>
        <p:spPr>
          <a:xfrm>
            <a:off x="8220456" y="5495544"/>
            <a:ext cx="658368" cy="109728"/>
          </a:xfrm>
          <a:prstGeom prst="rect">
            <a:avLst/>
          </a:prstGeom>
          <a:noFill/>
          <a:ln/>
        </p:spPr>
        <p:txBody>
          <a:bodyPr wrap="square" lIns="381" tIns="381" rIns="381" bIns="381" rtlCol="0" anchor="ctr">
            <a:normAutofit/>
          </a:bodyPr>
          <a:lstStyle/>
          <a:p>
            <a:pPr marL="0" indent="0" algn="ctr">
              <a:buNone/>
            </a:pPr>
            <a:r>
              <a:rPr lang="en-US" sz="640" b="1" u="sng" dirty="0">
                <a:solidFill>
                  <a:srgbClr val="132133"/>
                </a:solidFill>
                <a:latin typeface="Arial" pitchFamily="34" charset="0"/>
                <a:ea typeface="Arial" pitchFamily="34" charset="-122"/>
                <a:cs typeface="Arial" pitchFamily="34" charset="-120"/>
                <a:hlinkClick r:id="rId9" action="ppaction://hlinksldjump">
                  <a:extLst>
                    <a:ext uri="{A12FA001-AC4F-418D-AE19-62706E023703}">
                      <ahyp:hlinkClr xmlns:ahyp="http://schemas.microsoft.com/office/drawing/2018/hyperlinkcolor" val="tx"/>
                    </a:ext>
                  </a:extLst>
                </a:hlinkClick>
              </a:rPr>
              <a:t>Login</a:t>
            </a:r>
            <a:endParaRPr lang="en-US" sz="640" dirty="0"/>
          </a:p>
        </p:txBody>
      </p:sp>
      <p:sp>
        <p:nvSpPr>
          <p:cNvPr id="66" name="Shape 64">
            <a:hlinkClick r:id="rId10" action="ppaction://hlinksldjump"/>
          </p:cNvPr>
          <p:cNvSpPr/>
          <p:nvPr/>
        </p:nvSpPr>
        <p:spPr>
          <a:xfrm>
            <a:off x="9034272" y="5413248"/>
            <a:ext cx="868680" cy="310896"/>
          </a:xfrm>
          <a:prstGeom prst="roundRect">
            <a:avLst>
              <a:gd name="adj" fmla="val 35294"/>
            </a:avLst>
          </a:prstGeom>
          <a:solidFill>
            <a:srgbClr val="132133"/>
          </a:solidFill>
          <a:ln w="12700">
            <a:solidFill>
              <a:srgbClr val="132133">
                <a:alpha val="0"/>
              </a:srgbClr>
            </a:solidFill>
            <a:prstDash val="solid"/>
          </a:ln>
        </p:spPr>
        <p:txBody>
          <a:bodyPr/>
          <a:lstStyle/>
          <a:p>
            <a:endParaRPr lang="en-US"/>
          </a:p>
        </p:txBody>
      </p:sp>
      <p:sp>
        <p:nvSpPr>
          <p:cNvPr id="67" name="Text 65">
            <a:hlinkClick r:id="rId10" action="ppaction://hlinksldjump"/>
          </p:cNvPr>
          <p:cNvSpPr/>
          <p:nvPr/>
        </p:nvSpPr>
        <p:spPr>
          <a:xfrm>
            <a:off x="9061704" y="5495544"/>
            <a:ext cx="813816" cy="109728"/>
          </a:xfrm>
          <a:prstGeom prst="rect">
            <a:avLst/>
          </a:prstGeom>
          <a:noFill/>
          <a:ln/>
        </p:spPr>
        <p:txBody>
          <a:bodyPr wrap="square" lIns="381" tIns="381" rIns="381" bIns="381" rtlCol="0" anchor="ctr">
            <a:normAutofit/>
          </a:bodyPr>
          <a:lstStyle/>
          <a:p>
            <a:pPr marL="0" indent="0" algn="ctr">
              <a:buNone/>
            </a:pPr>
            <a:r>
              <a:rPr lang="en-US" sz="640" b="1" u="sng" dirty="0">
                <a:solidFill>
                  <a:srgbClr val="FFFFFF"/>
                </a:solidFill>
                <a:latin typeface="Arial" pitchFamily="34" charset="0"/>
                <a:ea typeface="Arial" pitchFamily="34" charset="-122"/>
                <a:cs typeface="Arial" pitchFamily="34" charset="-120"/>
                <a:hlinkClick r:id="rId10" action="ppaction://hlinksldjump">
                  <a:extLst>
                    <a:ext uri="{A12FA001-AC4F-418D-AE19-62706E023703}">
                      <ahyp:hlinkClr xmlns:ahyp="http://schemas.microsoft.com/office/drawing/2018/hyperlinkcolor" val="tx"/>
                    </a:ext>
                  </a:extLst>
                </a:hlinkClick>
              </a:rPr>
              <a:t>Register</a:t>
            </a:r>
            <a:endParaRPr lang="en-US" sz="640" dirty="0"/>
          </a:p>
        </p:txBody>
      </p:sp>
      <p:sp>
        <p:nvSpPr>
          <p:cNvPr id="68" name="Text 66">
            <a:hlinkClick r:id="rId11" action="ppaction://hlinksldjump"/>
          </p:cNvPr>
          <p:cNvSpPr/>
          <p:nvPr/>
        </p:nvSpPr>
        <p:spPr>
          <a:xfrm>
            <a:off x="6949440" y="5833872"/>
            <a:ext cx="2560320" cy="109728"/>
          </a:xfrm>
          <a:prstGeom prst="rect">
            <a:avLst/>
          </a:prstGeom>
          <a:noFill/>
          <a:ln/>
        </p:spPr>
        <p:txBody>
          <a:bodyPr wrap="square" lIns="381" tIns="381" rIns="381" bIns="381" rtlCol="0" anchor="ctr">
            <a:normAutofit/>
          </a:bodyPr>
          <a:lstStyle/>
          <a:p>
            <a:pPr marL="0" indent="0" algn="l">
              <a:buNone/>
            </a:pPr>
            <a:r>
              <a:rPr lang="en-US" sz="620" b="1" u="sng" dirty="0">
                <a:solidFill>
                  <a:srgbClr val="276F7B"/>
                </a:solidFill>
                <a:latin typeface="Arial" pitchFamily="34" charset="0"/>
                <a:ea typeface="Arial" pitchFamily="34" charset="-122"/>
                <a:cs typeface="Arial" pitchFamily="34" charset="-120"/>
                <a:hlinkClick r:id="rId11" action="ppaction://hlinksldjump">
                  <a:extLst>
                    <a:ext uri="{A12FA001-AC4F-418D-AE19-62706E023703}">
                      <ahyp:hlinkClr xmlns:ahyp="http://schemas.microsoft.com/office/drawing/2018/hyperlinkcolor" val="tx"/>
                    </a:ext>
                  </a:extLst>
                </a:hlinkClick>
              </a:rPr>
              <a:t>Already booked? Look up a reservation →</a:t>
            </a:r>
            <a:endParaRPr lang="en-US" sz="6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28600"/>
            <a:ext cx="5943600" cy="365760"/>
          </a:xfrm>
          <a:prstGeom prst="rect">
            <a:avLst/>
          </a:prstGeom>
          <a:noFill/>
          <a:ln/>
        </p:spPr>
        <p:txBody>
          <a:bodyPr wrap="square" lIns="381" tIns="381" rIns="381" bIns="381" rtlCol="0" anchor="ctr">
            <a:normAutofit/>
          </a:bodyPr>
          <a:lstStyle/>
          <a:p>
            <a:pPr marL="0" indent="0" algn="l">
              <a:buNone/>
            </a:pPr>
            <a:r>
              <a:rPr lang="en-US" sz="2000" b="1" dirty="0">
                <a:solidFill>
                  <a:srgbClr val="132133"/>
                </a:solidFill>
                <a:latin typeface="Georgia" pitchFamily="34" charset="0"/>
                <a:ea typeface="Georgia" pitchFamily="34" charset="-122"/>
                <a:cs typeface="Georgia" pitchFamily="34" charset="-120"/>
              </a:rPr>
              <a:t>Reservation Lookup Prototype</a:t>
            </a:r>
            <a:endParaRPr lang="en-US" sz="2000" dirty="0"/>
          </a:p>
        </p:txBody>
      </p:sp>
      <p:sp>
        <p:nvSpPr>
          <p:cNvPr id="3" name="Text 1"/>
          <p:cNvSpPr/>
          <p:nvPr/>
        </p:nvSpPr>
        <p:spPr>
          <a:xfrm>
            <a:off x="512064" y="630936"/>
            <a:ext cx="6492240" cy="228600"/>
          </a:xfrm>
          <a:prstGeom prst="rect">
            <a:avLst/>
          </a:prstGeom>
          <a:noFill/>
          <a:ln/>
        </p:spPr>
        <p:txBody>
          <a:bodyPr wrap="square" lIns="381" tIns="381" rIns="381" bIns="381" rtlCol="0" anchor="ctr">
            <a:normAutofit/>
          </a:bodyPr>
          <a:lstStyle/>
          <a:p>
            <a:pPr marL="0" indent="0" algn="l">
              <a:buNone/>
            </a:pPr>
            <a:r>
              <a:rPr lang="en-US" sz="850" dirty="0">
                <a:solidFill>
                  <a:srgbClr val="536273"/>
                </a:solidFill>
                <a:latin typeface="Arial" pitchFamily="34" charset="0"/>
                <a:ea typeface="Arial" pitchFamily="34" charset="-122"/>
                <a:cs typeface="Arial" pitchFamily="34" charset="-120"/>
              </a:rPr>
              <a:t>Purpose: help returning guests search reservations by ID or email address.</a:t>
            </a:r>
            <a:endParaRPr lang="en-US" sz="850" dirty="0"/>
          </a:p>
        </p:txBody>
      </p:sp>
      <p:sp>
        <p:nvSpPr>
          <p:cNvPr id="4" name="Text 2"/>
          <p:cNvSpPr/>
          <p:nvPr/>
        </p:nvSpPr>
        <p:spPr>
          <a:xfrm>
            <a:off x="8823960" y="256032"/>
            <a:ext cx="2743200" cy="228600"/>
          </a:xfrm>
          <a:prstGeom prst="rect">
            <a:avLst/>
          </a:prstGeom>
          <a:noFill/>
          <a:ln/>
        </p:spPr>
        <p:txBody>
          <a:bodyPr wrap="square" lIns="381" tIns="381" rIns="381" bIns="381" rtlCol="0" anchor="ctr">
            <a:normAutofit/>
          </a:bodyPr>
          <a:lstStyle/>
          <a:p>
            <a:pPr marL="0" indent="0" algn="r">
              <a:buNone/>
            </a:pPr>
            <a:r>
              <a:rPr lang="en-US" sz="800" b="1" dirty="0">
                <a:solidFill>
                  <a:srgbClr val="536273"/>
                </a:solidFill>
                <a:latin typeface="Arial" pitchFamily="34" charset="0"/>
                <a:ea typeface="Arial" pitchFamily="34" charset="-122"/>
                <a:cs typeface="Arial" pitchFamily="34" charset="-120"/>
              </a:rPr>
              <a:t>Moffat Bay Lodge Prototype</a:t>
            </a:r>
            <a:endParaRPr lang="en-US" sz="800" dirty="0"/>
          </a:p>
        </p:txBody>
      </p:sp>
      <p:sp>
        <p:nvSpPr>
          <p:cNvPr id="5" name="Shape 3"/>
          <p:cNvSpPr/>
          <p:nvPr/>
        </p:nvSpPr>
        <p:spPr>
          <a:xfrm>
            <a:off x="502920" y="896112"/>
            <a:ext cx="11201400" cy="5440680"/>
          </a:xfrm>
          <a:prstGeom prst="roundRect">
            <a:avLst>
              <a:gd name="adj" fmla="val 1513"/>
            </a:avLst>
          </a:prstGeom>
          <a:solidFill>
            <a:srgbClr val="FFFAF2"/>
          </a:solidFill>
          <a:ln w="12700">
            <a:solidFill>
              <a:srgbClr val="E9DFCF"/>
            </a:solidFill>
            <a:prstDash val="solid"/>
          </a:ln>
          <a:effectLst>
            <a:outerShdw blurRad="25400" dist="12700" dir="2700000" algn="bl" rotWithShape="0">
              <a:srgbClr val="132133">
                <a:alpha val="10000"/>
              </a:srgbClr>
            </a:outerShdw>
          </a:effectLst>
        </p:spPr>
        <p:txBody>
          <a:bodyPr/>
          <a:lstStyle/>
          <a:p>
            <a:endParaRPr lang="en-US"/>
          </a:p>
        </p:txBody>
      </p:sp>
      <p:sp>
        <p:nvSpPr>
          <p:cNvPr id="6" name="Shape 4"/>
          <p:cNvSpPr/>
          <p:nvPr/>
        </p:nvSpPr>
        <p:spPr>
          <a:xfrm>
            <a:off x="502920" y="896112"/>
            <a:ext cx="11201400" cy="384048"/>
          </a:xfrm>
          <a:prstGeom prst="rect">
            <a:avLst/>
          </a:prstGeom>
          <a:solidFill>
            <a:srgbClr val="FFFFFF"/>
          </a:solidFill>
          <a:ln w="12700">
            <a:solidFill>
              <a:srgbClr val="E9DFCF"/>
            </a:solidFill>
            <a:prstDash val="solid"/>
          </a:ln>
        </p:spPr>
        <p:txBody>
          <a:bodyPr/>
          <a:lstStyle/>
          <a:p>
            <a:endParaRPr lang="en-US"/>
          </a:p>
        </p:txBody>
      </p:sp>
      <p:sp>
        <p:nvSpPr>
          <p:cNvPr id="10" name="Shape 8"/>
          <p:cNvSpPr/>
          <p:nvPr/>
        </p:nvSpPr>
        <p:spPr>
          <a:xfrm>
            <a:off x="1280160" y="987552"/>
            <a:ext cx="3657600" cy="192024"/>
          </a:xfrm>
          <a:prstGeom prst="roundRect">
            <a:avLst>
              <a:gd name="adj" fmla="val 28571"/>
            </a:avLst>
          </a:prstGeom>
          <a:solidFill>
            <a:srgbClr val="F5EFE5"/>
          </a:solidFill>
          <a:ln w="12700">
            <a:solidFill>
              <a:srgbClr val="E9DFCF">
                <a:alpha val="80000"/>
              </a:srgbClr>
            </a:solidFill>
            <a:prstDash val="solid"/>
          </a:ln>
        </p:spPr>
        <p:txBody>
          <a:bodyPr/>
          <a:lstStyle/>
          <a:p>
            <a:endParaRPr lang="en-US"/>
          </a:p>
        </p:txBody>
      </p:sp>
      <p:sp>
        <p:nvSpPr>
          <p:cNvPr id="11" name="Text 9"/>
          <p:cNvSpPr/>
          <p:nvPr/>
        </p:nvSpPr>
        <p:spPr>
          <a:xfrm>
            <a:off x="1408176" y="1014984"/>
            <a:ext cx="3337560" cy="109728"/>
          </a:xfrm>
          <a:prstGeom prst="rect">
            <a:avLst/>
          </a:prstGeom>
          <a:noFill/>
          <a:ln/>
        </p:spPr>
        <p:txBody>
          <a:bodyPr wrap="square" lIns="381" tIns="381" rIns="381" bIns="381" rtlCol="0" anchor="ctr">
            <a:normAutofit/>
          </a:bodyPr>
          <a:lstStyle/>
          <a:p>
            <a:pPr marL="0" indent="0" algn="l">
              <a:buNone/>
            </a:pPr>
            <a:r>
              <a:rPr lang="en-US" sz="550" dirty="0">
                <a:solidFill>
                  <a:srgbClr val="536273"/>
                </a:solidFill>
                <a:latin typeface="Arial" pitchFamily="34" charset="0"/>
                <a:ea typeface="Arial" pitchFamily="34" charset="-122"/>
                <a:cs typeface="Arial" pitchFamily="34" charset="-120"/>
              </a:rPr>
              <a:t>moffatbaylodge.com/reservation-lookup.html</a:t>
            </a:r>
            <a:endParaRPr lang="en-US" sz="550" dirty="0"/>
          </a:p>
        </p:txBody>
      </p:sp>
      <p:sp>
        <p:nvSpPr>
          <p:cNvPr id="12" name="Shape 10"/>
          <p:cNvSpPr/>
          <p:nvPr/>
        </p:nvSpPr>
        <p:spPr>
          <a:xfrm>
            <a:off x="502920" y="1280160"/>
            <a:ext cx="11201400" cy="530352"/>
          </a:xfrm>
          <a:prstGeom prst="rect">
            <a:avLst/>
          </a:prstGeom>
          <a:solidFill>
            <a:srgbClr val="FAF5EC"/>
          </a:solidFill>
          <a:ln w="12700">
            <a:solidFill>
              <a:srgbClr val="E9DFCF">
                <a:alpha val="90000"/>
              </a:srgbClr>
            </a:solidFill>
            <a:prstDash val="solid"/>
          </a:ln>
        </p:spPr>
        <p:txBody>
          <a:bodyPr/>
          <a:lstStyle/>
          <a:p>
            <a:endParaRPr lang="en-US"/>
          </a:p>
        </p:txBody>
      </p:sp>
      <p:sp>
        <p:nvSpPr>
          <p:cNvPr id="13" name="Shape 11"/>
          <p:cNvSpPr/>
          <p:nvPr/>
        </p:nvSpPr>
        <p:spPr>
          <a:xfrm>
            <a:off x="731520" y="1399032"/>
            <a:ext cx="256032" cy="256032"/>
          </a:xfrm>
          <a:prstGeom prst="ellipse">
            <a:avLst/>
          </a:prstGeom>
          <a:solidFill>
            <a:srgbClr val="276F7B"/>
          </a:solidFill>
          <a:ln w="12700">
            <a:solidFill>
              <a:srgbClr val="276F7B"/>
            </a:solidFill>
            <a:prstDash val="solid"/>
          </a:ln>
        </p:spPr>
        <p:txBody>
          <a:bodyPr/>
          <a:lstStyle/>
          <a:p>
            <a:endParaRPr lang="en-US"/>
          </a:p>
        </p:txBody>
      </p:sp>
      <p:sp>
        <p:nvSpPr>
          <p:cNvPr id="14" name="Text 12"/>
          <p:cNvSpPr/>
          <p:nvPr/>
        </p:nvSpPr>
        <p:spPr>
          <a:xfrm>
            <a:off x="731520" y="1426464"/>
            <a:ext cx="256032" cy="109728"/>
          </a:xfrm>
          <a:prstGeom prst="rect">
            <a:avLst/>
          </a:prstGeom>
          <a:noFill/>
          <a:ln/>
        </p:spPr>
        <p:txBody>
          <a:bodyPr wrap="square" lIns="381" tIns="381" rIns="381" bIns="381" rtlCol="0" anchor="ctr">
            <a:normAutofit/>
          </a:bodyPr>
          <a:lstStyle/>
          <a:p>
            <a:pPr marL="0" indent="0" algn="ctr">
              <a:buNone/>
            </a:pPr>
            <a:r>
              <a:rPr lang="en-US" sz="700" b="1" dirty="0">
                <a:solidFill>
                  <a:srgbClr val="FFFFFF"/>
                </a:solidFill>
                <a:latin typeface="Georgia" pitchFamily="34" charset="0"/>
                <a:ea typeface="Georgia" pitchFamily="34" charset="-122"/>
                <a:cs typeface="Georgia" pitchFamily="34" charset="-120"/>
              </a:rPr>
              <a:t>MB</a:t>
            </a:r>
            <a:endParaRPr lang="en-US" sz="700" dirty="0"/>
          </a:p>
        </p:txBody>
      </p:sp>
      <p:sp>
        <p:nvSpPr>
          <p:cNvPr id="15" name="Text 13"/>
          <p:cNvSpPr/>
          <p:nvPr/>
        </p:nvSpPr>
        <p:spPr>
          <a:xfrm>
            <a:off x="1069848" y="1435608"/>
            <a:ext cx="1691640" cy="118872"/>
          </a:xfrm>
          <a:prstGeom prst="rect">
            <a:avLst/>
          </a:prstGeom>
          <a:noFill/>
          <a:ln/>
        </p:spPr>
        <p:txBody>
          <a:bodyPr wrap="square" lIns="381" tIns="381" rIns="381" bIns="381" rtlCol="0" anchor="ctr">
            <a:normAutofit/>
          </a:bodyPr>
          <a:lstStyle/>
          <a:p>
            <a:pPr marL="0" indent="0" algn="l">
              <a:buNone/>
            </a:pPr>
            <a:r>
              <a:rPr lang="en-US" sz="680" b="1" dirty="0">
                <a:solidFill>
                  <a:srgbClr val="132133"/>
                </a:solidFill>
                <a:latin typeface="Arial" pitchFamily="34" charset="0"/>
                <a:ea typeface="Arial" pitchFamily="34" charset="-122"/>
                <a:cs typeface="Arial" pitchFamily="34" charset="-120"/>
              </a:rPr>
              <a:t>MOFFAT BAY LODGE</a:t>
            </a:r>
            <a:endParaRPr lang="en-US" sz="680" dirty="0"/>
          </a:p>
        </p:txBody>
      </p:sp>
      <p:sp>
        <p:nvSpPr>
          <p:cNvPr id="16" name="Text 14">
            <a:hlinkClick r:id="rId3" action="ppaction://hlinksldjump"/>
          </p:cNvPr>
          <p:cNvSpPr/>
          <p:nvPr/>
        </p:nvSpPr>
        <p:spPr>
          <a:xfrm>
            <a:off x="3291840" y="1453896"/>
            <a:ext cx="402336" cy="118872"/>
          </a:xfrm>
          <a:prstGeom prst="rect">
            <a:avLst/>
          </a:prstGeom>
          <a:noFill/>
          <a:ln/>
        </p:spPr>
        <p:txBody>
          <a:bodyPr wrap="square" lIns="381" tIns="381" rIns="381" bIns="381" rtlCol="0" anchor="ctr">
            <a:normAutofit/>
          </a:bodyPr>
          <a:lstStyle/>
          <a:p>
            <a:pPr marL="0" indent="0" algn="ctr">
              <a:buNone/>
            </a:pPr>
            <a:r>
              <a:rPr lang="en-US" sz="640" b="1" u="sng" dirty="0">
                <a:solidFill>
                  <a:srgbClr val="2A3B50"/>
                </a:solidFill>
                <a:latin typeface="Arial" pitchFamily="34" charset="0"/>
                <a:ea typeface="Arial" pitchFamily="34" charset="-122"/>
                <a:cs typeface="Arial" pitchFamily="34" charset="-120"/>
                <a:hlinkClick r:id="rId3" action="ppaction://hlinksldjump">
                  <a:extLst>
                    <a:ext uri="{A12FA001-AC4F-418D-AE19-62706E023703}">
                      <ahyp:hlinkClr xmlns:ahyp="http://schemas.microsoft.com/office/drawing/2018/hyperlinkcolor" val="tx"/>
                    </a:ext>
                  </a:extLst>
                </a:hlinkClick>
              </a:rPr>
              <a:t>Home</a:t>
            </a:r>
            <a:endParaRPr lang="en-US" sz="640" dirty="0"/>
          </a:p>
        </p:txBody>
      </p:sp>
      <p:sp>
        <p:nvSpPr>
          <p:cNvPr id="17" name="Text 15">
            <a:hlinkClick r:id="rId4" action="ppaction://hlinksldjump"/>
          </p:cNvPr>
          <p:cNvSpPr/>
          <p:nvPr/>
        </p:nvSpPr>
        <p:spPr>
          <a:xfrm>
            <a:off x="3895344" y="1453896"/>
            <a:ext cx="420624" cy="118872"/>
          </a:xfrm>
          <a:prstGeom prst="rect">
            <a:avLst/>
          </a:prstGeom>
          <a:noFill/>
          <a:ln/>
        </p:spPr>
        <p:txBody>
          <a:bodyPr wrap="square" lIns="381" tIns="381" rIns="381" bIns="381" rtlCol="0" anchor="ctr">
            <a:normAutofit/>
          </a:bodyPr>
          <a:lstStyle/>
          <a:p>
            <a:pPr marL="0" indent="0" algn="ctr">
              <a:buNone/>
            </a:pPr>
            <a:r>
              <a:rPr lang="en-US" sz="640" b="1" u="sng" dirty="0">
                <a:solidFill>
                  <a:srgbClr val="2A3B50"/>
                </a:solidFill>
                <a:latin typeface="Arial" pitchFamily="34" charset="0"/>
                <a:ea typeface="Arial" pitchFamily="34" charset="-122"/>
                <a:cs typeface="Arial" pitchFamily="34" charset="-120"/>
                <a:hlinkClick r:id="rId4" action="ppaction://hlinksldjump">
                  <a:extLst>
                    <a:ext uri="{A12FA001-AC4F-418D-AE19-62706E023703}">
                      <ahyp:hlinkClr xmlns:ahyp="http://schemas.microsoft.com/office/drawing/2018/hyperlinkcolor" val="tx"/>
                    </a:ext>
                  </a:extLst>
                </a:hlinkClick>
              </a:rPr>
              <a:t>About</a:t>
            </a:r>
            <a:endParaRPr lang="en-US" sz="640" dirty="0"/>
          </a:p>
        </p:txBody>
      </p:sp>
      <p:sp>
        <p:nvSpPr>
          <p:cNvPr id="18" name="Text 16">
            <a:hlinkClick r:id="rId5" action="ppaction://hlinksldjump"/>
          </p:cNvPr>
          <p:cNvSpPr/>
          <p:nvPr/>
        </p:nvSpPr>
        <p:spPr>
          <a:xfrm>
            <a:off x="4517136" y="1453896"/>
            <a:ext cx="960120" cy="118872"/>
          </a:xfrm>
          <a:prstGeom prst="rect">
            <a:avLst/>
          </a:prstGeom>
          <a:noFill/>
          <a:ln/>
        </p:spPr>
        <p:txBody>
          <a:bodyPr wrap="square" lIns="381" tIns="381" rIns="381" bIns="381" rtlCol="0" anchor="ctr">
            <a:normAutofit/>
          </a:bodyPr>
          <a:lstStyle/>
          <a:p>
            <a:pPr marL="0" indent="0" algn="ctr">
              <a:buNone/>
            </a:pPr>
            <a:r>
              <a:rPr lang="en-US" sz="640" b="1" u="sng" dirty="0">
                <a:solidFill>
                  <a:srgbClr val="2A3B50"/>
                </a:solidFill>
                <a:latin typeface="Arial" pitchFamily="34" charset="0"/>
                <a:ea typeface="Arial" pitchFamily="34" charset="-122"/>
                <a:cs typeface="Arial" pitchFamily="34" charset="-120"/>
                <a:hlinkClick r:id="rId5" action="ppaction://hlinksldjump">
                  <a:extLst>
                    <a:ext uri="{A12FA001-AC4F-418D-AE19-62706E023703}">
                      <ahyp:hlinkClr xmlns:ahyp="http://schemas.microsoft.com/office/drawing/2018/hyperlinkcolor" val="tx"/>
                    </a:ext>
                  </a:extLst>
                </a:hlinkClick>
              </a:rPr>
              <a:t>Rooms &amp; Pricing</a:t>
            </a:r>
            <a:endParaRPr lang="en-US" sz="640" dirty="0"/>
          </a:p>
        </p:txBody>
      </p:sp>
      <p:sp>
        <p:nvSpPr>
          <p:cNvPr id="19" name="Text 17">
            <a:hlinkClick r:id="rId6" action="ppaction://hlinksldjump"/>
          </p:cNvPr>
          <p:cNvSpPr/>
          <p:nvPr/>
        </p:nvSpPr>
        <p:spPr>
          <a:xfrm>
            <a:off x="5678424" y="1453896"/>
            <a:ext cx="685800" cy="118872"/>
          </a:xfrm>
          <a:prstGeom prst="rect">
            <a:avLst/>
          </a:prstGeom>
          <a:noFill/>
          <a:ln/>
        </p:spPr>
        <p:txBody>
          <a:bodyPr wrap="square" lIns="381" tIns="381" rIns="381" bIns="381" rtlCol="0" anchor="ctr">
            <a:normAutofit/>
          </a:bodyPr>
          <a:lstStyle/>
          <a:p>
            <a:pPr marL="0" indent="0" algn="ctr">
              <a:buNone/>
            </a:pPr>
            <a:r>
              <a:rPr lang="en-US" sz="640" b="1" u="sng" dirty="0">
                <a:solidFill>
                  <a:srgbClr val="2A3B50"/>
                </a:solidFill>
                <a:latin typeface="Arial" pitchFamily="34" charset="0"/>
                <a:ea typeface="Arial" pitchFamily="34" charset="-122"/>
                <a:cs typeface="Arial" pitchFamily="34" charset="-120"/>
                <a:hlinkClick r:id="rId6" action="ppaction://hlinksldjump">
                  <a:extLst>
                    <a:ext uri="{A12FA001-AC4F-418D-AE19-62706E023703}">
                      <ahyp:hlinkClr xmlns:ahyp="http://schemas.microsoft.com/office/drawing/2018/hyperlinkcolor" val="tx"/>
                    </a:ext>
                  </a:extLst>
                </a:hlinkClick>
              </a:rPr>
              <a:t>Attractions</a:t>
            </a:r>
            <a:endParaRPr lang="en-US" sz="640" dirty="0"/>
          </a:p>
        </p:txBody>
      </p:sp>
      <p:sp>
        <p:nvSpPr>
          <p:cNvPr id="20" name="Text 18">
            <a:hlinkClick r:id="rId7" action="ppaction://hlinksldjump"/>
          </p:cNvPr>
          <p:cNvSpPr/>
          <p:nvPr/>
        </p:nvSpPr>
        <p:spPr>
          <a:xfrm>
            <a:off x="6565392" y="1453896"/>
            <a:ext cx="475488" cy="118872"/>
          </a:xfrm>
          <a:prstGeom prst="rect">
            <a:avLst/>
          </a:prstGeom>
          <a:noFill/>
          <a:ln/>
        </p:spPr>
        <p:txBody>
          <a:bodyPr wrap="square" lIns="381" tIns="381" rIns="381" bIns="381" rtlCol="0" anchor="ctr">
            <a:normAutofit/>
          </a:bodyPr>
          <a:lstStyle/>
          <a:p>
            <a:pPr marL="0" indent="0" algn="ctr">
              <a:buNone/>
            </a:pPr>
            <a:r>
              <a:rPr lang="en-US" sz="640" b="1" u="sng" dirty="0">
                <a:solidFill>
                  <a:srgbClr val="2A3B50"/>
                </a:solidFill>
                <a:latin typeface="Arial" pitchFamily="34" charset="0"/>
                <a:ea typeface="Arial" pitchFamily="34" charset="-122"/>
                <a:cs typeface="Arial" pitchFamily="34" charset="-120"/>
                <a:hlinkClick r:id="rId7" action="ppaction://hlinksldjump">
                  <a:extLst>
                    <a:ext uri="{A12FA001-AC4F-418D-AE19-62706E023703}">
                      <ahyp:hlinkClr xmlns:ahyp="http://schemas.microsoft.com/office/drawing/2018/hyperlinkcolor" val="tx"/>
                    </a:ext>
                  </a:extLst>
                </a:hlinkClick>
              </a:rPr>
              <a:t>Contact</a:t>
            </a:r>
            <a:endParaRPr lang="en-US" sz="640" dirty="0"/>
          </a:p>
        </p:txBody>
      </p:sp>
      <p:sp>
        <p:nvSpPr>
          <p:cNvPr id="21" name="Text 19">
            <a:hlinkClick r:id="rId8" action="ppaction://hlinksldjump"/>
          </p:cNvPr>
          <p:cNvSpPr/>
          <p:nvPr/>
        </p:nvSpPr>
        <p:spPr>
          <a:xfrm>
            <a:off x="7242048" y="1453896"/>
            <a:ext cx="420624" cy="118872"/>
          </a:xfrm>
          <a:prstGeom prst="rect">
            <a:avLst/>
          </a:prstGeom>
          <a:noFill/>
          <a:ln/>
        </p:spPr>
        <p:txBody>
          <a:bodyPr wrap="square" lIns="381" tIns="381" rIns="381" bIns="381" rtlCol="0" anchor="ctr">
            <a:normAutofit/>
          </a:bodyPr>
          <a:lstStyle/>
          <a:p>
            <a:pPr marL="0" indent="0" algn="ctr">
              <a:buNone/>
            </a:pPr>
            <a:r>
              <a:rPr lang="en-US" sz="640" b="1" u="sng" dirty="0">
                <a:solidFill>
                  <a:srgbClr val="2A3B50"/>
                </a:solidFill>
                <a:latin typeface="Arial" pitchFamily="34" charset="0"/>
                <a:ea typeface="Arial" pitchFamily="34" charset="-122"/>
                <a:cs typeface="Arial" pitchFamily="34" charset="-120"/>
                <a:hlinkClick r:id="rId8" action="ppaction://hlinksldjump">
                  <a:extLst>
                    <a:ext uri="{A12FA001-AC4F-418D-AE19-62706E023703}">
                      <ahyp:hlinkClr xmlns:ahyp="http://schemas.microsoft.com/office/drawing/2018/hyperlinkcolor" val="tx"/>
                    </a:ext>
                  </a:extLst>
                </a:hlinkClick>
              </a:rPr>
              <a:t>Book</a:t>
            </a:r>
            <a:endParaRPr lang="en-US" sz="640" dirty="0"/>
          </a:p>
        </p:txBody>
      </p:sp>
      <p:sp>
        <p:nvSpPr>
          <p:cNvPr id="22" name="Shape 20">
            <a:hlinkClick r:id="rId9" action="ppaction://hlinksldjump"/>
          </p:cNvPr>
          <p:cNvSpPr/>
          <p:nvPr/>
        </p:nvSpPr>
        <p:spPr>
          <a:xfrm>
            <a:off x="10378440" y="1417320"/>
            <a:ext cx="530352" cy="283464"/>
          </a:xfrm>
          <a:prstGeom prst="roundRect">
            <a:avLst>
              <a:gd name="adj" fmla="val 25806"/>
            </a:avLst>
          </a:prstGeom>
          <a:solidFill>
            <a:srgbClr val="132133"/>
          </a:solidFill>
          <a:ln w="12700">
            <a:solidFill>
              <a:srgbClr val="132133">
                <a:alpha val="0"/>
              </a:srgbClr>
            </a:solidFill>
            <a:prstDash val="solid"/>
          </a:ln>
        </p:spPr>
        <p:txBody>
          <a:bodyPr/>
          <a:lstStyle/>
          <a:p>
            <a:endParaRPr lang="en-US"/>
          </a:p>
        </p:txBody>
      </p:sp>
      <p:sp>
        <p:nvSpPr>
          <p:cNvPr id="23" name="Text 21">
            <a:hlinkClick r:id="rId9" action="ppaction://hlinksldjump"/>
          </p:cNvPr>
          <p:cNvSpPr/>
          <p:nvPr/>
        </p:nvSpPr>
        <p:spPr>
          <a:xfrm>
            <a:off x="10396728" y="1444752"/>
            <a:ext cx="493776" cy="182880"/>
          </a:xfrm>
          <a:prstGeom prst="rect">
            <a:avLst/>
          </a:prstGeom>
          <a:noFill/>
          <a:ln/>
        </p:spPr>
        <p:txBody>
          <a:bodyPr wrap="square" lIns="381" tIns="381" rIns="381" bIns="381" rtlCol="0" anchor="ctr">
            <a:normAutofit/>
          </a:bodyPr>
          <a:lstStyle/>
          <a:p>
            <a:pPr marL="0" indent="0" algn="ctr">
              <a:buNone/>
            </a:pPr>
            <a:r>
              <a:rPr lang="en-US" sz="600" b="1" u="sng" dirty="0">
                <a:solidFill>
                  <a:srgbClr val="FFFFFF"/>
                </a:solidFill>
                <a:latin typeface="Arial" pitchFamily="34" charset="0"/>
                <a:ea typeface="Arial" pitchFamily="34" charset="-122"/>
                <a:cs typeface="Arial" pitchFamily="34" charset="-120"/>
                <a:hlinkClick r:id="rId9" action="ppaction://hlinksldjump">
                  <a:extLst>
                    <a:ext uri="{A12FA001-AC4F-418D-AE19-62706E023703}">
                      <ahyp:hlinkClr xmlns:ahyp="http://schemas.microsoft.com/office/drawing/2018/hyperlinkcolor" val="tx"/>
                    </a:ext>
                  </a:extLst>
                </a:hlinkClick>
              </a:rPr>
              <a:t>Login</a:t>
            </a:r>
            <a:endParaRPr lang="en-US" sz="600" dirty="0"/>
          </a:p>
        </p:txBody>
      </p:sp>
      <p:sp>
        <p:nvSpPr>
          <p:cNvPr id="24" name="Shape 22">
            <a:hlinkClick r:id="rId10" action="ppaction://hlinksldjump"/>
          </p:cNvPr>
          <p:cNvSpPr/>
          <p:nvPr/>
        </p:nvSpPr>
        <p:spPr>
          <a:xfrm>
            <a:off x="10991088" y="1417320"/>
            <a:ext cx="585216" cy="283464"/>
          </a:xfrm>
          <a:prstGeom prst="roundRect">
            <a:avLst>
              <a:gd name="adj" fmla="val 25806"/>
            </a:avLst>
          </a:prstGeom>
          <a:solidFill>
            <a:srgbClr val="276F7B"/>
          </a:solidFill>
          <a:ln w="12700">
            <a:solidFill>
              <a:srgbClr val="276F7B">
                <a:alpha val="0"/>
              </a:srgbClr>
            </a:solidFill>
            <a:prstDash val="solid"/>
          </a:ln>
        </p:spPr>
        <p:txBody>
          <a:bodyPr/>
          <a:lstStyle/>
          <a:p>
            <a:endParaRPr lang="en-US"/>
          </a:p>
        </p:txBody>
      </p:sp>
      <p:sp>
        <p:nvSpPr>
          <p:cNvPr id="25" name="Text 23">
            <a:hlinkClick r:id="rId10" action="ppaction://hlinksldjump"/>
          </p:cNvPr>
          <p:cNvSpPr/>
          <p:nvPr/>
        </p:nvSpPr>
        <p:spPr>
          <a:xfrm>
            <a:off x="11009376" y="1444752"/>
            <a:ext cx="548640" cy="182880"/>
          </a:xfrm>
          <a:prstGeom prst="rect">
            <a:avLst/>
          </a:prstGeom>
          <a:noFill/>
          <a:ln/>
        </p:spPr>
        <p:txBody>
          <a:bodyPr wrap="square" lIns="381" tIns="381" rIns="381" bIns="381" rtlCol="0" anchor="ctr">
            <a:normAutofit/>
          </a:bodyPr>
          <a:lstStyle/>
          <a:p>
            <a:pPr marL="0" indent="0" algn="ctr">
              <a:buNone/>
            </a:pPr>
            <a:r>
              <a:rPr lang="en-US" sz="600" b="1" u="sng" dirty="0">
                <a:solidFill>
                  <a:srgbClr val="FFFFFF"/>
                </a:solidFill>
                <a:latin typeface="Arial" pitchFamily="34" charset="0"/>
                <a:ea typeface="Arial" pitchFamily="34" charset="-122"/>
                <a:cs typeface="Arial" pitchFamily="34" charset="-120"/>
                <a:hlinkClick r:id="rId10" action="ppaction://hlinksldjump">
                  <a:extLst>
                    <a:ext uri="{A12FA001-AC4F-418D-AE19-62706E023703}">
                      <ahyp:hlinkClr xmlns:ahyp="http://schemas.microsoft.com/office/drawing/2018/hyperlinkcolor" val="tx"/>
                    </a:ext>
                  </a:extLst>
                </a:hlinkClick>
              </a:rPr>
              <a:t>Register</a:t>
            </a:r>
            <a:endParaRPr lang="en-US" sz="600" dirty="0"/>
          </a:p>
        </p:txBody>
      </p:sp>
      <p:sp>
        <p:nvSpPr>
          <p:cNvPr id="26" name="Text 24"/>
          <p:cNvSpPr/>
          <p:nvPr/>
        </p:nvSpPr>
        <p:spPr>
          <a:xfrm>
            <a:off x="502920" y="6510528"/>
            <a:ext cx="6400800" cy="201168"/>
          </a:xfrm>
          <a:prstGeom prst="rect">
            <a:avLst/>
          </a:prstGeom>
          <a:noFill/>
          <a:ln/>
        </p:spPr>
        <p:txBody>
          <a:bodyPr wrap="square" lIns="381" tIns="381" rIns="381" bIns="381" rtlCol="0" anchor="ctr">
            <a:normAutofit/>
          </a:bodyPr>
          <a:lstStyle/>
          <a:p>
            <a:pPr marL="0" indent="0" algn="l">
              <a:buNone/>
            </a:pPr>
            <a:r>
              <a:rPr lang="en-US" sz="710" dirty="0">
                <a:solidFill>
                  <a:srgbClr val="536273"/>
                </a:solidFill>
                <a:latin typeface="Arial" pitchFamily="34" charset="0"/>
                <a:ea typeface="Arial" pitchFamily="34" charset="-122"/>
                <a:cs typeface="Arial" pitchFamily="34" charset="-120"/>
              </a:rPr>
              <a:t>Slide 11 | Editable components | Use Slide Show mode to click through the prototype</a:t>
            </a:r>
            <a:endParaRPr lang="en-US" sz="710" dirty="0"/>
          </a:p>
        </p:txBody>
      </p:sp>
      <p:sp>
        <p:nvSpPr>
          <p:cNvPr id="27" name="Shape 25">
            <a:hlinkClick r:id="rId3" action="ppaction://hlinksldjump"/>
          </p:cNvPr>
          <p:cNvSpPr/>
          <p:nvPr/>
        </p:nvSpPr>
        <p:spPr>
          <a:xfrm>
            <a:off x="7635240" y="6455664"/>
            <a:ext cx="749808" cy="283464"/>
          </a:xfrm>
          <a:prstGeom prst="roundRect">
            <a:avLst>
              <a:gd name="adj" fmla="val 25806"/>
            </a:avLst>
          </a:prstGeom>
          <a:solidFill>
            <a:srgbClr val="FFFFFF">
              <a:alpha val="30000"/>
            </a:srgbClr>
          </a:solidFill>
          <a:ln w="12700">
            <a:solidFill>
              <a:srgbClr val="536273">
                <a:alpha val="50000"/>
              </a:srgbClr>
            </a:solidFill>
            <a:prstDash val="solid"/>
          </a:ln>
        </p:spPr>
        <p:txBody>
          <a:bodyPr/>
          <a:lstStyle/>
          <a:p>
            <a:endParaRPr lang="en-US"/>
          </a:p>
        </p:txBody>
      </p:sp>
      <p:sp>
        <p:nvSpPr>
          <p:cNvPr id="28" name="Text 26">
            <a:hlinkClick r:id="rId3" action="ppaction://hlinksldjump"/>
          </p:cNvPr>
          <p:cNvSpPr/>
          <p:nvPr/>
        </p:nvSpPr>
        <p:spPr>
          <a:xfrm>
            <a:off x="7653528" y="6483096"/>
            <a:ext cx="713232" cy="182880"/>
          </a:xfrm>
          <a:prstGeom prst="rect">
            <a:avLst/>
          </a:prstGeom>
          <a:noFill/>
          <a:ln/>
        </p:spPr>
        <p:txBody>
          <a:bodyPr wrap="square" lIns="381" tIns="381" rIns="381" bIns="381" rtlCol="0" anchor="ctr">
            <a:normAutofit/>
          </a:bodyPr>
          <a:lstStyle/>
          <a:p>
            <a:pPr marL="0" indent="0" algn="ctr">
              <a:buNone/>
            </a:pPr>
            <a:r>
              <a:rPr lang="en-US" sz="800" b="1" u="sng" dirty="0">
                <a:solidFill>
                  <a:srgbClr val="2A3B50"/>
                </a:solidFill>
                <a:latin typeface="Arial" pitchFamily="34" charset="0"/>
                <a:ea typeface="Arial" pitchFamily="34" charset="-122"/>
                <a:cs typeface="Arial" pitchFamily="34" charset="-120"/>
                <a:hlinkClick r:id="rId3" action="ppaction://hlinksldjump">
                  <a:extLst>
                    <a:ext uri="{A12FA001-AC4F-418D-AE19-62706E023703}">
                      <ahyp:hlinkClr xmlns:ahyp="http://schemas.microsoft.com/office/drawing/2018/hyperlinkcolor" val="tx"/>
                    </a:ext>
                  </a:extLst>
                </a:hlinkClick>
              </a:rPr>
              <a:t>Home</a:t>
            </a:r>
            <a:endParaRPr lang="en-US" sz="800" dirty="0"/>
          </a:p>
        </p:txBody>
      </p:sp>
      <p:sp>
        <p:nvSpPr>
          <p:cNvPr id="29" name="Shape 27">
            <a:hlinkClick r:id="rId5" action="ppaction://hlinksldjump"/>
          </p:cNvPr>
          <p:cNvSpPr/>
          <p:nvPr/>
        </p:nvSpPr>
        <p:spPr>
          <a:xfrm>
            <a:off x="8476488" y="6455664"/>
            <a:ext cx="749808" cy="283464"/>
          </a:xfrm>
          <a:prstGeom prst="roundRect">
            <a:avLst>
              <a:gd name="adj" fmla="val 25806"/>
            </a:avLst>
          </a:prstGeom>
          <a:solidFill>
            <a:srgbClr val="FFFFFF">
              <a:alpha val="30000"/>
            </a:srgbClr>
          </a:solidFill>
          <a:ln w="12700">
            <a:solidFill>
              <a:srgbClr val="536273">
                <a:alpha val="50000"/>
              </a:srgbClr>
            </a:solidFill>
            <a:prstDash val="solid"/>
          </a:ln>
        </p:spPr>
        <p:txBody>
          <a:bodyPr/>
          <a:lstStyle/>
          <a:p>
            <a:endParaRPr lang="en-US"/>
          </a:p>
        </p:txBody>
      </p:sp>
      <p:sp>
        <p:nvSpPr>
          <p:cNvPr id="30" name="Text 28">
            <a:hlinkClick r:id="rId5" action="ppaction://hlinksldjump"/>
          </p:cNvPr>
          <p:cNvSpPr/>
          <p:nvPr/>
        </p:nvSpPr>
        <p:spPr>
          <a:xfrm>
            <a:off x="8494776" y="6483096"/>
            <a:ext cx="713232" cy="182880"/>
          </a:xfrm>
          <a:prstGeom prst="rect">
            <a:avLst/>
          </a:prstGeom>
          <a:noFill/>
          <a:ln/>
        </p:spPr>
        <p:txBody>
          <a:bodyPr wrap="square" lIns="381" tIns="381" rIns="381" bIns="381" rtlCol="0" anchor="ctr">
            <a:normAutofit/>
          </a:bodyPr>
          <a:lstStyle/>
          <a:p>
            <a:pPr marL="0" indent="0" algn="ctr">
              <a:buNone/>
            </a:pPr>
            <a:r>
              <a:rPr lang="en-US" sz="800" b="1" u="sng" dirty="0">
                <a:solidFill>
                  <a:srgbClr val="2A3B50"/>
                </a:solidFill>
                <a:latin typeface="Arial" pitchFamily="34" charset="0"/>
                <a:ea typeface="Arial" pitchFamily="34" charset="-122"/>
                <a:cs typeface="Arial" pitchFamily="34" charset="-120"/>
                <a:hlinkClick r:id="rId5" action="ppaction://hlinksldjump">
                  <a:extLst>
                    <a:ext uri="{A12FA001-AC4F-418D-AE19-62706E023703}">
                      <ahyp:hlinkClr xmlns:ahyp="http://schemas.microsoft.com/office/drawing/2018/hyperlinkcolor" val="tx"/>
                    </a:ext>
                  </a:extLst>
                </a:hlinkClick>
              </a:rPr>
              <a:t>Rooms</a:t>
            </a:r>
            <a:endParaRPr lang="en-US" sz="800" dirty="0"/>
          </a:p>
        </p:txBody>
      </p:sp>
      <p:sp>
        <p:nvSpPr>
          <p:cNvPr id="31" name="Shape 29">
            <a:hlinkClick r:id="rId8" action="ppaction://hlinksldjump"/>
          </p:cNvPr>
          <p:cNvSpPr/>
          <p:nvPr/>
        </p:nvSpPr>
        <p:spPr>
          <a:xfrm>
            <a:off x="9317736" y="6455664"/>
            <a:ext cx="749808" cy="283464"/>
          </a:xfrm>
          <a:prstGeom prst="roundRect">
            <a:avLst>
              <a:gd name="adj" fmla="val 25806"/>
            </a:avLst>
          </a:prstGeom>
          <a:solidFill>
            <a:srgbClr val="FFFFFF">
              <a:alpha val="30000"/>
            </a:srgbClr>
          </a:solidFill>
          <a:ln w="12700">
            <a:solidFill>
              <a:srgbClr val="536273">
                <a:alpha val="50000"/>
              </a:srgbClr>
            </a:solidFill>
            <a:prstDash val="solid"/>
          </a:ln>
        </p:spPr>
        <p:txBody>
          <a:bodyPr/>
          <a:lstStyle/>
          <a:p>
            <a:endParaRPr lang="en-US"/>
          </a:p>
        </p:txBody>
      </p:sp>
      <p:sp>
        <p:nvSpPr>
          <p:cNvPr id="32" name="Text 30">
            <a:hlinkClick r:id="rId8" action="ppaction://hlinksldjump"/>
          </p:cNvPr>
          <p:cNvSpPr/>
          <p:nvPr/>
        </p:nvSpPr>
        <p:spPr>
          <a:xfrm>
            <a:off x="9336024" y="6483096"/>
            <a:ext cx="713232" cy="182880"/>
          </a:xfrm>
          <a:prstGeom prst="rect">
            <a:avLst/>
          </a:prstGeom>
          <a:noFill/>
          <a:ln/>
        </p:spPr>
        <p:txBody>
          <a:bodyPr wrap="square" lIns="381" tIns="381" rIns="381" bIns="381" rtlCol="0" anchor="ctr">
            <a:normAutofit/>
          </a:bodyPr>
          <a:lstStyle/>
          <a:p>
            <a:pPr marL="0" indent="0" algn="ctr">
              <a:buNone/>
            </a:pPr>
            <a:r>
              <a:rPr lang="en-US" sz="800" b="1" u="sng" dirty="0">
                <a:solidFill>
                  <a:srgbClr val="2A3B50"/>
                </a:solidFill>
                <a:latin typeface="Arial" pitchFamily="34" charset="0"/>
                <a:ea typeface="Arial" pitchFamily="34" charset="-122"/>
                <a:cs typeface="Arial" pitchFamily="34" charset="-120"/>
                <a:hlinkClick r:id="rId8" action="ppaction://hlinksldjump">
                  <a:extLst>
                    <a:ext uri="{A12FA001-AC4F-418D-AE19-62706E023703}">
                      <ahyp:hlinkClr xmlns:ahyp="http://schemas.microsoft.com/office/drawing/2018/hyperlinkcolor" val="tx"/>
                    </a:ext>
                  </a:extLst>
                </a:hlinkClick>
              </a:rPr>
              <a:t>Book</a:t>
            </a:r>
            <a:endParaRPr lang="en-US" sz="800" dirty="0"/>
          </a:p>
        </p:txBody>
      </p:sp>
      <p:sp>
        <p:nvSpPr>
          <p:cNvPr id="33" name="Shape 31">
            <a:hlinkClick r:id="rId11" action="ppaction://hlinksldjump"/>
          </p:cNvPr>
          <p:cNvSpPr/>
          <p:nvPr/>
        </p:nvSpPr>
        <p:spPr>
          <a:xfrm>
            <a:off x="10158984" y="6455664"/>
            <a:ext cx="749808" cy="283464"/>
          </a:xfrm>
          <a:prstGeom prst="roundRect">
            <a:avLst>
              <a:gd name="adj" fmla="val 25806"/>
            </a:avLst>
          </a:prstGeom>
          <a:solidFill>
            <a:srgbClr val="FFFFFF">
              <a:alpha val="30000"/>
            </a:srgbClr>
          </a:solidFill>
          <a:ln w="12700">
            <a:solidFill>
              <a:srgbClr val="536273">
                <a:alpha val="50000"/>
              </a:srgbClr>
            </a:solidFill>
            <a:prstDash val="solid"/>
          </a:ln>
        </p:spPr>
        <p:txBody>
          <a:bodyPr/>
          <a:lstStyle/>
          <a:p>
            <a:endParaRPr lang="en-US"/>
          </a:p>
        </p:txBody>
      </p:sp>
      <p:sp>
        <p:nvSpPr>
          <p:cNvPr id="34" name="Text 32">
            <a:hlinkClick r:id="rId11" action="ppaction://hlinksldjump"/>
          </p:cNvPr>
          <p:cNvSpPr/>
          <p:nvPr/>
        </p:nvSpPr>
        <p:spPr>
          <a:xfrm>
            <a:off x="10177272" y="6483096"/>
            <a:ext cx="713232" cy="182880"/>
          </a:xfrm>
          <a:prstGeom prst="rect">
            <a:avLst/>
          </a:prstGeom>
          <a:noFill/>
          <a:ln/>
        </p:spPr>
        <p:txBody>
          <a:bodyPr wrap="square" lIns="381" tIns="381" rIns="381" bIns="381" rtlCol="0" anchor="ctr">
            <a:normAutofit/>
          </a:bodyPr>
          <a:lstStyle/>
          <a:p>
            <a:pPr marL="0" indent="0" algn="ctr">
              <a:buNone/>
            </a:pPr>
            <a:r>
              <a:rPr lang="en-US" sz="800" b="1" u="sng" dirty="0">
                <a:solidFill>
                  <a:srgbClr val="2A3B50"/>
                </a:solidFill>
                <a:latin typeface="Arial" pitchFamily="34" charset="0"/>
                <a:ea typeface="Arial" pitchFamily="34" charset="-122"/>
                <a:cs typeface="Arial" pitchFamily="34" charset="-120"/>
                <a:hlinkClick r:id="rId11" action="ppaction://hlinksldjump">
                  <a:extLst>
                    <a:ext uri="{A12FA001-AC4F-418D-AE19-62706E023703}">
                      <ahyp:hlinkClr xmlns:ahyp="http://schemas.microsoft.com/office/drawing/2018/hyperlinkcolor" val="tx"/>
                    </a:ext>
                  </a:extLst>
                </a:hlinkClick>
              </a:rPr>
              <a:t>Lookup</a:t>
            </a:r>
            <a:endParaRPr lang="en-US" sz="800" dirty="0"/>
          </a:p>
        </p:txBody>
      </p:sp>
      <p:sp>
        <p:nvSpPr>
          <p:cNvPr id="35" name="Shape 33">
            <a:hlinkClick r:id="rId12" action="ppaction://hlinksldjump"/>
          </p:cNvPr>
          <p:cNvSpPr/>
          <p:nvPr/>
        </p:nvSpPr>
        <p:spPr>
          <a:xfrm>
            <a:off x="11000232" y="6455664"/>
            <a:ext cx="868680" cy="283464"/>
          </a:xfrm>
          <a:prstGeom prst="roundRect">
            <a:avLst>
              <a:gd name="adj" fmla="val 25806"/>
            </a:avLst>
          </a:prstGeom>
          <a:solidFill>
            <a:srgbClr val="132133"/>
          </a:solidFill>
          <a:ln w="12700">
            <a:solidFill>
              <a:srgbClr val="132133">
                <a:alpha val="0"/>
              </a:srgbClr>
            </a:solidFill>
            <a:prstDash val="solid"/>
          </a:ln>
        </p:spPr>
        <p:txBody>
          <a:bodyPr/>
          <a:lstStyle/>
          <a:p>
            <a:endParaRPr lang="en-US"/>
          </a:p>
        </p:txBody>
      </p:sp>
      <p:sp>
        <p:nvSpPr>
          <p:cNvPr id="36" name="Text 34">
            <a:hlinkClick r:id="rId12" action="ppaction://hlinksldjump"/>
          </p:cNvPr>
          <p:cNvSpPr/>
          <p:nvPr/>
        </p:nvSpPr>
        <p:spPr>
          <a:xfrm>
            <a:off x="11018520" y="6483096"/>
            <a:ext cx="832104" cy="182880"/>
          </a:xfrm>
          <a:prstGeom prst="rect">
            <a:avLst/>
          </a:prstGeom>
          <a:noFill/>
          <a:ln/>
        </p:spPr>
        <p:txBody>
          <a:bodyPr wrap="square" lIns="381" tIns="381" rIns="381" bIns="381" rtlCol="0" anchor="ctr">
            <a:normAutofit/>
          </a:bodyPr>
          <a:lstStyle/>
          <a:p>
            <a:pPr marL="0" indent="0" algn="ctr">
              <a:buNone/>
            </a:pPr>
            <a:r>
              <a:rPr lang="en-US" sz="770" b="1" u="sng" dirty="0">
                <a:solidFill>
                  <a:srgbClr val="FFFFFF"/>
                </a:solidFill>
                <a:latin typeface="Arial" pitchFamily="34" charset="0"/>
                <a:ea typeface="Arial" pitchFamily="34" charset="-122"/>
                <a:cs typeface="Arial" pitchFamily="34" charset="-120"/>
                <a:hlinkClick r:id="rId12" action="ppaction://hlinksldjump">
                  <a:extLst>
                    <a:ext uri="{A12FA001-AC4F-418D-AE19-62706E023703}">
                      <ahyp:hlinkClr xmlns:ahyp="http://schemas.microsoft.com/office/drawing/2018/hyperlinkcolor" val="tx"/>
                    </a:ext>
                  </a:extLst>
                </a:hlinkClick>
              </a:rPr>
              <a:t>Site Flow</a:t>
            </a:r>
            <a:endParaRPr lang="en-US" sz="770" dirty="0"/>
          </a:p>
        </p:txBody>
      </p:sp>
      <p:sp>
        <p:nvSpPr>
          <p:cNvPr id="37" name="Text 35"/>
          <p:cNvSpPr/>
          <p:nvPr/>
        </p:nvSpPr>
        <p:spPr>
          <a:xfrm>
            <a:off x="822960" y="2103120"/>
            <a:ext cx="9509760" cy="146304"/>
          </a:xfrm>
          <a:prstGeom prst="rect">
            <a:avLst/>
          </a:prstGeom>
          <a:noFill/>
          <a:ln/>
        </p:spPr>
        <p:txBody>
          <a:bodyPr wrap="square" lIns="381" tIns="381" rIns="381" bIns="381" rtlCol="0" anchor="ctr">
            <a:normAutofit/>
          </a:bodyPr>
          <a:lstStyle/>
          <a:p>
            <a:pPr marL="0" indent="0" algn="l">
              <a:buNone/>
            </a:pPr>
            <a:r>
              <a:rPr lang="en-US" sz="680" b="1" dirty="0">
                <a:solidFill>
                  <a:srgbClr val="276F7B"/>
                </a:solidFill>
                <a:latin typeface="Arial" pitchFamily="34" charset="0"/>
                <a:ea typeface="Arial" pitchFamily="34" charset="-122"/>
                <a:cs typeface="Arial" pitchFamily="34" charset="-120"/>
              </a:rPr>
              <a:t>FIND YOUR STAY</a:t>
            </a:r>
            <a:endParaRPr lang="en-US" sz="680" dirty="0"/>
          </a:p>
        </p:txBody>
      </p:sp>
      <p:sp>
        <p:nvSpPr>
          <p:cNvPr id="38" name="Text 36"/>
          <p:cNvSpPr/>
          <p:nvPr/>
        </p:nvSpPr>
        <p:spPr>
          <a:xfrm>
            <a:off x="822960" y="2304288"/>
            <a:ext cx="9509760" cy="393192"/>
          </a:xfrm>
          <a:prstGeom prst="rect">
            <a:avLst/>
          </a:prstGeom>
          <a:noFill/>
          <a:ln/>
        </p:spPr>
        <p:txBody>
          <a:bodyPr wrap="square" lIns="381" tIns="381" rIns="381" bIns="381" rtlCol="0" anchor="ctr">
            <a:normAutofit/>
          </a:bodyPr>
          <a:lstStyle/>
          <a:p>
            <a:pPr marL="0" indent="0" algn="l">
              <a:buNone/>
            </a:pPr>
            <a:r>
              <a:rPr lang="en-US" sz="2000" dirty="0">
                <a:solidFill>
                  <a:srgbClr val="132133"/>
                </a:solidFill>
                <a:latin typeface="Georgia" pitchFamily="34" charset="0"/>
                <a:ea typeface="Georgia" pitchFamily="34" charset="-122"/>
                <a:cs typeface="Georgia" pitchFamily="34" charset="-120"/>
              </a:rPr>
              <a:t>Reservation Lookup</a:t>
            </a:r>
            <a:endParaRPr lang="en-US" sz="2000" dirty="0"/>
          </a:p>
        </p:txBody>
      </p:sp>
      <p:sp>
        <p:nvSpPr>
          <p:cNvPr id="39" name="Text 37"/>
          <p:cNvSpPr/>
          <p:nvPr/>
        </p:nvSpPr>
        <p:spPr>
          <a:xfrm>
            <a:off x="822960" y="2798064"/>
            <a:ext cx="9509760" cy="256032"/>
          </a:xfrm>
          <a:prstGeom prst="rect">
            <a:avLst/>
          </a:prstGeom>
          <a:noFill/>
          <a:ln/>
        </p:spPr>
        <p:txBody>
          <a:bodyPr wrap="square" lIns="381" tIns="381" rIns="381" bIns="381" rtlCol="0" anchor="t">
            <a:normAutofit/>
          </a:bodyPr>
          <a:lstStyle/>
          <a:p>
            <a:pPr marL="0" indent="0" algn="l">
              <a:buNone/>
            </a:pPr>
            <a:r>
              <a:rPr lang="en-US" sz="840" dirty="0">
                <a:solidFill>
                  <a:srgbClr val="2A3B50"/>
                </a:solidFill>
                <a:latin typeface="Arial" pitchFamily="34" charset="0"/>
                <a:ea typeface="Arial" pitchFamily="34" charset="-122"/>
                <a:cs typeface="Arial" pitchFamily="34" charset="-120"/>
              </a:rPr>
              <a:t>Search by reservation ID or email address to view room type, guest count, dates, and reservation total.</a:t>
            </a:r>
            <a:endParaRPr lang="en-US" sz="840" dirty="0"/>
          </a:p>
        </p:txBody>
      </p:sp>
      <p:sp>
        <p:nvSpPr>
          <p:cNvPr id="40" name="Shape 38"/>
          <p:cNvSpPr/>
          <p:nvPr/>
        </p:nvSpPr>
        <p:spPr>
          <a:xfrm>
            <a:off x="822960" y="3337560"/>
            <a:ext cx="4754880" cy="2057400"/>
          </a:xfrm>
          <a:prstGeom prst="roundRect">
            <a:avLst>
              <a:gd name="adj" fmla="val 4444"/>
            </a:avLst>
          </a:prstGeom>
          <a:solidFill>
            <a:srgbClr val="FFFFFF">
              <a:alpha val="92000"/>
            </a:srgbClr>
          </a:solidFill>
          <a:ln w="12700">
            <a:solidFill>
              <a:srgbClr val="E9DFCF"/>
            </a:solidFill>
            <a:prstDash val="solid"/>
          </a:ln>
          <a:effectLst>
            <a:outerShdw blurRad="12700" dist="7620" dir="2700000" algn="bl" rotWithShape="0">
              <a:srgbClr val="132133">
                <a:alpha val="7000"/>
              </a:srgbClr>
            </a:outerShdw>
          </a:effectLst>
        </p:spPr>
        <p:txBody>
          <a:bodyPr/>
          <a:lstStyle/>
          <a:p>
            <a:endParaRPr lang="en-US"/>
          </a:p>
        </p:txBody>
      </p:sp>
      <p:sp>
        <p:nvSpPr>
          <p:cNvPr id="41" name="Text 39"/>
          <p:cNvSpPr/>
          <p:nvPr/>
        </p:nvSpPr>
        <p:spPr>
          <a:xfrm>
            <a:off x="1051560" y="3566160"/>
            <a:ext cx="2468880" cy="210312"/>
          </a:xfrm>
          <a:prstGeom prst="rect">
            <a:avLst/>
          </a:prstGeom>
          <a:noFill/>
          <a:ln/>
        </p:spPr>
        <p:txBody>
          <a:bodyPr wrap="square" lIns="381" tIns="381" rIns="381" bIns="381" rtlCol="0" anchor="ctr">
            <a:normAutofit/>
          </a:bodyPr>
          <a:lstStyle/>
          <a:p>
            <a:pPr marL="0" indent="0" algn="l">
              <a:buNone/>
            </a:pPr>
            <a:r>
              <a:rPr lang="en-US" sz="1300" dirty="0">
                <a:solidFill>
                  <a:srgbClr val="132133"/>
                </a:solidFill>
                <a:latin typeface="Georgia" pitchFamily="34" charset="0"/>
                <a:ea typeface="Georgia" pitchFamily="34" charset="-122"/>
                <a:cs typeface="Georgia" pitchFamily="34" charset="-120"/>
              </a:rPr>
              <a:t>Search Reservations</a:t>
            </a:r>
            <a:endParaRPr lang="en-US" sz="1300" dirty="0"/>
          </a:p>
        </p:txBody>
      </p:sp>
      <p:sp>
        <p:nvSpPr>
          <p:cNvPr id="42" name="Text 40"/>
          <p:cNvSpPr/>
          <p:nvPr/>
        </p:nvSpPr>
        <p:spPr>
          <a:xfrm>
            <a:off x="1051560" y="4005072"/>
            <a:ext cx="4251960" cy="100584"/>
          </a:xfrm>
          <a:prstGeom prst="rect">
            <a:avLst/>
          </a:prstGeom>
          <a:noFill/>
          <a:ln/>
        </p:spPr>
        <p:txBody>
          <a:bodyPr wrap="square" lIns="381" tIns="381" rIns="381" bIns="381" rtlCol="0" anchor="ctr">
            <a:normAutofit/>
          </a:bodyPr>
          <a:lstStyle/>
          <a:p>
            <a:pPr marL="0" indent="0" algn="l">
              <a:buNone/>
            </a:pPr>
            <a:r>
              <a:rPr lang="en-US" sz="530" b="1" dirty="0">
                <a:solidFill>
                  <a:srgbClr val="2A3B50"/>
                </a:solidFill>
                <a:latin typeface="Arial" pitchFamily="34" charset="0"/>
                <a:ea typeface="Arial" pitchFamily="34" charset="-122"/>
                <a:cs typeface="Arial" pitchFamily="34" charset="-120"/>
              </a:rPr>
              <a:t>Reservation ID or Email</a:t>
            </a:r>
            <a:endParaRPr lang="en-US" sz="530" dirty="0"/>
          </a:p>
        </p:txBody>
      </p:sp>
      <p:sp>
        <p:nvSpPr>
          <p:cNvPr id="43" name="Shape 41"/>
          <p:cNvSpPr/>
          <p:nvPr/>
        </p:nvSpPr>
        <p:spPr>
          <a:xfrm>
            <a:off x="1051560" y="4133088"/>
            <a:ext cx="4251960" cy="310896"/>
          </a:xfrm>
          <a:prstGeom prst="roundRect">
            <a:avLst>
              <a:gd name="adj" fmla="val 11765"/>
            </a:avLst>
          </a:prstGeom>
          <a:solidFill>
            <a:srgbClr val="FFFFFF"/>
          </a:solidFill>
          <a:ln w="12700">
            <a:solidFill>
              <a:srgbClr val="B8C2C5">
                <a:alpha val="80000"/>
              </a:srgbClr>
            </a:solidFill>
            <a:prstDash val="solid"/>
          </a:ln>
        </p:spPr>
        <p:txBody>
          <a:bodyPr/>
          <a:lstStyle/>
          <a:p>
            <a:endParaRPr lang="en-US"/>
          </a:p>
        </p:txBody>
      </p:sp>
      <p:sp>
        <p:nvSpPr>
          <p:cNvPr id="44" name="Text 42"/>
          <p:cNvSpPr/>
          <p:nvPr/>
        </p:nvSpPr>
        <p:spPr>
          <a:xfrm>
            <a:off x="1124712" y="4224528"/>
            <a:ext cx="4105656" cy="82296"/>
          </a:xfrm>
          <a:prstGeom prst="rect">
            <a:avLst/>
          </a:prstGeom>
          <a:noFill/>
          <a:ln/>
        </p:spPr>
        <p:txBody>
          <a:bodyPr wrap="square" lIns="381" tIns="381" rIns="381" bIns="381" rtlCol="0" anchor="ctr">
            <a:normAutofit/>
          </a:bodyPr>
          <a:lstStyle/>
          <a:p>
            <a:pPr marL="0" indent="0" algn="l">
              <a:buNone/>
            </a:pPr>
            <a:r>
              <a:rPr lang="en-US" sz="510" dirty="0">
                <a:solidFill>
                  <a:srgbClr val="536273"/>
                </a:solidFill>
                <a:latin typeface="Arial" pitchFamily="34" charset="0"/>
                <a:ea typeface="Arial" pitchFamily="34" charset="-122"/>
                <a:cs typeface="Arial" pitchFamily="34" charset="-120"/>
              </a:rPr>
              <a:t>Example: MBL-2201 or demo@moffatbay.com</a:t>
            </a:r>
            <a:endParaRPr lang="en-US" sz="510" dirty="0"/>
          </a:p>
        </p:txBody>
      </p:sp>
      <p:sp>
        <p:nvSpPr>
          <p:cNvPr id="45" name="Shape 43">
            <a:hlinkClick r:id="rId11" action="ppaction://hlinksldjump"/>
          </p:cNvPr>
          <p:cNvSpPr/>
          <p:nvPr/>
        </p:nvSpPr>
        <p:spPr>
          <a:xfrm>
            <a:off x="1051560" y="4736592"/>
            <a:ext cx="777240" cy="310896"/>
          </a:xfrm>
          <a:prstGeom prst="roundRect">
            <a:avLst>
              <a:gd name="adj" fmla="val 35294"/>
            </a:avLst>
          </a:prstGeom>
          <a:solidFill>
            <a:srgbClr val="CDA059"/>
          </a:solidFill>
          <a:ln w="12700">
            <a:solidFill>
              <a:srgbClr val="CDA059">
                <a:alpha val="0"/>
              </a:srgbClr>
            </a:solidFill>
            <a:prstDash val="solid"/>
          </a:ln>
        </p:spPr>
        <p:txBody>
          <a:bodyPr/>
          <a:lstStyle/>
          <a:p>
            <a:endParaRPr lang="en-US"/>
          </a:p>
        </p:txBody>
      </p:sp>
      <p:sp>
        <p:nvSpPr>
          <p:cNvPr id="46" name="Text 44">
            <a:hlinkClick r:id="rId11" action="ppaction://hlinksldjump"/>
          </p:cNvPr>
          <p:cNvSpPr/>
          <p:nvPr/>
        </p:nvSpPr>
        <p:spPr>
          <a:xfrm>
            <a:off x="1078992" y="4818888"/>
            <a:ext cx="722376" cy="109728"/>
          </a:xfrm>
          <a:prstGeom prst="rect">
            <a:avLst/>
          </a:prstGeom>
          <a:noFill/>
          <a:ln/>
        </p:spPr>
        <p:txBody>
          <a:bodyPr wrap="square" lIns="381" tIns="381" rIns="381" bIns="381" rtlCol="0" anchor="ctr">
            <a:normAutofit/>
          </a:bodyPr>
          <a:lstStyle/>
          <a:p>
            <a:pPr marL="0" indent="0" algn="ctr">
              <a:buNone/>
            </a:pPr>
            <a:r>
              <a:rPr lang="en-US" sz="640" b="1" u="sng" dirty="0">
                <a:solidFill>
                  <a:srgbClr val="132133"/>
                </a:solidFill>
                <a:latin typeface="Arial" pitchFamily="34" charset="0"/>
                <a:ea typeface="Arial" pitchFamily="34" charset="-122"/>
                <a:cs typeface="Arial" pitchFamily="34" charset="-120"/>
                <a:hlinkClick r:id="rId11" action="ppaction://hlinksldjump">
                  <a:extLst>
                    <a:ext uri="{A12FA001-AC4F-418D-AE19-62706E023703}">
                      <ahyp:hlinkClr xmlns:ahyp="http://schemas.microsoft.com/office/drawing/2018/hyperlinkcolor" val="tx"/>
                    </a:ext>
                  </a:extLst>
                </a:hlinkClick>
              </a:rPr>
              <a:t>Search</a:t>
            </a:r>
            <a:endParaRPr lang="en-US" sz="640" dirty="0"/>
          </a:p>
        </p:txBody>
      </p:sp>
      <p:sp>
        <p:nvSpPr>
          <p:cNvPr id="47" name="Shape 45"/>
          <p:cNvSpPr/>
          <p:nvPr/>
        </p:nvSpPr>
        <p:spPr>
          <a:xfrm>
            <a:off x="5989320" y="3337560"/>
            <a:ext cx="4754880" cy="2057400"/>
          </a:xfrm>
          <a:prstGeom prst="roundRect">
            <a:avLst>
              <a:gd name="adj" fmla="val 4444"/>
            </a:avLst>
          </a:prstGeom>
          <a:solidFill>
            <a:srgbClr val="FFFFFF">
              <a:alpha val="92000"/>
            </a:srgbClr>
          </a:solidFill>
          <a:ln w="12700">
            <a:solidFill>
              <a:srgbClr val="E9DFCF"/>
            </a:solidFill>
            <a:prstDash val="solid"/>
          </a:ln>
          <a:effectLst>
            <a:outerShdw blurRad="12700" dist="7620" dir="2700000" algn="bl" rotWithShape="0">
              <a:srgbClr val="132133">
                <a:alpha val="7000"/>
              </a:srgbClr>
            </a:outerShdw>
          </a:effectLst>
        </p:spPr>
        <p:txBody>
          <a:bodyPr/>
          <a:lstStyle/>
          <a:p>
            <a:endParaRPr lang="en-US"/>
          </a:p>
        </p:txBody>
      </p:sp>
      <p:sp>
        <p:nvSpPr>
          <p:cNvPr id="48" name="Text 46"/>
          <p:cNvSpPr/>
          <p:nvPr/>
        </p:nvSpPr>
        <p:spPr>
          <a:xfrm>
            <a:off x="6217920" y="3566160"/>
            <a:ext cx="2468880" cy="210312"/>
          </a:xfrm>
          <a:prstGeom prst="rect">
            <a:avLst/>
          </a:prstGeom>
          <a:noFill/>
          <a:ln/>
        </p:spPr>
        <p:txBody>
          <a:bodyPr wrap="square" lIns="381" tIns="381" rIns="381" bIns="381" rtlCol="0" anchor="ctr">
            <a:normAutofit/>
          </a:bodyPr>
          <a:lstStyle/>
          <a:p>
            <a:pPr marL="0" indent="0" algn="l">
              <a:buNone/>
            </a:pPr>
            <a:r>
              <a:rPr lang="en-US" sz="1300" dirty="0">
                <a:solidFill>
                  <a:srgbClr val="132133"/>
                </a:solidFill>
                <a:latin typeface="Georgia" pitchFamily="34" charset="0"/>
                <a:ea typeface="Georgia" pitchFamily="34" charset="-122"/>
                <a:cs typeface="Georgia" pitchFamily="34" charset="-120"/>
              </a:rPr>
              <a:t>Reservation Details</a:t>
            </a:r>
            <a:endParaRPr lang="en-US" sz="1300" dirty="0"/>
          </a:p>
        </p:txBody>
      </p:sp>
      <p:sp>
        <p:nvSpPr>
          <p:cNvPr id="49" name="Text 47"/>
          <p:cNvSpPr/>
          <p:nvPr/>
        </p:nvSpPr>
        <p:spPr>
          <a:xfrm>
            <a:off x="6217920" y="3959352"/>
            <a:ext cx="4114800" cy="347472"/>
          </a:xfrm>
          <a:prstGeom prst="rect">
            <a:avLst/>
          </a:prstGeom>
          <a:noFill/>
          <a:ln/>
        </p:spPr>
        <p:txBody>
          <a:bodyPr wrap="square" lIns="381" tIns="381" rIns="381" bIns="381" rtlCol="0" anchor="t">
            <a:normAutofit/>
          </a:bodyPr>
          <a:lstStyle/>
          <a:p>
            <a:pPr marL="0" indent="0" algn="l">
              <a:buNone/>
            </a:pPr>
            <a:r>
              <a:rPr lang="en-US" sz="700" dirty="0">
                <a:solidFill>
                  <a:srgbClr val="2A3B50"/>
                </a:solidFill>
                <a:latin typeface="Arial" pitchFamily="34" charset="0"/>
                <a:ea typeface="Arial" pitchFamily="34" charset="-122"/>
                <a:cs typeface="Arial" pitchFamily="34" charset="-120"/>
              </a:rPr>
              <a:t>Run a search to display reservation details.</a:t>
            </a:r>
            <a:endParaRPr lang="en-US" sz="700" dirty="0"/>
          </a:p>
          <a:p>
            <a:pPr marL="0" indent="0" algn="l">
              <a:buNone/>
            </a:pPr>
            <a:r>
              <a:rPr lang="en-US" sz="700" dirty="0">
                <a:solidFill>
                  <a:srgbClr val="2A3B50"/>
                </a:solidFill>
                <a:latin typeface="Arial" pitchFamily="34" charset="0"/>
                <a:ea typeface="Arial" pitchFamily="34" charset="-122"/>
                <a:cs typeface="Arial" pitchFamily="34" charset="-120"/>
              </a:rPr>
              <a:t>Need to start a new reservation instead?</a:t>
            </a:r>
            <a:endParaRPr lang="en-US" sz="700" dirty="0"/>
          </a:p>
        </p:txBody>
      </p:sp>
      <p:sp>
        <p:nvSpPr>
          <p:cNvPr id="50" name="Shape 48">
            <a:hlinkClick r:id="rId5" action="ppaction://hlinksldjump"/>
          </p:cNvPr>
          <p:cNvSpPr/>
          <p:nvPr/>
        </p:nvSpPr>
        <p:spPr>
          <a:xfrm>
            <a:off x="6217920" y="4690872"/>
            <a:ext cx="868680" cy="310896"/>
          </a:xfrm>
          <a:prstGeom prst="roundRect">
            <a:avLst>
              <a:gd name="adj" fmla="val 35294"/>
            </a:avLst>
          </a:prstGeom>
          <a:solidFill>
            <a:srgbClr val="FFFFFF">
              <a:alpha val="30000"/>
            </a:srgbClr>
          </a:solidFill>
          <a:ln w="12700">
            <a:solidFill>
              <a:srgbClr val="536273">
                <a:alpha val="70000"/>
              </a:srgbClr>
            </a:solidFill>
            <a:prstDash val="solid"/>
          </a:ln>
        </p:spPr>
        <p:txBody>
          <a:bodyPr/>
          <a:lstStyle/>
          <a:p>
            <a:endParaRPr lang="en-US"/>
          </a:p>
        </p:txBody>
      </p:sp>
      <p:sp>
        <p:nvSpPr>
          <p:cNvPr id="51" name="Text 49">
            <a:hlinkClick r:id="rId5" action="ppaction://hlinksldjump"/>
          </p:cNvPr>
          <p:cNvSpPr/>
          <p:nvPr/>
        </p:nvSpPr>
        <p:spPr>
          <a:xfrm>
            <a:off x="6245352" y="4773168"/>
            <a:ext cx="813816" cy="109728"/>
          </a:xfrm>
          <a:prstGeom prst="rect">
            <a:avLst/>
          </a:prstGeom>
          <a:noFill/>
          <a:ln/>
        </p:spPr>
        <p:txBody>
          <a:bodyPr wrap="square" lIns="381" tIns="381" rIns="381" bIns="381" rtlCol="0" anchor="ctr">
            <a:normAutofit/>
          </a:bodyPr>
          <a:lstStyle/>
          <a:p>
            <a:pPr marL="0" indent="0" algn="ctr">
              <a:buNone/>
            </a:pPr>
            <a:r>
              <a:rPr lang="en-US" sz="640" b="1" u="sng" dirty="0">
                <a:solidFill>
                  <a:srgbClr val="132133"/>
                </a:solidFill>
                <a:latin typeface="Arial" pitchFamily="34" charset="0"/>
                <a:ea typeface="Arial" pitchFamily="34" charset="-122"/>
                <a:cs typeface="Arial" pitchFamily="34" charset="-120"/>
                <a:hlinkClick r:id="rId5" action="ppaction://hlinksldjump">
                  <a:extLst>
                    <a:ext uri="{A12FA001-AC4F-418D-AE19-62706E023703}">
                      <ahyp:hlinkClr xmlns:ahyp="http://schemas.microsoft.com/office/drawing/2018/hyperlinkcolor" val="tx"/>
                    </a:ext>
                  </a:extLst>
                </a:hlinkClick>
              </a:rPr>
              <a:t>View Rooms</a:t>
            </a:r>
            <a:endParaRPr lang="en-US" sz="640" dirty="0"/>
          </a:p>
        </p:txBody>
      </p:sp>
      <p:sp>
        <p:nvSpPr>
          <p:cNvPr id="52" name="Shape 50">
            <a:hlinkClick r:id="rId8" action="ppaction://hlinksldjump"/>
          </p:cNvPr>
          <p:cNvSpPr/>
          <p:nvPr/>
        </p:nvSpPr>
        <p:spPr>
          <a:xfrm>
            <a:off x="7223760" y="4690872"/>
            <a:ext cx="914400" cy="310896"/>
          </a:xfrm>
          <a:prstGeom prst="roundRect">
            <a:avLst>
              <a:gd name="adj" fmla="val 35294"/>
            </a:avLst>
          </a:prstGeom>
          <a:solidFill>
            <a:srgbClr val="132133"/>
          </a:solidFill>
          <a:ln w="12700">
            <a:solidFill>
              <a:srgbClr val="132133">
                <a:alpha val="0"/>
              </a:srgbClr>
            </a:solidFill>
            <a:prstDash val="solid"/>
          </a:ln>
        </p:spPr>
        <p:txBody>
          <a:bodyPr/>
          <a:lstStyle/>
          <a:p>
            <a:endParaRPr lang="en-US"/>
          </a:p>
        </p:txBody>
      </p:sp>
      <p:sp>
        <p:nvSpPr>
          <p:cNvPr id="53" name="Text 51">
            <a:hlinkClick r:id="rId8" action="ppaction://hlinksldjump"/>
          </p:cNvPr>
          <p:cNvSpPr/>
          <p:nvPr/>
        </p:nvSpPr>
        <p:spPr>
          <a:xfrm>
            <a:off x="7251192" y="4773168"/>
            <a:ext cx="859536" cy="109728"/>
          </a:xfrm>
          <a:prstGeom prst="rect">
            <a:avLst/>
          </a:prstGeom>
          <a:noFill/>
          <a:ln/>
        </p:spPr>
        <p:txBody>
          <a:bodyPr wrap="square" lIns="381" tIns="381" rIns="381" bIns="381" rtlCol="0" anchor="ctr">
            <a:normAutofit/>
          </a:bodyPr>
          <a:lstStyle/>
          <a:p>
            <a:pPr marL="0" indent="0" algn="ctr">
              <a:buNone/>
            </a:pPr>
            <a:r>
              <a:rPr lang="en-US" sz="640" b="1" u="sng" dirty="0">
                <a:solidFill>
                  <a:srgbClr val="FFFFFF"/>
                </a:solidFill>
                <a:latin typeface="Arial" pitchFamily="34" charset="0"/>
                <a:ea typeface="Arial" pitchFamily="34" charset="-122"/>
                <a:cs typeface="Arial" pitchFamily="34" charset="-120"/>
                <a:hlinkClick r:id="rId8" action="ppaction://hlinksldjump">
                  <a:extLst>
                    <a:ext uri="{A12FA001-AC4F-418D-AE19-62706E023703}">
                      <ahyp:hlinkClr xmlns:ahyp="http://schemas.microsoft.com/office/drawing/2018/hyperlinkcolor" val="tx"/>
                    </a:ext>
                  </a:extLst>
                </a:hlinkClick>
              </a:rPr>
              <a:t>Book a Stay</a:t>
            </a:r>
            <a:endParaRPr lang="en-US" sz="640" dirty="0"/>
          </a:p>
        </p:txBody>
      </p:sp>
      <p:sp>
        <p:nvSpPr>
          <p:cNvPr id="54" name="Shape 52"/>
          <p:cNvSpPr/>
          <p:nvPr/>
        </p:nvSpPr>
        <p:spPr>
          <a:xfrm>
            <a:off x="822960" y="5806440"/>
            <a:ext cx="9921240" cy="475488"/>
          </a:xfrm>
          <a:prstGeom prst="roundRect">
            <a:avLst>
              <a:gd name="adj" fmla="val 19231"/>
            </a:avLst>
          </a:prstGeom>
          <a:solidFill>
            <a:srgbClr val="F5EFE5"/>
          </a:solidFill>
          <a:ln w="12700">
            <a:solidFill>
              <a:srgbClr val="E9DFCF"/>
            </a:solidFill>
            <a:prstDash val="solid"/>
          </a:ln>
        </p:spPr>
        <p:txBody>
          <a:bodyPr/>
          <a:lstStyle/>
          <a:p>
            <a:endParaRPr lang="en-US"/>
          </a:p>
        </p:txBody>
      </p:sp>
      <p:sp>
        <p:nvSpPr>
          <p:cNvPr id="55" name="Text 53"/>
          <p:cNvSpPr/>
          <p:nvPr/>
        </p:nvSpPr>
        <p:spPr>
          <a:xfrm>
            <a:off x="1051560" y="5961888"/>
            <a:ext cx="9326880" cy="118872"/>
          </a:xfrm>
          <a:prstGeom prst="rect">
            <a:avLst/>
          </a:prstGeom>
          <a:noFill/>
          <a:ln/>
        </p:spPr>
        <p:txBody>
          <a:bodyPr wrap="square" lIns="381" tIns="381" rIns="381" bIns="381" rtlCol="0" anchor="ctr">
            <a:normAutofit/>
          </a:bodyPr>
          <a:lstStyle/>
          <a:p>
            <a:pPr marL="0" indent="0" algn="l">
              <a:buNone/>
            </a:pPr>
            <a:r>
              <a:rPr lang="en-US" sz="700" dirty="0">
                <a:solidFill>
                  <a:srgbClr val="536273"/>
                </a:solidFill>
                <a:latin typeface="Arial" pitchFamily="34" charset="0"/>
                <a:ea typeface="Arial" pitchFamily="34" charset="-122"/>
                <a:cs typeface="Arial" pitchFamily="34" charset="-120"/>
              </a:rPr>
              <a:t>Lookup supports guests after booking and gives staff/professor a clear path to verify the reservation management flow.</a:t>
            </a:r>
            <a:endParaRPr lang="en-US" sz="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28600"/>
            <a:ext cx="5943600" cy="365760"/>
          </a:xfrm>
          <a:prstGeom prst="rect">
            <a:avLst/>
          </a:prstGeom>
          <a:noFill/>
          <a:ln/>
        </p:spPr>
        <p:txBody>
          <a:bodyPr wrap="square" lIns="381" tIns="381" rIns="381" bIns="381" rtlCol="0" anchor="ctr">
            <a:normAutofit/>
          </a:bodyPr>
          <a:lstStyle/>
          <a:p>
            <a:pPr marL="0" indent="0" algn="l">
              <a:buNone/>
            </a:pPr>
            <a:r>
              <a:rPr lang="en-US" sz="2000" b="1" dirty="0">
                <a:solidFill>
                  <a:srgbClr val="132133"/>
                </a:solidFill>
                <a:latin typeface="Georgia" pitchFamily="34" charset="0"/>
                <a:ea typeface="Georgia" pitchFamily="34" charset="-122"/>
                <a:cs typeface="Georgia" pitchFamily="34" charset="-120"/>
              </a:rPr>
              <a:t>Reservation Summary Prototype</a:t>
            </a:r>
            <a:endParaRPr lang="en-US" sz="2000" dirty="0"/>
          </a:p>
        </p:txBody>
      </p:sp>
      <p:sp>
        <p:nvSpPr>
          <p:cNvPr id="3" name="Text 1"/>
          <p:cNvSpPr/>
          <p:nvPr/>
        </p:nvSpPr>
        <p:spPr>
          <a:xfrm>
            <a:off x="512064" y="630936"/>
            <a:ext cx="6492240" cy="228600"/>
          </a:xfrm>
          <a:prstGeom prst="rect">
            <a:avLst/>
          </a:prstGeom>
          <a:noFill/>
          <a:ln/>
        </p:spPr>
        <p:txBody>
          <a:bodyPr wrap="square" lIns="381" tIns="381" rIns="381" bIns="381" rtlCol="0" anchor="ctr">
            <a:normAutofit/>
          </a:bodyPr>
          <a:lstStyle/>
          <a:p>
            <a:pPr marL="0" indent="0" algn="l">
              <a:buNone/>
            </a:pPr>
            <a:r>
              <a:rPr lang="en-US" sz="850" dirty="0">
                <a:solidFill>
                  <a:srgbClr val="536273"/>
                </a:solidFill>
                <a:latin typeface="Arial" pitchFamily="34" charset="0"/>
                <a:ea typeface="Arial" pitchFamily="34" charset="-122"/>
                <a:cs typeface="Arial" pitchFamily="34" charset="-120"/>
              </a:rPr>
              <a:t>Purpose: final review page before confirming or cancelling a reservation.</a:t>
            </a:r>
            <a:endParaRPr lang="en-US" sz="850" dirty="0"/>
          </a:p>
        </p:txBody>
      </p:sp>
      <p:sp>
        <p:nvSpPr>
          <p:cNvPr id="4" name="Text 2"/>
          <p:cNvSpPr/>
          <p:nvPr/>
        </p:nvSpPr>
        <p:spPr>
          <a:xfrm>
            <a:off x="8823960" y="256032"/>
            <a:ext cx="2743200" cy="228600"/>
          </a:xfrm>
          <a:prstGeom prst="rect">
            <a:avLst/>
          </a:prstGeom>
          <a:noFill/>
          <a:ln/>
        </p:spPr>
        <p:txBody>
          <a:bodyPr wrap="square" lIns="381" tIns="381" rIns="381" bIns="381" rtlCol="0" anchor="ctr">
            <a:normAutofit/>
          </a:bodyPr>
          <a:lstStyle/>
          <a:p>
            <a:pPr marL="0" indent="0" algn="r">
              <a:buNone/>
            </a:pPr>
            <a:r>
              <a:rPr lang="en-US" sz="800" b="1" dirty="0">
                <a:solidFill>
                  <a:srgbClr val="536273"/>
                </a:solidFill>
                <a:latin typeface="Arial" pitchFamily="34" charset="0"/>
                <a:ea typeface="Arial" pitchFamily="34" charset="-122"/>
                <a:cs typeface="Arial" pitchFamily="34" charset="-120"/>
              </a:rPr>
              <a:t>Moffat Bay Lodge Prototype</a:t>
            </a:r>
            <a:endParaRPr lang="en-US" sz="800" dirty="0"/>
          </a:p>
        </p:txBody>
      </p:sp>
      <p:sp>
        <p:nvSpPr>
          <p:cNvPr id="5" name="Shape 3"/>
          <p:cNvSpPr/>
          <p:nvPr/>
        </p:nvSpPr>
        <p:spPr>
          <a:xfrm>
            <a:off x="502920" y="896112"/>
            <a:ext cx="11201400" cy="5440680"/>
          </a:xfrm>
          <a:prstGeom prst="roundRect">
            <a:avLst>
              <a:gd name="adj" fmla="val 1513"/>
            </a:avLst>
          </a:prstGeom>
          <a:solidFill>
            <a:srgbClr val="FFFAF2"/>
          </a:solidFill>
          <a:ln w="12700">
            <a:solidFill>
              <a:srgbClr val="E9DFCF"/>
            </a:solidFill>
            <a:prstDash val="solid"/>
          </a:ln>
          <a:effectLst>
            <a:outerShdw blurRad="25400" dist="12700" dir="2700000" algn="bl" rotWithShape="0">
              <a:srgbClr val="132133">
                <a:alpha val="10000"/>
              </a:srgbClr>
            </a:outerShdw>
          </a:effectLst>
        </p:spPr>
        <p:txBody>
          <a:bodyPr/>
          <a:lstStyle/>
          <a:p>
            <a:endParaRPr lang="en-US"/>
          </a:p>
        </p:txBody>
      </p:sp>
      <p:sp>
        <p:nvSpPr>
          <p:cNvPr id="6" name="Shape 4"/>
          <p:cNvSpPr/>
          <p:nvPr/>
        </p:nvSpPr>
        <p:spPr>
          <a:xfrm>
            <a:off x="502920" y="896112"/>
            <a:ext cx="11201400" cy="384048"/>
          </a:xfrm>
          <a:prstGeom prst="rect">
            <a:avLst/>
          </a:prstGeom>
          <a:solidFill>
            <a:srgbClr val="FFFFFF"/>
          </a:solidFill>
          <a:ln w="12700">
            <a:solidFill>
              <a:srgbClr val="E9DFCF"/>
            </a:solidFill>
            <a:prstDash val="solid"/>
          </a:ln>
        </p:spPr>
        <p:txBody>
          <a:bodyPr/>
          <a:lstStyle/>
          <a:p>
            <a:endParaRPr lang="en-US"/>
          </a:p>
        </p:txBody>
      </p:sp>
      <p:sp>
        <p:nvSpPr>
          <p:cNvPr id="10" name="Shape 8"/>
          <p:cNvSpPr/>
          <p:nvPr/>
        </p:nvSpPr>
        <p:spPr>
          <a:xfrm>
            <a:off x="1280160" y="987552"/>
            <a:ext cx="3657600" cy="192024"/>
          </a:xfrm>
          <a:prstGeom prst="roundRect">
            <a:avLst>
              <a:gd name="adj" fmla="val 28571"/>
            </a:avLst>
          </a:prstGeom>
          <a:solidFill>
            <a:srgbClr val="F5EFE5"/>
          </a:solidFill>
          <a:ln w="12700">
            <a:solidFill>
              <a:srgbClr val="E9DFCF">
                <a:alpha val="80000"/>
              </a:srgbClr>
            </a:solidFill>
            <a:prstDash val="solid"/>
          </a:ln>
        </p:spPr>
        <p:txBody>
          <a:bodyPr/>
          <a:lstStyle/>
          <a:p>
            <a:endParaRPr lang="en-US"/>
          </a:p>
        </p:txBody>
      </p:sp>
      <p:sp>
        <p:nvSpPr>
          <p:cNvPr id="11" name="Text 9"/>
          <p:cNvSpPr/>
          <p:nvPr/>
        </p:nvSpPr>
        <p:spPr>
          <a:xfrm>
            <a:off x="1408176" y="1014984"/>
            <a:ext cx="3337560" cy="109728"/>
          </a:xfrm>
          <a:prstGeom prst="rect">
            <a:avLst/>
          </a:prstGeom>
          <a:noFill/>
          <a:ln/>
        </p:spPr>
        <p:txBody>
          <a:bodyPr wrap="square" lIns="381" tIns="381" rIns="381" bIns="381" rtlCol="0" anchor="ctr">
            <a:normAutofit/>
          </a:bodyPr>
          <a:lstStyle/>
          <a:p>
            <a:pPr marL="0" indent="0" algn="l">
              <a:buNone/>
            </a:pPr>
            <a:r>
              <a:rPr lang="en-US" sz="550" dirty="0">
                <a:solidFill>
                  <a:srgbClr val="536273"/>
                </a:solidFill>
                <a:latin typeface="Arial" pitchFamily="34" charset="0"/>
                <a:ea typeface="Arial" pitchFamily="34" charset="-122"/>
                <a:cs typeface="Arial" pitchFamily="34" charset="-120"/>
              </a:rPr>
              <a:t>moffatbaylodge.com/reservation-summary.html</a:t>
            </a:r>
            <a:endParaRPr lang="en-US" sz="550" dirty="0"/>
          </a:p>
        </p:txBody>
      </p:sp>
      <p:sp>
        <p:nvSpPr>
          <p:cNvPr id="12" name="Shape 10"/>
          <p:cNvSpPr/>
          <p:nvPr/>
        </p:nvSpPr>
        <p:spPr>
          <a:xfrm>
            <a:off x="502920" y="1280160"/>
            <a:ext cx="11201400" cy="530352"/>
          </a:xfrm>
          <a:prstGeom prst="rect">
            <a:avLst/>
          </a:prstGeom>
          <a:solidFill>
            <a:srgbClr val="FAF5EC"/>
          </a:solidFill>
          <a:ln w="12700">
            <a:solidFill>
              <a:srgbClr val="E9DFCF">
                <a:alpha val="90000"/>
              </a:srgbClr>
            </a:solidFill>
            <a:prstDash val="solid"/>
          </a:ln>
        </p:spPr>
        <p:txBody>
          <a:bodyPr/>
          <a:lstStyle/>
          <a:p>
            <a:endParaRPr lang="en-US"/>
          </a:p>
        </p:txBody>
      </p:sp>
      <p:sp>
        <p:nvSpPr>
          <p:cNvPr id="13" name="Shape 11"/>
          <p:cNvSpPr/>
          <p:nvPr/>
        </p:nvSpPr>
        <p:spPr>
          <a:xfrm>
            <a:off x="731520" y="1399032"/>
            <a:ext cx="256032" cy="256032"/>
          </a:xfrm>
          <a:prstGeom prst="ellipse">
            <a:avLst/>
          </a:prstGeom>
          <a:solidFill>
            <a:srgbClr val="276F7B"/>
          </a:solidFill>
          <a:ln w="12700">
            <a:solidFill>
              <a:srgbClr val="276F7B"/>
            </a:solidFill>
            <a:prstDash val="solid"/>
          </a:ln>
        </p:spPr>
        <p:txBody>
          <a:bodyPr/>
          <a:lstStyle/>
          <a:p>
            <a:endParaRPr lang="en-US"/>
          </a:p>
        </p:txBody>
      </p:sp>
      <p:sp>
        <p:nvSpPr>
          <p:cNvPr id="14" name="Text 12"/>
          <p:cNvSpPr/>
          <p:nvPr/>
        </p:nvSpPr>
        <p:spPr>
          <a:xfrm>
            <a:off x="731520" y="1426464"/>
            <a:ext cx="256032" cy="109728"/>
          </a:xfrm>
          <a:prstGeom prst="rect">
            <a:avLst/>
          </a:prstGeom>
          <a:noFill/>
          <a:ln/>
        </p:spPr>
        <p:txBody>
          <a:bodyPr wrap="square" lIns="381" tIns="381" rIns="381" bIns="381" rtlCol="0" anchor="ctr">
            <a:normAutofit/>
          </a:bodyPr>
          <a:lstStyle/>
          <a:p>
            <a:pPr marL="0" indent="0" algn="ctr">
              <a:buNone/>
            </a:pPr>
            <a:r>
              <a:rPr lang="en-US" sz="700" b="1" dirty="0">
                <a:solidFill>
                  <a:srgbClr val="FFFFFF"/>
                </a:solidFill>
                <a:latin typeface="Georgia" pitchFamily="34" charset="0"/>
                <a:ea typeface="Georgia" pitchFamily="34" charset="-122"/>
                <a:cs typeface="Georgia" pitchFamily="34" charset="-120"/>
              </a:rPr>
              <a:t>MB</a:t>
            </a:r>
            <a:endParaRPr lang="en-US" sz="700" dirty="0"/>
          </a:p>
        </p:txBody>
      </p:sp>
      <p:sp>
        <p:nvSpPr>
          <p:cNvPr id="15" name="Text 13"/>
          <p:cNvSpPr/>
          <p:nvPr/>
        </p:nvSpPr>
        <p:spPr>
          <a:xfrm>
            <a:off x="1069848" y="1435608"/>
            <a:ext cx="1691640" cy="118872"/>
          </a:xfrm>
          <a:prstGeom prst="rect">
            <a:avLst/>
          </a:prstGeom>
          <a:noFill/>
          <a:ln/>
        </p:spPr>
        <p:txBody>
          <a:bodyPr wrap="square" lIns="381" tIns="381" rIns="381" bIns="381" rtlCol="0" anchor="ctr">
            <a:normAutofit/>
          </a:bodyPr>
          <a:lstStyle/>
          <a:p>
            <a:pPr marL="0" indent="0" algn="l">
              <a:buNone/>
            </a:pPr>
            <a:r>
              <a:rPr lang="en-US" sz="680" b="1" dirty="0">
                <a:solidFill>
                  <a:srgbClr val="132133"/>
                </a:solidFill>
                <a:latin typeface="Arial" pitchFamily="34" charset="0"/>
                <a:ea typeface="Arial" pitchFamily="34" charset="-122"/>
                <a:cs typeface="Arial" pitchFamily="34" charset="-120"/>
              </a:rPr>
              <a:t>MOFFAT BAY LODGE</a:t>
            </a:r>
            <a:endParaRPr lang="en-US" sz="680" dirty="0"/>
          </a:p>
        </p:txBody>
      </p:sp>
      <p:sp>
        <p:nvSpPr>
          <p:cNvPr id="16" name="Text 14">
            <a:hlinkClick r:id="rId3" action="ppaction://hlinksldjump"/>
          </p:cNvPr>
          <p:cNvSpPr/>
          <p:nvPr/>
        </p:nvSpPr>
        <p:spPr>
          <a:xfrm>
            <a:off x="3291840" y="1453896"/>
            <a:ext cx="402336" cy="118872"/>
          </a:xfrm>
          <a:prstGeom prst="rect">
            <a:avLst/>
          </a:prstGeom>
          <a:noFill/>
          <a:ln/>
        </p:spPr>
        <p:txBody>
          <a:bodyPr wrap="square" lIns="381" tIns="381" rIns="381" bIns="381" rtlCol="0" anchor="ctr">
            <a:normAutofit/>
          </a:bodyPr>
          <a:lstStyle/>
          <a:p>
            <a:pPr marL="0" indent="0" algn="ctr">
              <a:buNone/>
            </a:pPr>
            <a:r>
              <a:rPr lang="en-US" sz="640" b="1" u="sng" dirty="0">
                <a:solidFill>
                  <a:srgbClr val="2A3B50"/>
                </a:solidFill>
                <a:latin typeface="Arial" pitchFamily="34" charset="0"/>
                <a:ea typeface="Arial" pitchFamily="34" charset="-122"/>
                <a:cs typeface="Arial" pitchFamily="34" charset="-120"/>
                <a:hlinkClick r:id="rId3" action="ppaction://hlinksldjump">
                  <a:extLst>
                    <a:ext uri="{A12FA001-AC4F-418D-AE19-62706E023703}">
                      <ahyp:hlinkClr xmlns:ahyp="http://schemas.microsoft.com/office/drawing/2018/hyperlinkcolor" val="tx"/>
                    </a:ext>
                  </a:extLst>
                </a:hlinkClick>
              </a:rPr>
              <a:t>Home</a:t>
            </a:r>
            <a:endParaRPr lang="en-US" sz="640" dirty="0"/>
          </a:p>
        </p:txBody>
      </p:sp>
      <p:sp>
        <p:nvSpPr>
          <p:cNvPr id="17" name="Text 15">
            <a:hlinkClick r:id="rId4" action="ppaction://hlinksldjump"/>
          </p:cNvPr>
          <p:cNvSpPr/>
          <p:nvPr/>
        </p:nvSpPr>
        <p:spPr>
          <a:xfrm>
            <a:off x="3895344" y="1453896"/>
            <a:ext cx="420624" cy="118872"/>
          </a:xfrm>
          <a:prstGeom prst="rect">
            <a:avLst/>
          </a:prstGeom>
          <a:noFill/>
          <a:ln/>
        </p:spPr>
        <p:txBody>
          <a:bodyPr wrap="square" lIns="381" tIns="381" rIns="381" bIns="381" rtlCol="0" anchor="ctr">
            <a:normAutofit/>
          </a:bodyPr>
          <a:lstStyle/>
          <a:p>
            <a:pPr marL="0" indent="0" algn="ctr">
              <a:buNone/>
            </a:pPr>
            <a:r>
              <a:rPr lang="en-US" sz="640" b="1" u="sng" dirty="0">
                <a:solidFill>
                  <a:srgbClr val="2A3B50"/>
                </a:solidFill>
                <a:latin typeface="Arial" pitchFamily="34" charset="0"/>
                <a:ea typeface="Arial" pitchFamily="34" charset="-122"/>
                <a:cs typeface="Arial" pitchFamily="34" charset="-120"/>
                <a:hlinkClick r:id="rId4" action="ppaction://hlinksldjump">
                  <a:extLst>
                    <a:ext uri="{A12FA001-AC4F-418D-AE19-62706E023703}">
                      <ahyp:hlinkClr xmlns:ahyp="http://schemas.microsoft.com/office/drawing/2018/hyperlinkcolor" val="tx"/>
                    </a:ext>
                  </a:extLst>
                </a:hlinkClick>
              </a:rPr>
              <a:t>About</a:t>
            </a:r>
            <a:endParaRPr lang="en-US" sz="640" dirty="0"/>
          </a:p>
        </p:txBody>
      </p:sp>
      <p:sp>
        <p:nvSpPr>
          <p:cNvPr id="18" name="Text 16">
            <a:hlinkClick r:id="rId5" action="ppaction://hlinksldjump"/>
          </p:cNvPr>
          <p:cNvSpPr/>
          <p:nvPr/>
        </p:nvSpPr>
        <p:spPr>
          <a:xfrm>
            <a:off x="4517136" y="1453896"/>
            <a:ext cx="960120" cy="118872"/>
          </a:xfrm>
          <a:prstGeom prst="rect">
            <a:avLst/>
          </a:prstGeom>
          <a:noFill/>
          <a:ln/>
        </p:spPr>
        <p:txBody>
          <a:bodyPr wrap="square" lIns="381" tIns="381" rIns="381" bIns="381" rtlCol="0" anchor="ctr">
            <a:normAutofit/>
          </a:bodyPr>
          <a:lstStyle/>
          <a:p>
            <a:pPr marL="0" indent="0" algn="ctr">
              <a:buNone/>
            </a:pPr>
            <a:r>
              <a:rPr lang="en-US" sz="640" b="1" u="sng" dirty="0">
                <a:solidFill>
                  <a:srgbClr val="2A3B50"/>
                </a:solidFill>
                <a:latin typeface="Arial" pitchFamily="34" charset="0"/>
                <a:ea typeface="Arial" pitchFamily="34" charset="-122"/>
                <a:cs typeface="Arial" pitchFamily="34" charset="-120"/>
                <a:hlinkClick r:id="rId5" action="ppaction://hlinksldjump">
                  <a:extLst>
                    <a:ext uri="{A12FA001-AC4F-418D-AE19-62706E023703}">
                      <ahyp:hlinkClr xmlns:ahyp="http://schemas.microsoft.com/office/drawing/2018/hyperlinkcolor" val="tx"/>
                    </a:ext>
                  </a:extLst>
                </a:hlinkClick>
              </a:rPr>
              <a:t>Rooms &amp; Pricing</a:t>
            </a:r>
            <a:endParaRPr lang="en-US" sz="640" dirty="0"/>
          </a:p>
        </p:txBody>
      </p:sp>
      <p:sp>
        <p:nvSpPr>
          <p:cNvPr id="19" name="Text 17">
            <a:hlinkClick r:id="rId6" action="ppaction://hlinksldjump"/>
          </p:cNvPr>
          <p:cNvSpPr/>
          <p:nvPr/>
        </p:nvSpPr>
        <p:spPr>
          <a:xfrm>
            <a:off x="5678424" y="1453896"/>
            <a:ext cx="685800" cy="118872"/>
          </a:xfrm>
          <a:prstGeom prst="rect">
            <a:avLst/>
          </a:prstGeom>
          <a:noFill/>
          <a:ln/>
        </p:spPr>
        <p:txBody>
          <a:bodyPr wrap="square" lIns="381" tIns="381" rIns="381" bIns="381" rtlCol="0" anchor="ctr">
            <a:normAutofit/>
          </a:bodyPr>
          <a:lstStyle/>
          <a:p>
            <a:pPr marL="0" indent="0" algn="ctr">
              <a:buNone/>
            </a:pPr>
            <a:r>
              <a:rPr lang="en-US" sz="640" b="1" u="sng" dirty="0">
                <a:solidFill>
                  <a:srgbClr val="2A3B50"/>
                </a:solidFill>
                <a:latin typeface="Arial" pitchFamily="34" charset="0"/>
                <a:ea typeface="Arial" pitchFamily="34" charset="-122"/>
                <a:cs typeface="Arial" pitchFamily="34" charset="-120"/>
                <a:hlinkClick r:id="rId6" action="ppaction://hlinksldjump">
                  <a:extLst>
                    <a:ext uri="{A12FA001-AC4F-418D-AE19-62706E023703}">
                      <ahyp:hlinkClr xmlns:ahyp="http://schemas.microsoft.com/office/drawing/2018/hyperlinkcolor" val="tx"/>
                    </a:ext>
                  </a:extLst>
                </a:hlinkClick>
              </a:rPr>
              <a:t>Attractions</a:t>
            </a:r>
            <a:endParaRPr lang="en-US" sz="640" dirty="0"/>
          </a:p>
        </p:txBody>
      </p:sp>
      <p:sp>
        <p:nvSpPr>
          <p:cNvPr id="20" name="Text 18">
            <a:hlinkClick r:id="rId7" action="ppaction://hlinksldjump"/>
          </p:cNvPr>
          <p:cNvSpPr/>
          <p:nvPr/>
        </p:nvSpPr>
        <p:spPr>
          <a:xfrm>
            <a:off x="6565392" y="1453896"/>
            <a:ext cx="475488" cy="118872"/>
          </a:xfrm>
          <a:prstGeom prst="rect">
            <a:avLst/>
          </a:prstGeom>
          <a:noFill/>
          <a:ln/>
        </p:spPr>
        <p:txBody>
          <a:bodyPr wrap="square" lIns="381" tIns="381" rIns="381" bIns="381" rtlCol="0" anchor="ctr">
            <a:normAutofit/>
          </a:bodyPr>
          <a:lstStyle/>
          <a:p>
            <a:pPr marL="0" indent="0" algn="ctr">
              <a:buNone/>
            </a:pPr>
            <a:r>
              <a:rPr lang="en-US" sz="640" b="1" u="sng" dirty="0">
                <a:solidFill>
                  <a:srgbClr val="2A3B50"/>
                </a:solidFill>
                <a:latin typeface="Arial" pitchFamily="34" charset="0"/>
                <a:ea typeface="Arial" pitchFamily="34" charset="-122"/>
                <a:cs typeface="Arial" pitchFamily="34" charset="-120"/>
                <a:hlinkClick r:id="rId7" action="ppaction://hlinksldjump">
                  <a:extLst>
                    <a:ext uri="{A12FA001-AC4F-418D-AE19-62706E023703}">
                      <ahyp:hlinkClr xmlns:ahyp="http://schemas.microsoft.com/office/drawing/2018/hyperlinkcolor" val="tx"/>
                    </a:ext>
                  </a:extLst>
                </a:hlinkClick>
              </a:rPr>
              <a:t>Contact</a:t>
            </a:r>
            <a:endParaRPr lang="en-US" sz="640" dirty="0"/>
          </a:p>
        </p:txBody>
      </p:sp>
      <p:sp>
        <p:nvSpPr>
          <p:cNvPr id="21" name="Text 19">
            <a:hlinkClick r:id="rId8" action="ppaction://hlinksldjump"/>
          </p:cNvPr>
          <p:cNvSpPr/>
          <p:nvPr/>
        </p:nvSpPr>
        <p:spPr>
          <a:xfrm>
            <a:off x="7242048" y="1453896"/>
            <a:ext cx="420624" cy="118872"/>
          </a:xfrm>
          <a:prstGeom prst="rect">
            <a:avLst/>
          </a:prstGeom>
          <a:noFill/>
          <a:ln/>
        </p:spPr>
        <p:txBody>
          <a:bodyPr wrap="square" lIns="381" tIns="381" rIns="381" bIns="381" rtlCol="0" anchor="ctr">
            <a:normAutofit/>
          </a:bodyPr>
          <a:lstStyle/>
          <a:p>
            <a:pPr marL="0" indent="0" algn="ctr">
              <a:buNone/>
            </a:pPr>
            <a:r>
              <a:rPr lang="en-US" sz="640" b="1" u="sng" dirty="0">
                <a:solidFill>
                  <a:srgbClr val="2A3B50"/>
                </a:solidFill>
                <a:latin typeface="Arial" pitchFamily="34" charset="0"/>
                <a:ea typeface="Arial" pitchFamily="34" charset="-122"/>
                <a:cs typeface="Arial" pitchFamily="34" charset="-120"/>
                <a:hlinkClick r:id="rId8" action="ppaction://hlinksldjump">
                  <a:extLst>
                    <a:ext uri="{A12FA001-AC4F-418D-AE19-62706E023703}">
                      <ahyp:hlinkClr xmlns:ahyp="http://schemas.microsoft.com/office/drawing/2018/hyperlinkcolor" val="tx"/>
                    </a:ext>
                  </a:extLst>
                </a:hlinkClick>
              </a:rPr>
              <a:t>Book</a:t>
            </a:r>
            <a:endParaRPr lang="en-US" sz="640" dirty="0"/>
          </a:p>
        </p:txBody>
      </p:sp>
      <p:sp>
        <p:nvSpPr>
          <p:cNvPr id="22" name="Shape 20">
            <a:hlinkClick r:id="rId9" action="ppaction://hlinksldjump"/>
          </p:cNvPr>
          <p:cNvSpPr/>
          <p:nvPr/>
        </p:nvSpPr>
        <p:spPr>
          <a:xfrm>
            <a:off x="10378440" y="1417320"/>
            <a:ext cx="530352" cy="283464"/>
          </a:xfrm>
          <a:prstGeom prst="roundRect">
            <a:avLst>
              <a:gd name="adj" fmla="val 25806"/>
            </a:avLst>
          </a:prstGeom>
          <a:solidFill>
            <a:srgbClr val="132133"/>
          </a:solidFill>
          <a:ln w="12700">
            <a:solidFill>
              <a:srgbClr val="132133">
                <a:alpha val="0"/>
              </a:srgbClr>
            </a:solidFill>
            <a:prstDash val="solid"/>
          </a:ln>
        </p:spPr>
        <p:txBody>
          <a:bodyPr/>
          <a:lstStyle/>
          <a:p>
            <a:endParaRPr lang="en-US"/>
          </a:p>
        </p:txBody>
      </p:sp>
      <p:sp>
        <p:nvSpPr>
          <p:cNvPr id="23" name="Text 21">
            <a:hlinkClick r:id="rId9" action="ppaction://hlinksldjump"/>
          </p:cNvPr>
          <p:cNvSpPr/>
          <p:nvPr/>
        </p:nvSpPr>
        <p:spPr>
          <a:xfrm>
            <a:off x="10396728" y="1444752"/>
            <a:ext cx="493776" cy="182880"/>
          </a:xfrm>
          <a:prstGeom prst="rect">
            <a:avLst/>
          </a:prstGeom>
          <a:noFill/>
          <a:ln/>
        </p:spPr>
        <p:txBody>
          <a:bodyPr wrap="square" lIns="381" tIns="381" rIns="381" bIns="381" rtlCol="0" anchor="ctr">
            <a:normAutofit/>
          </a:bodyPr>
          <a:lstStyle/>
          <a:p>
            <a:pPr marL="0" indent="0" algn="ctr">
              <a:buNone/>
            </a:pPr>
            <a:r>
              <a:rPr lang="en-US" sz="600" b="1" u="sng" dirty="0">
                <a:solidFill>
                  <a:srgbClr val="FFFFFF"/>
                </a:solidFill>
                <a:latin typeface="Arial" pitchFamily="34" charset="0"/>
                <a:ea typeface="Arial" pitchFamily="34" charset="-122"/>
                <a:cs typeface="Arial" pitchFamily="34" charset="-120"/>
                <a:hlinkClick r:id="rId9" action="ppaction://hlinksldjump">
                  <a:extLst>
                    <a:ext uri="{A12FA001-AC4F-418D-AE19-62706E023703}">
                      <ahyp:hlinkClr xmlns:ahyp="http://schemas.microsoft.com/office/drawing/2018/hyperlinkcolor" val="tx"/>
                    </a:ext>
                  </a:extLst>
                </a:hlinkClick>
              </a:rPr>
              <a:t>Login</a:t>
            </a:r>
            <a:endParaRPr lang="en-US" sz="600" dirty="0"/>
          </a:p>
        </p:txBody>
      </p:sp>
      <p:sp>
        <p:nvSpPr>
          <p:cNvPr id="24" name="Shape 22">
            <a:hlinkClick r:id="rId10" action="ppaction://hlinksldjump"/>
          </p:cNvPr>
          <p:cNvSpPr/>
          <p:nvPr/>
        </p:nvSpPr>
        <p:spPr>
          <a:xfrm>
            <a:off x="10991088" y="1417320"/>
            <a:ext cx="585216" cy="283464"/>
          </a:xfrm>
          <a:prstGeom prst="roundRect">
            <a:avLst>
              <a:gd name="adj" fmla="val 25806"/>
            </a:avLst>
          </a:prstGeom>
          <a:solidFill>
            <a:srgbClr val="276F7B"/>
          </a:solidFill>
          <a:ln w="12700">
            <a:solidFill>
              <a:srgbClr val="276F7B">
                <a:alpha val="0"/>
              </a:srgbClr>
            </a:solidFill>
            <a:prstDash val="solid"/>
          </a:ln>
        </p:spPr>
        <p:txBody>
          <a:bodyPr/>
          <a:lstStyle/>
          <a:p>
            <a:endParaRPr lang="en-US"/>
          </a:p>
        </p:txBody>
      </p:sp>
      <p:sp>
        <p:nvSpPr>
          <p:cNvPr id="25" name="Text 23">
            <a:hlinkClick r:id="rId10" action="ppaction://hlinksldjump"/>
          </p:cNvPr>
          <p:cNvSpPr/>
          <p:nvPr/>
        </p:nvSpPr>
        <p:spPr>
          <a:xfrm>
            <a:off x="11009376" y="1444752"/>
            <a:ext cx="548640" cy="182880"/>
          </a:xfrm>
          <a:prstGeom prst="rect">
            <a:avLst/>
          </a:prstGeom>
          <a:noFill/>
          <a:ln/>
        </p:spPr>
        <p:txBody>
          <a:bodyPr wrap="square" lIns="381" tIns="381" rIns="381" bIns="381" rtlCol="0" anchor="ctr">
            <a:normAutofit/>
          </a:bodyPr>
          <a:lstStyle/>
          <a:p>
            <a:pPr marL="0" indent="0" algn="ctr">
              <a:buNone/>
            </a:pPr>
            <a:r>
              <a:rPr lang="en-US" sz="600" b="1" u="sng" dirty="0">
                <a:solidFill>
                  <a:srgbClr val="FFFFFF"/>
                </a:solidFill>
                <a:latin typeface="Arial" pitchFamily="34" charset="0"/>
                <a:ea typeface="Arial" pitchFamily="34" charset="-122"/>
                <a:cs typeface="Arial" pitchFamily="34" charset="-120"/>
                <a:hlinkClick r:id="rId10" action="ppaction://hlinksldjump">
                  <a:extLst>
                    <a:ext uri="{A12FA001-AC4F-418D-AE19-62706E023703}">
                      <ahyp:hlinkClr xmlns:ahyp="http://schemas.microsoft.com/office/drawing/2018/hyperlinkcolor" val="tx"/>
                    </a:ext>
                  </a:extLst>
                </a:hlinkClick>
              </a:rPr>
              <a:t>Register</a:t>
            </a:r>
            <a:endParaRPr lang="en-US" sz="600" dirty="0"/>
          </a:p>
        </p:txBody>
      </p:sp>
      <p:sp>
        <p:nvSpPr>
          <p:cNvPr id="26" name="Text 24"/>
          <p:cNvSpPr/>
          <p:nvPr/>
        </p:nvSpPr>
        <p:spPr>
          <a:xfrm>
            <a:off x="502920" y="6510528"/>
            <a:ext cx="6400800" cy="201168"/>
          </a:xfrm>
          <a:prstGeom prst="rect">
            <a:avLst/>
          </a:prstGeom>
          <a:noFill/>
          <a:ln/>
        </p:spPr>
        <p:txBody>
          <a:bodyPr wrap="square" lIns="381" tIns="381" rIns="381" bIns="381" rtlCol="0" anchor="ctr">
            <a:normAutofit/>
          </a:bodyPr>
          <a:lstStyle/>
          <a:p>
            <a:pPr marL="0" indent="0" algn="l">
              <a:buNone/>
            </a:pPr>
            <a:r>
              <a:rPr lang="en-US" sz="710" dirty="0">
                <a:solidFill>
                  <a:srgbClr val="536273"/>
                </a:solidFill>
                <a:latin typeface="Arial" pitchFamily="34" charset="0"/>
                <a:ea typeface="Arial" pitchFamily="34" charset="-122"/>
                <a:cs typeface="Arial" pitchFamily="34" charset="-120"/>
              </a:rPr>
              <a:t>Slide 12 | Editable components | Use Slide Show mode to click through the prototype</a:t>
            </a:r>
            <a:endParaRPr lang="en-US" sz="710" dirty="0"/>
          </a:p>
        </p:txBody>
      </p:sp>
      <p:sp>
        <p:nvSpPr>
          <p:cNvPr id="27" name="Shape 25">
            <a:hlinkClick r:id="rId3" action="ppaction://hlinksldjump"/>
          </p:cNvPr>
          <p:cNvSpPr/>
          <p:nvPr/>
        </p:nvSpPr>
        <p:spPr>
          <a:xfrm>
            <a:off x="7635240" y="6455664"/>
            <a:ext cx="749808" cy="283464"/>
          </a:xfrm>
          <a:prstGeom prst="roundRect">
            <a:avLst>
              <a:gd name="adj" fmla="val 25806"/>
            </a:avLst>
          </a:prstGeom>
          <a:solidFill>
            <a:srgbClr val="FFFFFF">
              <a:alpha val="30000"/>
            </a:srgbClr>
          </a:solidFill>
          <a:ln w="12700">
            <a:solidFill>
              <a:srgbClr val="536273">
                <a:alpha val="50000"/>
              </a:srgbClr>
            </a:solidFill>
            <a:prstDash val="solid"/>
          </a:ln>
        </p:spPr>
        <p:txBody>
          <a:bodyPr/>
          <a:lstStyle/>
          <a:p>
            <a:endParaRPr lang="en-US"/>
          </a:p>
        </p:txBody>
      </p:sp>
      <p:sp>
        <p:nvSpPr>
          <p:cNvPr id="28" name="Text 26">
            <a:hlinkClick r:id="rId3" action="ppaction://hlinksldjump"/>
          </p:cNvPr>
          <p:cNvSpPr/>
          <p:nvPr/>
        </p:nvSpPr>
        <p:spPr>
          <a:xfrm>
            <a:off x="7653528" y="6483096"/>
            <a:ext cx="713232" cy="182880"/>
          </a:xfrm>
          <a:prstGeom prst="rect">
            <a:avLst/>
          </a:prstGeom>
          <a:noFill/>
          <a:ln/>
        </p:spPr>
        <p:txBody>
          <a:bodyPr wrap="square" lIns="381" tIns="381" rIns="381" bIns="381" rtlCol="0" anchor="ctr">
            <a:normAutofit/>
          </a:bodyPr>
          <a:lstStyle/>
          <a:p>
            <a:pPr marL="0" indent="0" algn="ctr">
              <a:buNone/>
            </a:pPr>
            <a:r>
              <a:rPr lang="en-US" sz="800" b="1" u="sng" dirty="0">
                <a:solidFill>
                  <a:srgbClr val="2A3B50"/>
                </a:solidFill>
                <a:latin typeface="Arial" pitchFamily="34" charset="0"/>
                <a:ea typeface="Arial" pitchFamily="34" charset="-122"/>
                <a:cs typeface="Arial" pitchFamily="34" charset="-120"/>
                <a:hlinkClick r:id="rId3" action="ppaction://hlinksldjump">
                  <a:extLst>
                    <a:ext uri="{A12FA001-AC4F-418D-AE19-62706E023703}">
                      <ahyp:hlinkClr xmlns:ahyp="http://schemas.microsoft.com/office/drawing/2018/hyperlinkcolor" val="tx"/>
                    </a:ext>
                  </a:extLst>
                </a:hlinkClick>
              </a:rPr>
              <a:t>Home</a:t>
            </a:r>
            <a:endParaRPr lang="en-US" sz="800" dirty="0"/>
          </a:p>
        </p:txBody>
      </p:sp>
      <p:sp>
        <p:nvSpPr>
          <p:cNvPr id="29" name="Shape 27">
            <a:hlinkClick r:id="rId5" action="ppaction://hlinksldjump"/>
          </p:cNvPr>
          <p:cNvSpPr/>
          <p:nvPr/>
        </p:nvSpPr>
        <p:spPr>
          <a:xfrm>
            <a:off x="8476488" y="6455664"/>
            <a:ext cx="749808" cy="283464"/>
          </a:xfrm>
          <a:prstGeom prst="roundRect">
            <a:avLst>
              <a:gd name="adj" fmla="val 25806"/>
            </a:avLst>
          </a:prstGeom>
          <a:solidFill>
            <a:srgbClr val="FFFFFF">
              <a:alpha val="30000"/>
            </a:srgbClr>
          </a:solidFill>
          <a:ln w="12700">
            <a:solidFill>
              <a:srgbClr val="536273">
                <a:alpha val="50000"/>
              </a:srgbClr>
            </a:solidFill>
            <a:prstDash val="solid"/>
          </a:ln>
        </p:spPr>
        <p:txBody>
          <a:bodyPr/>
          <a:lstStyle/>
          <a:p>
            <a:endParaRPr lang="en-US"/>
          </a:p>
        </p:txBody>
      </p:sp>
      <p:sp>
        <p:nvSpPr>
          <p:cNvPr id="30" name="Text 28">
            <a:hlinkClick r:id="rId5" action="ppaction://hlinksldjump"/>
          </p:cNvPr>
          <p:cNvSpPr/>
          <p:nvPr/>
        </p:nvSpPr>
        <p:spPr>
          <a:xfrm>
            <a:off x="8494776" y="6483096"/>
            <a:ext cx="713232" cy="182880"/>
          </a:xfrm>
          <a:prstGeom prst="rect">
            <a:avLst/>
          </a:prstGeom>
          <a:noFill/>
          <a:ln/>
        </p:spPr>
        <p:txBody>
          <a:bodyPr wrap="square" lIns="381" tIns="381" rIns="381" bIns="381" rtlCol="0" anchor="ctr">
            <a:normAutofit/>
          </a:bodyPr>
          <a:lstStyle/>
          <a:p>
            <a:pPr marL="0" indent="0" algn="ctr">
              <a:buNone/>
            </a:pPr>
            <a:r>
              <a:rPr lang="en-US" sz="800" b="1" u="sng" dirty="0">
                <a:solidFill>
                  <a:srgbClr val="2A3B50"/>
                </a:solidFill>
                <a:latin typeface="Arial" pitchFamily="34" charset="0"/>
                <a:ea typeface="Arial" pitchFamily="34" charset="-122"/>
                <a:cs typeface="Arial" pitchFamily="34" charset="-120"/>
                <a:hlinkClick r:id="rId5" action="ppaction://hlinksldjump">
                  <a:extLst>
                    <a:ext uri="{A12FA001-AC4F-418D-AE19-62706E023703}">
                      <ahyp:hlinkClr xmlns:ahyp="http://schemas.microsoft.com/office/drawing/2018/hyperlinkcolor" val="tx"/>
                    </a:ext>
                  </a:extLst>
                </a:hlinkClick>
              </a:rPr>
              <a:t>Rooms</a:t>
            </a:r>
            <a:endParaRPr lang="en-US" sz="800" dirty="0"/>
          </a:p>
        </p:txBody>
      </p:sp>
      <p:sp>
        <p:nvSpPr>
          <p:cNvPr id="31" name="Shape 29">
            <a:hlinkClick r:id="rId8" action="ppaction://hlinksldjump"/>
          </p:cNvPr>
          <p:cNvSpPr/>
          <p:nvPr/>
        </p:nvSpPr>
        <p:spPr>
          <a:xfrm>
            <a:off x="9317736" y="6455664"/>
            <a:ext cx="749808" cy="283464"/>
          </a:xfrm>
          <a:prstGeom prst="roundRect">
            <a:avLst>
              <a:gd name="adj" fmla="val 25806"/>
            </a:avLst>
          </a:prstGeom>
          <a:solidFill>
            <a:srgbClr val="FFFFFF">
              <a:alpha val="30000"/>
            </a:srgbClr>
          </a:solidFill>
          <a:ln w="12700">
            <a:solidFill>
              <a:srgbClr val="536273">
                <a:alpha val="50000"/>
              </a:srgbClr>
            </a:solidFill>
            <a:prstDash val="solid"/>
          </a:ln>
        </p:spPr>
        <p:txBody>
          <a:bodyPr/>
          <a:lstStyle/>
          <a:p>
            <a:endParaRPr lang="en-US"/>
          </a:p>
        </p:txBody>
      </p:sp>
      <p:sp>
        <p:nvSpPr>
          <p:cNvPr id="32" name="Text 30">
            <a:hlinkClick r:id="rId8" action="ppaction://hlinksldjump"/>
          </p:cNvPr>
          <p:cNvSpPr/>
          <p:nvPr/>
        </p:nvSpPr>
        <p:spPr>
          <a:xfrm>
            <a:off x="9336024" y="6483096"/>
            <a:ext cx="713232" cy="182880"/>
          </a:xfrm>
          <a:prstGeom prst="rect">
            <a:avLst/>
          </a:prstGeom>
          <a:noFill/>
          <a:ln/>
        </p:spPr>
        <p:txBody>
          <a:bodyPr wrap="square" lIns="381" tIns="381" rIns="381" bIns="381" rtlCol="0" anchor="ctr">
            <a:normAutofit/>
          </a:bodyPr>
          <a:lstStyle/>
          <a:p>
            <a:pPr marL="0" indent="0" algn="ctr">
              <a:buNone/>
            </a:pPr>
            <a:r>
              <a:rPr lang="en-US" sz="800" b="1" u="sng" dirty="0">
                <a:solidFill>
                  <a:srgbClr val="2A3B50"/>
                </a:solidFill>
                <a:latin typeface="Arial" pitchFamily="34" charset="0"/>
                <a:ea typeface="Arial" pitchFamily="34" charset="-122"/>
                <a:cs typeface="Arial" pitchFamily="34" charset="-120"/>
                <a:hlinkClick r:id="rId8" action="ppaction://hlinksldjump">
                  <a:extLst>
                    <a:ext uri="{A12FA001-AC4F-418D-AE19-62706E023703}">
                      <ahyp:hlinkClr xmlns:ahyp="http://schemas.microsoft.com/office/drawing/2018/hyperlinkcolor" val="tx"/>
                    </a:ext>
                  </a:extLst>
                </a:hlinkClick>
              </a:rPr>
              <a:t>Book</a:t>
            </a:r>
            <a:endParaRPr lang="en-US" sz="800" dirty="0"/>
          </a:p>
        </p:txBody>
      </p:sp>
      <p:sp>
        <p:nvSpPr>
          <p:cNvPr id="33" name="Shape 31">
            <a:hlinkClick r:id="rId11" action="ppaction://hlinksldjump"/>
          </p:cNvPr>
          <p:cNvSpPr/>
          <p:nvPr/>
        </p:nvSpPr>
        <p:spPr>
          <a:xfrm>
            <a:off x="10158984" y="6455664"/>
            <a:ext cx="749808" cy="283464"/>
          </a:xfrm>
          <a:prstGeom prst="roundRect">
            <a:avLst>
              <a:gd name="adj" fmla="val 25806"/>
            </a:avLst>
          </a:prstGeom>
          <a:solidFill>
            <a:srgbClr val="FFFFFF">
              <a:alpha val="30000"/>
            </a:srgbClr>
          </a:solidFill>
          <a:ln w="12700">
            <a:solidFill>
              <a:srgbClr val="536273">
                <a:alpha val="50000"/>
              </a:srgbClr>
            </a:solidFill>
            <a:prstDash val="solid"/>
          </a:ln>
        </p:spPr>
        <p:txBody>
          <a:bodyPr/>
          <a:lstStyle/>
          <a:p>
            <a:endParaRPr lang="en-US"/>
          </a:p>
        </p:txBody>
      </p:sp>
      <p:sp>
        <p:nvSpPr>
          <p:cNvPr id="34" name="Text 32">
            <a:hlinkClick r:id="rId11" action="ppaction://hlinksldjump"/>
          </p:cNvPr>
          <p:cNvSpPr/>
          <p:nvPr/>
        </p:nvSpPr>
        <p:spPr>
          <a:xfrm>
            <a:off x="10177272" y="6483096"/>
            <a:ext cx="713232" cy="182880"/>
          </a:xfrm>
          <a:prstGeom prst="rect">
            <a:avLst/>
          </a:prstGeom>
          <a:noFill/>
          <a:ln/>
        </p:spPr>
        <p:txBody>
          <a:bodyPr wrap="square" lIns="381" tIns="381" rIns="381" bIns="381" rtlCol="0" anchor="ctr">
            <a:normAutofit/>
          </a:bodyPr>
          <a:lstStyle/>
          <a:p>
            <a:pPr marL="0" indent="0" algn="ctr">
              <a:buNone/>
            </a:pPr>
            <a:r>
              <a:rPr lang="en-US" sz="800" b="1" u="sng" dirty="0">
                <a:solidFill>
                  <a:srgbClr val="2A3B50"/>
                </a:solidFill>
                <a:latin typeface="Arial" pitchFamily="34" charset="0"/>
                <a:ea typeface="Arial" pitchFamily="34" charset="-122"/>
                <a:cs typeface="Arial" pitchFamily="34" charset="-120"/>
                <a:hlinkClick r:id="rId11" action="ppaction://hlinksldjump">
                  <a:extLst>
                    <a:ext uri="{A12FA001-AC4F-418D-AE19-62706E023703}">
                      <ahyp:hlinkClr xmlns:ahyp="http://schemas.microsoft.com/office/drawing/2018/hyperlinkcolor" val="tx"/>
                    </a:ext>
                  </a:extLst>
                </a:hlinkClick>
              </a:rPr>
              <a:t>Lookup</a:t>
            </a:r>
            <a:endParaRPr lang="en-US" sz="800" dirty="0"/>
          </a:p>
        </p:txBody>
      </p:sp>
      <p:sp>
        <p:nvSpPr>
          <p:cNvPr id="35" name="Shape 33">
            <a:hlinkClick r:id="rId12" action="ppaction://hlinksldjump"/>
          </p:cNvPr>
          <p:cNvSpPr/>
          <p:nvPr/>
        </p:nvSpPr>
        <p:spPr>
          <a:xfrm>
            <a:off x="11000232" y="6455664"/>
            <a:ext cx="868680" cy="283464"/>
          </a:xfrm>
          <a:prstGeom prst="roundRect">
            <a:avLst>
              <a:gd name="adj" fmla="val 25806"/>
            </a:avLst>
          </a:prstGeom>
          <a:solidFill>
            <a:srgbClr val="132133"/>
          </a:solidFill>
          <a:ln w="12700">
            <a:solidFill>
              <a:srgbClr val="132133">
                <a:alpha val="0"/>
              </a:srgbClr>
            </a:solidFill>
            <a:prstDash val="solid"/>
          </a:ln>
        </p:spPr>
        <p:txBody>
          <a:bodyPr/>
          <a:lstStyle/>
          <a:p>
            <a:endParaRPr lang="en-US"/>
          </a:p>
        </p:txBody>
      </p:sp>
      <p:sp>
        <p:nvSpPr>
          <p:cNvPr id="36" name="Text 34">
            <a:hlinkClick r:id="rId12" action="ppaction://hlinksldjump"/>
          </p:cNvPr>
          <p:cNvSpPr/>
          <p:nvPr/>
        </p:nvSpPr>
        <p:spPr>
          <a:xfrm>
            <a:off x="11018520" y="6483096"/>
            <a:ext cx="832104" cy="182880"/>
          </a:xfrm>
          <a:prstGeom prst="rect">
            <a:avLst/>
          </a:prstGeom>
          <a:noFill/>
          <a:ln/>
        </p:spPr>
        <p:txBody>
          <a:bodyPr wrap="square" lIns="381" tIns="381" rIns="381" bIns="381" rtlCol="0" anchor="ctr">
            <a:normAutofit/>
          </a:bodyPr>
          <a:lstStyle/>
          <a:p>
            <a:pPr marL="0" indent="0" algn="ctr">
              <a:buNone/>
            </a:pPr>
            <a:r>
              <a:rPr lang="en-US" sz="770" b="1" u="sng" dirty="0">
                <a:solidFill>
                  <a:srgbClr val="FFFFFF"/>
                </a:solidFill>
                <a:latin typeface="Arial" pitchFamily="34" charset="0"/>
                <a:ea typeface="Arial" pitchFamily="34" charset="-122"/>
                <a:cs typeface="Arial" pitchFamily="34" charset="-120"/>
                <a:hlinkClick r:id="rId12" action="ppaction://hlinksldjump">
                  <a:extLst>
                    <a:ext uri="{A12FA001-AC4F-418D-AE19-62706E023703}">
                      <ahyp:hlinkClr xmlns:ahyp="http://schemas.microsoft.com/office/drawing/2018/hyperlinkcolor" val="tx"/>
                    </a:ext>
                  </a:extLst>
                </a:hlinkClick>
              </a:rPr>
              <a:t>Site Flow</a:t>
            </a:r>
            <a:endParaRPr lang="en-US" sz="770" dirty="0"/>
          </a:p>
        </p:txBody>
      </p:sp>
      <p:sp>
        <p:nvSpPr>
          <p:cNvPr id="37" name="Text 35"/>
          <p:cNvSpPr/>
          <p:nvPr/>
        </p:nvSpPr>
        <p:spPr>
          <a:xfrm>
            <a:off x="822960" y="2103120"/>
            <a:ext cx="9509760" cy="146304"/>
          </a:xfrm>
          <a:prstGeom prst="rect">
            <a:avLst/>
          </a:prstGeom>
          <a:noFill/>
          <a:ln/>
        </p:spPr>
        <p:txBody>
          <a:bodyPr wrap="square" lIns="381" tIns="381" rIns="381" bIns="381" rtlCol="0" anchor="ctr">
            <a:normAutofit/>
          </a:bodyPr>
          <a:lstStyle/>
          <a:p>
            <a:pPr marL="0" indent="0" algn="l">
              <a:buNone/>
            </a:pPr>
            <a:r>
              <a:rPr lang="en-US" sz="680" b="1" dirty="0">
                <a:solidFill>
                  <a:srgbClr val="276F7B"/>
                </a:solidFill>
                <a:latin typeface="Arial" pitchFamily="34" charset="0"/>
                <a:ea typeface="Arial" pitchFamily="34" charset="-122"/>
                <a:cs typeface="Arial" pitchFamily="34" charset="-120"/>
              </a:rPr>
              <a:t>FINAL REVIEW</a:t>
            </a:r>
            <a:endParaRPr lang="en-US" sz="680" dirty="0"/>
          </a:p>
        </p:txBody>
      </p:sp>
      <p:sp>
        <p:nvSpPr>
          <p:cNvPr id="38" name="Text 36"/>
          <p:cNvSpPr/>
          <p:nvPr/>
        </p:nvSpPr>
        <p:spPr>
          <a:xfrm>
            <a:off x="822960" y="2304288"/>
            <a:ext cx="9509760" cy="393192"/>
          </a:xfrm>
          <a:prstGeom prst="rect">
            <a:avLst/>
          </a:prstGeom>
          <a:noFill/>
          <a:ln/>
        </p:spPr>
        <p:txBody>
          <a:bodyPr wrap="square" lIns="381" tIns="381" rIns="381" bIns="381" rtlCol="0" anchor="ctr">
            <a:normAutofit/>
          </a:bodyPr>
          <a:lstStyle/>
          <a:p>
            <a:pPr marL="0" indent="0" algn="l">
              <a:buNone/>
            </a:pPr>
            <a:r>
              <a:rPr lang="en-US" sz="2000" dirty="0">
                <a:solidFill>
                  <a:srgbClr val="132133"/>
                </a:solidFill>
                <a:latin typeface="Georgia" pitchFamily="34" charset="0"/>
                <a:ea typeface="Georgia" pitchFamily="34" charset="-122"/>
                <a:cs typeface="Georgia" pitchFamily="34" charset="-120"/>
              </a:rPr>
              <a:t>Reservation Summary</a:t>
            </a:r>
            <a:endParaRPr lang="en-US" sz="2000" dirty="0"/>
          </a:p>
        </p:txBody>
      </p:sp>
      <p:sp>
        <p:nvSpPr>
          <p:cNvPr id="39" name="Text 37"/>
          <p:cNvSpPr/>
          <p:nvPr/>
        </p:nvSpPr>
        <p:spPr>
          <a:xfrm>
            <a:off x="822960" y="2798064"/>
            <a:ext cx="9509760" cy="256032"/>
          </a:xfrm>
          <a:prstGeom prst="rect">
            <a:avLst/>
          </a:prstGeom>
          <a:noFill/>
          <a:ln/>
        </p:spPr>
        <p:txBody>
          <a:bodyPr wrap="square" lIns="381" tIns="381" rIns="381" bIns="381" rtlCol="0" anchor="t">
            <a:normAutofit/>
          </a:bodyPr>
          <a:lstStyle/>
          <a:p>
            <a:pPr marL="0" indent="0" algn="l">
              <a:buNone/>
            </a:pPr>
            <a:r>
              <a:rPr lang="en-US" sz="840" dirty="0">
                <a:solidFill>
                  <a:srgbClr val="2A3B50"/>
                </a:solidFill>
                <a:latin typeface="Arial" pitchFamily="34" charset="0"/>
                <a:ea typeface="Arial" pitchFamily="34" charset="-122"/>
                <a:cs typeface="Arial" pitchFamily="34" charset="-120"/>
              </a:rPr>
              <a:t>Review booking details before final confirmation. Guests can cancel to make changes or confirm the reservation.</a:t>
            </a:r>
            <a:endParaRPr lang="en-US" sz="840" dirty="0"/>
          </a:p>
        </p:txBody>
      </p:sp>
      <p:sp>
        <p:nvSpPr>
          <p:cNvPr id="40" name="Shape 38"/>
          <p:cNvSpPr/>
          <p:nvPr/>
        </p:nvSpPr>
        <p:spPr>
          <a:xfrm>
            <a:off x="822960" y="3337560"/>
            <a:ext cx="9921240" cy="2743200"/>
          </a:xfrm>
          <a:prstGeom prst="roundRect">
            <a:avLst>
              <a:gd name="adj" fmla="val 3333"/>
            </a:avLst>
          </a:prstGeom>
          <a:solidFill>
            <a:srgbClr val="FFFFFF">
              <a:alpha val="92000"/>
            </a:srgbClr>
          </a:solidFill>
          <a:ln w="12700">
            <a:solidFill>
              <a:srgbClr val="E9DFCF"/>
            </a:solidFill>
            <a:prstDash val="solid"/>
          </a:ln>
          <a:effectLst>
            <a:outerShdw blurRad="12700" dist="7620" dir="2700000" algn="bl" rotWithShape="0">
              <a:srgbClr val="132133">
                <a:alpha val="7000"/>
              </a:srgbClr>
            </a:outerShdw>
          </a:effectLst>
        </p:spPr>
        <p:txBody>
          <a:bodyPr/>
          <a:lstStyle/>
          <a:p>
            <a:endParaRPr lang="en-US"/>
          </a:p>
        </p:txBody>
      </p:sp>
      <p:sp>
        <p:nvSpPr>
          <p:cNvPr id="41" name="Shape 39"/>
          <p:cNvSpPr/>
          <p:nvPr/>
        </p:nvSpPr>
        <p:spPr>
          <a:xfrm>
            <a:off x="1115568" y="3675888"/>
            <a:ext cx="4343400" cy="365760"/>
          </a:xfrm>
          <a:prstGeom prst="roundRect">
            <a:avLst>
              <a:gd name="adj" fmla="val 12500"/>
            </a:avLst>
          </a:prstGeom>
          <a:solidFill>
            <a:srgbClr val="F5EFE5"/>
          </a:solidFill>
          <a:ln w="12700">
            <a:solidFill>
              <a:srgbClr val="E9DFCF">
                <a:alpha val="30000"/>
              </a:srgbClr>
            </a:solidFill>
            <a:prstDash val="solid"/>
          </a:ln>
        </p:spPr>
        <p:txBody>
          <a:bodyPr/>
          <a:lstStyle/>
          <a:p>
            <a:endParaRPr lang="en-US"/>
          </a:p>
        </p:txBody>
      </p:sp>
      <p:sp>
        <p:nvSpPr>
          <p:cNvPr id="42" name="Text 40"/>
          <p:cNvSpPr/>
          <p:nvPr/>
        </p:nvSpPr>
        <p:spPr>
          <a:xfrm>
            <a:off x="1234440" y="3730752"/>
            <a:ext cx="1188720" cy="91440"/>
          </a:xfrm>
          <a:prstGeom prst="rect">
            <a:avLst/>
          </a:prstGeom>
          <a:noFill/>
          <a:ln/>
        </p:spPr>
        <p:txBody>
          <a:bodyPr wrap="square" lIns="381" tIns="381" rIns="381" bIns="381" rtlCol="0" anchor="ctr">
            <a:normAutofit/>
          </a:bodyPr>
          <a:lstStyle/>
          <a:p>
            <a:pPr marL="0" indent="0" algn="l">
              <a:buNone/>
            </a:pPr>
            <a:r>
              <a:rPr lang="en-US" sz="520" b="1" dirty="0">
                <a:solidFill>
                  <a:srgbClr val="2A3B50"/>
                </a:solidFill>
                <a:latin typeface="Arial" pitchFamily="34" charset="0"/>
                <a:ea typeface="Arial" pitchFamily="34" charset="-122"/>
                <a:cs typeface="Arial" pitchFamily="34" charset="-120"/>
              </a:rPr>
              <a:t>Reservation ID</a:t>
            </a:r>
            <a:endParaRPr lang="en-US" sz="520" dirty="0"/>
          </a:p>
        </p:txBody>
      </p:sp>
      <p:sp>
        <p:nvSpPr>
          <p:cNvPr id="43" name="Text 41"/>
          <p:cNvSpPr/>
          <p:nvPr/>
        </p:nvSpPr>
        <p:spPr>
          <a:xfrm>
            <a:off x="2624328" y="3730752"/>
            <a:ext cx="2468880" cy="118872"/>
          </a:xfrm>
          <a:prstGeom prst="rect">
            <a:avLst/>
          </a:prstGeom>
          <a:noFill/>
          <a:ln/>
        </p:spPr>
        <p:txBody>
          <a:bodyPr wrap="square" lIns="381" tIns="381" rIns="381" bIns="381" rtlCol="0" anchor="ctr">
            <a:normAutofit/>
          </a:bodyPr>
          <a:lstStyle/>
          <a:p>
            <a:pPr marL="0" indent="0" algn="l">
              <a:buNone/>
            </a:pPr>
            <a:r>
              <a:rPr lang="en-US" sz="700" b="1" dirty="0">
                <a:solidFill>
                  <a:srgbClr val="132133"/>
                </a:solidFill>
                <a:latin typeface="Arial" pitchFamily="34" charset="0"/>
                <a:ea typeface="Arial" pitchFamily="34" charset="-122"/>
                <a:cs typeface="Arial" pitchFamily="34" charset="-120"/>
              </a:rPr>
              <a:t>MBL-2201</a:t>
            </a:r>
            <a:endParaRPr lang="en-US" sz="700" dirty="0"/>
          </a:p>
        </p:txBody>
      </p:sp>
      <p:sp>
        <p:nvSpPr>
          <p:cNvPr id="44" name="Shape 42"/>
          <p:cNvSpPr/>
          <p:nvPr/>
        </p:nvSpPr>
        <p:spPr>
          <a:xfrm>
            <a:off x="5779008" y="3675888"/>
            <a:ext cx="4343400" cy="365760"/>
          </a:xfrm>
          <a:prstGeom prst="roundRect">
            <a:avLst>
              <a:gd name="adj" fmla="val 12500"/>
            </a:avLst>
          </a:prstGeom>
          <a:solidFill>
            <a:srgbClr val="F5EFE5"/>
          </a:solidFill>
          <a:ln w="12700">
            <a:solidFill>
              <a:srgbClr val="E9DFCF">
                <a:alpha val="30000"/>
              </a:srgbClr>
            </a:solidFill>
            <a:prstDash val="solid"/>
          </a:ln>
        </p:spPr>
        <p:txBody>
          <a:bodyPr/>
          <a:lstStyle/>
          <a:p>
            <a:endParaRPr lang="en-US"/>
          </a:p>
        </p:txBody>
      </p:sp>
      <p:sp>
        <p:nvSpPr>
          <p:cNvPr id="45" name="Text 43"/>
          <p:cNvSpPr/>
          <p:nvPr/>
        </p:nvSpPr>
        <p:spPr>
          <a:xfrm>
            <a:off x="5897880" y="3730752"/>
            <a:ext cx="1188720" cy="91440"/>
          </a:xfrm>
          <a:prstGeom prst="rect">
            <a:avLst/>
          </a:prstGeom>
          <a:noFill/>
          <a:ln/>
        </p:spPr>
        <p:txBody>
          <a:bodyPr wrap="square" lIns="381" tIns="381" rIns="381" bIns="381" rtlCol="0" anchor="ctr">
            <a:normAutofit/>
          </a:bodyPr>
          <a:lstStyle/>
          <a:p>
            <a:pPr marL="0" indent="0" algn="l">
              <a:buNone/>
            </a:pPr>
            <a:r>
              <a:rPr lang="en-US" sz="520" b="1" dirty="0">
                <a:solidFill>
                  <a:srgbClr val="2A3B50"/>
                </a:solidFill>
                <a:latin typeface="Arial" pitchFamily="34" charset="0"/>
                <a:ea typeface="Arial" pitchFamily="34" charset="-122"/>
                <a:cs typeface="Arial" pitchFamily="34" charset="-120"/>
              </a:rPr>
              <a:t>Room Type</a:t>
            </a:r>
            <a:endParaRPr lang="en-US" sz="520" dirty="0"/>
          </a:p>
        </p:txBody>
      </p:sp>
      <p:sp>
        <p:nvSpPr>
          <p:cNvPr id="46" name="Text 44"/>
          <p:cNvSpPr/>
          <p:nvPr/>
        </p:nvSpPr>
        <p:spPr>
          <a:xfrm>
            <a:off x="7287768" y="3730752"/>
            <a:ext cx="2468880" cy="118872"/>
          </a:xfrm>
          <a:prstGeom prst="rect">
            <a:avLst/>
          </a:prstGeom>
          <a:noFill/>
          <a:ln/>
        </p:spPr>
        <p:txBody>
          <a:bodyPr wrap="square" lIns="381" tIns="381" rIns="381" bIns="381" rtlCol="0" anchor="ctr">
            <a:normAutofit/>
          </a:bodyPr>
          <a:lstStyle/>
          <a:p>
            <a:pPr marL="0" indent="0" algn="l">
              <a:buNone/>
            </a:pPr>
            <a:r>
              <a:rPr lang="en-US" sz="700" b="1" dirty="0">
                <a:solidFill>
                  <a:srgbClr val="132133"/>
                </a:solidFill>
                <a:latin typeface="Arial" pitchFamily="34" charset="0"/>
                <a:ea typeface="Arial" pitchFamily="34" charset="-122"/>
                <a:cs typeface="Arial" pitchFamily="34" charset="-120"/>
              </a:rPr>
              <a:t>Queen</a:t>
            </a:r>
            <a:endParaRPr lang="en-US" sz="700" dirty="0"/>
          </a:p>
        </p:txBody>
      </p:sp>
      <p:sp>
        <p:nvSpPr>
          <p:cNvPr id="47" name="Shape 45"/>
          <p:cNvSpPr/>
          <p:nvPr/>
        </p:nvSpPr>
        <p:spPr>
          <a:xfrm>
            <a:off x="1115568" y="4197096"/>
            <a:ext cx="4343400" cy="365760"/>
          </a:xfrm>
          <a:prstGeom prst="roundRect">
            <a:avLst>
              <a:gd name="adj" fmla="val 12500"/>
            </a:avLst>
          </a:prstGeom>
          <a:solidFill>
            <a:srgbClr val="F5EFE5"/>
          </a:solidFill>
          <a:ln w="12700">
            <a:solidFill>
              <a:srgbClr val="E9DFCF">
                <a:alpha val="30000"/>
              </a:srgbClr>
            </a:solidFill>
            <a:prstDash val="solid"/>
          </a:ln>
        </p:spPr>
        <p:txBody>
          <a:bodyPr/>
          <a:lstStyle/>
          <a:p>
            <a:endParaRPr lang="en-US"/>
          </a:p>
        </p:txBody>
      </p:sp>
      <p:sp>
        <p:nvSpPr>
          <p:cNvPr id="48" name="Text 46"/>
          <p:cNvSpPr/>
          <p:nvPr/>
        </p:nvSpPr>
        <p:spPr>
          <a:xfrm>
            <a:off x="1234440" y="4251960"/>
            <a:ext cx="1188720" cy="91440"/>
          </a:xfrm>
          <a:prstGeom prst="rect">
            <a:avLst/>
          </a:prstGeom>
          <a:noFill/>
          <a:ln/>
        </p:spPr>
        <p:txBody>
          <a:bodyPr wrap="square" lIns="381" tIns="381" rIns="381" bIns="381" rtlCol="0" anchor="ctr">
            <a:normAutofit/>
          </a:bodyPr>
          <a:lstStyle/>
          <a:p>
            <a:pPr marL="0" indent="0" algn="l">
              <a:buNone/>
            </a:pPr>
            <a:r>
              <a:rPr lang="en-US" sz="520" b="1" dirty="0">
                <a:solidFill>
                  <a:srgbClr val="2A3B50"/>
                </a:solidFill>
                <a:latin typeface="Arial" pitchFamily="34" charset="0"/>
                <a:ea typeface="Arial" pitchFamily="34" charset="-122"/>
                <a:cs typeface="Arial" pitchFamily="34" charset="-120"/>
              </a:rPr>
              <a:t>Guests</a:t>
            </a:r>
            <a:endParaRPr lang="en-US" sz="520" dirty="0"/>
          </a:p>
        </p:txBody>
      </p:sp>
      <p:sp>
        <p:nvSpPr>
          <p:cNvPr id="49" name="Text 47"/>
          <p:cNvSpPr/>
          <p:nvPr/>
        </p:nvSpPr>
        <p:spPr>
          <a:xfrm>
            <a:off x="2624328" y="4251960"/>
            <a:ext cx="2468880" cy="118872"/>
          </a:xfrm>
          <a:prstGeom prst="rect">
            <a:avLst/>
          </a:prstGeom>
          <a:noFill/>
          <a:ln/>
        </p:spPr>
        <p:txBody>
          <a:bodyPr wrap="square" lIns="381" tIns="381" rIns="381" bIns="381" rtlCol="0" anchor="ctr">
            <a:normAutofit/>
          </a:bodyPr>
          <a:lstStyle/>
          <a:p>
            <a:pPr marL="0" indent="0" algn="l">
              <a:buNone/>
            </a:pPr>
            <a:r>
              <a:rPr lang="en-US" sz="700" b="1" dirty="0">
                <a:solidFill>
                  <a:srgbClr val="132133"/>
                </a:solidFill>
                <a:latin typeface="Arial" pitchFamily="34" charset="0"/>
                <a:ea typeface="Arial" pitchFamily="34" charset="-122"/>
                <a:cs typeface="Arial" pitchFamily="34" charset="-120"/>
              </a:rPr>
              <a:t>2</a:t>
            </a:r>
            <a:endParaRPr lang="en-US" sz="700" dirty="0"/>
          </a:p>
        </p:txBody>
      </p:sp>
      <p:sp>
        <p:nvSpPr>
          <p:cNvPr id="50" name="Shape 48"/>
          <p:cNvSpPr/>
          <p:nvPr/>
        </p:nvSpPr>
        <p:spPr>
          <a:xfrm>
            <a:off x="5779008" y="4197096"/>
            <a:ext cx="4343400" cy="365760"/>
          </a:xfrm>
          <a:prstGeom prst="roundRect">
            <a:avLst>
              <a:gd name="adj" fmla="val 12500"/>
            </a:avLst>
          </a:prstGeom>
          <a:solidFill>
            <a:srgbClr val="F5EFE5"/>
          </a:solidFill>
          <a:ln w="12700">
            <a:solidFill>
              <a:srgbClr val="E9DFCF">
                <a:alpha val="30000"/>
              </a:srgbClr>
            </a:solidFill>
            <a:prstDash val="solid"/>
          </a:ln>
        </p:spPr>
        <p:txBody>
          <a:bodyPr/>
          <a:lstStyle/>
          <a:p>
            <a:endParaRPr lang="en-US"/>
          </a:p>
        </p:txBody>
      </p:sp>
      <p:sp>
        <p:nvSpPr>
          <p:cNvPr id="51" name="Text 49"/>
          <p:cNvSpPr/>
          <p:nvPr/>
        </p:nvSpPr>
        <p:spPr>
          <a:xfrm>
            <a:off x="5897880" y="4251960"/>
            <a:ext cx="1188720" cy="91440"/>
          </a:xfrm>
          <a:prstGeom prst="rect">
            <a:avLst/>
          </a:prstGeom>
          <a:noFill/>
          <a:ln/>
        </p:spPr>
        <p:txBody>
          <a:bodyPr wrap="square" lIns="381" tIns="381" rIns="381" bIns="381" rtlCol="0" anchor="ctr">
            <a:normAutofit/>
          </a:bodyPr>
          <a:lstStyle/>
          <a:p>
            <a:pPr marL="0" indent="0" algn="l">
              <a:buNone/>
            </a:pPr>
            <a:r>
              <a:rPr lang="en-US" sz="520" b="1" dirty="0">
                <a:solidFill>
                  <a:srgbClr val="2A3B50"/>
                </a:solidFill>
                <a:latin typeface="Arial" pitchFamily="34" charset="0"/>
                <a:ea typeface="Arial" pitchFamily="34" charset="-122"/>
                <a:cs typeface="Arial" pitchFamily="34" charset="-120"/>
              </a:rPr>
              <a:t>Dates</a:t>
            </a:r>
            <a:endParaRPr lang="en-US" sz="520" dirty="0"/>
          </a:p>
        </p:txBody>
      </p:sp>
      <p:sp>
        <p:nvSpPr>
          <p:cNvPr id="52" name="Text 50"/>
          <p:cNvSpPr/>
          <p:nvPr/>
        </p:nvSpPr>
        <p:spPr>
          <a:xfrm>
            <a:off x="7287768" y="4251960"/>
            <a:ext cx="2468880" cy="118872"/>
          </a:xfrm>
          <a:prstGeom prst="rect">
            <a:avLst/>
          </a:prstGeom>
          <a:noFill/>
          <a:ln/>
        </p:spPr>
        <p:txBody>
          <a:bodyPr wrap="square" lIns="381" tIns="381" rIns="381" bIns="381" rtlCol="0" anchor="ctr">
            <a:normAutofit/>
          </a:bodyPr>
          <a:lstStyle/>
          <a:p>
            <a:pPr marL="0" indent="0" algn="l">
              <a:buNone/>
            </a:pPr>
            <a:r>
              <a:rPr lang="en-US" sz="700" b="1" dirty="0">
                <a:solidFill>
                  <a:srgbClr val="132133"/>
                </a:solidFill>
                <a:latin typeface="Arial" pitchFamily="34" charset="0"/>
                <a:ea typeface="Arial" pitchFamily="34" charset="-122"/>
                <a:cs typeface="Arial" pitchFamily="34" charset="-120"/>
              </a:rPr>
              <a:t>09/06/2026 - 09/10/2026</a:t>
            </a:r>
            <a:endParaRPr lang="en-US" sz="700" dirty="0"/>
          </a:p>
        </p:txBody>
      </p:sp>
      <p:sp>
        <p:nvSpPr>
          <p:cNvPr id="53" name="Shape 51"/>
          <p:cNvSpPr/>
          <p:nvPr/>
        </p:nvSpPr>
        <p:spPr>
          <a:xfrm>
            <a:off x="1115568" y="4718304"/>
            <a:ext cx="4343400" cy="365760"/>
          </a:xfrm>
          <a:prstGeom prst="roundRect">
            <a:avLst>
              <a:gd name="adj" fmla="val 12500"/>
            </a:avLst>
          </a:prstGeom>
          <a:solidFill>
            <a:srgbClr val="F5EFE5"/>
          </a:solidFill>
          <a:ln w="12700">
            <a:solidFill>
              <a:srgbClr val="E9DFCF">
                <a:alpha val="30000"/>
              </a:srgbClr>
            </a:solidFill>
            <a:prstDash val="solid"/>
          </a:ln>
        </p:spPr>
        <p:txBody>
          <a:bodyPr/>
          <a:lstStyle/>
          <a:p>
            <a:endParaRPr lang="en-US"/>
          </a:p>
        </p:txBody>
      </p:sp>
      <p:sp>
        <p:nvSpPr>
          <p:cNvPr id="54" name="Text 52"/>
          <p:cNvSpPr/>
          <p:nvPr/>
        </p:nvSpPr>
        <p:spPr>
          <a:xfrm>
            <a:off x="1234440" y="4773168"/>
            <a:ext cx="1188720" cy="91440"/>
          </a:xfrm>
          <a:prstGeom prst="rect">
            <a:avLst/>
          </a:prstGeom>
          <a:noFill/>
          <a:ln/>
        </p:spPr>
        <p:txBody>
          <a:bodyPr wrap="square" lIns="381" tIns="381" rIns="381" bIns="381" rtlCol="0" anchor="ctr">
            <a:normAutofit/>
          </a:bodyPr>
          <a:lstStyle/>
          <a:p>
            <a:pPr marL="0" indent="0" algn="l">
              <a:buNone/>
            </a:pPr>
            <a:r>
              <a:rPr lang="en-US" sz="520" b="1" dirty="0">
                <a:solidFill>
                  <a:srgbClr val="2A3B50"/>
                </a:solidFill>
                <a:latin typeface="Arial" pitchFamily="34" charset="0"/>
                <a:ea typeface="Arial" pitchFamily="34" charset="-122"/>
                <a:cs typeface="Arial" pitchFamily="34" charset="-120"/>
              </a:rPr>
              <a:t>Nightly Rate</a:t>
            </a:r>
            <a:endParaRPr lang="en-US" sz="520" dirty="0"/>
          </a:p>
        </p:txBody>
      </p:sp>
      <p:sp>
        <p:nvSpPr>
          <p:cNvPr id="55" name="Text 53"/>
          <p:cNvSpPr/>
          <p:nvPr/>
        </p:nvSpPr>
        <p:spPr>
          <a:xfrm>
            <a:off x="2624328" y="4773168"/>
            <a:ext cx="2468880" cy="118872"/>
          </a:xfrm>
          <a:prstGeom prst="rect">
            <a:avLst/>
          </a:prstGeom>
          <a:noFill/>
          <a:ln/>
        </p:spPr>
        <p:txBody>
          <a:bodyPr wrap="square" lIns="381" tIns="381" rIns="381" bIns="381" rtlCol="0" anchor="ctr">
            <a:normAutofit/>
          </a:bodyPr>
          <a:lstStyle/>
          <a:p>
            <a:pPr marL="0" indent="0" algn="l">
              <a:buNone/>
            </a:pPr>
            <a:r>
              <a:rPr lang="en-US" sz="700" b="1" dirty="0">
                <a:solidFill>
                  <a:srgbClr val="132133"/>
                </a:solidFill>
                <a:latin typeface="Arial" pitchFamily="34" charset="0"/>
                <a:ea typeface="Arial" pitchFamily="34" charset="-122"/>
                <a:cs typeface="Arial" pitchFamily="34" charset="-120"/>
              </a:rPr>
              <a:t>$135</a:t>
            </a:r>
            <a:endParaRPr lang="en-US" sz="700" dirty="0"/>
          </a:p>
        </p:txBody>
      </p:sp>
      <p:sp>
        <p:nvSpPr>
          <p:cNvPr id="56" name="Shape 54"/>
          <p:cNvSpPr/>
          <p:nvPr/>
        </p:nvSpPr>
        <p:spPr>
          <a:xfrm>
            <a:off x="5779008" y="4718304"/>
            <a:ext cx="4343400" cy="365760"/>
          </a:xfrm>
          <a:prstGeom prst="roundRect">
            <a:avLst>
              <a:gd name="adj" fmla="val 12500"/>
            </a:avLst>
          </a:prstGeom>
          <a:solidFill>
            <a:srgbClr val="F5EFE5"/>
          </a:solidFill>
          <a:ln w="12700">
            <a:solidFill>
              <a:srgbClr val="E9DFCF">
                <a:alpha val="30000"/>
              </a:srgbClr>
            </a:solidFill>
            <a:prstDash val="solid"/>
          </a:ln>
        </p:spPr>
        <p:txBody>
          <a:bodyPr/>
          <a:lstStyle/>
          <a:p>
            <a:endParaRPr lang="en-US"/>
          </a:p>
        </p:txBody>
      </p:sp>
      <p:sp>
        <p:nvSpPr>
          <p:cNvPr id="57" name="Text 55"/>
          <p:cNvSpPr/>
          <p:nvPr/>
        </p:nvSpPr>
        <p:spPr>
          <a:xfrm>
            <a:off x="5897880" y="4773168"/>
            <a:ext cx="1188720" cy="91440"/>
          </a:xfrm>
          <a:prstGeom prst="rect">
            <a:avLst/>
          </a:prstGeom>
          <a:noFill/>
          <a:ln/>
        </p:spPr>
        <p:txBody>
          <a:bodyPr wrap="square" lIns="381" tIns="381" rIns="381" bIns="381" rtlCol="0" anchor="ctr">
            <a:normAutofit/>
          </a:bodyPr>
          <a:lstStyle/>
          <a:p>
            <a:pPr marL="0" indent="0" algn="l">
              <a:buNone/>
            </a:pPr>
            <a:r>
              <a:rPr lang="en-US" sz="520" b="1" dirty="0">
                <a:solidFill>
                  <a:srgbClr val="2A3B50"/>
                </a:solidFill>
                <a:latin typeface="Arial" pitchFamily="34" charset="0"/>
                <a:ea typeface="Arial" pitchFamily="34" charset="-122"/>
                <a:cs typeface="Arial" pitchFamily="34" charset="-120"/>
              </a:rPr>
              <a:t>Estimated Total</a:t>
            </a:r>
            <a:endParaRPr lang="en-US" sz="520" dirty="0"/>
          </a:p>
        </p:txBody>
      </p:sp>
      <p:sp>
        <p:nvSpPr>
          <p:cNvPr id="58" name="Text 56"/>
          <p:cNvSpPr/>
          <p:nvPr/>
        </p:nvSpPr>
        <p:spPr>
          <a:xfrm>
            <a:off x="7287768" y="4773168"/>
            <a:ext cx="2468880" cy="118872"/>
          </a:xfrm>
          <a:prstGeom prst="rect">
            <a:avLst/>
          </a:prstGeom>
          <a:noFill/>
          <a:ln/>
        </p:spPr>
        <p:txBody>
          <a:bodyPr wrap="square" lIns="381" tIns="381" rIns="381" bIns="381" rtlCol="0" anchor="ctr">
            <a:normAutofit/>
          </a:bodyPr>
          <a:lstStyle/>
          <a:p>
            <a:pPr marL="0" indent="0" algn="l">
              <a:buNone/>
            </a:pPr>
            <a:r>
              <a:rPr lang="en-US" sz="700" b="1" dirty="0">
                <a:solidFill>
                  <a:srgbClr val="132133"/>
                </a:solidFill>
                <a:latin typeface="Arial" pitchFamily="34" charset="0"/>
                <a:ea typeface="Arial" pitchFamily="34" charset="-122"/>
                <a:cs typeface="Arial" pitchFamily="34" charset="-120"/>
              </a:rPr>
              <a:t>$540</a:t>
            </a:r>
            <a:endParaRPr lang="en-US" sz="700" dirty="0"/>
          </a:p>
        </p:txBody>
      </p:sp>
      <p:sp>
        <p:nvSpPr>
          <p:cNvPr id="59" name="Shape 57">
            <a:hlinkClick r:id="rId8" action="ppaction://hlinksldjump"/>
          </p:cNvPr>
          <p:cNvSpPr/>
          <p:nvPr/>
        </p:nvSpPr>
        <p:spPr>
          <a:xfrm>
            <a:off x="1115568" y="5504688"/>
            <a:ext cx="822960" cy="310896"/>
          </a:xfrm>
          <a:prstGeom prst="roundRect">
            <a:avLst>
              <a:gd name="adj" fmla="val 35294"/>
            </a:avLst>
          </a:prstGeom>
          <a:solidFill>
            <a:srgbClr val="FFFFFF">
              <a:alpha val="30000"/>
            </a:srgbClr>
          </a:solidFill>
          <a:ln w="12700">
            <a:solidFill>
              <a:srgbClr val="536273">
                <a:alpha val="70000"/>
              </a:srgbClr>
            </a:solidFill>
            <a:prstDash val="solid"/>
          </a:ln>
        </p:spPr>
        <p:txBody>
          <a:bodyPr/>
          <a:lstStyle/>
          <a:p>
            <a:endParaRPr lang="en-US"/>
          </a:p>
        </p:txBody>
      </p:sp>
      <p:sp>
        <p:nvSpPr>
          <p:cNvPr id="60" name="Text 58">
            <a:hlinkClick r:id="rId8" action="ppaction://hlinksldjump"/>
          </p:cNvPr>
          <p:cNvSpPr/>
          <p:nvPr/>
        </p:nvSpPr>
        <p:spPr>
          <a:xfrm>
            <a:off x="1143000" y="5586984"/>
            <a:ext cx="768096" cy="109728"/>
          </a:xfrm>
          <a:prstGeom prst="rect">
            <a:avLst/>
          </a:prstGeom>
          <a:noFill/>
          <a:ln/>
        </p:spPr>
        <p:txBody>
          <a:bodyPr wrap="square" lIns="381" tIns="381" rIns="381" bIns="381" rtlCol="0" anchor="ctr">
            <a:normAutofit/>
          </a:bodyPr>
          <a:lstStyle/>
          <a:p>
            <a:pPr marL="0" indent="0" algn="ctr">
              <a:buNone/>
            </a:pPr>
            <a:r>
              <a:rPr lang="en-US" sz="640" b="1" u="sng" dirty="0">
                <a:solidFill>
                  <a:srgbClr val="132133"/>
                </a:solidFill>
                <a:latin typeface="Arial" pitchFamily="34" charset="0"/>
                <a:ea typeface="Arial" pitchFamily="34" charset="-122"/>
                <a:cs typeface="Arial" pitchFamily="34" charset="-120"/>
                <a:hlinkClick r:id="rId8" action="ppaction://hlinksldjump">
                  <a:extLst>
                    <a:ext uri="{A12FA001-AC4F-418D-AE19-62706E023703}">
                      <ahyp:hlinkClr xmlns:ahyp="http://schemas.microsoft.com/office/drawing/2018/hyperlinkcolor" val="tx"/>
                    </a:ext>
                  </a:extLst>
                </a:hlinkClick>
              </a:rPr>
              <a:t>Cancel</a:t>
            </a:r>
            <a:endParaRPr lang="en-US" sz="640" dirty="0"/>
          </a:p>
        </p:txBody>
      </p:sp>
      <p:sp>
        <p:nvSpPr>
          <p:cNvPr id="61" name="Shape 59">
            <a:hlinkClick r:id="rId11" action="ppaction://hlinksldjump"/>
          </p:cNvPr>
          <p:cNvSpPr/>
          <p:nvPr/>
        </p:nvSpPr>
        <p:spPr>
          <a:xfrm>
            <a:off x="2121408" y="5504688"/>
            <a:ext cx="1508760" cy="310896"/>
          </a:xfrm>
          <a:prstGeom prst="roundRect">
            <a:avLst>
              <a:gd name="adj" fmla="val 35294"/>
            </a:avLst>
          </a:prstGeom>
          <a:solidFill>
            <a:srgbClr val="CDA059"/>
          </a:solidFill>
          <a:ln w="12700">
            <a:solidFill>
              <a:srgbClr val="CDA059">
                <a:alpha val="0"/>
              </a:srgbClr>
            </a:solidFill>
            <a:prstDash val="solid"/>
          </a:ln>
        </p:spPr>
        <p:txBody>
          <a:bodyPr/>
          <a:lstStyle/>
          <a:p>
            <a:endParaRPr lang="en-US"/>
          </a:p>
        </p:txBody>
      </p:sp>
      <p:sp>
        <p:nvSpPr>
          <p:cNvPr id="62" name="Text 60">
            <a:hlinkClick r:id="rId11" action="ppaction://hlinksldjump"/>
          </p:cNvPr>
          <p:cNvSpPr/>
          <p:nvPr/>
        </p:nvSpPr>
        <p:spPr>
          <a:xfrm>
            <a:off x="2148840" y="5586984"/>
            <a:ext cx="1453896" cy="109728"/>
          </a:xfrm>
          <a:prstGeom prst="rect">
            <a:avLst/>
          </a:prstGeom>
          <a:noFill/>
          <a:ln/>
        </p:spPr>
        <p:txBody>
          <a:bodyPr wrap="square" lIns="381" tIns="381" rIns="381" bIns="381" rtlCol="0" anchor="ctr">
            <a:normAutofit/>
          </a:bodyPr>
          <a:lstStyle/>
          <a:p>
            <a:pPr marL="0" indent="0" algn="ctr">
              <a:buNone/>
            </a:pPr>
            <a:r>
              <a:rPr lang="en-US" sz="640" b="1" u="sng" dirty="0">
                <a:solidFill>
                  <a:srgbClr val="132133"/>
                </a:solidFill>
                <a:latin typeface="Arial" pitchFamily="34" charset="0"/>
                <a:ea typeface="Arial" pitchFamily="34" charset="-122"/>
                <a:cs typeface="Arial" pitchFamily="34" charset="-120"/>
                <a:hlinkClick r:id="rId11" action="ppaction://hlinksldjump">
                  <a:extLst>
                    <a:ext uri="{A12FA001-AC4F-418D-AE19-62706E023703}">
                      <ahyp:hlinkClr xmlns:ahyp="http://schemas.microsoft.com/office/drawing/2018/hyperlinkcolor" val="tx"/>
                    </a:ext>
                  </a:extLst>
                </a:hlinkClick>
              </a:rPr>
              <a:t>Confirm Reservation</a:t>
            </a:r>
            <a:endParaRPr lang="en-US" sz="640" dirty="0"/>
          </a:p>
        </p:txBody>
      </p:sp>
      <p:sp>
        <p:nvSpPr>
          <p:cNvPr id="63" name="Shape 61"/>
          <p:cNvSpPr/>
          <p:nvPr/>
        </p:nvSpPr>
        <p:spPr>
          <a:xfrm>
            <a:off x="6903720" y="5413248"/>
            <a:ext cx="3520440" cy="384048"/>
          </a:xfrm>
          <a:prstGeom prst="roundRect">
            <a:avLst>
              <a:gd name="adj" fmla="val 14286"/>
            </a:avLst>
          </a:prstGeom>
          <a:solidFill>
            <a:srgbClr val="E7F3EC"/>
          </a:solidFill>
          <a:ln w="12700">
            <a:solidFill>
              <a:srgbClr val="E7F3EC"/>
            </a:solidFill>
            <a:prstDash val="solid"/>
          </a:ln>
        </p:spPr>
        <p:txBody>
          <a:bodyPr/>
          <a:lstStyle/>
          <a:p>
            <a:endParaRPr lang="en-US"/>
          </a:p>
        </p:txBody>
      </p:sp>
      <p:sp>
        <p:nvSpPr>
          <p:cNvPr id="64" name="Text 62"/>
          <p:cNvSpPr/>
          <p:nvPr/>
        </p:nvSpPr>
        <p:spPr>
          <a:xfrm>
            <a:off x="7086600" y="5559552"/>
            <a:ext cx="2926080" cy="100584"/>
          </a:xfrm>
          <a:prstGeom prst="rect">
            <a:avLst/>
          </a:prstGeom>
          <a:noFill/>
          <a:ln/>
        </p:spPr>
        <p:txBody>
          <a:bodyPr wrap="square" lIns="381" tIns="381" rIns="381" bIns="381" rtlCol="0" anchor="ctr">
            <a:normAutofit/>
          </a:bodyPr>
          <a:lstStyle/>
          <a:p>
            <a:pPr marL="0" indent="0" algn="l">
              <a:buNone/>
            </a:pPr>
            <a:r>
              <a:rPr lang="en-US" sz="620" b="1" dirty="0">
                <a:solidFill>
                  <a:srgbClr val="216C4D"/>
                </a:solidFill>
                <a:latin typeface="Arial" pitchFamily="34" charset="0"/>
                <a:ea typeface="Arial" pitchFamily="34" charset="-122"/>
                <a:cs typeface="Arial" pitchFamily="34" charset="-120"/>
              </a:rPr>
              <a:t>Success message appears after confirmation.</a:t>
            </a:r>
            <a:endParaRPr lang="en-US" sz="6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28600"/>
            <a:ext cx="5943600" cy="365760"/>
          </a:xfrm>
          <a:prstGeom prst="rect">
            <a:avLst/>
          </a:prstGeom>
          <a:noFill/>
          <a:ln/>
        </p:spPr>
        <p:txBody>
          <a:bodyPr wrap="square" lIns="381" tIns="381" rIns="381" bIns="381" rtlCol="0" anchor="ctr">
            <a:normAutofit/>
          </a:bodyPr>
          <a:lstStyle/>
          <a:p>
            <a:pPr marL="0" indent="0" algn="l">
              <a:buNone/>
            </a:pPr>
            <a:r>
              <a:rPr lang="en-US" sz="2000" b="1" dirty="0">
                <a:solidFill>
                  <a:srgbClr val="132133"/>
                </a:solidFill>
                <a:latin typeface="Georgia" pitchFamily="34" charset="0"/>
                <a:ea typeface="Georgia" pitchFamily="34" charset="-122"/>
                <a:cs typeface="Georgia" pitchFamily="34" charset="-120"/>
              </a:rPr>
              <a:t>Prototype Approval Checklist</a:t>
            </a:r>
            <a:endParaRPr lang="en-US" sz="2000" dirty="0"/>
          </a:p>
        </p:txBody>
      </p:sp>
      <p:sp>
        <p:nvSpPr>
          <p:cNvPr id="3" name="Text 1"/>
          <p:cNvSpPr/>
          <p:nvPr/>
        </p:nvSpPr>
        <p:spPr>
          <a:xfrm>
            <a:off x="512064" y="630936"/>
            <a:ext cx="6492240" cy="228600"/>
          </a:xfrm>
          <a:prstGeom prst="rect">
            <a:avLst/>
          </a:prstGeom>
          <a:noFill/>
          <a:ln/>
        </p:spPr>
        <p:txBody>
          <a:bodyPr wrap="square" lIns="381" tIns="381" rIns="381" bIns="381" rtlCol="0" anchor="ctr">
            <a:normAutofit/>
          </a:bodyPr>
          <a:lstStyle/>
          <a:p>
            <a:pPr marL="0" indent="0" algn="l">
              <a:buNone/>
            </a:pPr>
            <a:r>
              <a:rPr lang="en-US" sz="850" dirty="0">
                <a:solidFill>
                  <a:srgbClr val="536273"/>
                </a:solidFill>
                <a:latin typeface="Arial" pitchFamily="34" charset="0"/>
                <a:ea typeface="Arial" pitchFamily="34" charset="-122"/>
                <a:cs typeface="Arial" pitchFamily="34" charset="-120"/>
              </a:rPr>
              <a:t>Use this final slide to confirm the deck meets the assignment requirements before submission.</a:t>
            </a:r>
            <a:endParaRPr lang="en-US" sz="850" dirty="0"/>
          </a:p>
        </p:txBody>
      </p:sp>
      <p:sp>
        <p:nvSpPr>
          <p:cNvPr id="4" name="Text 2"/>
          <p:cNvSpPr/>
          <p:nvPr/>
        </p:nvSpPr>
        <p:spPr>
          <a:xfrm>
            <a:off x="8823960" y="256032"/>
            <a:ext cx="2743200" cy="228600"/>
          </a:xfrm>
          <a:prstGeom prst="rect">
            <a:avLst/>
          </a:prstGeom>
          <a:noFill/>
          <a:ln/>
        </p:spPr>
        <p:txBody>
          <a:bodyPr wrap="square" lIns="381" tIns="381" rIns="381" bIns="381" rtlCol="0" anchor="ctr">
            <a:normAutofit/>
          </a:bodyPr>
          <a:lstStyle/>
          <a:p>
            <a:pPr marL="0" indent="0" algn="r">
              <a:buNone/>
            </a:pPr>
            <a:r>
              <a:rPr lang="en-US" sz="800" b="1" dirty="0">
                <a:solidFill>
                  <a:srgbClr val="536273"/>
                </a:solidFill>
                <a:latin typeface="Arial" pitchFamily="34" charset="0"/>
                <a:ea typeface="Arial" pitchFamily="34" charset="-122"/>
                <a:cs typeface="Arial" pitchFamily="34" charset="-120"/>
              </a:rPr>
              <a:t>Moffat Bay Lodge Prototype</a:t>
            </a:r>
            <a:endParaRPr lang="en-US" sz="800" dirty="0"/>
          </a:p>
        </p:txBody>
      </p:sp>
      <p:sp>
        <p:nvSpPr>
          <p:cNvPr id="5" name="Shape 3"/>
          <p:cNvSpPr/>
          <p:nvPr/>
        </p:nvSpPr>
        <p:spPr>
          <a:xfrm>
            <a:off x="694944" y="1097280"/>
            <a:ext cx="5212080" cy="4343400"/>
          </a:xfrm>
          <a:prstGeom prst="roundRect">
            <a:avLst>
              <a:gd name="adj" fmla="val 2947"/>
            </a:avLst>
          </a:prstGeom>
          <a:solidFill>
            <a:srgbClr val="FFFFFF">
              <a:alpha val="92000"/>
            </a:srgbClr>
          </a:solidFill>
          <a:ln w="12700">
            <a:solidFill>
              <a:srgbClr val="E9DFCF"/>
            </a:solidFill>
            <a:prstDash val="solid"/>
          </a:ln>
          <a:effectLst>
            <a:outerShdw blurRad="12700" dist="7620" dir="2700000" algn="bl" rotWithShape="0">
              <a:srgbClr val="132133">
                <a:alpha val="7000"/>
              </a:srgbClr>
            </a:outerShdw>
          </a:effectLst>
        </p:spPr>
        <p:txBody>
          <a:bodyPr/>
          <a:lstStyle/>
          <a:p>
            <a:endParaRPr lang="en-US"/>
          </a:p>
        </p:txBody>
      </p:sp>
      <p:sp>
        <p:nvSpPr>
          <p:cNvPr id="6" name="Text 4"/>
          <p:cNvSpPr/>
          <p:nvPr/>
        </p:nvSpPr>
        <p:spPr>
          <a:xfrm>
            <a:off x="960120" y="1371600"/>
            <a:ext cx="3474720" cy="256032"/>
          </a:xfrm>
          <a:prstGeom prst="rect">
            <a:avLst/>
          </a:prstGeom>
          <a:noFill/>
          <a:ln/>
        </p:spPr>
        <p:txBody>
          <a:bodyPr wrap="square" lIns="381" tIns="381" rIns="381" bIns="381" rtlCol="0" anchor="ctr">
            <a:normAutofit lnSpcReduction="10000"/>
          </a:bodyPr>
          <a:lstStyle/>
          <a:p>
            <a:pPr marL="0" indent="0" algn="l">
              <a:buNone/>
            </a:pPr>
            <a:r>
              <a:rPr lang="en-US" sz="1800" dirty="0">
                <a:solidFill>
                  <a:srgbClr val="132133"/>
                </a:solidFill>
                <a:latin typeface="Georgia" pitchFamily="34" charset="0"/>
                <a:ea typeface="Georgia" pitchFamily="34" charset="-122"/>
                <a:cs typeface="Georgia" pitchFamily="34" charset="-120"/>
              </a:rPr>
              <a:t>Included Website Pages</a:t>
            </a:r>
            <a:endParaRPr lang="en-US" sz="1800" dirty="0"/>
          </a:p>
        </p:txBody>
      </p:sp>
      <p:sp>
        <p:nvSpPr>
          <p:cNvPr id="7" name="Text 5"/>
          <p:cNvSpPr/>
          <p:nvPr/>
        </p:nvSpPr>
        <p:spPr>
          <a:xfrm>
            <a:off x="1005840" y="1847088"/>
            <a:ext cx="4343400" cy="2331720"/>
          </a:xfrm>
          <a:prstGeom prst="rect">
            <a:avLst/>
          </a:prstGeom>
          <a:noFill/>
          <a:ln/>
        </p:spPr>
        <p:txBody>
          <a:bodyPr wrap="square" lIns="381" tIns="381" rIns="381" bIns="381" rtlCol="0" anchor="ctr">
            <a:normAutofit/>
          </a:bodyPr>
          <a:lstStyle/>
          <a:p>
            <a:pPr marL="0" indent="0" algn="l">
              <a:buNone/>
            </a:pPr>
            <a:r>
              <a:rPr lang="en-US" sz="1200" dirty="0">
                <a:solidFill>
                  <a:srgbClr val="2A3B50"/>
                </a:solidFill>
                <a:latin typeface="Arial" pitchFamily="34" charset="0"/>
                <a:ea typeface="Arial" pitchFamily="34" charset="-122"/>
                <a:cs typeface="Arial" pitchFamily="34" charset="-120"/>
              </a:rPr>
              <a:t>Home / Landing Mockup</a:t>
            </a:r>
            <a:endParaRPr lang="en-US" sz="1200" dirty="0"/>
          </a:p>
          <a:p>
            <a:pPr marL="0" indent="0" algn="l">
              <a:buNone/>
            </a:pPr>
            <a:r>
              <a:rPr lang="en-US" sz="1200" dirty="0">
                <a:solidFill>
                  <a:srgbClr val="2A3B50"/>
                </a:solidFill>
                <a:latin typeface="Arial" pitchFamily="34" charset="0"/>
                <a:ea typeface="Arial" pitchFamily="34" charset="-122"/>
                <a:cs typeface="Arial" pitchFamily="34" charset="-120"/>
              </a:rPr>
              <a:t>About</a:t>
            </a:r>
            <a:endParaRPr lang="en-US" sz="1200" dirty="0"/>
          </a:p>
          <a:p>
            <a:pPr marL="0" indent="0" algn="l">
              <a:buNone/>
            </a:pPr>
            <a:r>
              <a:rPr lang="en-US" sz="1200" dirty="0">
                <a:solidFill>
                  <a:srgbClr val="2A3B50"/>
                </a:solidFill>
                <a:latin typeface="Arial" pitchFamily="34" charset="0"/>
                <a:ea typeface="Arial" pitchFamily="34" charset="-122"/>
                <a:cs typeface="Arial" pitchFamily="34" charset="-120"/>
              </a:rPr>
              <a:t>Rooms &amp; Pricing</a:t>
            </a:r>
            <a:endParaRPr lang="en-US" sz="1200" dirty="0"/>
          </a:p>
          <a:p>
            <a:pPr marL="0" indent="0" algn="l">
              <a:buNone/>
            </a:pPr>
            <a:r>
              <a:rPr lang="en-US" sz="1200" dirty="0">
                <a:solidFill>
                  <a:srgbClr val="2A3B50"/>
                </a:solidFill>
                <a:latin typeface="Arial" pitchFamily="34" charset="0"/>
                <a:ea typeface="Arial" pitchFamily="34" charset="-122"/>
                <a:cs typeface="Arial" pitchFamily="34" charset="-120"/>
              </a:rPr>
              <a:t>Attractions</a:t>
            </a:r>
            <a:endParaRPr lang="en-US" sz="1200" dirty="0"/>
          </a:p>
          <a:p>
            <a:pPr marL="0" indent="0" algn="l">
              <a:buNone/>
            </a:pPr>
            <a:r>
              <a:rPr lang="en-US" sz="1200" dirty="0">
                <a:solidFill>
                  <a:srgbClr val="2A3B50"/>
                </a:solidFill>
                <a:latin typeface="Arial" pitchFamily="34" charset="0"/>
                <a:ea typeface="Arial" pitchFamily="34" charset="-122"/>
                <a:cs typeface="Arial" pitchFamily="34" charset="-120"/>
              </a:rPr>
              <a:t>Contact</a:t>
            </a:r>
            <a:endParaRPr lang="en-US" sz="1200" dirty="0"/>
          </a:p>
          <a:p>
            <a:pPr marL="0" indent="0" algn="l">
              <a:buNone/>
            </a:pPr>
            <a:r>
              <a:rPr lang="en-US" sz="1200" dirty="0">
                <a:solidFill>
                  <a:srgbClr val="2A3B50"/>
                </a:solidFill>
                <a:latin typeface="Arial" pitchFamily="34" charset="0"/>
                <a:ea typeface="Arial" pitchFamily="34" charset="-122"/>
                <a:cs typeface="Arial" pitchFamily="34" charset="-120"/>
              </a:rPr>
              <a:t>Login</a:t>
            </a:r>
            <a:endParaRPr lang="en-US" sz="1200" dirty="0"/>
          </a:p>
          <a:p>
            <a:pPr marL="0" indent="0" algn="l">
              <a:buNone/>
            </a:pPr>
            <a:r>
              <a:rPr lang="en-US" sz="1200" dirty="0">
                <a:solidFill>
                  <a:srgbClr val="2A3B50"/>
                </a:solidFill>
                <a:latin typeface="Arial" pitchFamily="34" charset="0"/>
                <a:ea typeface="Arial" pitchFamily="34" charset="-122"/>
                <a:cs typeface="Arial" pitchFamily="34" charset="-120"/>
              </a:rPr>
              <a:t>Register</a:t>
            </a:r>
            <a:endParaRPr lang="en-US" sz="1200" dirty="0"/>
          </a:p>
          <a:p>
            <a:pPr marL="0" indent="0" algn="l">
              <a:buNone/>
            </a:pPr>
            <a:r>
              <a:rPr lang="en-US" sz="1200" dirty="0">
                <a:solidFill>
                  <a:srgbClr val="2A3B50"/>
                </a:solidFill>
                <a:latin typeface="Arial" pitchFamily="34" charset="0"/>
                <a:ea typeface="Arial" pitchFamily="34" charset="-122"/>
                <a:cs typeface="Arial" pitchFamily="34" charset="-120"/>
              </a:rPr>
              <a:t>Book Your Stay</a:t>
            </a:r>
            <a:endParaRPr lang="en-US" sz="1200" dirty="0"/>
          </a:p>
          <a:p>
            <a:pPr marL="0" indent="0" algn="l">
              <a:buNone/>
            </a:pPr>
            <a:r>
              <a:rPr lang="en-US" sz="1200" dirty="0">
                <a:solidFill>
                  <a:srgbClr val="2A3B50"/>
                </a:solidFill>
                <a:latin typeface="Arial" pitchFamily="34" charset="0"/>
                <a:ea typeface="Arial" pitchFamily="34" charset="-122"/>
                <a:cs typeface="Arial" pitchFamily="34" charset="-120"/>
              </a:rPr>
              <a:t>Reservation Lookup</a:t>
            </a:r>
            <a:endParaRPr lang="en-US" sz="1200" dirty="0"/>
          </a:p>
          <a:p>
            <a:pPr marL="0" indent="0" algn="l">
              <a:buNone/>
            </a:pPr>
            <a:r>
              <a:rPr lang="en-US" sz="1200" dirty="0">
                <a:solidFill>
                  <a:srgbClr val="2A3B50"/>
                </a:solidFill>
                <a:latin typeface="Arial" pitchFamily="34" charset="0"/>
                <a:ea typeface="Arial" pitchFamily="34" charset="-122"/>
                <a:cs typeface="Arial" pitchFamily="34" charset="-120"/>
              </a:rPr>
              <a:t>Reservation Summary</a:t>
            </a:r>
            <a:endParaRPr lang="en-US" sz="1200" dirty="0"/>
          </a:p>
        </p:txBody>
      </p:sp>
      <p:sp>
        <p:nvSpPr>
          <p:cNvPr id="8" name="Shape 6"/>
          <p:cNvSpPr/>
          <p:nvPr/>
        </p:nvSpPr>
        <p:spPr>
          <a:xfrm>
            <a:off x="6263640" y="1097280"/>
            <a:ext cx="5166360" cy="4343400"/>
          </a:xfrm>
          <a:prstGeom prst="roundRect">
            <a:avLst>
              <a:gd name="adj" fmla="val 2947"/>
            </a:avLst>
          </a:prstGeom>
          <a:solidFill>
            <a:srgbClr val="132133">
              <a:alpha val="98000"/>
            </a:srgbClr>
          </a:solidFill>
          <a:ln w="12700">
            <a:solidFill>
              <a:srgbClr val="132133"/>
            </a:solidFill>
            <a:prstDash val="solid"/>
          </a:ln>
          <a:effectLst>
            <a:outerShdw blurRad="12700" dist="10160" dir="2700000" algn="bl" rotWithShape="0">
              <a:srgbClr val="132133">
                <a:alpha val="10000"/>
              </a:srgbClr>
            </a:outerShdw>
          </a:effectLst>
        </p:spPr>
        <p:txBody>
          <a:bodyPr/>
          <a:lstStyle/>
          <a:p>
            <a:endParaRPr lang="en-US"/>
          </a:p>
        </p:txBody>
      </p:sp>
      <p:sp>
        <p:nvSpPr>
          <p:cNvPr id="9" name="Text 7"/>
          <p:cNvSpPr/>
          <p:nvPr/>
        </p:nvSpPr>
        <p:spPr>
          <a:xfrm>
            <a:off x="6556248" y="1371600"/>
            <a:ext cx="4297680" cy="256032"/>
          </a:xfrm>
          <a:prstGeom prst="rect">
            <a:avLst/>
          </a:prstGeom>
          <a:noFill/>
          <a:ln/>
        </p:spPr>
        <p:txBody>
          <a:bodyPr wrap="square" lIns="381" tIns="381" rIns="381" bIns="381" rtlCol="0" anchor="ctr">
            <a:normAutofit lnSpcReduction="10000"/>
          </a:bodyPr>
          <a:lstStyle/>
          <a:p>
            <a:pPr marL="0" indent="0" algn="l">
              <a:buNone/>
            </a:pPr>
            <a:r>
              <a:rPr lang="en-US" sz="1800" dirty="0">
                <a:solidFill>
                  <a:srgbClr val="FFFFFF"/>
                </a:solidFill>
                <a:latin typeface="Georgia" pitchFamily="34" charset="0"/>
                <a:ea typeface="Georgia" pitchFamily="34" charset="-122"/>
                <a:cs typeface="Georgia" pitchFamily="34" charset="-120"/>
              </a:rPr>
              <a:t>What the Professor Can Review</a:t>
            </a:r>
            <a:endParaRPr lang="en-US" sz="1800" dirty="0"/>
          </a:p>
        </p:txBody>
      </p:sp>
      <p:sp>
        <p:nvSpPr>
          <p:cNvPr id="10" name="Text 8"/>
          <p:cNvSpPr/>
          <p:nvPr/>
        </p:nvSpPr>
        <p:spPr>
          <a:xfrm>
            <a:off x="6583680" y="1847088"/>
            <a:ext cx="4434840" cy="2468880"/>
          </a:xfrm>
          <a:prstGeom prst="rect">
            <a:avLst/>
          </a:prstGeom>
          <a:noFill/>
          <a:ln/>
        </p:spPr>
        <p:txBody>
          <a:bodyPr wrap="square" lIns="381" tIns="381" rIns="381" bIns="381" rtlCol="0" anchor="t">
            <a:normAutofit/>
          </a:bodyPr>
          <a:lstStyle/>
          <a:p>
            <a:pPr marL="0" indent="0" algn="l">
              <a:buNone/>
            </a:pPr>
            <a:r>
              <a:rPr lang="en-US" sz="1100" dirty="0">
                <a:solidFill>
                  <a:srgbClr val="FFFFFF"/>
                </a:solidFill>
                <a:latin typeface="Arial" pitchFamily="34" charset="0"/>
                <a:ea typeface="Arial" pitchFamily="34" charset="-122"/>
                <a:cs typeface="Arial" pitchFamily="34" charset="-120"/>
              </a:rPr>
              <a:t>• Realistic landing page mockup with colors, layout, fonts, cards, and CTAs</a:t>
            </a:r>
            <a:endParaRPr lang="en-US" sz="1100" dirty="0"/>
          </a:p>
          <a:p>
            <a:pPr marL="0" indent="0" algn="l">
              <a:buNone/>
            </a:pPr>
            <a:r>
              <a:rPr lang="en-US" sz="1100" dirty="0">
                <a:solidFill>
                  <a:srgbClr val="FFFFFF"/>
                </a:solidFill>
                <a:latin typeface="Arial" pitchFamily="34" charset="0"/>
                <a:ea typeface="Arial" pitchFamily="34" charset="-122"/>
                <a:cs typeface="Arial" pitchFamily="34" charset="-120"/>
              </a:rPr>
              <a:t>• Functional prototype pages for every website screen</a:t>
            </a:r>
            <a:endParaRPr lang="en-US" sz="1100" dirty="0"/>
          </a:p>
          <a:p>
            <a:pPr marL="0" indent="0" algn="l">
              <a:buNone/>
            </a:pPr>
            <a:r>
              <a:rPr lang="en-US" sz="1100" dirty="0">
                <a:solidFill>
                  <a:srgbClr val="FFFFFF"/>
                </a:solidFill>
                <a:latin typeface="Arial" pitchFamily="34" charset="0"/>
                <a:ea typeface="Arial" pitchFamily="34" charset="-122"/>
                <a:cs typeface="Arial" pitchFamily="34" charset="-120"/>
              </a:rPr>
              <a:t>• Clickable navigation links in the header, buttons, and footer nav</a:t>
            </a:r>
            <a:endParaRPr lang="en-US" sz="1100" dirty="0"/>
          </a:p>
          <a:p>
            <a:pPr marL="0" indent="0" algn="l">
              <a:buNone/>
            </a:pPr>
            <a:r>
              <a:rPr lang="en-US" sz="1100" dirty="0">
                <a:solidFill>
                  <a:srgbClr val="FFFFFF"/>
                </a:solidFill>
                <a:latin typeface="Arial" pitchFamily="34" charset="0"/>
                <a:ea typeface="Arial" pitchFamily="34" charset="-122"/>
                <a:cs typeface="Arial" pitchFamily="34" charset="-120"/>
              </a:rPr>
              <a:t>• Editable PowerPoint elements instead of flat page screenshots</a:t>
            </a:r>
            <a:endParaRPr lang="en-US" sz="1100" dirty="0"/>
          </a:p>
          <a:p>
            <a:pPr marL="0" indent="0" algn="l">
              <a:buNone/>
            </a:pPr>
            <a:r>
              <a:rPr lang="en-US" sz="1100" dirty="0">
                <a:solidFill>
                  <a:srgbClr val="FFFFFF"/>
                </a:solidFill>
                <a:latin typeface="Arial" pitchFamily="34" charset="0"/>
                <a:ea typeface="Arial" pitchFamily="34" charset="-122"/>
                <a:cs typeface="Arial" pitchFamily="34" charset="-120"/>
              </a:rPr>
              <a:t>• Primary booking flow clearly shown from landing page to summary</a:t>
            </a:r>
            <a:endParaRPr lang="en-US" sz="1100" dirty="0"/>
          </a:p>
        </p:txBody>
      </p:sp>
      <p:sp>
        <p:nvSpPr>
          <p:cNvPr id="11" name="Shape 9">
            <a:hlinkClick r:id="rId3" action="ppaction://hlinksldjump"/>
          </p:cNvPr>
          <p:cNvSpPr/>
          <p:nvPr/>
        </p:nvSpPr>
        <p:spPr>
          <a:xfrm>
            <a:off x="6583680" y="4681728"/>
            <a:ext cx="1325880" cy="310896"/>
          </a:xfrm>
          <a:prstGeom prst="roundRect">
            <a:avLst>
              <a:gd name="adj" fmla="val 35294"/>
            </a:avLst>
          </a:prstGeom>
          <a:solidFill>
            <a:srgbClr val="CDA059"/>
          </a:solidFill>
          <a:ln w="12700">
            <a:solidFill>
              <a:srgbClr val="CDA059">
                <a:alpha val="0"/>
              </a:srgbClr>
            </a:solidFill>
            <a:prstDash val="solid"/>
          </a:ln>
        </p:spPr>
        <p:txBody>
          <a:bodyPr/>
          <a:lstStyle/>
          <a:p>
            <a:endParaRPr lang="en-US"/>
          </a:p>
        </p:txBody>
      </p:sp>
      <p:sp>
        <p:nvSpPr>
          <p:cNvPr id="12" name="Text 10">
            <a:hlinkClick r:id="rId3" action="ppaction://hlinksldjump"/>
          </p:cNvPr>
          <p:cNvSpPr/>
          <p:nvPr/>
        </p:nvSpPr>
        <p:spPr>
          <a:xfrm>
            <a:off x="6611112" y="4764024"/>
            <a:ext cx="1271016" cy="109728"/>
          </a:xfrm>
          <a:prstGeom prst="rect">
            <a:avLst/>
          </a:prstGeom>
          <a:noFill/>
          <a:ln/>
        </p:spPr>
        <p:txBody>
          <a:bodyPr wrap="square" lIns="381" tIns="381" rIns="381" bIns="381" rtlCol="0" anchor="ctr">
            <a:normAutofit/>
          </a:bodyPr>
          <a:lstStyle/>
          <a:p>
            <a:pPr marL="0" indent="0" algn="ctr">
              <a:buNone/>
            </a:pPr>
            <a:r>
              <a:rPr lang="en-US" sz="640" b="1" u="sng" dirty="0">
                <a:solidFill>
                  <a:srgbClr val="132133"/>
                </a:solidFill>
                <a:latin typeface="Arial" pitchFamily="34" charset="0"/>
                <a:ea typeface="Arial" pitchFamily="34" charset="-122"/>
                <a:cs typeface="Arial" pitchFamily="34" charset="-120"/>
                <a:hlinkClick r:id="rId3" action="ppaction://hlinksldjump">
                  <a:extLst>
                    <a:ext uri="{A12FA001-AC4F-418D-AE19-62706E023703}">
                      <ahyp:hlinkClr xmlns:ahyp="http://schemas.microsoft.com/office/drawing/2018/hyperlinkcolor" val="tx"/>
                    </a:ext>
                  </a:extLst>
                </a:hlinkClick>
              </a:rPr>
              <a:t>Back to Site Flow</a:t>
            </a:r>
            <a:endParaRPr lang="en-US" sz="640" dirty="0"/>
          </a:p>
        </p:txBody>
      </p:sp>
      <p:sp>
        <p:nvSpPr>
          <p:cNvPr id="13" name="Shape 11">
            <a:hlinkClick r:id="rId4" action="ppaction://hlinksldjump"/>
          </p:cNvPr>
          <p:cNvSpPr/>
          <p:nvPr/>
        </p:nvSpPr>
        <p:spPr>
          <a:xfrm>
            <a:off x="8092440" y="4681728"/>
            <a:ext cx="1115568" cy="310896"/>
          </a:xfrm>
          <a:prstGeom prst="roundRect">
            <a:avLst>
              <a:gd name="adj" fmla="val 35294"/>
            </a:avLst>
          </a:prstGeom>
          <a:solidFill>
            <a:srgbClr val="FFFFFF">
              <a:alpha val="30000"/>
            </a:srgbClr>
          </a:solidFill>
          <a:ln w="12700">
            <a:solidFill>
              <a:srgbClr val="536273">
                <a:alpha val="70000"/>
              </a:srgbClr>
            </a:solidFill>
            <a:prstDash val="solid"/>
          </a:ln>
        </p:spPr>
        <p:txBody>
          <a:bodyPr/>
          <a:lstStyle/>
          <a:p>
            <a:endParaRPr lang="en-US"/>
          </a:p>
        </p:txBody>
      </p:sp>
      <p:sp>
        <p:nvSpPr>
          <p:cNvPr id="14" name="Text 12">
            <a:hlinkClick r:id="rId4" action="ppaction://hlinksldjump"/>
          </p:cNvPr>
          <p:cNvSpPr/>
          <p:nvPr/>
        </p:nvSpPr>
        <p:spPr>
          <a:xfrm>
            <a:off x="8119872" y="4764024"/>
            <a:ext cx="1060704" cy="109728"/>
          </a:xfrm>
          <a:prstGeom prst="rect">
            <a:avLst/>
          </a:prstGeom>
          <a:noFill/>
          <a:ln/>
        </p:spPr>
        <p:txBody>
          <a:bodyPr wrap="square" lIns="381" tIns="381" rIns="381" bIns="381" rtlCol="0" anchor="ctr">
            <a:normAutofit/>
          </a:bodyPr>
          <a:lstStyle/>
          <a:p>
            <a:pPr marL="0" indent="0" algn="ctr">
              <a:buNone/>
            </a:pPr>
            <a:r>
              <a:rPr lang="en-US" sz="640" b="1" u="sng" dirty="0">
                <a:solidFill>
                  <a:srgbClr val="132133"/>
                </a:solidFill>
                <a:latin typeface="Arial" pitchFamily="34" charset="0"/>
                <a:ea typeface="Arial" pitchFamily="34" charset="-122"/>
                <a:cs typeface="Arial" pitchFamily="34" charset="-120"/>
                <a:hlinkClick r:id="rId4" action="ppaction://hlinksldjump">
                  <a:extLst>
                    <a:ext uri="{A12FA001-AC4F-418D-AE19-62706E023703}">
                      <ahyp:hlinkClr xmlns:ahyp="http://schemas.microsoft.com/office/drawing/2018/hyperlinkcolor" val="tx"/>
                    </a:ext>
                  </a:extLst>
                </a:hlinkClick>
              </a:rPr>
              <a:t>Start at Home</a:t>
            </a:r>
            <a:endParaRPr lang="en-US" sz="640" dirty="0"/>
          </a:p>
        </p:txBody>
      </p:sp>
      <p:sp>
        <p:nvSpPr>
          <p:cNvPr id="15" name="Text 13"/>
          <p:cNvSpPr/>
          <p:nvPr/>
        </p:nvSpPr>
        <p:spPr>
          <a:xfrm>
            <a:off x="502920" y="6510528"/>
            <a:ext cx="6400800" cy="201168"/>
          </a:xfrm>
          <a:prstGeom prst="rect">
            <a:avLst/>
          </a:prstGeom>
          <a:noFill/>
          <a:ln/>
        </p:spPr>
        <p:txBody>
          <a:bodyPr wrap="square" lIns="381" tIns="381" rIns="381" bIns="381" rtlCol="0" anchor="ctr">
            <a:normAutofit/>
          </a:bodyPr>
          <a:lstStyle/>
          <a:p>
            <a:pPr marL="0" indent="0" algn="l">
              <a:buNone/>
            </a:pPr>
            <a:r>
              <a:rPr lang="en-US" sz="710" dirty="0">
                <a:solidFill>
                  <a:srgbClr val="536273"/>
                </a:solidFill>
                <a:latin typeface="Arial" pitchFamily="34" charset="0"/>
                <a:ea typeface="Arial" pitchFamily="34" charset="-122"/>
                <a:cs typeface="Arial" pitchFamily="34" charset="-120"/>
              </a:rPr>
              <a:t>Slide 13 | Editable components | Use Slide Show mode to click through the prototype</a:t>
            </a:r>
            <a:endParaRPr lang="en-US" sz="710" dirty="0"/>
          </a:p>
        </p:txBody>
      </p:sp>
      <p:sp>
        <p:nvSpPr>
          <p:cNvPr id="16" name="Shape 14">
            <a:hlinkClick r:id="rId4" action="ppaction://hlinksldjump"/>
          </p:cNvPr>
          <p:cNvSpPr/>
          <p:nvPr/>
        </p:nvSpPr>
        <p:spPr>
          <a:xfrm>
            <a:off x="7635240" y="6455664"/>
            <a:ext cx="749808" cy="283464"/>
          </a:xfrm>
          <a:prstGeom prst="roundRect">
            <a:avLst>
              <a:gd name="adj" fmla="val 25806"/>
            </a:avLst>
          </a:prstGeom>
          <a:solidFill>
            <a:srgbClr val="FFFFFF">
              <a:alpha val="30000"/>
            </a:srgbClr>
          </a:solidFill>
          <a:ln w="12700">
            <a:solidFill>
              <a:srgbClr val="536273">
                <a:alpha val="50000"/>
              </a:srgbClr>
            </a:solidFill>
            <a:prstDash val="solid"/>
          </a:ln>
        </p:spPr>
        <p:txBody>
          <a:bodyPr/>
          <a:lstStyle/>
          <a:p>
            <a:endParaRPr lang="en-US"/>
          </a:p>
        </p:txBody>
      </p:sp>
      <p:sp>
        <p:nvSpPr>
          <p:cNvPr id="17" name="Text 15">
            <a:hlinkClick r:id="rId4" action="ppaction://hlinksldjump"/>
          </p:cNvPr>
          <p:cNvSpPr/>
          <p:nvPr/>
        </p:nvSpPr>
        <p:spPr>
          <a:xfrm>
            <a:off x="7653528" y="6483096"/>
            <a:ext cx="713232" cy="182880"/>
          </a:xfrm>
          <a:prstGeom prst="rect">
            <a:avLst/>
          </a:prstGeom>
          <a:noFill/>
          <a:ln/>
        </p:spPr>
        <p:txBody>
          <a:bodyPr wrap="square" lIns="381" tIns="381" rIns="381" bIns="381" rtlCol="0" anchor="ctr">
            <a:normAutofit/>
          </a:bodyPr>
          <a:lstStyle/>
          <a:p>
            <a:pPr marL="0" indent="0" algn="ctr">
              <a:buNone/>
            </a:pPr>
            <a:r>
              <a:rPr lang="en-US" sz="800" b="1" u="sng" dirty="0">
                <a:solidFill>
                  <a:srgbClr val="2A3B50"/>
                </a:solidFill>
                <a:latin typeface="Arial" pitchFamily="34" charset="0"/>
                <a:ea typeface="Arial" pitchFamily="34" charset="-122"/>
                <a:cs typeface="Arial" pitchFamily="34" charset="-120"/>
                <a:hlinkClick r:id="rId4" action="ppaction://hlinksldjump">
                  <a:extLst>
                    <a:ext uri="{A12FA001-AC4F-418D-AE19-62706E023703}">
                      <ahyp:hlinkClr xmlns:ahyp="http://schemas.microsoft.com/office/drawing/2018/hyperlinkcolor" val="tx"/>
                    </a:ext>
                  </a:extLst>
                </a:hlinkClick>
              </a:rPr>
              <a:t>Home</a:t>
            </a:r>
            <a:endParaRPr lang="en-US" sz="800" dirty="0"/>
          </a:p>
        </p:txBody>
      </p:sp>
      <p:sp>
        <p:nvSpPr>
          <p:cNvPr id="18" name="Shape 16">
            <a:hlinkClick r:id="rId5" action="ppaction://hlinksldjump"/>
          </p:cNvPr>
          <p:cNvSpPr/>
          <p:nvPr/>
        </p:nvSpPr>
        <p:spPr>
          <a:xfrm>
            <a:off x="8476488" y="6455664"/>
            <a:ext cx="749808" cy="283464"/>
          </a:xfrm>
          <a:prstGeom prst="roundRect">
            <a:avLst>
              <a:gd name="adj" fmla="val 25806"/>
            </a:avLst>
          </a:prstGeom>
          <a:solidFill>
            <a:srgbClr val="FFFFFF">
              <a:alpha val="30000"/>
            </a:srgbClr>
          </a:solidFill>
          <a:ln w="12700">
            <a:solidFill>
              <a:srgbClr val="536273">
                <a:alpha val="50000"/>
              </a:srgbClr>
            </a:solidFill>
            <a:prstDash val="solid"/>
          </a:ln>
        </p:spPr>
        <p:txBody>
          <a:bodyPr/>
          <a:lstStyle/>
          <a:p>
            <a:endParaRPr lang="en-US"/>
          </a:p>
        </p:txBody>
      </p:sp>
      <p:sp>
        <p:nvSpPr>
          <p:cNvPr id="19" name="Text 17">
            <a:hlinkClick r:id="rId5" action="ppaction://hlinksldjump"/>
          </p:cNvPr>
          <p:cNvSpPr/>
          <p:nvPr/>
        </p:nvSpPr>
        <p:spPr>
          <a:xfrm>
            <a:off x="8494776" y="6483096"/>
            <a:ext cx="713232" cy="182880"/>
          </a:xfrm>
          <a:prstGeom prst="rect">
            <a:avLst/>
          </a:prstGeom>
          <a:noFill/>
          <a:ln/>
        </p:spPr>
        <p:txBody>
          <a:bodyPr wrap="square" lIns="381" tIns="381" rIns="381" bIns="381" rtlCol="0" anchor="ctr">
            <a:normAutofit/>
          </a:bodyPr>
          <a:lstStyle/>
          <a:p>
            <a:pPr marL="0" indent="0" algn="ctr">
              <a:buNone/>
            </a:pPr>
            <a:r>
              <a:rPr lang="en-US" sz="800" b="1" u="sng" dirty="0">
                <a:solidFill>
                  <a:srgbClr val="2A3B50"/>
                </a:solidFill>
                <a:latin typeface="Arial" pitchFamily="34" charset="0"/>
                <a:ea typeface="Arial" pitchFamily="34" charset="-122"/>
                <a:cs typeface="Arial" pitchFamily="34" charset="-120"/>
                <a:hlinkClick r:id="rId5" action="ppaction://hlinksldjump">
                  <a:extLst>
                    <a:ext uri="{A12FA001-AC4F-418D-AE19-62706E023703}">
                      <ahyp:hlinkClr xmlns:ahyp="http://schemas.microsoft.com/office/drawing/2018/hyperlinkcolor" val="tx"/>
                    </a:ext>
                  </a:extLst>
                </a:hlinkClick>
              </a:rPr>
              <a:t>Rooms</a:t>
            </a:r>
            <a:endParaRPr lang="en-US" sz="800" dirty="0"/>
          </a:p>
        </p:txBody>
      </p:sp>
      <p:sp>
        <p:nvSpPr>
          <p:cNvPr id="20" name="Shape 18">
            <a:hlinkClick r:id="rId6" action="ppaction://hlinksldjump"/>
          </p:cNvPr>
          <p:cNvSpPr/>
          <p:nvPr/>
        </p:nvSpPr>
        <p:spPr>
          <a:xfrm>
            <a:off x="9317736" y="6455664"/>
            <a:ext cx="749808" cy="283464"/>
          </a:xfrm>
          <a:prstGeom prst="roundRect">
            <a:avLst>
              <a:gd name="adj" fmla="val 25806"/>
            </a:avLst>
          </a:prstGeom>
          <a:solidFill>
            <a:srgbClr val="FFFFFF">
              <a:alpha val="30000"/>
            </a:srgbClr>
          </a:solidFill>
          <a:ln w="12700">
            <a:solidFill>
              <a:srgbClr val="536273">
                <a:alpha val="50000"/>
              </a:srgbClr>
            </a:solidFill>
            <a:prstDash val="solid"/>
          </a:ln>
        </p:spPr>
        <p:txBody>
          <a:bodyPr/>
          <a:lstStyle/>
          <a:p>
            <a:endParaRPr lang="en-US"/>
          </a:p>
        </p:txBody>
      </p:sp>
      <p:sp>
        <p:nvSpPr>
          <p:cNvPr id="21" name="Text 19">
            <a:hlinkClick r:id="rId6" action="ppaction://hlinksldjump"/>
          </p:cNvPr>
          <p:cNvSpPr/>
          <p:nvPr/>
        </p:nvSpPr>
        <p:spPr>
          <a:xfrm>
            <a:off x="9336024" y="6483096"/>
            <a:ext cx="713232" cy="182880"/>
          </a:xfrm>
          <a:prstGeom prst="rect">
            <a:avLst/>
          </a:prstGeom>
          <a:noFill/>
          <a:ln/>
        </p:spPr>
        <p:txBody>
          <a:bodyPr wrap="square" lIns="381" tIns="381" rIns="381" bIns="381" rtlCol="0" anchor="ctr">
            <a:normAutofit/>
          </a:bodyPr>
          <a:lstStyle/>
          <a:p>
            <a:pPr marL="0" indent="0" algn="ctr">
              <a:buNone/>
            </a:pPr>
            <a:r>
              <a:rPr lang="en-US" sz="800" b="1" u="sng" dirty="0">
                <a:solidFill>
                  <a:srgbClr val="2A3B50"/>
                </a:solidFill>
                <a:latin typeface="Arial" pitchFamily="34" charset="0"/>
                <a:ea typeface="Arial" pitchFamily="34" charset="-122"/>
                <a:cs typeface="Arial" pitchFamily="34" charset="-120"/>
                <a:hlinkClick r:id="rId6" action="ppaction://hlinksldjump">
                  <a:extLst>
                    <a:ext uri="{A12FA001-AC4F-418D-AE19-62706E023703}">
                      <ahyp:hlinkClr xmlns:ahyp="http://schemas.microsoft.com/office/drawing/2018/hyperlinkcolor" val="tx"/>
                    </a:ext>
                  </a:extLst>
                </a:hlinkClick>
              </a:rPr>
              <a:t>Book</a:t>
            </a:r>
            <a:endParaRPr lang="en-US" sz="800" dirty="0"/>
          </a:p>
        </p:txBody>
      </p:sp>
      <p:sp>
        <p:nvSpPr>
          <p:cNvPr id="22" name="Shape 20">
            <a:hlinkClick r:id="rId7" action="ppaction://hlinksldjump"/>
          </p:cNvPr>
          <p:cNvSpPr/>
          <p:nvPr/>
        </p:nvSpPr>
        <p:spPr>
          <a:xfrm>
            <a:off x="10158984" y="6455664"/>
            <a:ext cx="749808" cy="283464"/>
          </a:xfrm>
          <a:prstGeom prst="roundRect">
            <a:avLst>
              <a:gd name="adj" fmla="val 25806"/>
            </a:avLst>
          </a:prstGeom>
          <a:solidFill>
            <a:srgbClr val="FFFFFF">
              <a:alpha val="30000"/>
            </a:srgbClr>
          </a:solidFill>
          <a:ln w="12700">
            <a:solidFill>
              <a:srgbClr val="536273">
                <a:alpha val="50000"/>
              </a:srgbClr>
            </a:solidFill>
            <a:prstDash val="solid"/>
          </a:ln>
        </p:spPr>
        <p:txBody>
          <a:bodyPr/>
          <a:lstStyle/>
          <a:p>
            <a:endParaRPr lang="en-US"/>
          </a:p>
        </p:txBody>
      </p:sp>
      <p:sp>
        <p:nvSpPr>
          <p:cNvPr id="23" name="Text 21">
            <a:hlinkClick r:id="rId7" action="ppaction://hlinksldjump"/>
          </p:cNvPr>
          <p:cNvSpPr/>
          <p:nvPr/>
        </p:nvSpPr>
        <p:spPr>
          <a:xfrm>
            <a:off x="10177272" y="6483096"/>
            <a:ext cx="713232" cy="182880"/>
          </a:xfrm>
          <a:prstGeom prst="rect">
            <a:avLst/>
          </a:prstGeom>
          <a:noFill/>
          <a:ln/>
        </p:spPr>
        <p:txBody>
          <a:bodyPr wrap="square" lIns="381" tIns="381" rIns="381" bIns="381" rtlCol="0" anchor="ctr">
            <a:normAutofit/>
          </a:bodyPr>
          <a:lstStyle/>
          <a:p>
            <a:pPr marL="0" indent="0" algn="ctr">
              <a:buNone/>
            </a:pPr>
            <a:r>
              <a:rPr lang="en-US" sz="800" b="1" u="sng" dirty="0">
                <a:solidFill>
                  <a:srgbClr val="2A3B50"/>
                </a:solidFill>
                <a:latin typeface="Arial" pitchFamily="34" charset="0"/>
                <a:ea typeface="Arial" pitchFamily="34" charset="-122"/>
                <a:cs typeface="Arial" pitchFamily="34" charset="-120"/>
                <a:hlinkClick r:id="rId7" action="ppaction://hlinksldjump">
                  <a:extLst>
                    <a:ext uri="{A12FA001-AC4F-418D-AE19-62706E023703}">
                      <ahyp:hlinkClr xmlns:ahyp="http://schemas.microsoft.com/office/drawing/2018/hyperlinkcolor" val="tx"/>
                    </a:ext>
                  </a:extLst>
                </a:hlinkClick>
              </a:rPr>
              <a:t>Lookup</a:t>
            </a:r>
            <a:endParaRPr lang="en-US" sz="800" dirty="0"/>
          </a:p>
        </p:txBody>
      </p:sp>
      <p:sp>
        <p:nvSpPr>
          <p:cNvPr id="24" name="Shape 22">
            <a:hlinkClick r:id="rId3" action="ppaction://hlinksldjump"/>
          </p:cNvPr>
          <p:cNvSpPr/>
          <p:nvPr/>
        </p:nvSpPr>
        <p:spPr>
          <a:xfrm>
            <a:off x="11000232" y="6455664"/>
            <a:ext cx="868680" cy="283464"/>
          </a:xfrm>
          <a:prstGeom prst="roundRect">
            <a:avLst>
              <a:gd name="adj" fmla="val 25806"/>
            </a:avLst>
          </a:prstGeom>
          <a:solidFill>
            <a:srgbClr val="132133"/>
          </a:solidFill>
          <a:ln w="12700">
            <a:solidFill>
              <a:srgbClr val="132133">
                <a:alpha val="0"/>
              </a:srgbClr>
            </a:solidFill>
            <a:prstDash val="solid"/>
          </a:ln>
        </p:spPr>
        <p:txBody>
          <a:bodyPr/>
          <a:lstStyle/>
          <a:p>
            <a:endParaRPr lang="en-US"/>
          </a:p>
        </p:txBody>
      </p:sp>
      <p:sp>
        <p:nvSpPr>
          <p:cNvPr id="25" name="Text 23">
            <a:hlinkClick r:id="rId3" action="ppaction://hlinksldjump"/>
          </p:cNvPr>
          <p:cNvSpPr/>
          <p:nvPr/>
        </p:nvSpPr>
        <p:spPr>
          <a:xfrm>
            <a:off x="11018520" y="6483096"/>
            <a:ext cx="832104" cy="182880"/>
          </a:xfrm>
          <a:prstGeom prst="rect">
            <a:avLst/>
          </a:prstGeom>
          <a:noFill/>
          <a:ln/>
        </p:spPr>
        <p:txBody>
          <a:bodyPr wrap="square" lIns="381" tIns="381" rIns="381" bIns="381" rtlCol="0" anchor="ctr">
            <a:normAutofit/>
          </a:bodyPr>
          <a:lstStyle/>
          <a:p>
            <a:pPr marL="0" indent="0" algn="ctr">
              <a:buNone/>
            </a:pPr>
            <a:r>
              <a:rPr lang="en-US" sz="770" b="1" u="sng" dirty="0">
                <a:solidFill>
                  <a:srgbClr val="FFFFFF"/>
                </a:solidFill>
                <a:latin typeface="Arial" pitchFamily="34" charset="0"/>
                <a:ea typeface="Arial" pitchFamily="34" charset="-122"/>
                <a:cs typeface="Arial" pitchFamily="34" charset="-120"/>
                <a:hlinkClick r:id="rId3" action="ppaction://hlinksldjump">
                  <a:extLst>
                    <a:ext uri="{A12FA001-AC4F-418D-AE19-62706E023703}">
                      <ahyp:hlinkClr xmlns:ahyp="http://schemas.microsoft.com/office/drawing/2018/hyperlinkcolor" val="tx"/>
                    </a:ext>
                  </a:extLst>
                </a:hlinkClick>
              </a:rPr>
              <a:t>Site Flow</a:t>
            </a:r>
            <a:endParaRPr lang="en-US" sz="77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18</TotalTime>
  <Words>2023</Words>
  <Application>Microsoft Office PowerPoint</Application>
  <PresentationFormat>Widescreen</PresentationFormat>
  <Paragraphs>502</Paragraphs>
  <Slides>13</Slides>
  <Notes>13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13</vt:i4>
      </vt:variant>
    </vt:vector>
  </HeadingPairs>
  <TitlesOfParts>
    <vt:vector size="18" baseType="lpstr">
      <vt:lpstr>Aptos</vt:lpstr>
      <vt:lpstr>Aptos Display</vt:lpstr>
      <vt:lpstr>Arial</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Tiffany Davidson</dc:creator>
  <cp:lastModifiedBy>Tiffany Davidson</cp:lastModifiedBy>
  <cp:revision>5</cp:revision>
  <dcterms:created xsi:type="dcterms:W3CDTF">2026-08-17T13:22:54Z</dcterms:created>
  <dcterms:modified xsi:type="dcterms:W3CDTF">2026-08-20T03:11:24Z</dcterms:modified>
</cp:coreProperties>
</file>