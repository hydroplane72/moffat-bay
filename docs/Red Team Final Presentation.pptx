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tmp" ContentType="image/pn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5EFE5"/>
    <a:srgbClr val="132133"/>
    <a:srgbClr val="163B3A"/>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635DB15-7D6E-4472-B99D-9906CF1DE234}" type="datetimeFigureOut">
              <a:rPr lang="en-US" smtClean="0"/>
              <a:t>10/11/2026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4D076F5-3447-4DA2-8E99-5DA35D376766}" type="slidenum">
              <a:rPr lang="en-US" smtClean="0"/>
              <a:t>‹#›</a:t>
            </a:fld>
            <a:endParaRPr lang="en-US"/>
          </a:p>
        </p:txBody>
      </p:sp>
    </p:spTree>
    <p:extLst>
      <p:ext uri="{BB962C8B-B14F-4D97-AF65-F5344CB8AC3E}">
        <p14:creationId xmlns:p14="http://schemas.microsoft.com/office/powerpoint/2010/main" val="6239638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3CE4A2-0155-A05C-AAF5-BBFDA9E37B2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DEEC1CA4-16E4-B629-6F0E-0EEF4D7E5A6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419F1BB-6298-3AAC-93AF-D5C8310B0446}"/>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5" name="Footer Placeholder 4">
            <a:extLst>
              <a:ext uri="{FF2B5EF4-FFF2-40B4-BE49-F238E27FC236}">
                <a16:creationId xmlns:a16="http://schemas.microsoft.com/office/drawing/2014/main" id="{61B29333-C17D-8F41-90EC-56CE4FA6013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AADCD2F-0A04-79C3-4783-FCF699FCCCEC}"/>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5854953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89B91FB-ED08-5951-8A5A-D8944DBB896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1E9BB92D-9F22-E006-B20E-F27A6E23BAF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8F411F8-2C5A-5B33-A3C5-986371A2BFB0}"/>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5" name="Footer Placeholder 4">
            <a:extLst>
              <a:ext uri="{FF2B5EF4-FFF2-40B4-BE49-F238E27FC236}">
                <a16:creationId xmlns:a16="http://schemas.microsoft.com/office/drawing/2014/main" id="{3890D87B-9377-76ED-C8F5-5191A5AEC55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C7BEFA1-2E2D-A0A8-11AE-145BB097F5E6}"/>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736326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8D72C3-5BAA-A10E-3285-67305AEF927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DAEBD943-089A-2C66-B80E-E40BAC83C62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20D70DF-B1E4-7642-0A89-B051BC90175E}"/>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5" name="Footer Placeholder 4">
            <a:extLst>
              <a:ext uri="{FF2B5EF4-FFF2-40B4-BE49-F238E27FC236}">
                <a16:creationId xmlns:a16="http://schemas.microsoft.com/office/drawing/2014/main" id="{25E907DA-71ED-6A8F-CF58-B8C6791AEF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A62E472-952E-4900-13EE-F620FDAFDF48}"/>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36733093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0B95B3-A267-9C5E-AC87-62423339E1B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5CAF2F3C-C019-8721-948D-9F11E50C714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52C0271-09DA-6AC9-DF82-6C8E62FC3A6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AD37CB97-D526-83AC-8B37-20B914263C48}"/>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6" name="Footer Placeholder 5">
            <a:extLst>
              <a:ext uri="{FF2B5EF4-FFF2-40B4-BE49-F238E27FC236}">
                <a16:creationId xmlns:a16="http://schemas.microsoft.com/office/drawing/2014/main" id="{F58D21C6-D9DD-CEAE-D600-FDA731D09B3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F23209A7-BA73-35C5-3761-AA1F8DDCDC3E}"/>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42269035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0A059-DD14-D336-0962-488FFF1B7315}"/>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D77A254-7BAE-6B45-D89F-ED13E69884AA}"/>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A86CAF9-9534-4079-6A93-6297526F67E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E836A7B-CE72-195E-25D3-D782EDE14612}"/>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28928A44-E64A-6698-34EC-B77B7BCA52EA}"/>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81ABE73F-4645-0BA5-3E2E-BBB8FD4A5AC1}"/>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8" name="Footer Placeholder 7">
            <a:extLst>
              <a:ext uri="{FF2B5EF4-FFF2-40B4-BE49-F238E27FC236}">
                <a16:creationId xmlns:a16="http://schemas.microsoft.com/office/drawing/2014/main" id="{01A77963-35AF-9F83-B9C4-76724B810AC5}"/>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C3E934C7-5539-36CE-9CDD-AD51B3D80AE7}"/>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35678030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7CE877-0C79-D784-B993-45D9241DA3D9}"/>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B2E4F0F-7A11-6C9E-D7D2-22D3414FCFC8}"/>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4" name="Footer Placeholder 3">
            <a:extLst>
              <a:ext uri="{FF2B5EF4-FFF2-40B4-BE49-F238E27FC236}">
                <a16:creationId xmlns:a16="http://schemas.microsoft.com/office/drawing/2014/main" id="{386CC4B6-A626-C7C9-FFD3-7826791A258C}"/>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CD0ED10-94EC-C057-E8E0-EE91C0840C7D}"/>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0210320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988FDF5-8F5F-1B44-A602-99BDDA5CE2C8}"/>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3" name="Footer Placeholder 2">
            <a:extLst>
              <a:ext uri="{FF2B5EF4-FFF2-40B4-BE49-F238E27FC236}">
                <a16:creationId xmlns:a16="http://schemas.microsoft.com/office/drawing/2014/main" id="{267F3CE6-EE7E-5EE8-B6E1-990C6B86731B}"/>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2D154164-1DDA-18D3-BE82-9DA2528D0026}"/>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2969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E1C1C-88B1-6C82-1556-87AAC554C40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DE3369C-9E32-2BCD-299A-B1C1AA9617F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FFA6EDEE-F977-CEF3-39D3-08D5C91BF7B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A849E5B-B917-5055-9035-6F4FB33A2765}"/>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6" name="Footer Placeholder 5">
            <a:extLst>
              <a:ext uri="{FF2B5EF4-FFF2-40B4-BE49-F238E27FC236}">
                <a16:creationId xmlns:a16="http://schemas.microsoft.com/office/drawing/2014/main" id="{A467E325-6406-F480-E79C-AE9351CFA15D}"/>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9E3084D0-5DD5-EBF6-3F02-32E16FC3C894}"/>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4817918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E69A65-1700-5996-2381-8A9EC5B65B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93474CE2-285E-B301-8B3A-A85A564A1401}"/>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D8BFF256-CB98-E565-A17F-E879CB68576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C385DB-42C3-E76D-ACFD-559961FF480E}"/>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6" name="Footer Placeholder 5">
            <a:extLst>
              <a:ext uri="{FF2B5EF4-FFF2-40B4-BE49-F238E27FC236}">
                <a16:creationId xmlns:a16="http://schemas.microsoft.com/office/drawing/2014/main" id="{DB59BC7E-CC21-EA51-543C-DDD08C7BC86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C010CE7-B052-F965-34DD-DFEF4A5B2D64}"/>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9111060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D14261-9401-684A-C9AA-5DDAABC5C304}"/>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56971F7D-AA47-797B-5850-B2C57AA84384}"/>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72746B1-EB72-477F-15EA-5DB3D75ED5F6}"/>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5" name="Footer Placeholder 4">
            <a:extLst>
              <a:ext uri="{FF2B5EF4-FFF2-40B4-BE49-F238E27FC236}">
                <a16:creationId xmlns:a16="http://schemas.microsoft.com/office/drawing/2014/main" id="{8C0ADC89-A98E-C277-E1E8-34CBF7F7D67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880DC25-0B14-CC9B-D835-44A3382BE75F}"/>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142011915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8261098-BE1A-D11A-2438-CA72428C024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1A9981C4-A98C-D95E-6D49-81B607F64597}"/>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A7BA21-BDDB-F033-BA91-E0C407E0D946}"/>
              </a:ext>
            </a:extLst>
          </p:cNvPr>
          <p:cNvSpPr>
            <a:spLocks noGrp="1"/>
          </p:cNvSpPr>
          <p:nvPr>
            <p:ph type="dt" sz="half" idx="10"/>
          </p:nvPr>
        </p:nvSpPr>
        <p:spPr/>
        <p:txBody>
          <a:bodyPr/>
          <a:lstStyle/>
          <a:p>
            <a:fld id="{DD5FEBA2-C475-4F4F-B1DA-6AC3BCF25491}" type="datetimeFigureOut">
              <a:rPr lang="en-US" smtClean="0"/>
              <a:t>10/11/2026</a:t>
            </a:fld>
            <a:endParaRPr lang="en-US"/>
          </a:p>
        </p:txBody>
      </p:sp>
      <p:sp>
        <p:nvSpPr>
          <p:cNvPr id="5" name="Footer Placeholder 4">
            <a:extLst>
              <a:ext uri="{FF2B5EF4-FFF2-40B4-BE49-F238E27FC236}">
                <a16:creationId xmlns:a16="http://schemas.microsoft.com/office/drawing/2014/main" id="{4C37E778-C888-1CAA-F70C-5520A207D150}"/>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63043CA-CE61-38F9-4975-63A5330E510A}"/>
              </a:ext>
            </a:extLst>
          </p:cNvPr>
          <p:cNvSpPr>
            <a:spLocks noGrp="1"/>
          </p:cNvSpPr>
          <p:nvPr>
            <p:ph type="sldNum" sz="quarter" idx="12"/>
          </p:nvPr>
        </p:nvSpPr>
        <p:spPr/>
        <p:txBody>
          <a:bodyPr/>
          <a:lstStyle/>
          <a:p>
            <a:fld id="{909185F2-FDE0-4379-9660-6AB1AB775FC0}" type="slidenum">
              <a:rPr lang="en-US" smtClean="0"/>
              <a:t>‹#›</a:t>
            </a:fld>
            <a:endParaRPr lang="en-US"/>
          </a:p>
        </p:txBody>
      </p:sp>
    </p:spTree>
    <p:extLst>
      <p:ext uri="{BB962C8B-B14F-4D97-AF65-F5344CB8AC3E}">
        <p14:creationId xmlns:p14="http://schemas.microsoft.com/office/powerpoint/2010/main" val="268625381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598571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C37CB8F2-7A74-A422-E451-534F9636D5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343F6F89-7765-EFBA-143F-42782B0B4B35}"/>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FD20F67F-0DEC-A33D-1DD0-69F2A01D80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DD5FEBA2-C475-4F4F-B1DA-6AC3BCF25491}" type="datetimeFigureOut">
              <a:rPr lang="en-US" smtClean="0"/>
              <a:t>10/11/2026</a:t>
            </a:fld>
            <a:endParaRPr lang="en-US"/>
          </a:p>
        </p:txBody>
      </p:sp>
      <p:sp>
        <p:nvSpPr>
          <p:cNvPr id="5" name="Footer Placeholder 4">
            <a:extLst>
              <a:ext uri="{FF2B5EF4-FFF2-40B4-BE49-F238E27FC236}">
                <a16:creationId xmlns:a16="http://schemas.microsoft.com/office/drawing/2014/main" id="{04ABB39D-98B6-C693-1053-BED240B6A3D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33999B3C-FDCB-E0F9-A157-E97169C1693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09185F2-FDE0-4379-9660-6AB1AB775FC0}" type="slidenum">
              <a:rPr lang="en-US" smtClean="0"/>
              <a:t>‹#›</a:t>
            </a:fld>
            <a:endParaRPr lang="en-US"/>
          </a:p>
        </p:txBody>
      </p:sp>
    </p:spTree>
    <p:extLst>
      <p:ext uri="{BB962C8B-B14F-4D97-AF65-F5344CB8AC3E}">
        <p14:creationId xmlns:p14="http://schemas.microsoft.com/office/powerpoint/2010/main" val="22990773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 Target="slide2.xml"/><Relationship Id="rId7" Type="http://schemas.openxmlformats.org/officeDocument/2006/relationships/slide" Target="slide11.xml"/><Relationship Id="rId2" Type="http://schemas.openxmlformats.org/officeDocument/2006/relationships/notesSlide" Target="../notesSlides/notesSlide1.xml"/><Relationship Id="rId1" Type="http://schemas.openxmlformats.org/officeDocument/2006/relationships/slideLayout" Target="../slideLayouts/slideLayout12.xml"/><Relationship Id="rId6" Type="http://schemas.openxmlformats.org/officeDocument/2006/relationships/slide" Target="slide10.xml"/><Relationship Id="rId5" Type="http://schemas.openxmlformats.org/officeDocument/2006/relationships/slide" Target="slide5.xml"/><Relationship Id="rId4" Type="http://schemas.openxmlformats.org/officeDocument/2006/relationships/slide" Target="slide3.xml"/></Relationships>
</file>

<file path=ppt/slides/_rels/slide2.xml.rels><?xml version="1.0" encoding="UTF-8" standalone="yes"?>
<Relationships xmlns="http://schemas.openxmlformats.org/package/2006/relationships"><Relationship Id="rId8" Type="http://schemas.openxmlformats.org/officeDocument/2006/relationships/slide" Target="slide6.xml"/><Relationship Id="rId3" Type="http://schemas.openxmlformats.org/officeDocument/2006/relationships/slide" Target="slide3.xml"/><Relationship Id="rId7" Type="http://schemas.openxmlformats.org/officeDocument/2006/relationships/slide" Target="slide4.xml"/><Relationship Id="rId12" Type="http://schemas.openxmlformats.org/officeDocument/2006/relationships/slide" Target="slide2.xml"/><Relationship Id="rId2" Type="http://schemas.openxmlformats.org/officeDocument/2006/relationships/notesSlide" Target="../notesSlides/notesSlide2.xml"/><Relationship Id="rId1" Type="http://schemas.openxmlformats.org/officeDocument/2006/relationships/slideLayout" Target="../slideLayouts/slideLayout12.xml"/><Relationship Id="rId6" Type="http://schemas.openxmlformats.org/officeDocument/2006/relationships/slide" Target="slide12.xml"/><Relationship Id="rId11" Type="http://schemas.openxmlformats.org/officeDocument/2006/relationships/slide" Target="slide11.xml"/><Relationship Id="rId5" Type="http://schemas.openxmlformats.org/officeDocument/2006/relationships/slide" Target="slide10.xml"/><Relationship Id="rId10" Type="http://schemas.openxmlformats.org/officeDocument/2006/relationships/slide" Target="slide8.xml"/><Relationship Id="rId4" Type="http://schemas.openxmlformats.org/officeDocument/2006/relationships/slide" Target="slide5.xml"/><Relationship Id="rId9" Type="http://schemas.openxmlformats.org/officeDocument/2006/relationships/slide" Target="slide7.xml"/></Relationships>
</file>

<file path=ppt/slides/_rels/slide3.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3.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4.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4.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5.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6.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6.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7.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7.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8.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8.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9.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9.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0.xml.rels><?xml version="1.0" encoding="UTF-8" standalone="yes"?>
<Relationships xmlns="http://schemas.openxmlformats.org/package/2006/relationships"><Relationship Id="rId8" Type="http://schemas.openxmlformats.org/officeDocument/2006/relationships/slide" Target="slide10.xml"/><Relationship Id="rId13" Type="http://schemas.openxmlformats.org/officeDocument/2006/relationships/slide" Target="slide12.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0.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1.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1.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2.xml.rels><?xml version="1.0" encoding="UTF-8" standalone="yes"?>
<Relationships xmlns="http://schemas.openxmlformats.org/package/2006/relationships"><Relationship Id="rId8" Type="http://schemas.openxmlformats.org/officeDocument/2006/relationships/slide" Target="slide10.xml"/><Relationship Id="rId3" Type="http://schemas.openxmlformats.org/officeDocument/2006/relationships/slide" Target="slide3.xml"/><Relationship Id="rId7" Type="http://schemas.openxmlformats.org/officeDocument/2006/relationships/slide" Target="slide7.xml"/><Relationship Id="rId12" Type="http://schemas.openxmlformats.org/officeDocument/2006/relationships/slide" Target="slide2.xml"/><Relationship Id="rId2" Type="http://schemas.openxmlformats.org/officeDocument/2006/relationships/notesSlide" Target="../notesSlides/notesSlide12.xml"/><Relationship Id="rId1" Type="http://schemas.openxmlformats.org/officeDocument/2006/relationships/slideLayout" Target="../slideLayouts/slideLayout12.xml"/><Relationship Id="rId6" Type="http://schemas.openxmlformats.org/officeDocument/2006/relationships/slide" Target="slide6.xml"/><Relationship Id="rId11" Type="http://schemas.openxmlformats.org/officeDocument/2006/relationships/slide" Target="slide11.xml"/><Relationship Id="rId5" Type="http://schemas.openxmlformats.org/officeDocument/2006/relationships/slide" Target="slide5.xml"/><Relationship Id="rId10" Type="http://schemas.openxmlformats.org/officeDocument/2006/relationships/slide" Target="slide9.xml"/><Relationship Id="rId4" Type="http://schemas.openxmlformats.org/officeDocument/2006/relationships/slide" Target="slide4.xml"/><Relationship Id="rId9" Type="http://schemas.openxmlformats.org/officeDocument/2006/relationships/slide" Target="slide8.xml"/></Relationships>
</file>

<file path=ppt/slides/_rels/slide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5.xml"/><Relationship Id="rId6" Type="http://schemas.openxmlformats.org/officeDocument/2006/relationships/image" Target="../media/image6.tmp"/><Relationship Id="rId5" Type="http://schemas.openxmlformats.org/officeDocument/2006/relationships/image" Target="../media/image5.tmp"/><Relationship Id="rId4" Type="http://schemas.openxmlformats.org/officeDocument/2006/relationships/image" Target="../media/image4.tmp"/></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0"/>
          <p:cNvSpPr/>
          <p:nvPr/>
        </p:nvSpPr>
        <p:spPr>
          <a:xfrm>
            <a:off x="566928" y="420624"/>
            <a:ext cx="603504" cy="603504"/>
          </a:xfrm>
          <a:prstGeom prst="ellipse">
            <a:avLst/>
          </a:prstGeom>
          <a:solidFill>
            <a:srgbClr val="276F7B"/>
          </a:solidFill>
          <a:ln w="12700">
            <a:solidFill>
              <a:srgbClr val="276F7B"/>
            </a:solidFill>
            <a:prstDash val="solid"/>
          </a:ln>
        </p:spPr>
        <p:txBody>
          <a:bodyPr/>
          <a:lstStyle/>
          <a:p>
            <a:endParaRPr lang="en-US"/>
          </a:p>
        </p:txBody>
      </p:sp>
      <p:sp>
        <p:nvSpPr>
          <p:cNvPr id="3" name="Text 1"/>
          <p:cNvSpPr/>
          <p:nvPr/>
        </p:nvSpPr>
        <p:spPr>
          <a:xfrm>
            <a:off x="566928" y="557784"/>
            <a:ext cx="603504" cy="219456"/>
          </a:xfrm>
          <a:prstGeom prst="rect">
            <a:avLst/>
          </a:prstGeom>
          <a:noFill/>
          <a:ln/>
        </p:spPr>
        <p:txBody>
          <a:bodyPr wrap="square" lIns="381" tIns="381" rIns="381" bIns="381" rtlCol="0" anchor="ctr">
            <a:normAutofit fontScale="92500" lnSpcReduction="20000"/>
          </a:bodyPr>
          <a:lstStyle/>
          <a:p>
            <a:pPr marL="0" indent="0" algn="ctr">
              <a:buNone/>
            </a:pPr>
            <a:r>
              <a:rPr lang="en-US" sz="1800" b="1" dirty="0">
                <a:solidFill>
                  <a:srgbClr val="FFFFFF"/>
                </a:solidFill>
                <a:latin typeface="Georgia" pitchFamily="34" charset="0"/>
                <a:ea typeface="Georgia" pitchFamily="34" charset="-122"/>
                <a:cs typeface="Georgia" pitchFamily="34" charset="-120"/>
              </a:rPr>
              <a:t>MB</a:t>
            </a:r>
            <a:endParaRPr lang="en-US" sz="1800" dirty="0"/>
          </a:p>
        </p:txBody>
      </p:sp>
      <p:sp>
        <p:nvSpPr>
          <p:cNvPr id="4" name="Text 2"/>
          <p:cNvSpPr/>
          <p:nvPr/>
        </p:nvSpPr>
        <p:spPr>
          <a:xfrm>
            <a:off x="1353312" y="420624"/>
            <a:ext cx="3657600" cy="329184"/>
          </a:xfrm>
          <a:prstGeom prst="rect">
            <a:avLst/>
          </a:prstGeom>
          <a:noFill/>
          <a:ln/>
        </p:spPr>
        <p:txBody>
          <a:bodyPr wrap="square" lIns="381" tIns="381" rIns="381" bIns="381" rtlCol="0" anchor="ctr">
            <a:normAutofit/>
          </a:bodyPr>
          <a:lstStyle/>
          <a:p>
            <a:pPr marL="0" indent="0" algn="l">
              <a:buNone/>
            </a:pPr>
            <a:r>
              <a:rPr lang="en-US" sz="1500" b="1" dirty="0">
                <a:solidFill>
                  <a:srgbClr val="132133"/>
                </a:solidFill>
                <a:latin typeface="Arial" pitchFamily="34" charset="0"/>
                <a:ea typeface="Arial" pitchFamily="34" charset="-122"/>
                <a:cs typeface="Arial" pitchFamily="34" charset="-120"/>
              </a:rPr>
              <a:t>Moffat Bay Lodge</a:t>
            </a:r>
            <a:endParaRPr lang="en-US" sz="1500" dirty="0"/>
          </a:p>
        </p:txBody>
      </p:sp>
      <p:sp>
        <p:nvSpPr>
          <p:cNvPr id="5" name="Text 3"/>
          <p:cNvSpPr/>
          <p:nvPr/>
        </p:nvSpPr>
        <p:spPr>
          <a:xfrm>
            <a:off x="1353312" y="795528"/>
            <a:ext cx="4572000" cy="201168"/>
          </a:xfrm>
          <a:prstGeom prst="rect">
            <a:avLst/>
          </a:prstGeom>
          <a:noFill/>
          <a:ln/>
        </p:spPr>
        <p:txBody>
          <a:bodyPr wrap="square" lIns="381" tIns="381" rIns="381" bIns="381" rtlCol="0" anchor="ctr">
            <a:normAutofit/>
          </a:bodyPr>
          <a:lstStyle/>
          <a:p>
            <a:pPr marL="0" indent="0" algn="l">
              <a:buNone/>
            </a:pPr>
            <a:r>
              <a:rPr lang="en-US" sz="950" dirty="0">
                <a:solidFill>
                  <a:srgbClr val="536273"/>
                </a:solidFill>
                <a:latin typeface="Arial" pitchFamily="34" charset="0"/>
                <a:ea typeface="Arial" pitchFamily="34" charset="-122"/>
                <a:cs typeface="Arial" pitchFamily="34" charset="-120"/>
              </a:rPr>
              <a:t>Functional Prototype + Landing Page Mockup</a:t>
            </a:r>
            <a:endParaRPr lang="en-US" sz="950" dirty="0"/>
          </a:p>
        </p:txBody>
      </p:sp>
      <p:sp>
        <p:nvSpPr>
          <p:cNvPr id="6" name="Text 4"/>
          <p:cNvSpPr/>
          <p:nvPr/>
        </p:nvSpPr>
        <p:spPr>
          <a:xfrm>
            <a:off x="658368" y="1691640"/>
            <a:ext cx="7132320" cy="530352"/>
          </a:xfrm>
          <a:prstGeom prst="rect">
            <a:avLst/>
          </a:prstGeom>
          <a:noFill/>
          <a:ln/>
        </p:spPr>
        <p:txBody>
          <a:bodyPr wrap="square" lIns="381" tIns="381" rIns="381" bIns="381" rtlCol="0" anchor="ctr">
            <a:normAutofit/>
          </a:bodyPr>
          <a:lstStyle/>
          <a:p>
            <a:pPr marL="0" indent="0" algn="l">
              <a:buNone/>
            </a:pPr>
            <a:r>
              <a:rPr lang="en-US" sz="2750" dirty="0">
                <a:solidFill>
                  <a:srgbClr val="132133"/>
                </a:solidFill>
                <a:latin typeface="Georgia" pitchFamily="34" charset="0"/>
                <a:ea typeface="Georgia" pitchFamily="34" charset="-122"/>
                <a:cs typeface="Georgia" pitchFamily="34" charset="-120"/>
              </a:rPr>
              <a:t>Navigational Wireframe PowerPoint</a:t>
            </a:r>
            <a:endParaRPr lang="en-US" sz="2750" dirty="0"/>
          </a:p>
        </p:txBody>
      </p:sp>
      <p:sp>
        <p:nvSpPr>
          <p:cNvPr id="8" name="Shape 6"/>
          <p:cNvSpPr/>
          <p:nvPr/>
        </p:nvSpPr>
        <p:spPr>
          <a:xfrm>
            <a:off x="694944" y="3054096"/>
            <a:ext cx="4663440" cy="1417320"/>
          </a:xfrm>
          <a:prstGeom prst="roundRect">
            <a:avLst>
              <a:gd name="adj" fmla="val 7742"/>
            </a:avLst>
          </a:prstGeom>
          <a:solidFill>
            <a:srgbClr val="FFFFFF">
              <a:alpha val="92000"/>
            </a:srgbClr>
          </a:solidFill>
          <a:ln w="12700">
            <a:solidFill>
              <a:srgbClr val="E9DFCF"/>
            </a:solidFill>
            <a:prstDash val="solid"/>
          </a:ln>
          <a:effectLst>
            <a:outerShdw blurRad="12700" dist="8890" dir="2700000" algn="bl" rotWithShape="0">
              <a:srgbClr val="132133">
                <a:alpha val="8000"/>
              </a:srgbClr>
            </a:outerShdw>
          </a:effectLst>
        </p:spPr>
        <p:txBody>
          <a:bodyPr/>
          <a:lstStyle/>
          <a:p>
            <a:endParaRPr lang="en-US"/>
          </a:p>
        </p:txBody>
      </p:sp>
      <p:sp>
        <p:nvSpPr>
          <p:cNvPr id="9" name="Text 7"/>
          <p:cNvSpPr/>
          <p:nvPr/>
        </p:nvSpPr>
        <p:spPr>
          <a:xfrm>
            <a:off x="941832" y="3273552"/>
            <a:ext cx="4023360" cy="228600"/>
          </a:xfrm>
          <a:prstGeom prst="rect">
            <a:avLst/>
          </a:prstGeom>
          <a:noFill/>
          <a:ln/>
        </p:spPr>
        <p:txBody>
          <a:bodyPr wrap="square" lIns="381" tIns="381" rIns="381" bIns="381" rtlCol="0" anchor="ctr">
            <a:normAutofit/>
          </a:bodyPr>
          <a:lstStyle/>
          <a:p>
            <a:pPr marL="0" indent="0" algn="l">
              <a:buNone/>
            </a:pPr>
            <a:r>
              <a:rPr lang="en-US" sz="1300" b="1" dirty="0">
                <a:solidFill>
                  <a:srgbClr val="132133"/>
                </a:solidFill>
                <a:latin typeface="Arial" pitchFamily="34" charset="0"/>
                <a:ea typeface="Arial" pitchFamily="34" charset="-122"/>
                <a:cs typeface="Arial" pitchFamily="34" charset="-120"/>
              </a:rPr>
              <a:t>Red Team</a:t>
            </a:r>
            <a:endParaRPr lang="en-US" sz="1300" dirty="0"/>
          </a:p>
        </p:txBody>
      </p:sp>
      <p:sp>
        <p:nvSpPr>
          <p:cNvPr id="10" name="Text 8"/>
          <p:cNvSpPr/>
          <p:nvPr/>
        </p:nvSpPr>
        <p:spPr>
          <a:xfrm>
            <a:off x="950976" y="3602736"/>
            <a:ext cx="3931920" cy="713232"/>
          </a:xfrm>
          <a:prstGeom prst="rect">
            <a:avLst/>
          </a:prstGeom>
          <a:noFill/>
          <a:ln/>
        </p:spPr>
        <p:txBody>
          <a:bodyPr wrap="square" lIns="381" tIns="381" rIns="381" bIns="381" rtlCol="0" anchor="t">
            <a:normAutofit/>
          </a:bodyPr>
          <a:lstStyle/>
          <a:p>
            <a:pPr marL="0" indent="0" algn="l">
              <a:buNone/>
            </a:pPr>
            <a:r>
              <a:rPr lang="en-US" sz="1100" dirty="0">
                <a:solidFill>
                  <a:srgbClr val="2A3B50"/>
                </a:solidFill>
                <a:latin typeface="Arial" pitchFamily="34" charset="0"/>
                <a:ea typeface="Arial" pitchFamily="34" charset="-122"/>
                <a:cs typeface="Arial" pitchFamily="34" charset="-120"/>
              </a:rPr>
              <a:t>Matthew Rozendaal</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Brayan Covarrubias</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Rashai Robertson</a:t>
            </a:r>
            <a:endParaRPr lang="en-US" sz="1100" dirty="0"/>
          </a:p>
          <a:p>
            <a:pPr marL="0" indent="0" algn="l">
              <a:buNone/>
            </a:pPr>
            <a:r>
              <a:rPr lang="en-US" sz="1100" dirty="0">
                <a:solidFill>
                  <a:srgbClr val="2A3B50"/>
                </a:solidFill>
                <a:latin typeface="Arial" pitchFamily="34" charset="0"/>
                <a:ea typeface="Arial" pitchFamily="34" charset="-122"/>
                <a:cs typeface="Arial" pitchFamily="34" charset="-120"/>
              </a:rPr>
              <a:t>Tiffany Davidson</a:t>
            </a:r>
            <a:endParaRPr lang="en-US" sz="1100" dirty="0"/>
          </a:p>
        </p:txBody>
      </p:sp>
      <p:sp>
        <p:nvSpPr>
          <p:cNvPr id="11" name="Shape 9"/>
          <p:cNvSpPr/>
          <p:nvPr/>
        </p:nvSpPr>
        <p:spPr>
          <a:xfrm>
            <a:off x="6629400" y="1170432"/>
            <a:ext cx="4663440" cy="4526280"/>
          </a:xfrm>
          <a:prstGeom prst="roundRect">
            <a:avLst>
              <a:gd name="adj" fmla="val 3636"/>
            </a:avLst>
          </a:prstGeom>
          <a:solidFill>
            <a:srgbClr val="FFFFFF">
              <a:alpha val="90000"/>
            </a:srgbClr>
          </a:solidFill>
          <a:ln w="12700">
            <a:solidFill>
              <a:srgbClr val="E9DFCF"/>
            </a:solidFill>
            <a:prstDash val="solid"/>
          </a:ln>
          <a:effectLst>
            <a:outerShdw blurRad="25400" dist="12700" dir="2700000" algn="bl" rotWithShape="0">
              <a:srgbClr val="132133">
                <a:alpha val="12000"/>
              </a:srgbClr>
            </a:outerShdw>
          </a:effectLst>
        </p:spPr>
        <p:txBody>
          <a:bodyPr/>
          <a:lstStyle/>
          <a:p>
            <a:endParaRPr lang="en-US"/>
          </a:p>
        </p:txBody>
      </p:sp>
      <p:sp>
        <p:nvSpPr>
          <p:cNvPr id="12" name="Shape 10"/>
          <p:cNvSpPr/>
          <p:nvPr/>
        </p:nvSpPr>
        <p:spPr>
          <a:xfrm>
            <a:off x="6903720" y="1417320"/>
            <a:ext cx="4114800" cy="3977640"/>
          </a:xfrm>
          <a:prstGeom prst="roundRect">
            <a:avLst>
              <a:gd name="adj" fmla="val 1839"/>
            </a:avLst>
          </a:prstGeom>
          <a:solidFill>
            <a:srgbClr val="FFFAF2"/>
          </a:solidFill>
          <a:ln w="12700">
            <a:solidFill>
              <a:srgbClr val="E9DFCF"/>
            </a:solidFill>
            <a:prstDash val="solid"/>
          </a:ln>
        </p:spPr>
        <p:txBody>
          <a:bodyPr/>
          <a:lstStyle/>
          <a:p>
            <a:endParaRPr lang="en-US"/>
          </a:p>
        </p:txBody>
      </p:sp>
      <p:sp>
        <p:nvSpPr>
          <p:cNvPr id="13" name="Shape 11"/>
          <p:cNvSpPr/>
          <p:nvPr/>
        </p:nvSpPr>
        <p:spPr>
          <a:xfrm>
            <a:off x="6903720" y="1417320"/>
            <a:ext cx="4114800" cy="384048"/>
          </a:xfrm>
          <a:prstGeom prst="rect">
            <a:avLst/>
          </a:prstGeom>
          <a:solidFill>
            <a:srgbClr val="FFFFFF"/>
          </a:solidFill>
          <a:ln w="12700">
            <a:solidFill>
              <a:srgbClr val="E9DFCF"/>
            </a:solidFill>
            <a:prstDash val="solid"/>
          </a:ln>
        </p:spPr>
        <p:txBody>
          <a:bodyPr/>
          <a:lstStyle/>
          <a:p>
            <a:endParaRPr lang="en-US"/>
          </a:p>
        </p:txBody>
      </p:sp>
      <p:sp>
        <p:nvSpPr>
          <p:cNvPr id="17" name="Shape 15"/>
          <p:cNvSpPr/>
          <p:nvPr/>
        </p:nvSpPr>
        <p:spPr>
          <a:xfrm>
            <a:off x="6903720" y="1801368"/>
            <a:ext cx="4114800" cy="384048"/>
          </a:xfrm>
          <a:prstGeom prst="rect">
            <a:avLst/>
          </a:prstGeom>
          <a:solidFill>
            <a:srgbClr val="FAF5EC"/>
          </a:solidFill>
          <a:ln w="12700">
            <a:solidFill>
              <a:srgbClr val="E9DFCF"/>
            </a:solidFill>
            <a:prstDash val="solid"/>
          </a:ln>
        </p:spPr>
        <p:txBody>
          <a:bodyPr/>
          <a:lstStyle/>
          <a:p>
            <a:endParaRPr lang="en-US"/>
          </a:p>
        </p:txBody>
      </p:sp>
      <p:sp>
        <p:nvSpPr>
          <p:cNvPr id="18" name="Shape 16"/>
          <p:cNvSpPr/>
          <p:nvPr/>
        </p:nvSpPr>
        <p:spPr>
          <a:xfrm>
            <a:off x="7114032" y="1892808"/>
            <a:ext cx="201168" cy="201168"/>
          </a:xfrm>
          <a:prstGeom prst="ellipse">
            <a:avLst/>
          </a:prstGeom>
          <a:solidFill>
            <a:srgbClr val="276F7B"/>
          </a:solidFill>
          <a:ln w="12700">
            <a:solidFill>
              <a:srgbClr val="276F7B"/>
            </a:solidFill>
            <a:prstDash val="solid"/>
          </a:ln>
        </p:spPr>
        <p:txBody>
          <a:bodyPr/>
          <a:lstStyle/>
          <a:p>
            <a:endParaRPr lang="en-US"/>
          </a:p>
        </p:txBody>
      </p:sp>
      <p:sp>
        <p:nvSpPr>
          <p:cNvPr id="19" name="Text 17"/>
          <p:cNvSpPr/>
          <p:nvPr/>
        </p:nvSpPr>
        <p:spPr>
          <a:xfrm>
            <a:off x="7114032" y="1929384"/>
            <a:ext cx="201168" cy="73152"/>
          </a:xfrm>
          <a:prstGeom prst="rect">
            <a:avLst/>
          </a:prstGeom>
          <a:noFill/>
          <a:ln/>
        </p:spPr>
        <p:txBody>
          <a:bodyPr wrap="square" lIns="381" tIns="381" rIns="381" bIns="381" rtlCol="0" anchor="ctr">
            <a:normAutofit lnSpcReduction="10000"/>
          </a:bodyPr>
          <a:lstStyle/>
          <a:p>
            <a:pPr marL="0" indent="0" algn="ctr">
              <a:buNone/>
            </a:pPr>
            <a:r>
              <a:rPr lang="en-US" sz="500" b="1" dirty="0">
                <a:solidFill>
                  <a:srgbClr val="FFFFFF"/>
                </a:solidFill>
                <a:latin typeface="Georgia" pitchFamily="34" charset="0"/>
                <a:ea typeface="Georgia" pitchFamily="34" charset="-122"/>
                <a:cs typeface="Georgia" pitchFamily="34" charset="-120"/>
              </a:rPr>
              <a:t>MB</a:t>
            </a:r>
            <a:endParaRPr lang="en-US" sz="500" dirty="0"/>
          </a:p>
        </p:txBody>
      </p:sp>
      <p:sp>
        <p:nvSpPr>
          <p:cNvPr id="20" name="Text 18"/>
          <p:cNvSpPr/>
          <p:nvPr/>
        </p:nvSpPr>
        <p:spPr>
          <a:xfrm>
            <a:off x="7388352" y="1920240"/>
            <a:ext cx="1170432" cy="82296"/>
          </a:xfrm>
          <a:prstGeom prst="rect">
            <a:avLst/>
          </a:prstGeom>
          <a:noFill/>
          <a:ln/>
        </p:spPr>
        <p:txBody>
          <a:bodyPr wrap="square" lIns="381" tIns="381" rIns="381" bIns="381" rtlCol="0" anchor="ctr">
            <a:normAutofit/>
          </a:bodyPr>
          <a:lstStyle/>
          <a:p>
            <a:pPr marL="0" indent="0" algn="l">
              <a:buNone/>
            </a:pPr>
            <a:r>
              <a:rPr lang="en-US" sz="520" b="1" dirty="0">
                <a:solidFill>
                  <a:srgbClr val="132133"/>
                </a:solidFill>
                <a:latin typeface="Arial" pitchFamily="34" charset="0"/>
                <a:ea typeface="Arial" pitchFamily="34" charset="-122"/>
                <a:cs typeface="Arial" pitchFamily="34" charset="-120"/>
              </a:rPr>
              <a:t>MOFFAT BAY LODGE</a:t>
            </a:r>
            <a:endParaRPr lang="en-US" sz="520" dirty="0"/>
          </a:p>
        </p:txBody>
      </p:sp>
      <p:sp>
        <p:nvSpPr>
          <p:cNvPr id="21" name="Text 19"/>
          <p:cNvSpPr/>
          <p:nvPr/>
        </p:nvSpPr>
        <p:spPr>
          <a:xfrm>
            <a:off x="879652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76F7B"/>
                </a:solidFill>
                <a:latin typeface="Arial" pitchFamily="34" charset="0"/>
                <a:ea typeface="Arial" pitchFamily="34" charset="-122"/>
                <a:cs typeface="Arial" pitchFamily="34" charset="-120"/>
              </a:rPr>
              <a:t>Home</a:t>
            </a:r>
            <a:endParaRPr lang="en-US" sz="490" dirty="0"/>
          </a:p>
        </p:txBody>
      </p:sp>
      <p:sp>
        <p:nvSpPr>
          <p:cNvPr id="22" name="Text 20"/>
          <p:cNvSpPr/>
          <p:nvPr/>
        </p:nvSpPr>
        <p:spPr>
          <a:xfrm>
            <a:off x="929944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A3B50"/>
                </a:solidFill>
                <a:latin typeface="Arial" pitchFamily="34" charset="0"/>
                <a:ea typeface="Arial" pitchFamily="34" charset="-122"/>
                <a:cs typeface="Arial" pitchFamily="34" charset="-120"/>
              </a:rPr>
              <a:t>Rooms</a:t>
            </a:r>
            <a:endParaRPr lang="en-US" sz="490" dirty="0"/>
          </a:p>
        </p:txBody>
      </p:sp>
      <p:sp>
        <p:nvSpPr>
          <p:cNvPr id="23" name="Text 21"/>
          <p:cNvSpPr/>
          <p:nvPr/>
        </p:nvSpPr>
        <p:spPr>
          <a:xfrm>
            <a:off x="9802368" y="1929384"/>
            <a:ext cx="384048" cy="73152"/>
          </a:xfrm>
          <a:prstGeom prst="rect">
            <a:avLst/>
          </a:prstGeom>
          <a:noFill/>
          <a:ln/>
        </p:spPr>
        <p:txBody>
          <a:bodyPr wrap="square" lIns="381" tIns="381" rIns="381" bIns="381" rtlCol="0" anchor="ctr">
            <a:normAutofit lnSpcReduction="10000"/>
          </a:bodyPr>
          <a:lstStyle/>
          <a:p>
            <a:pPr marL="0" indent="0" algn="ctr">
              <a:buNone/>
            </a:pPr>
            <a:r>
              <a:rPr lang="en-US" sz="490" b="1" dirty="0">
                <a:solidFill>
                  <a:srgbClr val="2A3B50"/>
                </a:solidFill>
                <a:latin typeface="Arial" pitchFamily="34" charset="0"/>
                <a:ea typeface="Arial" pitchFamily="34" charset="-122"/>
                <a:cs typeface="Arial" pitchFamily="34" charset="-120"/>
              </a:rPr>
              <a:t>Book</a:t>
            </a:r>
            <a:endParaRPr lang="en-US" sz="490" dirty="0"/>
          </a:p>
        </p:txBody>
      </p:sp>
      <p:sp>
        <p:nvSpPr>
          <p:cNvPr id="24" name="Shape 22"/>
          <p:cNvSpPr/>
          <p:nvPr/>
        </p:nvSpPr>
        <p:spPr>
          <a:xfrm>
            <a:off x="7269480" y="2606040"/>
            <a:ext cx="1627632" cy="960120"/>
          </a:xfrm>
          <a:prstGeom prst="roundRect">
            <a:avLst>
              <a:gd name="adj" fmla="val 9524"/>
            </a:avLst>
          </a:prstGeom>
          <a:solidFill>
            <a:srgbClr val="FFFFFF"/>
          </a:solidFill>
          <a:ln w="12700">
            <a:solidFill>
              <a:srgbClr val="E9DFCF"/>
            </a:solidFill>
            <a:prstDash val="solid"/>
          </a:ln>
        </p:spPr>
        <p:txBody>
          <a:bodyPr/>
          <a:lstStyle/>
          <a:p>
            <a:endParaRPr lang="en-US"/>
          </a:p>
        </p:txBody>
      </p:sp>
      <p:sp>
        <p:nvSpPr>
          <p:cNvPr id="25" name="Text 23"/>
          <p:cNvSpPr/>
          <p:nvPr/>
        </p:nvSpPr>
        <p:spPr>
          <a:xfrm>
            <a:off x="7424928" y="2761488"/>
            <a:ext cx="1353312"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WELCOME TO MOFFAT BAY</a:t>
            </a:r>
            <a:endParaRPr lang="en-US" sz="680" dirty="0"/>
          </a:p>
        </p:txBody>
      </p:sp>
      <p:sp>
        <p:nvSpPr>
          <p:cNvPr id="26" name="Text 24"/>
          <p:cNvSpPr/>
          <p:nvPr/>
        </p:nvSpPr>
        <p:spPr>
          <a:xfrm>
            <a:off x="7424928" y="2962656"/>
            <a:ext cx="1353312" cy="256032"/>
          </a:xfrm>
          <a:prstGeom prst="rect">
            <a:avLst/>
          </a:prstGeom>
          <a:noFill/>
          <a:ln/>
        </p:spPr>
        <p:txBody>
          <a:bodyPr wrap="square" lIns="381" tIns="381" rIns="381" bIns="381" rtlCol="0" anchor="ctr">
            <a:normAutofit/>
          </a:bodyPr>
          <a:lstStyle/>
          <a:p>
            <a:pPr marL="0" indent="0" algn="l">
              <a:buNone/>
            </a:pPr>
            <a:r>
              <a:rPr lang="en-US" sz="950" dirty="0">
                <a:solidFill>
                  <a:srgbClr val="132133"/>
                </a:solidFill>
                <a:latin typeface="Georgia" pitchFamily="34" charset="0"/>
                <a:ea typeface="Georgia" pitchFamily="34" charset="-122"/>
                <a:cs typeface="Georgia" pitchFamily="34" charset="-120"/>
              </a:rPr>
              <a:t>One Island. One Lodge.</a:t>
            </a:r>
            <a:endParaRPr lang="en-US" sz="950" dirty="0"/>
          </a:p>
        </p:txBody>
      </p:sp>
      <p:sp>
        <p:nvSpPr>
          <p:cNvPr id="27" name="Text 25"/>
          <p:cNvSpPr/>
          <p:nvPr/>
        </p:nvSpPr>
        <p:spPr>
          <a:xfrm>
            <a:off x="7424928" y="3200400"/>
            <a:ext cx="1353312" cy="228600"/>
          </a:xfrm>
          <a:prstGeom prst="rect">
            <a:avLst/>
          </a:prstGeom>
          <a:noFill/>
          <a:ln/>
        </p:spPr>
        <p:txBody>
          <a:bodyPr wrap="square" lIns="381" tIns="381" rIns="381" bIns="381" rtlCol="0" anchor="t">
            <a:normAutofit/>
          </a:bodyPr>
          <a:lstStyle/>
          <a:p>
            <a:pPr marL="0" indent="0" algn="l">
              <a:buNone/>
            </a:pPr>
            <a:r>
              <a:rPr lang="en-US" sz="460" dirty="0">
                <a:solidFill>
                  <a:srgbClr val="2A3B50"/>
                </a:solidFill>
                <a:latin typeface="Arial" pitchFamily="34" charset="0"/>
                <a:ea typeface="Arial" pitchFamily="34" charset="-122"/>
                <a:cs typeface="Arial" pitchFamily="34" charset="-120"/>
              </a:rPr>
              <a:t>Comfortable lodging and island adventure in one simple reservation flow.</a:t>
            </a:r>
            <a:endParaRPr lang="en-US" sz="460" dirty="0"/>
          </a:p>
        </p:txBody>
      </p:sp>
      <p:sp>
        <p:nvSpPr>
          <p:cNvPr id="28" name="Shape 26"/>
          <p:cNvSpPr/>
          <p:nvPr/>
        </p:nvSpPr>
        <p:spPr>
          <a:xfrm>
            <a:off x="9079992" y="2606040"/>
            <a:ext cx="1444752" cy="960120"/>
          </a:xfrm>
          <a:prstGeom prst="roundRect">
            <a:avLst>
              <a:gd name="adj" fmla="val 9524"/>
            </a:avLst>
          </a:prstGeom>
          <a:solidFill>
            <a:srgbClr val="132133"/>
          </a:solidFill>
          <a:ln w="12700">
            <a:solidFill>
              <a:srgbClr val="132133"/>
            </a:solidFill>
            <a:prstDash val="solid"/>
          </a:ln>
        </p:spPr>
        <p:txBody>
          <a:bodyPr/>
          <a:lstStyle/>
          <a:p>
            <a:endParaRPr lang="en-US"/>
          </a:p>
        </p:txBody>
      </p:sp>
      <p:sp>
        <p:nvSpPr>
          <p:cNvPr id="29" name="Text 27"/>
          <p:cNvSpPr/>
          <p:nvPr/>
        </p:nvSpPr>
        <p:spPr>
          <a:xfrm>
            <a:off x="9217152" y="3081528"/>
            <a:ext cx="1133856" cy="137160"/>
          </a:xfrm>
          <a:prstGeom prst="rect">
            <a:avLst/>
          </a:prstGeom>
          <a:noFill/>
          <a:ln/>
        </p:spPr>
        <p:txBody>
          <a:bodyPr wrap="square" lIns="381" tIns="381" rIns="381" bIns="381" rtlCol="0" anchor="ctr">
            <a:normAutofit/>
          </a:bodyPr>
          <a:lstStyle/>
          <a:p>
            <a:pPr marL="0" indent="0" algn="ctr">
              <a:buNone/>
            </a:pPr>
            <a:r>
              <a:rPr lang="en-US" sz="700" dirty="0">
                <a:solidFill>
                  <a:srgbClr val="FFFFFF"/>
                </a:solidFill>
                <a:latin typeface="Georgia" pitchFamily="34" charset="0"/>
                <a:ea typeface="Georgia" pitchFamily="34" charset="-122"/>
                <a:cs typeface="Georgia" pitchFamily="34" charset="-120"/>
              </a:rPr>
              <a:t>Salt Air and Quiet Water</a:t>
            </a:r>
            <a:endParaRPr lang="en-US" sz="700" dirty="0"/>
          </a:p>
        </p:txBody>
      </p:sp>
      <p:sp>
        <p:nvSpPr>
          <p:cNvPr id="30" name="Shape 28">
            <a:hlinkClick r:id="rId3" action="ppaction://hlinksldjump"/>
          </p:cNvPr>
          <p:cNvSpPr/>
          <p:nvPr/>
        </p:nvSpPr>
        <p:spPr>
          <a:xfrm>
            <a:off x="713232" y="4892040"/>
            <a:ext cx="14630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31" name="Text 29">
            <a:hlinkClick r:id="rId3" action="ppaction://hlinksldjump"/>
          </p:cNvPr>
          <p:cNvSpPr/>
          <p:nvPr/>
        </p:nvSpPr>
        <p:spPr>
          <a:xfrm>
            <a:off x="740664" y="4974336"/>
            <a:ext cx="14081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Start Walkthrough</a:t>
            </a:r>
            <a:endParaRPr lang="en-US" sz="640" dirty="0"/>
          </a:p>
        </p:txBody>
      </p:sp>
      <p:sp>
        <p:nvSpPr>
          <p:cNvPr id="32" name="Shape 30">
            <a:hlinkClick r:id="rId4" action="ppaction://hlinksldjump"/>
          </p:cNvPr>
          <p:cNvSpPr/>
          <p:nvPr/>
        </p:nvSpPr>
        <p:spPr>
          <a:xfrm>
            <a:off x="2331720" y="4892040"/>
            <a:ext cx="123444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33" name="Text 31">
            <a:hlinkClick r:id="rId4" action="ppaction://hlinksldjump"/>
          </p:cNvPr>
          <p:cNvSpPr/>
          <p:nvPr/>
        </p:nvSpPr>
        <p:spPr>
          <a:xfrm>
            <a:off x="2359152" y="4974336"/>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Jump to Home</a:t>
            </a:r>
            <a:endParaRPr lang="en-US" sz="640" dirty="0"/>
          </a:p>
        </p:txBody>
      </p:sp>
      <p:sp>
        <p:nvSpPr>
          <p:cNvPr id="34" name="Text 32"/>
          <p:cNvSpPr/>
          <p:nvPr/>
        </p:nvSpPr>
        <p:spPr>
          <a:xfrm>
            <a:off x="713232" y="5760720"/>
            <a:ext cx="6400800" cy="274320"/>
          </a:xfrm>
          <a:prstGeom prst="rect">
            <a:avLst/>
          </a:prstGeom>
          <a:noFill/>
          <a:ln/>
        </p:spPr>
        <p:txBody>
          <a:bodyPr wrap="square" lIns="381" tIns="381" rIns="381" bIns="381" rtlCol="0" anchor="ctr">
            <a:normAutofit/>
          </a:bodyPr>
          <a:lstStyle/>
          <a:p>
            <a:pPr marL="0" indent="0" algn="l">
              <a:buNone/>
            </a:pPr>
            <a:r>
              <a:rPr lang="en-US" sz="900" dirty="0">
                <a:solidFill>
                  <a:srgbClr val="536273"/>
                </a:solidFill>
                <a:latin typeface="Arial" pitchFamily="34" charset="0"/>
                <a:ea typeface="Arial" pitchFamily="34" charset="-122"/>
                <a:cs typeface="Arial" pitchFamily="34" charset="-120"/>
              </a:rPr>
              <a:t>Approval-ready package: page mockups, booking flow, page purposes, and clickable prototype links.</a:t>
            </a:r>
            <a:endParaRPr lang="en-US" sz="900" dirty="0"/>
          </a:p>
        </p:txBody>
      </p:sp>
      <p:sp>
        <p:nvSpPr>
          <p:cNvPr id="35" name="Text 33"/>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 | Editable components | Use Slide Show mode to click through the prototype</a:t>
            </a:r>
            <a:endParaRPr lang="en-US" sz="710" dirty="0"/>
          </a:p>
        </p:txBody>
      </p:sp>
      <p:sp>
        <p:nvSpPr>
          <p:cNvPr id="36" name="Shape 34">
            <a:hlinkClick r:id="rId4"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7" name="Text 35">
            <a:hlinkClick r:id="rId4"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Home</a:t>
            </a:r>
            <a:endParaRPr lang="en-US" sz="800" dirty="0"/>
          </a:p>
        </p:txBody>
      </p:sp>
      <p:sp>
        <p:nvSpPr>
          <p:cNvPr id="38" name="Shape 36">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9" name="Text 37">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40" name="Shape 38">
            <a:hlinkClick r:id="rId6"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1" name="Text 39">
            <a:hlinkClick r:id="rId6"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Book</a:t>
            </a:r>
            <a:endParaRPr lang="en-US" sz="800" dirty="0"/>
          </a:p>
        </p:txBody>
      </p:sp>
      <p:sp>
        <p:nvSpPr>
          <p:cNvPr id="42" name="Shape 40">
            <a:hlinkClick r:id="rId7"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3" name="Text 41">
            <a:hlinkClick r:id="rId7"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Lookup</a:t>
            </a:r>
            <a:endParaRPr lang="en-US" sz="800" dirty="0"/>
          </a:p>
        </p:txBody>
      </p:sp>
      <p:sp>
        <p:nvSpPr>
          <p:cNvPr id="44" name="Shape 42">
            <a:hlinkClick r:id="rId3"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45" name="Text 43">
            <a:hlinkClick r:id="rId3"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Site Flow + Prototype Map</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Approval walkthrough for the Moffat Bay Lodge navigation and reservation path.</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2103120" y="2084832"/>
            <a:ext cx="1810512" cy="0"/>
          </a:xfrm>
          <a:prstGeom prst="line">
            <a:avLst/>
          </a:prstGeom>
          <a:noFill/>
          <a:ln w="16510">
            <a:solidFill>
              <a:srgbClr val="276F7B"/>
            </a:solidFill>
            <a:prstDash val="solid"/>
            <a:headEnd type="none"/>
            <a:tailEnd type="triangle"/>
          </a:ln>
        </p:spPr>
        <p:txBody>
          <a:bodyPr/>
          <a:lstStyle/>
          <a:p>
            <a:endParaRPr lang="en-US"/>
          </a:p>
        </p:txBody>
      </p:sp>
      <p:sp>
        <p:nvSpPr>
          <p:cNvPr id="6" name="Shape 4"/>
          <p:cNvSpPr/>
          <p:nvPr/>
        </p:nvSpPr>
        <p:spPr>
          <a:xfrm>
            <a:off x="5074920" y="2084832"/>
            <a:ext cx="1801368" cy="0"/>
          </a:xfrm>
          <a:prstGeom prst="line">
            <a:avLst/>
          </a:prstGeom>
          <a:noFill/>
          <a:ln w="16510">
            <a:solidFill>
              <a:srgbClr val="276F7B"/>
            </a:solidFill>
            <a:prstDash val="solid"/>
            <a:headEnd type="none"/>
            <a:tailEnd type="triangle"/>
          </a:ln>
        </p:spPr>
        <p:txBody>
          <a:bodyPr/>
          <a:lstStyle/>
          <a:p>
            <a:endParaRPr lang="en-US"/>
          </a:p>
        </p:txBody>
      </p:sp>
      <p:sp>
        <p:nvSpPr>
          <p:cNvPr id="7" name="Shape 5"/>
          <p:cNvSpPr/>
          <p:nvPr/>
        </p:nvSpPr>
        <p:spPr>
          <a:xfrm>
            <a:off x="8046720" y="2084832"/>
            <a:ext cx="1508760" cy="0"/>
          </a:xfrm>
          <a:prstGeom prst="line">
            <a:avLst/>
          </a:prstGeom>
          <a:noFill/>
          <a:ln w="16510">
            <a:solidFill>
              <a:srgbClr val="276F7B"/>
            </a:solidFill>
            <a:prstDash val="solid"/>
            <a:headEnd type="none"/>
            <a:tailEnd type="triangle"/>
          </a:ln>
        </p:spPr>
        <p:txBody>
          <a:bodyPr/>
          <a:lstStyle/>
          <a:p>
            <a:endParaRPr lang="en-US"/>
          </a:p>
        </p:txBody>
      </p:sp>
      <p:sp>
        <p:nvSpPr>
          <p:cNvPr id="8" name="Shape 6"/>
          <p:cNvSpPr/>
          <p:nvPr/>
        </p:nvSpPr>
        <p:spPr>
          <a:xfrm>
            <a:off x="2743200" y="2788920"/>
            <a:ext cx="0" cy="1005840"/>
          </a:xfrm>
          <a:prstGeom prst="line">
            <a:avLst/>
          </a:prstGeom>
          <a:noFill/>
          <a:ln w="16510">
            <a:solidFill>
              <a:srgbClr val="276F7B"/>
            </a:solidFill>
            <a:prstDash val="solid"/>
            <a:headEnd type="none"/>
            <a:tailEnd type="triangle"/>
          </a:ln>
        </p:spPr>
        <p:txBody>
          <a:bodyPr/>
          <a:lstStyle/>
          <a:p>
            <a:endParaRPr lang="en-US"/>
          </a:p>
        </p:txBody>
      </p:sp>
      <p:sp>
        <p:nvSpPr>
          <p:cNvPr id="9" name="Shape 7"/>
          <p:cNvSpPr/>
          <p:nvPr/>
        </p:nvSpPr>
        <p:spPr>
          <a:xfrm>
            <a:off x="2743200" y="3794760"/>
            <a:ext cx="1828800" cy="0"/>
          </a:xfrm>
          <a:prstGeom prst="line">
            <a:avLst/>
          </a:prstGeom>
          <a:noFill/>
          <a:ln w="16510">
            <a:solidFill>
              <a:srgbClr val="276F7B"/>
            </a:solidFill>
            <a:prstDash val="solid"/>
            <a:headEnd type="none"/>
            <a:tailEnd type="triangle"/>
          </a:ln>
        </p:spPr>
        <p:txBody>
          <a:bodyPr/>
          <a:lstStyle/>
          <a:p>
            <a:endParaRPr lang="en-US"/>
          </a:p>
        </p:txBody>
      </p:sp>
      <p:sp>
        <p:nvSpPr>
          <p:cNvPr id="10" name="Shape 8"/>
          <p:cNvSpPr/>
          <p:nvPr/>
        </p:nvSpPr>
        <p:spPr>
          <a:xfrm>
            <a:off x="5760720" y="3794760"/>
            <a:ext cx="1600200" cy="0"/>
          </a:xfrm>
          <a:prstGeom prst="line">
            <a:avLst/>
          </a:prstGeom>
          <a:noFill/>
          <a:ln w="16510">
            <a:solidFill>
              <a:srgbClr val="276F7B"/>
            </a:solidFill>
            <a:prstDash val="solid"/>
            <a:headEnd type="none"/>
            <a:tailEnd type="triangle"/>
          </a:ln>
        </p:spPr>
        <p:txBody>
          <a:bodyPr/>
          <a:lstStyle/>
          <a:p>
            <a:endParaRPr lang="en-US"/>
          </a:p>
        </p:txBody>
      </p:sp>
      <p:sp>
        <p:nvSpPr>
          <p:cNvPr id="11" name="Shape 9"/>
          <p:cNvSpPr/>
          <p:nvPr/>
        </p:nvSpPr>
        <p:spPr>
          <a:xfrm>
            <a:off x="8549640" y="3794760"/>
            <a:ext cx="1307592" cy="0"/>
          </a:xfrm>
          <a:prstGeom prst="line">
            <a:avLst/>
          </a:prstGeom>
          <a:noFill/>
          <a:ln w="16510">
            <a:solidFill>
              <a:srgbClr val="276F7B"/>
            </a:solidFill>
            <a:prstDash val="solid"/>
            <a:headEnd type="none"/>
            <a:tailEnd type="triangle"/>
          </a:ln>
        </p:spPr>
        <p:txBody>
          <a:bodyPr/>
          <a:lstStyle/>
          <a:p>
            <a:endParaRPr lang="en-US"/>
          </a:p>
        </p:txBody>
      </p:sp>
      <p:sp>
        <p:nvSpPr>
          <p:cNvPr id="12" name="Shape 10">
            <a:hlinkClick r:id="rId3" action="ppaction://hlinksldjump"/>
          </p:cNvPr>
          <p:cNvSpPr/>
          <p:nvPr/>
        </p:nvSpPr>
        <p:spPr>
          <a:xfrm>
            <a:off x="914400" y="1755648"/>
            <a:ext cx="1325880" cy="658368"/>
          </a:xfrm>
          <a:prstGeom prst="roundRect">
            <a:avLst>
              <a:gd name="adj" fmla="val 16667"/>
            </a:avLst>
          </a:prstGeom>
          <a:solidFill>
            <a:srgbClr val="CDA059"/>
          </a:solidFill>
          <a:ln w="12700">
            <a:solidFill>
              <a:srgbClr val="CDA059"/>
            </a:solidFill>
            <a:prstDash val="solid"/>
          </a:ln>
          <a:effectLst>
            <a:outerShdw blurRad="12700" dist="8890" dir="2700000" algn="bl" rotWithShape="0">
              <a:srgbClr val="132133">
                <a:alpha val="8000"/>
              </a:srgbClr>
            </a:outerShdw>
          </a:effectLst>
        </p:spPr>
        <p:txBody>
          <a:bodyPr/>
          <a:lstStyle/>
          <a:p>
            <a:endParaRPr lang="en-US"/>
          </a:p>
        </p:txBody>
      </p:sp>
      <p:sp>
        <p:nvSpPr>
          <p:cNvPr id="13" name="Text 11">
            <a:hlinkClick r:id="rId3" action="ppaction://hlinksldjump"/>
          </p:cNvPr>
          <p:cNvSpPr/>
          <p:nvPr/>
        </p:nvSpPr>
        <p:spPr>
          <a:xfrm>
            <a:off x="987552" y="1965960"/>
            <a:ext cx="117957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Landing / Home</a:t>
            </a:r>
            <a:endParaRPr lang="en-US" sz="900" dirty="0"/>
          </a:p>
        </p:txBody>
      </p:sp>
      <p:sp>
        <p:nvSpPr>
          <p:cNvPr id="14" name="Shape 12">
            <a:hlinkClick r:id="rId4" action="ppaction://hlinksldjump"/>
          </p:cNvPr>
          <p:cNvSpPr/>
          <p:nvPr/>
        </p:nvSpPr>
        <p:spPr>
          <a:xfrm>
            <a:off x="3703320" y="1755648"/>
            <a:ext cx="141732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15" name="Text 13">
            <a:hlinkClick r:id="rId4" action="ppaction://hlinksldjump"/>
          </p:cNvPr>
          <p:cNvSpPr/>
          <p:nvPr/>
        </p:nvSpPr>
        <p:spPr>
          <a:xfrm>
            <a:off x="3776472" y="1965960"/>
            <a:ext cx="127101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Rooms &amp; Pricing</a:t>
            </a:r>
            <a:endParaRPr lang="en-US" sz="900" dirty="0"/>
          </a:p>
        </p:txBody>
      </p:sp>
      <p:sp>
        <p:nvSpPr>
          <p:cNvPr id="16" name="Shape 14">
            <a:hlinkClick r:id="rId5" action="ppaction://hlinksldjump"/>
          </p:cNvPr>
          <p:cNvSpPr/>
          <p:nvPr/>
        </p:nvSpPr>
        <p:spPr>
          <a:xfrm>
            <a:off x="6656832" y="1755648"/>
            <a:ext cx="1325880" cy="658368"/>
          </a:xfrm>
          <a:prstGeom prst="roundRect">
            <a:avLst>
              <a:gd name="adj" fmla="val 16667"/>
            </a:avLst>
          </a:prstGeom>
          <a:solidFill>
            <a:srgbClr val="132133"/>
          </a:solidFill>
          <a:ln w="12700">
            <a:solidFill>
              <a:srgbClr val="132133"/>
            </a:solidFill>
            <a:prstDash val="solid"/>
          </a:ln>
          <a:effectLst>
            <a:outerShdw blurRad="12700" dist="8890" dir="2700000" algn="bl" rotWithShape="0">
              <a:srgbClr val="132133">
                <a:alpha val="8000"/>
              </a:srgbClr>
            </a:outerShdw>
          </a:effectLst>
        </p:spPr>
        <p:txBody>
          <a:bodyPr/>
          <a:lstStyle/>
          <a:p>
            <a:endParaRPr lang="en-US"/>
          </a:p>
        </p:txBody>
      </p:sp>
      <p:sp>
        <p:nvSpPr>
          <p:cNvPr id="17" name="Text 15">
            <a:hlinkClick r:id="rId5" action="ppaction://hlinksldjump"/>
          </p:cNvPr>
          <p:cNvSpPr/>
          <p:nvPr/>
        </p:nvSpPr>
        <p:spPr>
          <a:xfrm>
            <a:off x="6729984" y="1965960"/>
            <a:ext cx="117957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FFFFFF"/>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Book Your Stay</a:t>
            </a:r>
            <a:endParaRPr lang="en-US" sz="900" dirty="0"/>
          </a:p>
        </p:txBody>
      </p:sp>
      <p:sp>
        <p:nvSpPr>
          <p:cNvPr id="18" name="Shape 16">
            <a:hlinkClick r:id="rId6" action="ppaction://hlinksldjump"/>
          </p:cNvPr>
          <p:cNvSpPr/>
          <p:nvPr/>
        </p:nvSpPr>
        <p:spPr>
          <a:xfrm>
            <a:off x="9372600" y="1755648"/>
            <a:ext cx="1600200" cy="658368"/>
          </a:xfrm>
          <a:prstGeom prst="roundRect">
            <a:avLst>
              <a:gd name="adj" fmla="val 16667"/>
            </a:avLst>
          </a:prstGeom>
          <a:solidFill>
            <a:srgbClr val="CDA059"/>
          </a:solidFill>
          <a:ln w="12700">
            <a:solidFill>
              <a:srgbClr val="CDA059"/>
            </a:solidFill>
            <a:prstDash val="solid"/>
          </a:ln>
          <a:effectLst>
            <a:outerShdw blurRad="12700" dist="8890" dir="2700000" algn="bl" rotWithShape="0">
              <a:srgbClr val="132133">
                <a:alpha val="8000"/>
              </a:srgbClr>
            </a:outerShdw>
          </a:effectLst>
        </p:spPr>
        <p:txBody>
          <a:bodyPr/>
          <a:lstStyle/>
          <a:p>
            <a:endParaRPr lang="en-US"/>
          </a:p>
        </p:txBody>
      </p:sp>
      <p:sp>
        <p:nvSpPr>
          <p:cNvPr id="19" name="Text 17">
            <a:hlinkClick r:id="rId6" action="ppaction://hlinksldjump"/>
          </p:cNvPr>
          <p:cNvSpPr/>
          <p:nvPr/>
        </p:nvSpPr>
        <p:spPr>
          <a:xfrm>
            <a:off x="9445752" y="1965960"/>
            <a:ext cx="145389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Reservation Summary</a:t>
            </a:r>
            <a:endParaRPr lang="en-US" sz="900" dirty="0"/>
          </a:p>
        </p:txBody>
      </p:sp>
      <p:sp>
        <p:nvSpPr>
          <p:cNvPr id="20" name="Shape 18">
            <a:hlinkClick r:id="rId7" action="ppaction://hlinksldjump"/>
          </p:cNvPr>
          <p:cNvSpPr/>
          <p:nvPr/>
        </p:nvSpPr>
        <p:spPr>
          <a:xfrm>
            <a:off x="2011680" y="3474720"/>
            <a:ext cx="12344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1" name="Text 19">
            <a:hlinkClick r:id="rId7" action="ppaction://hlinksldjump"/>
          </p:cNvPr>
          <p:cNvSpPr/>
          <p:nvPr/>
        </p:nvSpPr>
        <p:spPr>
          <a:xfrm>
            <a:off x="2084832" y="3685032"/>
            <a:ext cx="10881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About</a:t>
            </a:r>
            <a:endParaRPr lang="en-US" sz="900" dirty="0"/>
          </a:p>
        </p:txBody>
      </p:sp>
      <p:sp>
        <p:nvSpPr>
          <p:cNvPr id="22" name="Shape 20">
            <a:hlinkClick r:id="rId8" action="ppaction://hlinksldjump"/>
          </p:cNvPr>
          <p:cNvSpPr/>
          <p:nvPr/>
        </p:nvSpPr>
        <p:spPr>
          <a:xfrm>
            <a:off x="4315968" y="3474720"/>
            <a:ext cx="141732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3" name="Text 21">
            <a:hlinkClick r:id="rId8" action="ppaction://hlinksldjump"/>
          </p:cNvPr>
          <p:cNvSpPr/>
          <p:nvPr/>
        </p:nvSpPr>
        <p:spPr>
          <a:xfrm>
            <a:off x="4389120" y="3685032"/>
            <a:ext cx="127101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Attractions</a:t>
            </a:r>
            <a:endParaRPr lang="en-US" sz="900" dirty="0"/>
          </a:p>
        </p:txBody>
      </p:sp>
      <p:sp>
        <p:nvSpPr>
          <p:cNvPr id="24" name="Shape 22">
            <a:hlinkClick r:id="rId9" action="ppaction://hlinksldjump"/>
          </p:cNvPr>
          <p:cNvSpPr/>
          <p:nvPr/>
        </p:nvSpPr>
        <p:spPr>
          <a:xfrm>
            <a:off x="7159752" y="3474720"/>
            <a:ext cx="12344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5" name="Text 23">
            <a:hlinkClick r:id="rId9" action="ppaction://hlinksldjump"/>
          </p:cNvPr>
          <p:cNvSpPr/>
          <p:nvPr/>
        </p:nvSpPr>
        <p:spPr>
          <a:xfrm>
            <a:off x="7232904" y="3685032"/>
            <a:ext cx="10881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Contact</a:t>
            </a:r>
            <a:endParaRPr lang="en-US" sz="900" dirty="0"/>
          </a:p>
        </p:txBody>
      </p:sp>
      <p:sp>
        <p:nvSpPr>
          <p:cNvPr id="26" name="Shape 24">
            <a:hlinkClick r:id="rId10" action="ppaction://hlinksldjump"/>
          </p:cNvPr>
          <p:cNvSpPr/>
          <p:nvPr/>
        </p:nvSpPr>
        <p:spPr>
          <a:xfrm>
            <a:off x="9582912" y="3474720"/>
            <a:ext cx="1508760" cy="658368"/>
          </a:xfrm>
          <a:prstGeom prst="roundRect">
            <a:avLst>
              <a:gd name="adj" fmla="val 16667"/>
            </a:avLst>
          </a:prstGeom>
          <a:solidFill>
            <a:srgbClr val="132133"/>
          </a:solidFill>
          <a:ln w="12700">
            <a:solidFill>
              <a:srgbClr val="132133"/>
            </a:solidFill>
            <a:prstDash val="solid"/>
          </a:ln>
          <a:effectLst>
            <a:outerShdw blurRad="12700" dist="8890" dir="2700000" algn="bl" rotWithShape="0">
              <a:srgbClr val="132133">
                <a:alpha val="8000"/>
              </a:srgbClr>
            </a:outerShdw>
          </a:effectLst>
        </p:spPr>
        <p:txBody>
          <a:bodyPr/>
          <a:lstStyle/>
          <a:p>
            <a:endParaRPr lang="en-US"/>
          </a:p>
        </p:txBody>
      </p:sp>
      <p:sp>
        <p:nvSpPr>
          <p:cNvPr id="27" name="Text 25">
            <a:hlinkClick r:id="rId10" action="ppaction://hlinksldjump"/>
          </p:cNvPr>
          <p:cNvSpPr/>
          <p:nvPr/>
        </p:nvSpPr>
        <p:spPr>
          <a:xfrm>
            <a:off x="9656064" y="3685032"/>
            <a:ext cx="136245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Login / Register</a:t>
            </a:r>
            <a:endParaRPr lang="en-US" sz="900" dirty="0"/>
          </a:p>
        </p:txBody>
      </p:sp>
      <p:sp>
        <p:nvSpPr>
          <p:cNvPr id="28" name="Shape 26">
            <a:hlinkClick r:id="rId11" action="ppaction://hlinksldjump"/>
          </p:cNvPr>
          <p:cNvSpPr/>
          <p:nvPr/>
        </p:nvSpPr>
        <p:spPr>
          <a:xfrm>
            <a:off x="9372600" y="4983480"/>
            <a:ext cx="1691640" cy="658368"/>
          </a:xfrm>
          <a:prstGeom prst="roundRect">
            <a:avLst>
              <a:gd name="adj" fmla="val 16667"/>
            </a:avLst>
          </a:prstGeom>
          <a:solidFill>
            <a:srgbClr val="FFFFFF"/>
          </a:solidFill>
          <a:ln w="12700">
            <a:solidFill>
              <a:srgbClr val="276F7B"/>
            </a:solidFill>
            <a:prstDash val="solid"/>
          </a:ln>
          <a:effectLst>
            <a:outerShdw blurRad="12700" dist="8890" dir="2700000" algn="bl" rotWithShape="0">
              <a:srgbClr val="132133">
                <a:alpha val="8000"/>
              </a:srgbClr>
            </a:outerShdw>
          </a:effectLst>
        </p:spPr>
        <p:txBody>
          <a:bodyPr/>
          <a:lstStyle/>
          <a:p>
            <a:endParaRPr lang="en-US"/>
          </a:p>
        </p:txBody>
      </p:sp>
      <p:sp>
        <p:nvSpPr>
          <p:cNvPr id="29" name="Text 27">
            <a:hlinkClick r:id="rId11" action="ppaction://hlinksldjump"/>
          </p:cNvPr>
          <p:cNvSpPr/>
          <p:nvPr/>
        </p:nvSpPr>
        <p:spPr>
          <a:xfrm>
            <a:off x="9445752" y="5193792"/>
            <a:ext cx="1545336" cy="155448"/>
          </a:xfrm>
          <a:prstGeom prst="rect">
            <a:avLst/>
          </a:prstGeom>
          <a:noFill/>
          <a:ln/>
        </p:spPr>
        <p:txBody>
          <a:bodyPr wrap="square" lIns="381" tIns="381" rIns="381" bIns="381" rtlCol="0" anchor="ctr">
            <a:normAutofit/>
          </a:bodyPr>
          <a:lstStyle/>
          <a:p>
            <a:pPr marL="0" indent="0" algn="ctr">
              <a:buNone/>
            </a:pPr>
            <a:r>
              <a:rPr lang="en-US" sz="90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Reservation Lookup</a:t>
            </a:r>
            <a:endParaRPr lang="en-US" sz="900" dirty="0"/>
          </a:p>
        </p:txBody>
      </p:sp>
      <p:sp>
        <p:nvSpPr>
          <p:cNvPr id="30" name="Shape 28"/>
          <p:cNvSpPr/>
          <p:nvPr/>
        </p:nvSpPr>
        <p:spPr>
          <a:xfrm>
            <a:off x="713232" y="4800600"/>
            <a:ext cx="7040880" cy="868680"/>
          </a:xfrm>
          <a:prstGeom prst="roundRect">
            <a:avLst>
              <a:gd name="adj" fmla="val 12632"/>
            </a:avLst>
          </a:prstGeom>
          <a:solidFill>
            <a:srgbClr val="FFFFFF">
              <a:alpha val="88000"/>
            </a:srgbClr>
          </a:solidFill>
          <a:ln w="12700">
            <a:solidFill>
              <a:srgbClr val="E9DFCF"/>
            </a:solidFill>
            <a:prstDash val="solid"/>
          </a:ln>
        </p:spPr>
        <p:txBody>
          <a:bodyPr/>
          <a:lstStyle/>
          <a:p>
            <a:endParaRPr lang="en-US"/>
          </a:p>
        </p:txBody>
      </p:sp>
      <p:sp>
        <p:nvSpPr>
          <p:cNvPr id="31" name="Text 29"/>
          <p:cNvSpPr/>
          <p:nvPr/>
        </p:nvSpPr>
        <p:spPr>
          <a:xfrm>
            <a:off x="896112" y="5047488"/>
            <a:ext cx="6675120" cy="292608"/>
          </a:xfrm>
          <a:prstGeom prst="rect">
            <a:avLst/>
          </a:prstGeom>
          <a:noFill/>
          <a:ln/>
        </p:spPr>
        <p:txBody>
          <a:bodyPr wrap="square" lIns="381" tIns="381" rIns="381" bIns="381" rtlCol="0" anchor="t">
            <a:normAutofit lnSpcReduction="10000"/>
          </a:bodyPr>
          <a:lstStyle/>
          <a:p>
            <a:pPr marL="0" indent="0" algn="l">
              <a:buNone/>
            </a:pPr>
            <a:r>
              <a:rPr lang="en-US" sz="1000" dirty="0">
                <a:solidFill>
                  <a:srgbClr val="2A3B50"/>
                </a:solidFill>
                <a:latin typeface="Arial" pitchFamily="34" charset="0"/>
                <a:ea typeface="Arial" pitchFamily="34" charset="-122"/>
                <a:cs typeface="Arial" pitchFamily="34" charset="-120"/>
              </a:rPr>
              <a:t>Primary reviewer path: Home → Rooms &amp; Pricing → Book Your Stay → Reservation Summary. Secondary paths support lodge information, activities, contact, account creation, and reservation lookup.</a:t>
            </a:r>
            <a:endParaRPr lang="en-US" sz="1000" dirty="0"/>
          </a:p>
        </p:txBody>
      </p:sp>
      <p:sp>
        <p:nvSpPr>
          <p:cNvPr id="32" name="Text 30"/>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2 | Editable components | Use Slide Show mode to click through the prototype</a:t>
            </a:r>
            <a:endParaRPr lang="en-US" sz="710" dirty="0"/>
          </a:p>
        </p:txBody>
      </p:sp>
      <p:sp>
        <p:nvSpPr>
          <p:cNvPr id="33" name="Shape 31">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5" name="Shape 33">
            <a:hlinkClick r:id="rId4"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6" name="Text 34">
            <a:hlinkClick r:id="rId4"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Rooms</a:t>
            </a:r>
            <a:endParaRPr lang="en-US" sz="800" dirty="0"/>
          </a:p>
        </p:txBody>
      </p:sp>
      <p:sp>
        <p:nvSpPr>
          <p:cNvPr id="37" name="Shape 35">
            <a:hlinkClick r:id="rId5"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8" name="Text 36">
            <a:hlinkClick r:id="rId5"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Book</a:t>
            </a:r>
            <a:endParaRPr lang="en-US" sz="800" dirty="0"/>
          </a:p>
        </p:txBody>
      </p:sp>
      <p:sp>
        <p:nvSpPr>
          <p:cNvPr id="39" name="Shape 37">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40" name="Text 38">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41" name="Shape 39">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42" name="Text 40">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Landing Page Mockup</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Realistic mockup of the website home page with header, hero, room cards, CTAs, and activity section.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moffatbaylodge.com/index.html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Shape 15"/>
          <p:cNvSpPr/>
          <p:nvPr/>
        </p:nvSpPr>
        <p:spPr>
          <a:xfrm>
            <a:off x="3337560" y="1627632"/>
            <a:ext cx="310896" cy="22860"/>
          </a:xfrm>
          <a:prstGeom prst="rect">
            <a:avLst/>
          </a:prstGeom>
          <a:solidFill>
            <a:srgbClr val="2F8694"/>
          </a:solidFill>
          <a:ln w="12700">
            <a:solidFill>
              <a:srgbClr val="2F8694"/>
            </a:solidFill>
            <a:prstDash val="solid"/>
          </a:ln>
        </p:spPr>
        <p:txBody>
          <a:bodyPr/>
          <a:lstStyle/>
          <a:p>
            <a:endParaRPr lang="en-US"/>
          </a:p>
        </p:txBody>
      </p:sp>
      <p:sp>
        <p:nvSpPr>
          <p:cNvPr id="18" name="Text 16">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9" name="Text 17">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3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Shape 36"/>
          <p:cNvSpPr/>
          <p:nvPr/>
        </p:nvSpPr>
        <p:spPr>
          <a:xfrm>
            <a:off x="822960" y="2130552"/>
            <a:ext cx="5212080" cy="1664208"/>
          </a:xfrm>
          <a:prstGeom prst="roundRect">
            <a:avLst>
              <a:gd name="adj" fmla="val 8791"/>
            </a:avLst>
          </a:prstGeom>
          <a:solidFill>
            <a:srgbClr val="FFFFFF">
              <a:alpha val="92000"/>
            </a:srgbClr>
          </a:solidFill>
          <a:ln w="12700">
            <a:solidFill>
              <a:srgbClr val="E9DFCF">
                <a:alpha val="70000"/>
              </a:srgbClr>
            </a:solidFill>
            <a:prstDash val="solid"/>
          </a:ln>
          <a:effectLst>
            <a:outerShdw blurRad="12700" dist="10160" dir="2700000" algn="bl" rotWithShape="0">
              <a:srgbClr val="132133">
                <a:alpha val="8000"/>
              </a:srgbClr>
            </a:outerShdw>
          </a:effectLst>
        </p:spPr>
        <p:txBody>
          <a:bodyPr/>
          <a:lstStyle/>
          <a:p>
            <a:endParaRPr lang="en-US"/>
          </a:p>
        </p:txBody>
      </p:sp>
      <p:sp>
        <p:nvSpPr>
          <p:cNvPr id="39" name="Text 37"/>
          <p:cNvSpPr/>
          <p:nvPr/>
        </p:nvSpPr>
        <p:spPr>
          <a:xfrm>
            <a:off x="1051560" y="2359152"/>
            <a:ext cx="466344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WELCOME TO MOFFAT BAY</a:t>
            </a:r>
            <a:endParaRPr lang="en-US" sz="680" dirty="0"/>
          </a:p>
        </p:txBody>
      </p:sp>
      <p:sp>
        <p:nvSpPr>
          <p:cNvPr id="40" name="Text 38"/>
          <p:cNvSpPr/>
          <p:nvPr/>
        </p:nvSpPr>
        <p:spPr>
          <a:xfrm>
            <a:off x="1051560" y="2560320"/>
            <a:ext cx="4663440" cy="420624"/>
          </a:xfrm>
          <a:prstGeom prst="rect">
            <a:avLst/>
          </a:prstGeom>
          <a:noFill/>
          <a:ln/>
        </p:spPr>
        <p:txBody>
          <a:bodyPr wrap="square" lIns="381" tIns="381" rIns="381" bIns="381" rtlCol="0" anchor="ctr">
            <a:normAutofit fontScale="92500"/>
          </a:bodyPr>
          <a:lstStyle/>
          <a:p>
            <a:pPr marL="0" indent="0" algn="l">
              <a:buNone/>
            </a:pPr>
            <a:r>
              <a:rPr lang="en-US" sz="2000" dirty="0">
                <a:solidFill>
                  <a:srgbClr val="132133"/>
                </a:solidFill>
                <a:latin typeface="Georgia" pitchFamily="34" charset="0"/>
                <a:ea typeface="Georgia" pitchFamily="34" charset="-122"/>
                <a:cs typeface="Georgia" pitchFamily="34" charset="-120"/>
              </a:rPr>
              <a:t>One Island. One Lodge. Endless Adventure.</a:t>
            </a:r>
            <a:endParaRPr lang="en-US" sz="2000" dirty="0"/>
          </a:p>
        </p:txBody>
      </p:sp>
      <p:sp>
        <p:nvSpPr>
          <p:cNvPr id="41" name="Text 39"/>
          <p:cNvSpPr/>
          <p:nvPr/>
        </p:nvSpPr>
        <p:spPr>
          <a:xfrm>
            <a:off x="1051560" y="3054096"/>
            <a:ext cx="4663440" cy="320040"/>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Comfortable lodging, coastal adventure, and a simple reservation experience come together at one island retreat.</a:t>
            </a:r>
            <a:endParaRPr lang="en-US" sz="840" dirty="0"/>
          </a:p>
        </p:txBody>
      </p:sp>
      <p:sp>
        <p:nvSpPr>
          <p:cNvPr id="42" name="Shape 40">
            <a:hlinkClick r:id="rId8" action="ppaction://hlinksldjump"/>
          </p:cNvPr>
          <p:cNvSpPr/>
          <p:nvPr/>
        </p:nvSpPr>
        <p:spPr>
          <a:xfrm>
            <a:off x="1051560" y="3392424"/>
            <a:ext cx="1133856"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3" name="Text 41">
            <a:hlinkClick r:id="rId8" action="ppaction://hlinksldjump"/>
          </p:cNvPr>
          <p:cNvSpPr/>
          <p:nvPr/>
        </p:nvSpPr>
        <p:spPr>
          <a:xfrm>
            <a:off x="1078992" y="3474720"/>
            <a:ext cx="1078992"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 Your Stay</a:t>
            </a:r>
            <a:endParaRPr lang="en-US" sz="640" dirty="0"/>
          </a:p>
        </p:txBody>
      </p:sp>
      <p:sp>
        <p:nvSpPr>
          <p:cNvPr id="44" name="Shape 42">
            <a:hlinkClick r:id="rId5" action="ppaction://hlinksldjump"/>
          </p:cNvPr>
          <p:cNvSpPr/>
          <p:nvPr/>
        </p:nvSpPr>
        <p:spPr>
          <a:xfrm>
            <a:off x="2331720" y="3392424"/>
            <a:ext cx="1225296"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45" name="Text 43">
            <a:hlinkClick r:id="rId5" action="ppaction://hlinksldjump"/>
          </p:cNvPr>
          <p:cNvSpPr/>
          <p:nvPr/>
        </p:nvSpPr>
        <p:spPr>
          <a:xfrm>
            <a:off x="2359152" y="3474720"/>
            <a:ext cx="1170432"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46" name="Shape 44"/>
          <p:cNvSpPr/>
          <p:nvPr/>
        </p:nvSpPr>
        <p:spPr>
          <a:xfrm>
            <a:off x="3730752" y="3447288"/>
            <a:ext cx="676656" cy="201168"/>
          </a:xfrm>
          <a:prstGeom prst="roundRect">
            <a:avLst>
              <a:gd name="adj" fmla="val 36364"/>
            </a:avLst>
          </a:prstGeom>
          <a:solidFill>
            <a:srgbClr val="E0F0EF"/>
          </a:solidFill>
          <a:ln w="12700">
            <a:solidFill>
              <a:srgbClr val="E0F0EF">
                <a:alpha val="0"/>
              </a:srgbClr>
            </a:solidFill>
            <a:prstDash val="solid"/>
          </a:ln>
        </p:spPr>
        <p:txBody>
          <a:bodyPr/>
          <a:lstStyle/>
          <a:p>
            <a:endParaRPr lang="en-US"/>
          </a:p>
        </p:txBody>
      </p:sp>
      <p:sp>
        <p:nvSpPr>
          <p:cNvPr id="47" name="Text 45"/>
          <p:cNvSpPr/>
          <p:nvPr/>
        </p:nvSpPr>
        <p:spPr>
          <a:xfrm>
            <a:off x="3758184" y="3502152"/>
            <a:ext cx="621792" cy="91440"/>
          </a:xfrm>
          <a:prstGeom prst="rect">
            <a:avLst/>
          </a:prstGeom>
          <a:noFill/>
          <a:ln/>
        </p:spPr>
        <p:txBody>
          <a:bodyPr wrap="square" lIns="381" tIns="381" rIns="381" bIns="381" rtlCol="0" anchor="ctr">
            <a:normAutofit/>
          </a:bodyPr>
          <a:lstStyle/>
          <a:p>
            <a:pPr marL="0" indent="0" algn="ctr">
              <a:buNone/>
            </a:pPr>
            <a:r>
              <a:rPr lang="en-US" sz="540" b="1" dirty="0">
                <a:solidFill>
                  <a:srgbClr val="276F7B"/>
                </a:solidFill>
                <a:latin typeface="Arial" pitchFamily="34" charset="0"/>
                <a:ea typeface="Arial" pitchFamily="34" charset="-122"/>
                <a:cs typeface="Arial" pitchFamily="34" charset="-120"/>
              </a:rPr>
              <a:t>4 Room Types</a:t>
            </a:r>
            <a:endParaRPr lang="en-US" sz="540" dirty="0"/>
          </a:p>
        </p:txBody>
      </p:sp>
      <p:sp>
        <p:nvSpPr>
          <p:cNvPr id="48" name="Shape 46"/>
          <p:cNvSpPr/>
          <p:nvPr/>
        </p:nvSpPr>
        <p:spPr>
          <a:xfrm>
            <a:off x="4498848" y="3447288"/>
            <a:ext cx="768096" cy="201168"/>
          </a:xfrm>
          <a:prstGeom prst="roundRect">
            <a:avLst>
              <a:gd name="adj" fmla="val 36364"/>
            </a:avLst>
          </a:prstGeom>
          <a:solidFill>
            <a:srgbClr val="E0F0EF"/>
          </a:solidFill>
          <a:ln w="12700">
            <a:solidFill>
              <a:srgbClr val="E0F0EF">
                <a:alpha val="0"/>
              </a:srgbClr>
            </a:solidFill>
            <a:prstDash val="solid"/>
          </a:ln>
        </p:spPr>
        <p:txBody>
          <a:bodyPr/>
          <a:lstStyle/>
          <a:p>
            <a:endParaRPr lang="en-US"/>
          </a:p>
        </p:txBody>
      </p:sp>
      <p:sp>
        <p:nvSpPr>
          <p:cNvPr id="49" name="Text 47"/>
          <p:cNvSpPr/>
          <p:nvPr/>
        </p:nvSpPr>
        <p:spPr>
          <a:xfrm>
            <a:off x="4526280" y="3502152"/>
            <a:ext cx="713232" cy="91440"/>
          </a:xfrm>
          <a:prstGeom prst="rect">
            <a:avLst/>
          </a:prstGeom>
          <a:noFill/>
          <a:ln/>
        </p:spPr>
        <p:txBody>
          <a:bodyPr wrap="square" lIns="381" tIns="381" rIns="381" bIns="381" rtlCol="0" anchor="ctr">
            <a:normAutofit/>
          </a:bodyPr>
          <a:lstStyle/>
          <a:p>
            <a:pPr marL="0" indent="0" algn="ctr">
              <a:buNone/>
            </a:pPr>
            <a:r>
              <a:rPr lang="en-US" sz="540" b="1" dirty="0">
                <a:solidFill>
                  <a:srgbClr val="276F7B"/>
                </a:solidFill>
                <a:latin typeface="Arial" pitchFamily="34" charset="0"/>
                <a:ea typeface="Arial" pitchFamily="34" charset="-122"/>
                <a:cs typeface="Arial" pitchFamily="34" charset="-120"/>
              </a:rPr>
              <a:t>Family Friendly</a:t>
            </a:r>
            <a:endParaRPr lang="en-US" sz="540" dirty="0"/>
          </a:p>
        </p:txBody>
      </p:sp>
      <p:sp>
        <p:nvSpPr>
          <p:cNvPr id="50" name="Shape 48"/>
          <p:cNvSpPr/>
          <p:nvPr/>
        </p:nvSpPr>
        <p:spPr>
          <a:xfrm>
            <a:off x="6259068" y="2093976"/>
            <a:ext cx="4434840" cy="1664208"/>
          </a:xfrm>
          <a:prstGeom prst="roundRect">
            <a:avLst>
              <a:gd name="adj" fmla="val 8791"/>
            </a:avLst>
          </a:prstGeom>
          <a:solidFill>
            <a:srgbClr val="132133"/>
          </a:solidFill>
          <a:ln w="12700">
            <a:solidFill>
              <a:srgbClr val="132133"/>
            </a:solidFill>
            <a:prstDash val="solid"/>
          </a:ln>
          <a:effectLst>
            <a:outerShdw blurRad="12700" dist="10160" dir="2700000" algn="bl" rotWithShape="0">
              <a:srgbClr val="132133">
                <a:alpha val="12000"/>
              </a:srgbClr>
            </a:outerShdw>
          </a:effectLst>
        </p:spPr>
        <p:txBody>
          <a:bodyPr/>
          <a:lstStyle/>
          <a:p>
            <a:endParaRPr lang="en-US"/>
          </a:p>
        </p:txBody>
      </p:sp>
      <p:sp>
        <p:nvSpPr>
          <p:cNvPr id="52" name="Text 50"/>
          <p:cNvSpPr/>
          <p:nvPr/>
        </p:nvSpPr>
        <p:spPr>
          <a:xfrm>
            <a:off x="6583680" y="3044952"/>
            <a:ext cx="3749040" cy="274320"/>
          </a:xfrm>
          <a:prstGeom prst="rect">
            <a:avLst/>
          </a:prstGeom>
          <a:noFill/>
          <a:ln/>
        </p:spPr>
        <p:txBody>
          <a:bodyPr wrap="square" lIns="381" tIns="381" rIns="381" bIns="381" rtlCol="0" anchor="ctr">
            <a:normAutofit/>
          </a:bodyPr>
          <a:lstStyle/>
          <a:p>
            <a:pPr marL="0" indent="0" algn="l">
              <a:buNone/>
            </a:pPr>
            <a:r>
              <a:rPr lang="en-US" sz="1300" dirty="0">
                <a:solidFill>
                  <a:srgbClr val="FFFFFF"/>
                </a:solidFill>
                <a:latin typeface="Georgia" pitchFamily="34" charset="0"/>
                <a:ea typeface="Georgia" pitchFamily="34" charset="-122"/>
                <a:cs typeface="Georgia" pitchFamily="34" charset="-120"/>
              </a:rPr>
              <a:t>Wake Up to Salt Air and Quiet Water</a:t>
            </a:r>
            <a:endParaRPr lang="en-US" sz="1300" dirty="0"/>
          </a:p>
        </p:txBody>
      </p:sp>
      <p:sp>
        <p:nvSpPr>
          <p:cNvPr id="53" name="Text 51"/>
          <p:cNvSpPr/>
          <p:nvPr/>
        </p:nvSpPr>
        <p:spPr>
          <a:xfrm>
            <a:off x="6583680" y="3355848"/>
            <a:ext cx="3657600" cy="201168"/>
          </a:xfrm>
          <a:prstGeom prst="rect">
            <a:avLst/>
          </a:prstGeom>
          <a:noFill/>
          <a:ln/>
        </p:spPr>
        <p:txBody>
          <a:bodyPr wrap="square" lIns="381" tIns="381" rIns="381" bIns="381" rtlCol="0" anchor="ctr">
            <a:normAutofit/>
          </a:bodyPr>
          <a:lstStyle/>
          <a:p>
            <a:pPr marL="0" indent="0" algn="l">
              <a:buNone/>
            </a:pPr>
            <a:r>
              <a:rPr lang="en-US" sz="660" dirty="0">
                <a:solidFill>
                  <a:srgbClr val="FFFFFF"/>
                </a:solidFill>
                <a:latin typeface="Arial" pitchFamily="34" charset="0"/>
                <a:ea typeface="Arial" pitchFamily="34" charset="-122"/>
                <a:cs typeface="Arial" pitchFamily="34" charset="-120"/>
              </a:rPr>
              <a:t>Hike, kayak, whale watch, or scuba dive, then return to a comfortable room.</a:t>
            </a:r>
            <a:endParaRPr lang="en-US" sz="660" dirty="0"/>
          </a:p>
        </p:txBody>
      </p:sp>
      <p:sp>
        <p:nvSpPr>
          <p:cNvPr id="54" name="Text 52"/>
          <p:cNvSpPr/>
          <p:nvPr/>
        </p:nvSpPr>
        <p:spPr>
          <a:xfrm>
            <a:off x="822960" y="4078224"/>
            <a:ext cx="548640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STAY YOUR WAY</a:t>
            </a:r>
            <a:endParaRPr lang="en-US" sz="680" dirty="0"/>
          </a:p>
        </p:txBody>
      </p:sp>
      <p:sp>
        <p:nvSpPr>
          <p:cNvPr id="55" name="Text 53"/>
          <p:cNvSpPr/>
          <p:nvPr/>
        </p:nvSpPr>
        <p:spPr>
          <a:xfrm>
            <a:off x="822960" y="4279392"/>
            <a:ext cx="5486400" cy="256032"/>
          </a:xfrm>
          <a:prstGeom prst="rect">
            <a:avLst/>
          </a:prstGeom>
          <a:noFill/>
          <a:ln/>
        </p:spPr>
        <p:txBody>
          <a:bodyPr wrap="square" lIns="381" tIns="381" rIns="381" bIns="381" rtlCol="0" anchor="ctr">
            <a:normAutofit/>
          </a:bodyPr>
          <a:lstStyle/>
          <a:p>
            <a:pPr marL="0" indent="0" algn="l">
              <a:buNone/>
            </a:pPr>
            <a:r>
              <a:rPr lang="en-US" sz="1400" dirty="0">
                <a:solidFill>
                  <a:srgbClr val="132133"/>
                </a:solidFill>
                <a:latin typeface="Georgia" pitchFamily="34" charset="0"/>
                <a:ea typeface="Georgia" pitchFamily="34" charset="-122"/>
                <a:cs typeface="Georgia" pitchFamily="34" charset="-120"/>
              </a:rPr>
              <a:t>Find the Room That Fits Your Trip</a:t>
            </a:r>
            <a:endParaRPr lang="en-US" sz="1400" dirty="0"/>
          </a:p>
        </p:txBody>
      </p:sp>
      <p:sp>
        <p:nvSpPr>
          <p:cNvPr id="56" name="Text 54"/>
          <p:cNvSpPr/>
          <p:nvPr/>
        </p:nvSpPr>
        <p:spPr>
          <a:xfrm>
            <a:off x="822960" y="4553712"/>
            <a:ext cx="5486400" cy="201168"/>
          </a:xfrm>
          <a:prstGeom prst="rect">
            <a:avLst/>
          </a:prstGeom>
          <a:noFill/>
          <a:ln/>
        </p:spPr>
        <p:txBody>
          <a:bodyPr wrap="square" lIns="381" tIns="381" rIns="381" bIns="381" rtlCol="0" anchor="t">
            <a:normAutofit/>
          </a:bodyPr>
          <a:lstStyle/>
          <a:p>
            <a:pPr marL="0" indent="0" algn="l">
              <a:buNone/>
            </a:pPr>
            <a:r>
              <a:rPr lang="en-US" sz="650" dirty="0">
                <a:solidFill>
                  <a:srgbClr val="2A3B50"/>
                </a:solidFill>
                <a:latin typeface="Arial" pitchFamily="34" charset="0"/>
                <a:ea typeface="Arial" pitchFamily="34" charset="-122"/>
                <a:cs typeface="Arial" pitchFamily="34" charset="-120"/>
              </a:rPr>
              <a:t>Choose from four room types with clear nightly pricing.</a:t>
            </a:r>
            <a:endParaRPr lang="en-US" sz="650" dirty="0"/>
          </a:p>
        </p:txBody>
      </p:sp>
      <p:sp>
        <p:nvSpPr>
          <p:cNvPr id="57" name="Shape 55"/>
          <p:cNvSpPr/>
          <p:nvPr/>
        </p:nvSpPr>
        <p:spPr>
          <a:xfrm>
            <a:off x="822960"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8" name="Text 56"/>
          <p:cNvSpPr/>
          <p:nvPr/>
        </p:nvSpPr>
        <p:spPr>
          <a:xfrm>
            <a:off x="950976"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59" name="Text 57"/>
          <p:cNvSpPr/>
          <p:nvPr/>
        </p:nvSpPr>
        <p:spPr>
          <a:xfrm>
            <a:off x="950976"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Double Full Beds</a:t>
            </a:r>
            <a:endParaRPr lang="en-US" sz="1230" dirty="0"/>
          </a:p>
        </p:txBody>
      </p:sp>
      <p:sp>
        <p:nvSpPr>
          <p:cNvPr id="60" name="Text 58"/>
          <p:cNvSpPr/>
          <p:nvPr/>
        </p:nvSpPr>
        <p:spPr>
          <a:xfrm>
            <a:off x="950976"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Families and small groups.</a:t>
            </a:r>
            <a:endParaRPr lang="en-US" sz="680" dirty="0"/>
          </a:p>
        </p:txBody>
      </p:sp>
      <p:sp>
        <p:nvSpPr>
          <p:cNvPr id="61" name="Text 59"/>
          <p:cNvSpPr/>
          <p:nvPr/>
        </p:nvSpPr>
        <p:spPr>
          <a:xfrm>
            <a:off x="950976"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$120 / night</a:t>
            </a:r>
            <a:endParaRPr lang="en-US" sz="640" dirty="0"/>
          </a:p>
        </p:txBody>
      </p:sp>
      <p:sp>
        <p:nvSpPr>
          <p:cNvPr id="62" name="Shape 60"/>
          <p:cNvSpPr/>
          <p:nvPr/>
        </p:nvSpPr>
        <p:spPr>
          <a:xfrm>
            <a:off x="3227832"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3" name="Text 61"/>
          <p:cNvSpPr/>
          <p:nvPr/>
        </p:nvSpPr>
        <p:spPr>
          <a:xfrm>
            <a:off x="3355848"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64" name="Shape 62"/>
          <p:cNvSpPr/>
          <p:nvPr/>
        </p:nvSpPr>
        <p:spPr>
          <a:xfrm>
            <a:off x="4645152" y="4873752"/>
            <a:ext cx="640080" cy="182880"/>
          </a:xfrm>
          <a:prstGeom prst="roundRect">
            <a:avLst>
              <a:gd name="adj" fmla="val 30000"/>
            </a:avLst>
          </a:prstGeom>
          <a:solidFill>
            <a:srgbClr val="DFB66E"/>
          </a:solidFill>
          <a:ln w="12700">
            <a:solidFill>
              <a:srgbClr val="DFB66E"/>
            </a:solidFill>
            <a:prstDash val="solid"/>
          </a:ln>
        </p:spPr>
        <p:txBody>
          <a:bodyPr/>
          <a:lstStyle/>
          <a:p>
            <a:endParaRPr lang="en-US"/>
          </a:p>
        </p:txBody>
      </p:sp>
      <p:sp>
        <p:nvSpPr>
          <p:cNvPr id="65" name="Text 63"/>
          <p:cNvSpPr/>
          <p:nvPr/>
        </p:nvSpPr>
        <p:spPr>
          <a:xfrm>
            <a:off x="4681728" y="4919472"/>
            <a:ext cx="566928" cy="73152"/>
          </a:xfrm>
          <a:prstGeom prst="rect">
            <a:avLst/>
          </a:prstGeom>
          <a:noFill/>
          <a:ln/>
        </p:spPr>
        <p:txBody>
          <a:bodyPr wrap="square" lIns="381" tIns="381" rIns="381" bIns="381" rtlCol="0" anchor="ctr">
            <a:normAutofit/>
          </a:bodyPr>
          <a:lstStyle/>
          <a:p>
            <a:pPr marL="0" indent="0" algn="ctr">
              <a:buNone/>
            </a:pPr>
            <a:r>
              <a:rPr lang="en-US" sz="420" b="1" dirty="0">
                <a:solidFill>
                  <a:srgbClr val="132133"/>
                </a:solidFill>
                <a:latin typeface="Arial" pitchFamily="34" charset="0"/>
                <a:ea typeface="Arial" pitchFamily="34" charset="-122"/>
                <a:cs typeface="Arial" pitchFamily="34" charset="-120"/>
              </a:rPr>
              <a:t>POPULAR</a:t>
            </a:r>
            <a:endParaRPr lang="en-US" sz="420" dirty="0"/>
          </a:p>
        </p:txBody>
      </p:sp>
      <p:sp>
        <p:nvSpPr>
          <p:cNvPr id="66" name="Text 64"/>
          <p:cNvSpPr/>
          <p:nvPr/>
        </p:nvSpPr>
        <p:spPr>
          <a:xfrm>
            <a:off x="3355848"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Queen</a:t>
            </a:r>
            <a:endParaRPr lang="en-US" sz="1230" dirty="0"/>
          </a:p>
        </p:txBody>
      </p:sp>
      <p:sp>
        <p:nvSpPr>
          <p:cNvPr id="67" name="Text 65"/>
          <p:cNvSpPr/>
          <p:nvPr/>
        </p:nvSpPr>
        <p:spPr>
          <a:xfrm>
            <a:off x="3355848"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Couples or solo travelers.</a:t>
            </a:r>
            <a:endParaRPr lang="en-US" sz="680" dirty="0"/>
          </a:p>
        </p:txBody>
      </p:sp>
      <p:sp>
        <p:nvSpPr>
          <p:cNvPr id="68" name="Text 66"/>
          <p:cNvSpPr/>
          <p:nvPr/>
        </p:nvSpPr>
        <p:spPr>
          <a:xfrm>
            <a:off x="3355848"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$135 / night</a:t>
            </a:r>
            <a:endParaRPr lang="en-US" sz="640" dirty="0"/>
          </a:p>
        </p:txBody>
      </p:sp>
      <p:sp>
        <p:nvSpPr>
          <p:cNvPr id="69" name="Shape 67"/>
          <p:cNvSpPr/>
          <p:nvPr/>
        </p:nvSpPr>
        <p:spPr>
          <a:xfrm>
            <a:off x="5632704"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70" name="Text 68"/>
          <p:cNvSpPr/>
          <p:nvPr/>
        </p:nvSpPr>
        <p:spPr>
          <a:xfrm>
            <a:off x="5760720"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71" name="Text 69"/>
          <p:cNvSpPr/>
          <p:nvPr/>
        </p:nvSpPr>
        <p:spPr>
          <a:xfrm>
            <a:off x="5760720"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Double Queen Beds</a:t>
            </a:r>
            <a:endParaRPr lang="en-US" sz="1230" dirty="0"/>
          </a:p>
        </p:txBody>
      </p:sp>
      <p:sp>
        <p:nvSpPr>
          <p:cNvPr id="72" name="Text 70"/>
          <p:cNvSpPr/>
          <p:nvPr/>
        </p:nvSpPr>
        <p:spPr>
          <a:xfrm>
            <a:off x="5760720"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Larger travel groups.</a:t>
            </a:r>
            <a:endParaRPr lang="en-US" sz="680" dirty="0"/>
          </a:p>
        </p:txBody>
      </p:sp>
      <p:sp>
        <p:nvSpPr>
          <p:cNvPr id="73" name="Text 71"/>
          <p:cNvSpPr/>
          <p:nvPr/>
        </p:nvSpPr>
        <p:spPr>
          <a:xfrm>
            <a:off x="5760720" y="5539000"/>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$157.50 / night</a:t>
            </a:r>
            <a:endParaRPr lang="en-US" sz="640" dirty="0"/>
          </a:p>
        </p:txBody>
      </p:sp>
      <p:sp>
        <p:nvSpPr>
          <p:cNvPr id="74" name="Shape 72"/>
          <p:cNvSpPr/>
          <p:nvPr/>
        </p:nvSpPr>
        <p:spPr>
          <a:xfrm>
            <a:off x="8037576" y="4764024"/>
            <a:ext cx="2240280" cy="987552"/>
          </a:xfrm>
          <a:prstGeom prst="roundRect">
            <a:avLst>
              <a:gd name="adj" fmla="val 9259"/>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75" name="Text 73"/>
          <p:cNvSpPr/>
          <p:nvPr/>
        </p:nvSpPr>
        <p:spPr>
          <a:xfrm>
            <a:off x="8165592" y="4882896"/>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04</a:t>
            </a:r>
            <a:endParaRPr lang="en-US" sz="560" dirty="0"/>
          </a:p>
        </p:txBody>
      </p:sp>
      <p:sp>
        <p:nvSpPr>
          <p:cNvPr id="76" name="Text 74"/>
          <p:cNvSpPr/>
          <p:nvPr/>
        </p:nvSpPr>
        <p:spPr>
          <a:xfrm>
            <a:off x="8165592" y="5074920"/>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King</a:t>
            </a:r>
            <a:endParaRPr lang="en-US" sz="1230" dirty="0"/>
          </a:p>
        </p:txBody>
      </p:sp>
      <p:sp>
        <p:nvSpPr>
          <p:cNvPr id="77" name="Text 75"/>
          <p:cNvSpPr/>
          <p:nvPr/>
        </p:nvSpPr>
        <p:spPr>
          <a:xfrm>
            <a:off x="8165592" y="5422392"/>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Added sleeping space and comfort.</a:t>
            </a:r>
            <a:endParaRPr lang="en-US" sz="680" dirty="0"/>
          </a:p>
        </p:txBody>
      </p:sp>
      <p:sp>
        <p:nvSpPr>
          <p:cNvPr id="78" name="Text 76"/>
          <p:cNvSpPr/>
          <p:nvPr/>
        </p:nvSpPr>
        <p:spPr>
          <a:xfrm>
            <a:off x="8165592" y="5548832"/>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$168 / night</a:t>
            </a:r>
            <a:endParaRPr lang="en-US" sz="640" dirty="0"/>
          </a:p>
        </p:txBody>
      </p:sp>
      <p:sp>
        <p:nvSpPr>
          <p:cNvPr id="79" name="Shape 77"/>
          <p:cNvSpPr/>
          <p:nvPr/>
        </p:nvSpPr>
        <p:spPr>
          <a:xfrm>
            <a:off x="822960" y="5806440"/>
            <a:ext cx="9921240" cy="475488"/>
          </a:xfrm>
          <a:prstGeom prst="roundRect">
            <a:avLst>
              <a:gd name="adj" fmla="val 19231"/>
            </a:avLst>
          </a:prstGeom>
          <a:solidFill>
            <a:srgbClr val="132133">
              <a:alpha val="98000"/>
            </a:srgbClr>
          </a:solidFill>
          <a:ln w="12700">
            <a:solidFill>
              <a:srgbClr val="132133"/>
            </a:solidFill>
            <a:prstDash val="solid"/>
          </a:ln>
        </p:spPr>
        <p:txBody>
          <a:bodyPr/>
          <a:lstStyle/>
          <a:p>
            <a:endParaRPr lang="en-US"/>
          </a:p>
        </p:txBody>
      </p:sp>
      <p:sp>
        <p:nvSpPr>
          <p:cNvPr id="80" name="Text 78"/>
          <p:cNvSpPr/>
          <p:nvPr/>
        </p:nvSpPr>
        <p:spPr>
          <a:xfrm>
            <a:off x="1051560" y="5961888"/>
            <a:ext cx="2651760" cy="128016"/>
          </a:xfrm>
          <a:prstGeom prst="rect">
            <a:avLst/>
          </a:prstGeom>
          <a:noFill/>
          <a:ln/>
        </p:spPr>
        <p:txBody>
          <a:bodyPr wrap="square" lIns="381" tIns="381" rIns="381" bIns="381" rtlCol="0" anchor="ctr">
            <a:normAutofit fontScale="92500" lnSpcReduction="10000"/>
          </a:bodyPr>
          <a:lstStyle/>
          <a:p>
            <a:pPr marL="0" indent="0" algn="l">
              <a:buNone/>
            </a:pPr>
            <a:r>
              <a:rPr lang="en-US" sz="1020" dirty="0">
                <a:solidFill>
                  <a:srgbClr val="FFFFFF"/>
                </a:solidFill>
                <a:latin typeface="Georgia" pitchFamily="34" charset="0"/>
                <a:ea typeface="Georgia" pitchFamily="34" charset="-122"/>
                <a:cs typeface="Georgia" pitchFamily="34" charset="-120"/>
              </a:rPr>
              <a:t>Adventure Is Right Outside Your Door</a:t>
            </a:r>
            <a:endParaRPr lang="en-US" sz="1020" dirty="0"/>
          </a:p>
        </p:txBody>
      </p:sp>
      <p:sp>
        <p:nvSpPr>
          <p:cNvPr id="81" name="Shape 79"/>
          <p:cNvSpPr/>
          <p:nvPr/>
        </p:nvSpPr>
        <p:spPr>
          <a:xfrm>
            <a:off x="388620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2" name="Text 80"/>
          <p:cNvSpPr/>
          <p:nvPr/>
        </p:nvSpPr>
        <p:spPr>
          <a:xfrm>
            <a:off x="391363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Hiking</a:t>
            </a:r>
            <a:endParaRPr lang="en-US" sz="540" dirty="0"/>
          </a:p>
        </p:txBody>
      </p:sp>
      <p:sp>
        <p:nvSpPr>
          <p:cNvPr id="83" name="Shape 81"/>
          <p:cNvSpPr/>
          <p:nvPr/>
        </p:nvSpPr>
        <p:spPr>
          <a:xfrm>
            <a:off x="512064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4" name="Text 82"/>
          <p:cNvSpPr/>
          <p:nvPr/>
        </p:nvSpPr>
        <p:spPr>
          <a:xfrm>
            <a:off x="514807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Kayaking</a:t>
            </a:r>
            <a:endParaRPr lang="en-US" sz="540" dirty="0"/>
          </a:p>
        </p:txBody>
      </p:sp>
      <p:sp>
        <p:nvSpPr>
          <p:cNvPr id="85" name="Shape 83"/>
          <p:cNvSpPr/>
          <p:nvPr/>
        </p:nvSpPr>
        <p:spPr>
          <a:xfrm>
            <a:off x="635508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6" name="Text 84"/>
          <p:cNvSpPr/>
          <p:nvPr/>
        </p:nvSpPr>
        <p:spPr>
          <a:xfrm>
            <a:off x="638251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Whale Watching</a:t>
            </a:r>
            <a:endParaRPr lang="en-US" sz="540" dirty="0"/>
          </a:p>
        </p:txBody>
      </p:sp>
      <p:sp>
        <p:nvSpPr>
          <p:cNvPr id="87" name="Shape 85"/>
          <p:cNvSpPr/>
          <p:nvPr/>
        </p:nvSpPr>
        <p:spPr>
          <a:xfrm>
            <a:off x="7589520" y="5943600"/>
            <a:ext cx="1024128" cy="201168"/>
          </a:xfrm>
          <a:prstGeom prst="roundRect">
            <a:avLst>
              <a:gd name="adj" fmla="val 36364"/>
            </a:avLst>
          </a:prstGeom>
          <a:solidFill>
            <a:srgbClr val="FFFFFF">
              <a:alpha val="14000"/>
            </a:srgbClr>
          </a:solidFill>
          <a:ln w="12700">
            <a:solidFill>
              <a:srgbClr val="FFFFFF">
                <a:alpha val="0"/>
              </a:srgbClr>
            </a:solidFill>
            <a:prstDash val="solid"/>
          </a:ln>
        </p:spPr>
        <p:txBody>
          <a:bodyPr/>
          <a:lstStyle/>
          <a:p>
            <a:endParaRPr lang="en-US"/>
          </a:p>
        </p:txBody>
      </p:sp>
      <p:sp>
        <p:nvSpPr>
          <p:cNvPr id="88" name="Text 86"/>
          <p:cNvSpPr/>
          <p:nvPr/>
        </p:nvSpPr>
        <p:spPr>
          <a:xfrm>
            <a:off x="7616952" y="5998464"/>
            <a:ext cx="969264" cy="91440"/>
          </a:xfrm>
          <a:prstGeom prst="rect">
            <a:avLst/>
          </a:prstGeom>
          <a:noFill/>
          <a:ln/>
        </p:spPr>
        <p:txBody>
          <a:bodyPr wrap="square" lIns="381" tIns="381" rIns="381" bIns="381" rtlCol="0" anchor="ctr">
            <a:normAutofit/>
          </a:bodyPr>
          <a:lstStyle/>
          <a:p>
            <a:pPr marL="0" indent="0" algn="ctr">
              <a:buNone/>
            </a:pPr>
            <a:r>
              <a:rPr lang="en-US" sz="540" b="1" dirty="0">
                <a:solidFill>
                  <a:srgbClr val="FFFFFF"/>
                </a:solidFill>
                <a:latin typeface="Arial" pitchFamily="34" charset="0"/>
                <a:ea typeface="Arial" pitchFamily="34" charset="-122"/>
                <a:cs typeface="Arial" pitchFamily="34" charset="-120"/>
              </a:rPr>
              <a:t>Scuba Diving</a:t>
            </a:r>
            <a:endParaRPr lang="en-US" sz="540" dirty="0"/>
          </a:p>
        </p:txBody>
      </p:sp>
      <p:sp>
        <p:nvSpPr>
          <p:cNvPr id="89" name="Shape 87">
            <a:hlinkClick r:id="rId6" action="ppaction://hlinksldjump"/>
          </p:cNvPr>
          <p:cNvSpPr/>
          <p:nvPr/>
        </p:nvSpPr>
        <p:spPr>
          <a:xfrm>
            <a:off x="9052560" y="5916168"/>
            <a:ext cx="1152144"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90" name="Text 88">
            <a:hlinkClick r:id="rId6" action="ppaction://hlinksldjump"/>
          </p:cNvPr>
          <p:cNvSpPr/>
          <p:nvPr/>
        </p:nvSpPr>
        <p:spPr>
          <a:xfrm>
            <a:off x="9079992" y="5998464"/>
            <a:ext cx="1097280"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View Attractions</a:t>
            </a:r>
            <a:endParaRPr lang="en-US" sz="64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About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explain the lodge experience and guide visitors to rooms, reservations, and attractions.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moffatbaylodge.com/about.html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Shape 16"/>
          <p:cNvSpPr/>
          <p:nvPr/>
        </p:nvSpPr>
        <p:spPr>
          <a:xfrm>
            <a:off x="3941064" y="1627632"/>
            <a:ext cx="329184" cy="22860"/>
          </a:xfrm>
          <a:prstGeom prst="rect">
            <a:avLst/>
          </a:prstGeom>
          <a:solidFill>
            <a:srgbClr val="2F8694"/>
          </a:solidFill>
          <a:ln w="12700">
            <a:solidFill>
              <a:srgbClr val="2F8694"/>
            </a:solidFill>
            <a:prstDash val="solid"/>
          </a:ln>
        </p:spPr>
        <p:txBody>
          <a:bodyPr/>
          <a:lstStyle/>
          <a:p>
            <a:endParaRPr lang="en-US"/>
          </a:p>
        </p:txBody>
      </p:sp>
      <p:sp>
        <p:nvSpPr>
          <p:cNvPr id="19" name="Text 17">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4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084832"/>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DISCOVER MOFFAT BAY</a:t>
            </a:r>
            <a:endParaRPr lang="en-US" sz="680" dirty="0"/>
          </a:p>
        </p:txBody>
      </p:sp>
      <p:sp>
        <p:nvSpPr>
          <p:cNvPr id="39" name="Text 37"/>
          <p:cNvSpPr/>
          <p:nvPr/>
        </p:nvSpPr>
        <p:spPr>
          <a:xfrm>
            <a:off x="822960" y="2286000"/>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About Moffat Bay Lodge</a:t>
            </a:r>
            <a:endParaRPr lang="en-US" sz="2000" dirty="0"/>
          </a:p>
        </p:txBody>
      </p:sp>
      <p:sp>
        <p:nvSpPr>
          <p:cNvPr id="40" name="Text 38"/>
          <p:cNvSpPr/>
          <p:nvPr/>
        </p:nvSpPr>
        <p:spPr>
          <a:xfrm>
            <a:off x="822960" y="2779776"/>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A comfortable island retreat built around simple lodging, straightforward reservations, and easy access to outdoor experiences.</a:t>
            </a:r>
            <a:endParaRPr lang="en-US" sz="840" dirty="0"/>
          </a:p>
        </p:txBody>
      </p:sp>
      <p:sp>
        <p:nvSpPr>
          <p:cNvPr id="41" name="Shape 39"/>
          <p:cNvSpPr/>
          <p:nvPr/>
        </p:nvSpPr>
        <p:spPr>
          <a:xfrm>
            <a:off x="822960" y="3108960"/>
            <a:ext cx="658368" cy="32004"/>
          </a:xfrm>
          <a:prstGeom prst="rect">
            <a:avLst/>
          </a:prstGeom>
          <a:solidFill>
            <a:srgbClr val="2F8694"/>
          </a:solidFill>
          <a:ln w="12700">
            <a:solidFill>
              <a:srgbClr val="2F8694"/>
            </a:solidFill>
            <a:prstDash val="solid"/>
          </a:ln>
        </p:spPr>
        <p:txBody>
          <a:bodyPr/>
          <a:lstStyle/>
          <a:p>
            <a:endParaRPr lang="en-US"/>
          </a:p>
        </p:txBody>
      </p:sp>
      <p:sp>
        <p:nvSpPr>
          <p:cNvPr id="42" name="Shape 40"/>
          <p:cNvSpPr/>
          <p:nvPr/>
        </p:nvSpPr>
        <p:spPr>
          <a:xfrm>
            <a:off x="822960" y="3410712"/>
            <a:ext cx="4754880" cy="1417320"/>
          </a:xfrm>
          <a:prstGeom prst="roundRect">
            <a:avLst>
              <a:gd name="adj" fmla="val 6452"/>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3" name="Shape 41"/>
          <p:cNvSpPr/>
          <p:nvPr/>
        </p:nvSpPr>
        <p:spPr>
          <a:xfrm>
            <a:off x="822960" y="3410712"/>
            <a:ext cx="4754880" cy="54864"/>
          </a:xfrm>
          <a:prstGeom prst="rect">
            <a:avLst/>
          </a:prstGeom>
          <a:solidFill>
            <a:srgbClr val="2F8694"/>
          </a:solidFill>
          <a:ln w="12700">
            <a:solidFill>
              <a:srgbClr val="2F8694"/>
            </a:solidFill>
            <a:prstDash val="solid"/>
          </a:ln>
        </p:spPr>
        <p:txBody>
          <a:bodyPr/>
          <a:lstStyle/>
          <a:p>
            <a:endParaRPr lang="en-US"/>
          </a:p>
        </p:txBody>
      </p:sp>
      <p:sp>
        <p:nvSpPr>
          <p:cNvPr id="44" name="Text 42"/>
          <p:cNvSpPr/>
          <p:nvPr/>
        </p:nvSpPr>
        <p:spPr>
          <a:xfrm>
            <a:off x="987552" y="3575304"/>
            <a:ext cx="442569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A Comfortable Place to Call Home</a:t>
            </a:r>
            <a:endParaRPr lang="en-US" sz="1250" dirty="0"/>
          </a:p>
        </p:txBody>
      </p:sp>
      <p:sp>
        <p:nvSpPr>
          <p:cNvPr id="45" name="Text 43"/>
          <p:cNvSpPr/>
          <p:nvPr/>
        </p:nvSpPr>
        <p:spPr>
          <a:xfrm>
            <a:off x="987552" y="3913632"/>
            <a:ext cx="4425696" cy="75895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Moffat Bay Lodge is designed for travelers who want comfortable lodging and easy access to local island activities. Visitors can compare rooms, learn about adventures, and book from one simple site.</a:t>
            </a:r>
            <a:endParaRPr lang="en-US" sz="680" dirty="0"/>
          </a:p>
        </p:txBody>
      </p:sp>
      <p:sp>
        <p:nvSpPr>
          <p:cNvPr id="46" name="Shape 44"/>
          <p:cNvSpPr/>
          <p:nvPr/>
        </p:nvSpPr>
        <p:spPr>
          <a:xfrm>
            <a:off x="5897880" y="3410712"/>
            <a:ext cx="4800600" cy="1417320"/>
          </a:xfrm>
          <a:prstGeom prst="roundRect">
            <a:avLst>
              <a:gd name="adj" fmla="val 6452"/>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7" name="Text 45"/>
          <p:cNvSpPr/>
          <p:nvPr/>
        </p:nvSpPr>
        <p:spPr>
          <a:xfrm>
            <a:off x="6062472" y="3575304"/>
            <a:ext cx="447141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Stay. Explore. Relax.</a:t>
            </a:r>
            <a:endParaRPr lang="en-US" sz="1250" dirty="0"/>
          </a:p>
        </p:txBody>
      </p:sp>
      <p:sp>
        <p:nvSpPr>
          <p:cNvPr id="48" name="Text 46"/>
          <p:cNvSpPr/>
          <p:nvPr/>
        </p:nvSpPr>
        <p:spPr>
          <a:xfrm>
            <a:off x="6062472" y="3913632"/>
            <a:ext cx="4471416" cy="75895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Start near the water, spend the day exploring trails or ocean activities, then return to a comfortable room at night. One lodge location keeps planning simple.</a:t>
            </a:r>
            <a:endParaRPr lang="en-US" sz="680" dirty="0"/>
          </a:p>
        </p:txBody>
      </p:sp>
      <p:sp>
        <p:nvSpPr>
          <p:cNvPr id="49" name="Shape 47"/>
          <p:cNvSpPr/>
          <p:nvPr/>
        </p:nvSpPr>
        <p:spPr>
          <a:xfrm>
            <a:off x="822960"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0" name="Text 48"/>
          <p:cNvSpPr/>
          <p:nvPr/>
        </p:nvSpPr>
        <p:spPr>
          <a:xfrm>
            <a:off x="950976"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51" name="Text 49"/>
          <p:cNvSpPr/>
          <p:nvPr/>
        </p:nvSpPr>
        <p:spPr>
          <a:xfrm>
            <a:off x="950976"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Comfortable Room Options</a:t>
            </a:r>
            <a:endParaRPr lang="en-US" sz="1230" dirty="0"/>
          </a:p>
        </p:txBody>
      </p:sp>
      <p:sp>
        <p:nvSpPr>
          <p:cNvPr id="52" name="Text 50"/>
          <p:cNvSpPr/>
          <p:nvPr/>
        </p:nvSpPr>
        <p:spPr>
          <a:xfrm>
            <a:off x="950976"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Compare Double Full, Queen, Double Queen, and King rooms.</a:t>
            </a:r>
            <a:endParaRPr lang="en-US" sz="680" dirty="0"/>
          </a:p>
        </p:txBody>
      </p:sp>
      <p:sp>
        <p:nvSpPr>
          <p:cNvPr id="53" name="Text 51"/>
          <p:cNvSpPr/>
          <p:nvPr/>
        </p:nvSpPr>
        <p:spPr>
          <a:xfrm>
            <a:off x="950976"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View Rooms →</a:t>
            </a:r>
            <a:endParaRPr lang="en-US" sz="640" dirty="0"/>
          </a:p>
        </p:txBody>
      </p:sp>
      <p:sp>
        <p:nvSpPr>
          <p:cNvPr id="54" name="Shape 52"/>
          <p:cNvSpPr/>
          <p:nvPr/>
        </p:nvSpPr>
        <p:spPr>
          <a:xfrm>
            <a:off x="4133088"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5" name="Text 53"/>
          <p:cNvSpPr/>
          <p:nvPr/>
        </p:nvSpPr>
        <p:spPr>
          <a:xfrm>
            <a:off x="4261104"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56" name="Text 54"/>
          <p:cNvSpPr/>
          <p:nvPr/>
        </p:nvSpPr>
        <p:spPr>
          <a:xfrm>
            <a:off x="4261104"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Simple Reservations</a:t>
            </a:r>
            <a:endParaRPr lang="en-US" sz="1230" dirty="0"/>
          </a:p>
        </p:txBody>
      </p:sp>
      <p:sp>
        <p:nvSpPr>
          <p:cNvPr id="57" name="Text 55"/>
          <p:cNvSpPr/>
          <p:nvPr/>
        </p:nvSpPr>
        <p:spPr>
          <a:xfrm>
            <a:off x="4261104"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Select a room, dates, and guests before confirming.</a:t>
            </a:r>
            <a:endParaRPr lang="en-US" sz="680" dirty="0"/>
          </a:p>
        </p:txBody>
      </p:sp>
      <p:sp>
        <p:nvSpPr>
          <p:cNvPr id="58" name="Text 56"/>
          <p:cNvSpPr/>
          <p:nvPr/>
        </p:nvSpPr>
        <p:spPr>
          <a:xfrm>
            <a:off x="4261104"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Book Your Stay →</a:t>
            </a:r>
            <a:endParaRPr lang="en-US" sz="640" dirty="0"/>
          </a:p>
        </p:txBody>
      </p:sp>
      <p:sp>
        <p:nvSpPr>
          <p:cNvPr id="59" name="Shape 57"/>
          <p:cNvSpPr/>
          <p:nvPr/>
        </p:nvSpPr>
        <p:spPr>
          <a:xfrm>
            <a:off x="7443216" y="5148072"/>
            <a:ext cx="3063240" cy="1143000"/>
          </a:xfrm>
          <a:prstGeom prst="roundRect">
            <a:avLst>
              <a:gd name="adj" fmla="val 8000"/>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0" name="Text 58"/>
          <p:cNvSpPr/>
          <p:nvPr/>
        </p:nvSpPr>
        <p:spPr>
          <a:xfrm>
            <a:off x="7571232" y="5266944"/>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61" name="Text 59"/>
          <p:cNvSpPr/>
          <p:nvPr/>
        </p:nvSpPr>
        <p:spPr>
          <a:xfrm>
            <a:off x="7571232" y="5458968"/>
            <a:ext cx="280720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Island Adventure</a:t>
            </a:r>
            <a:endParaRPr lang="en-US" sz="1230" dirty="0"/>
          </a:p>
        </p:txBody>
      </p:sp>
      <p:sp>
        <p:nvSpPr>
          <p:cNvPr id="62" name="Text 60"/>
          <p:cNvSpPr/>
          <p:nvPr/>
        </p:nvSpPr>
        <p:spPr>
          <a:xfrm>
            <a:off x="7571232" y="5806440"/>
            <a:ext cx="280720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Plan hiking, kayaking, whale watching, and scuba diving.</a:t>
            </a:r>
            <a:endParaRPr lang="en-US" sz="680" dirty="0"/>
          </a:p>
        </p:txBody>
      </p:sp>
      <p:sp>
        <p:nvSpPr>
          <p:cNvPr id="63" name="Text 61"/>
          <p:cNvSpPr/>
          <p:nvPr/>
        </p:nvSpPr>
        <p:spPr>
          <a:xfrm>
            <a:off x="7571232" y="5980176"/>
            <a:ext cx="280720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Explore Attractions →</a:t>
            </a:r>
            <a:endParaRPr lang="en-US" sz="64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Rooms &amp; Pricing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help guests compare room types and continue directly to the reservation form.</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moffatbaylodge.com/rooms.html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Shape 17"/>
          <p:cNvSpPr/>
          <p:nvPr/>
        </p:nvSpPr>
        <p:spPr>
          <a:xfrm>
            <a:off x="4562856" y="1627632"/>
            <a:ext cx="868680" cy="22860"/>
          </a:xfrm>
          <a:prstGeom prst="rect">
            <a:avLst/>
          </a:prstGeom>
          <a:solidFill>
            <a:srgbClr val="2F8694"/>
          </a:solidFill>
          <a:ln w="12700">
            <a:solidFill>
              <a:srgbClr val="2F8694"/>
            </a:solidFill>
            <a:prstDash val="solid"/>
          </a:ln>
        </p:spPr>
        <p:txBody>
          <a:bodyPr/>
          <a:lstStyle/>
          <a:p>
            <a:endParaRPr lang="en-US"/>
          </a:p>
        </p:txBody>
      </p:sp>
      <p:sp>
        <p:nvSpPr>
          <p:cNvPr id="20" name="Text 18">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5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066544"/>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STAY AT MOFFAT BAY</a:t>
            </a:r>
            <a:endParaRPr lang="en-US" sz="680" dirty="0"/>
          </a:p>
        </p:txBody>
      </p:sp>
      <p:sp>
        <p:nvSpPr>
          <p:cNvPr id="39" name="Text 37"/>
          <p:cNvSpPr/>
          <p:nvPr/>
        </p:nvSpPr>
        <p:spPr>
          <a:xfrm>
            <a:off x="822960" y="2267712"/>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Rooms &amp; Pricing</a:t>
            </a:r>
            <a:endParaRPr lang="en-US" sz="2000" dirty="0"/>
          </a:p>
        </p:txBody>
      </p:sp>
      <p:sp>
        <p:nvSpPr>
          <p:cNvPr id="40" name="Text 38"/>
          <p:cNvSpPr/>
          <p:nvPr/>
        </p:nvSpPr>
        <p:spPr>
          <a:xfrm>
            <a:off x="822960" y="2761488"/>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Compare all four room types and nightly rates, then continue directly to the reservation page with the room choice selected.</a:t>
            </a:r>
            <a:endParaRPr lang="en-US" sz="840" dirty="0"/>
          </a:p>
        </p:txBody>
      </p:sp>
      <p:sp>
        <p:nvSpPr>
          <p:cNvPr id="41" name="Shape 39"/>
          <p:cNvSpPr/>
          <p:nvPr/>
        </p:nvSpPr>
        <p:spPr>
          <a:xfrm>
            <a:off x="822960" y="3236976"/>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42" name="Text 40"/>
          <p:cNvSpPr/>
          <p:nvPr/>
        </p:nvSpPr>
        <p:spPr>
          <a:xfrm>
            <a:off x="1024128" y="3465576"/>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01</a:t>
            </a:r>
            <a:endParaRPr lang="en-US" sz="600" dirty="0"/>
          </a:p>
        </p:txBody>
      </p:sp>
      <p:sp>
        <p:nvSpPr>
          <p:cNvPr id="43" name="Text 41"/>
          <p:cNvSpPr/>
          <p:nvPr/>
        </p:nvSpPr>
        <p:spPr>
          <a:xfrm>
            <a:off x="1463040" y="3383280"/>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Double Full Beds</a:t>
            </a:r>
            <a:endParaRPr lang="en-US" sz="1250" dirty="0"/>
          </a:p>
        </p:txBody>
      </p:sp>
      <p:sp>
        <p:nvSpPr>
          <p:cNvPr id="44" name="Text 42"/>
          <p:cNvSpPr/>
          <p:nvPr/>
        </p:nvSpPr>
        <p:spPr>
          <a:xfrm>
            <a:off x="3566160" y="3419856"/>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Two Full Beds • Family Friendly • Single Lodge Location</a:t>
            </a:r>
            <a:endParaRPr lang="en-US" sz="640" dirty="0"/>
          </a:p>
        </p:txBody>
      </p:sp>
      <p:sp>
        <p:nvSpPr>
          <p:cNvPr id="45" name="Text 43"/>
          <p:cNvSpPr/>
          <p:nvPr/>
        </p:nvSpPr>
        <p:spPr>
          <a:xfrm>
            <a:off x="7315200" y="3364992"/>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$120</a:t>
            </a:r>
            <a:endParaRPr lang="en-US" sz="1100" dirty="0"/>
          </a:p>
        </p:txBody>
      </p:sp>
      <p:sp>
        <p:nvSpPr>
          <p:cNvPr id="46" name="Text 44"/>
          <p:cNvSpPr/>
          <p:nvPr/>
        </p:nvSpPr>
        <p:spPr>
          <a:xfrm>
            <a:off x="7900416" y="3429000"/>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47" name="Shape 45">
            <a:hlinkClick r:id="rId8" action="ppaction://hlinksldjump"/>
          </p:cNvPr>
          <p:cNvSpPr/>
          <p:nvPr/>
        </p:nvSpPr>
        <p:spPr>
          <a:xfrm>
            <a:off x="9372600" y="3392424"/>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8" name="Text 46">
            <a:hlinkClick r:id="rId8" action="ppaction://hlinksldjump"/>
          </p:cNvPr>
          <p:cNvSpPr/>
          <p:nvPr/>
        </p:nvSpPr>
        <p:spPr>
          <a:xfrm>
            <a:off x="9400032" y="3474720"/>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49" name="Shape 47"/>
          <p:cNvSpPr/>
          <p:nvPr/>
        </p:nvSpPr>
        <p:spPr>
          <a:xfrm>
            <a:off x="822960" y="4005072"/>
            <a:ext cx="9921240" cy="621792"/>
          </a:xfrm>
          <a:prstGeom prst="roundRect">
            <a:avLst>
              <a:gd name="adj" fmla="val 10294"/>
            </a:avLst>
          </a:prstGeom>
          <a:solidFill>
            <a:srgbClr val="FFFFFF">
              <a:alpha val="92000"/>
            </a:srgbClr>
          </a:solidFill>
          <a:ln w="19050">
            <a:solidFill>
              <a:srgbClr val="CDA059"/>
            </a:solidFill>
            <a:prstDash val="solid"/>
          </a:ln>
          <a:effectLst>
            <a:outerShdw blurRad="12700" dist="7620" dir="2700000" algn="bl" rotWithShape="0">
              <a:srgbClr val="132133">
                <a:alpha val="5500"/>
              </a:srgbClr>
            </a:outerShdw>
          </a:effectLst>
        </p:spPr>
        <p:txBody>
          <a:bodyPr/>
          <a:lstStyle/>
          <a:p>
            <a:endParaRPr lang="en-US"/>
          </a:p>
        </p:txBody>
      </p:sp>
      <p:sp>
        <p:nvSpPr>
          <p:cNvPr id="50" name="Text 48"/>
          <p:cNvSpPr/>
          <p:nvPr/>
        </p:nvSpPr>
        <p:spPr>
          <a:xfrm>
            <a:off x="1024128" y="4233672"/>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02</a:t>
            </a:r>
            <a:endParaRPr lang="en-US" sz="600" dirty="0"/>
          </a:p>
        </p:txBody>
      </p:sp>
      <p:sp>
        <p:nvSpPr>
          <p:cNvPr id="51" name="Text 49"/>
          <p:cNvSpPr/>
          <p:nvPr/>
        </p:nvSpPr>
        <p:spPr>
          <a:xfrm>
            <a:off x="1463040" y="4151376"/>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Queen</a:t>
            </a:r>
            <a:endParaRPr lang="en-US" sz="1250" dirty="0"/>
          </a:p>
        </p:txBody>
      </p:sp>
      <p:sp>
        <p:nvSpPr>
          <p:cNvPr id="52" name="Shape 50"/>
          <p:cNvSpPr/>
          <p:nvPr/>
        </p:nvSpPr>
        <p:spPr>
          <a:xfrm>
            <a:off x="2907792" y="4169664"/>
            <a:ext cx="530352" cy="173736"/>
          </a:xfrm>
          <a:prstGeom prst="roundRect">
            <a:avLst>
              <a:gd name="adj" fmla="val 26316"/>
            </a:avLst>
          </a:prstGeom>
          <a:solidFill>
            <a:srgbClr val="DFB66E"/>
          </a:solidFill>
          <a:ln w="12700">
            <a:solidFill>
              <a:srgbClr val="DFB66E"/>
            </a:solidFill>
            <a:prstDash val="solid"/>
          </a:ln>
        </p:spPr>
        <p:txBody>
          <a:bodyPr/>
          <a:lstStyle/>
          <a:p>
            <a:endParaRPr lang="en-US"/>
          </a:p>
        </p:txBody>
      </p:sp>
      <p:sp>
        <p:nvSpPr>
          <p:cNvPr id="53" name="Text 51"/>
          <p:cNvSpPr/>
          <p:nvPr/>
        </p:nvSpPr>
        <p:spPr>
          <a:xfrm>
            <a:off x="2944368" y="4215384"/>
            <a:ext cx="457200" cy="64008"/>
          </a:xfrm>
          <a:prstGeom prst="rect">
            <a:avLst/>
          </a:prstGeom>
          <a:noFill/>
          <a:ln/>
        </p:spPr>
        <p:txBody>
          <a:bodyPr wrap="square" lIns="381" tIns="381" rIns="381" bIns="381" rtlCol="0" anchor="ctr">
            <a:normAutofit/>
          </a:bodyPr>
          <a:lstStyle/>
          <a:p>
            <a:pPr marL="0" indent="0" algn="ctr">
              <a:buNone/>
            </a:pPr>
            <a:r>
              <a:rPr lang="en-US" sz="400" b="1" dirty="0">
                <a:solidFill>
                  <a:srgbClr val="132133"/>
                </a:solidFill>
                <a:latin typeface="Arial" pitchFamily="34" charset="0"/>
                <a:ea typeface="Arial" pitchFamily="34" charset="-122"/>
                <a:cs typeface="Arial" pitchFamily="34" charset="-120"/>
              </a:rPr>
              <a:t>POPULAR</a:t>
            </a:r>
            <a:endParaRPr lang="en-US" sz="400" dirty="0"/>
          </a:p>
        </p:txBody>
      </p:sp>
      <p:sp>
        <p:nvSpPr>
          <p:cNvPr id="54" name="Text 52"/>
          <p:cNvSpPr/>
          <p:nvPr/>
        </p:nvSpPr>
        <p:spPr>
          <a:xfrm>
            <a:off x="3566160" y="4187952"/>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One Queen Bed • Couples Favorite • Single Lodge Location</a:t>
            </a:r>
            <a:endParaRPr lang="en-US" sz="640" dirty="0"/>
          </a:p>
        </p:txBody>
      </p:sp>
      <p:sp>
        <p:nvSpPr>
          <p:cNvPr id="55" name="Text 53"/>
          <p:cNvSpPr/>
          <p:nvPr/>
        </p:nvSpPr>
        <p:spPr>
          <a:xfrm>
            <a:off x="7315200" y="4133088"/>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$135</a:t>
            </a:r>
            <a:endParaRPr lang="en-US" sz="1100" dirty="0"/>
          </a:p>
        </p:txBody>
      </p:sp>
      <p:sp>
        <p:nvSpPr>
          <p:cNvPr id="56" name="Text 54"/>
          <p:cNvSpPr/>
          <p:nvPr/>
        </p:nvSpPr>
        <p:spPr>
          <a:xfrm>
            <a:off x="7900416" y="4197096"/>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57" name="Shape 55">
            <a:hlinkClick r:id="rId8" action="ppaction://hlinksldjump"/>
          </p:cNvPr>
          <p:cNvSpPr/>
          <p:nvPr/>
        </p:nvSpPr>
        <p:spPr>
          <a:xfrm>
            <a:off x="9372600" y="4160520"/>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58" name="Text 56">
            <a:hlinkClick r:id="rId8" action="ppaction://hlinksldjump"/>
          </p:cNvPr>
          <p:cNvSpPr/>
          <p:nvPr/>
        </p:nvSpPr>
        <p:spPr>
          <a:xfrm>
            <a:off x="9400032" y="4242816"/>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59" name="Shape 57"/>
          <p:cNvSpPr/>
          <p:nvPr/>
        </p:nvSpPr>
        <p:spPr>
          <a:xfrm>
            <a:off x="822960" y="4773168"/>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60" name="Text 58"/>
          <p:cNvSpPr/>
          <p:nvPr/>
        </p:nvSpPr>
        <p:spPr>
          <a:xfrm>
            <a:off x="1024128" y="5001768"/>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03</a:t>
            </a:r>
            <a:endParaRPr lang="en-US" sz="600" dirty="0"/>
          </a:p>
        </p:txBody>
      </p:sp>
      <p:sp>
        <p:nvSpPr>
          <p:cNvPr id="61" name="Text 59"/>
          <p:cNvSpPr/>
          <p:nvPr/>
        </p:nvSpPr>
        <p:spPr>
          <a:xfrm>
            <a:off x="1463040" y="4919472"/>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Double Queen Beds</a:t>
            </a:r>
            <a:endParaRPr lang="en-US" sz="1250" dirty="0"/>
          </a:p>
        </p:txBody>
      </p:sp>
      <p:sp>
        <p:nvSpPr>
          <p:cNvPr id="62" name="Text 60"/>
          <p:cNvSpPr/>
          <p:nvPr/>
        </p:nvSpPr>
        <p:spPr>
          <a:xfrm>
            <a:off x="3566160" y="4956048"/>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Two Queen Beds • Extra Space • Single Lodge Location</a:t>
            </a:r>
            <a:endParaRPr lang="en-US" sz="640" dirty="0"/>
          </a:p>
        </p:txBody>
      </p:sp>
      <p:sp>
        <p:nvSpPr>
          <p:cNvPr id="63" name="Text 61"/>
          <p:cNvSpPr/>
          <p:nvPr/>
        </p:nvSpPr>
        <p:spPr>
          <a:xfrm>
            <a:off x="7315200" y="4901184"/>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$157.50</a:t>
            </a:r>
            <a:endParaRPr lang="en-US" sz="1100" dirty="0"/>
          </a:p>
        </p:txBody>
      </p:sp>
      <p:sp>
        <p:nvSpPr>
          <p:cNvPr id="64" name="Text 62"/>
          <p:cNvSpPr/>
          <p:nvPr/>
        </p:nvSpPr>
        <p:spPr>
          <a:xfrm>
            <a:off x="7900416" y="4965192"/>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65" name="Shape 63">
            <a:hlinkClick r:id="rId8" action="ppaction://hlinksldjump"/>
          </p:cNvPr>
          <p:cNvSpPr/>
          <p:nvPr/>
        </p:nvSpPr>
        <p:spPr>
          <a:xfrm>
            <a:off x="9372600" y="4928616"/>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6" name="Text 64">
            <a:hlinkClick r:id="rId8" action="ppaction://hlinksldjump"/>
          </p:cNvPr>
          <p:cNvSpPr/>
          <p:nvPr/>
        </p:nvSpPr>
        <p:spPr>
          <a:xfrm>
            <a:off x="9400032" y="5010912"/>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67" name="Shape 65"/>
          <p:cNvSpPr/>
          <p:nvPr/>
        </p:nvSpPr>
        <p:spPr>
          <a:xfrm>
            <a:off x="822960" y="5541264"/>
            <a:ext cx="9921240" cy="621792"/>
          </a:xfrm>
          <a:prstGeom prst="roundRect">
            <a:avLst>
              <a:gd name="adj" fmla="val 10294"/>
            </a:avLst>
          </a:prstGeom>
          <a:solidFill>
            <a:srgbClr val="FFFFFF">
              <a:alpha val="92000"/>
            </a:srgbClr>
          </a:solidFill>
          <a:ln w="10160">
            <a:solidFill>
              <a:srgbClr val="E9DFCF"/>
            </a:solidFill>
            <a:prstDash val="solid"/>
          </a:ln>
          <a:effectLst>
            <a:outerShdw blurRad="12700" dist="7620" dir="2700000" algn="bl" rotWithShape="0">
              <a:srgbClr val="132133">
                <a:alpha val="5500"/>
              </a:srgbClr>
            </a:outerShdw>
          </a:effectLst>
        </p:spPr>
        <p:txBody>
          <a:bodyPr/>
          <a:lstStyle/>
          <a:p>
            <a:endParaRPr lang="en-US"/>
          </a:p>
        </p:txBody>
      </p:sp>
      <p:sp>
        <p:nvSpPr>
          <p:cNvPr id="68" name="Text 66"/>
          <p:cNvSpPr/>
          <p:nvPr/>
        </p:nvSpPr>
        <p:spPr>
          <a:xfrm>
            <a:off x="1024128" y="5769864"/>
            <a:ext cx="347472" cy="82296"/>
          </a:xfrm>
          <a:prstGeom prst="rect">
            <a:avLst/>
          </a:prstGeom>
          <a:noFill/>
          <a:ln/>
        </p:spPr>
        <p:txBody>
          <a:bodyPr wrap="square" lIns="381" tIns="381" rIns="381" bIns="381" rtlCol="0" anchor="ctr">
            <a:normAutofit fontScale="92500" lnSpcReduction="20000"/>
          </a:bodyPr>
          <a:lstStyle/>
          <a:p>
            <a:pPr marL="0" indent="0" algn="l">
              <a:buNone/>
            </a:pPr>
            <a:r>
              <a:rPr lang="en-US" sz="600" b="1" dirty="0">
                <a:solidFill>
                  <a:srgbClr val="CDA059"/>
                </a:solidFill>
                <a:latin typeface="Arial" pitchFamily="34" charset="0"/>
                <a:ea typeface="Arial" pitchFamily="34" charset="-122"/>
                <a:cs typeface="Arial" pitchFamily="34" charset="-120"/>
              </a:rPr>
              <a:t>04</a:t>
            </a:r>
            <a:endParaRPr lang="en-US" sz="600" dirty="0"/>
          </a:p>
        </p:txBody>
      </p:sp>
      <p:sp>
        <p:nvSpPr>
          <p:cNvPr id="69" name="Text 67"/>
          <p:cNvSpPr/>
          <p:nvPr/>
        </p:nvSpPr>
        <p:spPr>
          <a:xfrm>
            <a:off x="1463040" y="5687568"/>
            <a:ext cx="2011680" cy="164592"/>
          </a:xfrm>
          <a:prstGeom prst="rect">
            <a:avLst/>
          </a:prstGeom>
          <a:noFill/>
          <a:ln/>
        </p:spPr>
        <p:txBody>
          <a:bodyPr wrap="square" lIns="381" tIns="381" rIns="381" bIns="381" rtlCol="0" anchor="ctr">
            <a:normAutofit fontScale="92500" lnSpcReduction="20000"/>
          </a:bodyPr>
          <a:lstStyle/>
          <a:p>
            <a:pPr marL="0" indent="0" algn="l">
              <a:buNone/>
            </a:pPr>
            <a:r>
              <a:rPr lang="en-US" sz="1250" dirty="0">
                <a:solidFill>
                  <a:srgbClr val="132133"/>
                </a:solidFill>
                <a:latin typeface="Georgia" pitchFamily="34" charset="0"/>
                <a:ea typeface="Georgia" pitchFamily="34" charset="-122"/>
                <a:cs typeface="Georgia" pitchFamily="34" charset="-120"/>
              </a:rPr>
              <a:t>King</a:t>
            </a:r>
            <a:endParaRPr lang="en-US" sz="1250" dirty="0"/>
          </a:p>
        </p:txBody>
      </p:sp>
      <p:sp>
        <p:nvSpPr>
          <p:cNvPr id="70" name="Text 68"/>
          <p:cNvSpPr/>
          <p:nvPr/>
        </p:nvSpPr>
        <p:spPr>
          <a:xfrm>
            <a:off x="3566160" y="5724144"/>
            <a:ext cx="3108960" cy="146304"/>
          </a:xfrm>
          <a:prstGeom prst="rect">
            <a:avLst/>
          </a:prstGeom>
          <a:noFill/>
          <a:ln/>
        </p:spPr>
        <p:txBody>
          <a:bodyPr wrap="square" lIns="381" tIns="381" rIns="381" bIns="381" rtlCol="0" anchor="ctr">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One King Bed • Spacious Comfort • Single Lodge Location</a:t>
            </a:r>
            <a:endParaRPr lang="en-US" sz="640" dirty="0"/>
          </a:p>
        </p:txBody>
      </p:sp>
      <p:sp>
        <p:nvSpPr>
          <p:cNvPr id="71" name="Text 69"/>
          <p:cNvSpPr/>
          <p:nvPr/>
        </p:nvSpPr>
        <p:spPr>
          <a:xfrm>
            <a:off x="7315200" y="5669280"/>
            <a:ext cx="658368" cy="201168"/>
          </a:xfrm>
          <a:prstGeom prst="rect">
            <a:avLst/>
          </a:prstGeom>
          <a:noFill/>
          <a:ln/>
        </p:spPr>
        <p:txBody>
          <a:bodyPr wrap="square" lIns="381" tIns="381" rIns="381" bIns="381" rtlCol="0" anchor="ctr">
            <a:normAutofit/>
          </a:bodyPr>
          <a:lstStyle/>
          <a:p>
            <a:pPr marL="0" indent="0" algn="l">
              <a:buNone/>
            </a:pPr>
            <a:r>
              <a:rPr lang="en-US" sz="1100" b="1" dirty="0">
                <a:solidFill>
                  <a:srgbClr val="1F5963"/>
                </a:solidFill>
                <a:latin typeface="Arial" pitchFamily="34" charset="0"/>
                <a:ea typeface="Arial" pitchFamily="34" charset="-122"/>
                <a:cs typeface="Arial" pitchFamily="34" charset="-120"/>
              </a:rPr>
              <a:t>$168</a:t>
            </a:r>
            <a:endParaRPr lang="en-US" sz="1100" dirty="0"/>
          </a:p>
        </p:txBody>
      </p:sp>
      <p:sp>
        <p:nvSpPr>
          <p:cNvPr id="72" name="Text 70"/>
          <p:cNvSpPr/>
          <p:nvPr/>
        </p:nvSpPr>
        <p:spPr>
          <a:xfrm>
            <a:off x="7900416" y="5733288"/>
            <a:ext cx="411480" cy="91440"/>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 night</a:t>
            </a:r>
            <a:endParaRPr lang="en-US" sz="560" dirty="0"/>
          </a:p>
        </p:txBody>
      </p:sp>
      <p:sp>
        <p:nvSpPr>
          <p:cNvPr id="73" name="Shape 71">
            <a:hlinkClick r:id="rId8" action="ppaction://hlinksldjump"/>
          </p:cNvPr>
          <p:cNvSpPr/>
          <p:nvPr/>
        </p:nvSpPr>
        <p:spPr>
          <a:xfrm>
            <a:off x="9372600" y="5696712"/>
            <a:ext cx="96012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4" name="Text 72">
            <a:hlinkClick r:id="rId8" action="ppaction://hlinksldjump"/>
          </p:cNvPr>
          <p:cNvSpPr/>
          <p:nvPr/>
        </p:nvSpPr>
        <p:spPr>
          <a:xfrm>
            <a:off x="9400032" y="5779008"/>
            <a:ext cx="90525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Select Room</a:t>
            </a:r>
            <a:endParaRPr lang="en-US" sz="640" dirty="0"/>
          </a:p>
        </p:txBody>
      </p:sp>
      <p:sp>
        <p:nvSpPr>
          <p:cNvPr id="75" name="Shape 73"/>
          <p:cNvSpPr/>
          <p:nvPr/>
        </p:nvSpPr>
        <p:spPr>
          <a:xfrm>
            <a:off x="822960" y="6089904"/>
            <a:ext cx="9921240" cy="438912"/>
          </a:xfrm>
          <a:prstGeom prst="roundRect">
            <a:avLst>
              <a:gd name="adj" fmla="val 20833"/>
            </a:avLst>
          </a:prstGeom>
          <a:solidFill>
            <a:srgbClr val="132133"/>
          </a:solidFill>
          <a:ln w="12700">
            <a:solidFill>
              <a:srgbClr val="132133"/>
            </a:solidFill>
            <a:prstDash val="solid"/>
          </a:ln>
        </p:spPr>
        <p:txBody>
          <a:bodyPr/>
          <a:lstStyle/>
          <a:p>
            <a:endParaRPr lang="en-US"/>
          </a:p>
        </p:txBody>
      </p:sp>
      <p:sp>
        <p:nvSpPr>
          <p:cNvPr id="76" name="Text 74"/>
          <p:cNvSpPr/>
          <p:nvPr/>
        </p:nvSpPr>
        <p:spPr>
          <a:xfrm>
            <a:off x="1051560" y="6227064"/>
            <a:ext cx="3200400" cy="118872"/>
          </a:xfrm>
          <a:prstGeom prst="rect">
            <a:avLst/>
          </a:prstGeom>
          <a:noFill/>
          <a:ln/>
        </p:spPr>
        <p:txBody>
          <a:bodyPr wrap="square" lIns="381" tIns="381" rIns="381" bIns="381" rtlCol="0" anchor="ctr">
            <a:normAutofit fontScale="92500" lnSpcReduction="20000"/>
          </a:bodyPr>
          <a:lstStyle/>
          <a:p>
            <a:pPr marL="0" indent="0" algn="l">
              <a:buNone/>
            </a:pPr>
            <a:r>
              <a:rPr lang="en-US" sz="1000" dirty="0">
                <a:solidFill>
                  <a:srgbClr val="FFFFFF"/>
                </a:solidFill>
                <a:latin typeface="Georgia" pitchFamily="34" charset="0"/>
                <a:ea typeface="Georgia" pitchFamily="34" charset="-122"/>
                <a:cs typeface="Georgia" pitchFamily="34" charset="-120"/>
              </a:rPr>
              <a:t>Simple Pricing. Easy Reservations.</a:t>
            </a:r>
            <a:endParaRPr lang="en-US" sz="1000" dirty="0"/>
          </a:p>
        </p:txBody>
      </p:sp>
      <p:sp>
        <p:nvSpPr>
          <p:cNvPr id="77" name="Shape 75">
            <a:hlinkClick r:id="rId8" action="ppaction://hlinksldjump"/>
          </p:cNvPr>
          <p:cNvSpPr/>
          <p:nvPr/>
        </p:nvSpPr>
        <p:spPr>
          <a:xfrm>
            <a:off x="9144000" y="6163056"/>
            <a:ext cx="12344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8" name="Text 76">
            <a:hlinkClick r:id="rId8" action="ppaction://hlinksldjump"/>
          </p:cNvPr>
          <p:cNvSpPr/>
          <p:nvPr/>
        </p:nvSpPr>
        <p:spPr>
          <a:xfrm>
            <a:off x="9171432" y="6245352"/>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Start Reservation</a:t>
            </a:r>
            <a:endParaRPr lang="en-US" sz="64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Attractions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show nearby island activities and encourage guests to book after planning the trip.</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moffatbaylodge.com/attractions.html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Shape 18"/>
          <p:cNvSpPr/>
          <p:nvPr/>
        </p:nvSpPr>
        <p:spPr>
          <a:xfrm>
            <a:off x="5724144" y="1627632"/>
            <a:ext cx="594360" cy="22860"/>
          </a:xfrm>
          <a:prstGeom prst="rect">
            <a:avLst/>
          </a:prstGeom>
          <a:solidFill>
            <a:srgbClr val="2F8694"/>
          </a:solidFill>
          <a:ln w="12700">
            <a:solidFill>
              <a:srgbClr val="2F8694"/>
            </a:solidFill>
            <a:prstDash val="solid"/>
          </a:ln>
        </p:spPr>
        <p:txBody>
          <a:bodyPr/>
          <a:lstStyle/>
          <a:p>
            <a:endParaRPr lang="en-US"/>
          </a:p>
        </p:txBody>
      </p:sp>
      <p:sp>
        <p:nvSpPr>
          <p:cNvPr id="21" name="Text 19">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6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EXPLORE MOFFAT BAY</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Island Adventures Await</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From peaceful hiking trails to unforgettable ocean experiences, Moffat Bay offers outdoor activities for every kind of traveler.</a:t>
            </a:r>
            <a:endParaRPr lang="en-US" sz="840" dirty="0"/>
          </a:p>
        </p:txBody>
      </p:sp>
      <p:sp>
        <p:nvSpPr>
          <p:cNvPr id="41" name="Text 39"/>
          <p:cNvSpPr/>
          <p:nvPr/>
        </p:nvSpPr>
        <p:spPr>
          <a:xfrm>
            <a:off x="822960" y="3218688"/>
            <a:ext cx="640080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THINGS TO DO</a:t>
            </a:r>
            <a:endParaRPr lang="en-US" sz="680" dirty="0"/>
          </a:p>
        </p:txBody>
      </p:sp>
      <p:sp>
        <p:nvSpPr>
          <p:cNvPr id="42" name="Text 40"/>
          <p:cNvSpPr/>
          <p:nvPr/>
        </p:nvSpPr>
        <p:spPr>
          <a:xfrm>
            <a:off x="822960" y="3419856"/>
            <a:ext cx="6400800" cy="274320"/>
          </a:xfrm>
          <a:prstGeom prst="rect">
            <a:avLst/>
          </a:prstGeom>
          <a:noFill/>
          <a:ln/>
        </p:spPr>
        <p:txBody>
          <a:bodyPr wrap="square" lIns="381" tIns="381" rIns="381" bIns="381" rtlCol="0" anchor="ctr">
            <a:normAutofit/>
          </a:bodyPr>
          <a:lstStyle/>
          <a:p>
            <a:pPr marL="0" indent="0" algn="l">
              <a:buNone/>
            </a:pPr>
            <a:r>
              <a:rPr lang="en-US" sz="1400" dirty="0">
                <a:solidFill>
                  <a:srgbClr val="132133"/>
                </a:solidFill>
                <a:latin typeface="Georgia" pitchFamily="34" charset="0"/>
                <a:ea typeface="Georgia" pitchFamily="34" charset="-122"/>
                <a:cs typeface="Georgia" pitchFamily="34" charset="-120"/>
              </a:rPr>
              <a:t>Experience the Island</a:t>
            </a:r>
            <a:endParaRPr lang="en-US" sz="1400" dirty="0"/>
          </a:p>
        </p:txBody>
      </p:sp>
      <p:sp>
        <p:nvSpPr>
          <p:cNvPr id="43" name="Text 41"/>
          <p:cNvSpPr/>
          <p:nvPr/>
        </p:nvSpPr>
        <p:spPr>
          <a:xfrm>
            <a:off x="822960" y="3721608"/>
            <a:ext cx="6400800" cy="182880"/>
          </a:xfrm>
          <a:prstGeom prst="rect">
            <a:avLst/>
          </a:prstGeom>
          <a:noFill/>
          <a:ln/>
        </p:spPr>
        <p:txBody>
          <a:bodyPr wrap="square" lIns="381" tIns="381" rIns="381" bIns="381" rtlCol="0" anchor="t">
            <a:normAutofit/>
          </a:bodyPr>
          <a:lstStyle/>
          <a:p>
            <a:pPr marL="0" indent="0" algn="l">
              <a:buNone/>
            </a:pPr>
            <a:r>
              <a:rPr lang="en-US" sz="640" dirty="0">
                <a:solidFill>
                  <a:srgbClr val="2A3B50"/>
                </a:solidFill>
                <a:latin typeface="Arial" pitchFamily="34" charset="0"/>
                <a:ea typeface="Arial" pitchFamily="34" charset="-122"/>
                <a:cs typeface="Arial" pitchFamily="34" charset="-120"/>
              </a:rPr>
              <a:t>Make the most of your stay with adventures surrounding Moffat Bay Lodge.</a:t>
            </a:r>
            <a:endParaRPr lang="en-US" sz="640" dirty="0"/>
          </a:p>
        </p:txBody>
      </p:sp>
      <p:sp>
        <p:nvSpPr>
          <p:cNvPr id="44" name="Shape 42">
            <a:hlinkClick r:id="rId5" action="ppaction://hlinksldjump"/>
          </p:cNvPr>
          <p:cNvSpPr/>
          <p:nvPr/>
        </p:nvSpPr>
        <p:spPr>
          <a:xfrm>
            <a:off x="9235440" y="3429000"/>
            <a:ext cx="146304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45" name="Text 43">
            <a:hlinkClick r:id="rId5" action="ppaction://hlinksldjump"/>
          </p:cNvPr>
          <p:cNvSpPr/>
          <p:nvPr/>
        </p:nvSpPr>
        <p:spPr>
          <a:xfrm>
            <a:off x="9262872" y="3511296"/>
            <a:ext cx="14081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 &amp; Pricing</a:t>
            </a:r>
            <a:endParaRPr lang="en-US" sz="640" dirty="0"/>
          </a:p>
        </p:txBody>
      </p:sp>
      <p:sp>
        <p:nvSpPr>
          <p:cNvPr id="46" name="Shape 44"/>
          <p:cNvSpPr/>
          <p:nvPr/>
        </p:nvSpPr>
        <p:spPr>
          <a:xfrm>
            <a:off x="822960"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7" name="Text 45"/>
          <p:cNvSpPr/>
          <p:nvPr/>
        </p:nvSpPr>
        <p:spPr>
          <a:xfrm>
            <a:off x="950976"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01</a:t>
            </a:r>
            <a:endParaRPr lang="en-US" sz="560" dirty="0"/>
          </a:p>
        </p:txBody>
      </p:sp>
      <p:sp>
        <p:nvSpPr>
          <p:cNvPr id="48" name="Text 46"/>
          <p:cNvSpPr/>
          <p:nvPr/>
        </p:nvSpPr>
        <p:spPr>
          <a:xfrm>
            <a:off x="950976"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Hiking</a:t>
            </a:r>
            <a:endParaRPr lang="en-US" sz="1230" dirty="0"/>
          </a:p>
        </p:txBody>
      </p:sp>
      <p:sp>
        <p:nvSpPr>
          <p:cNvPr id="49" name="Text 47"/>
          <p:cNvSpPr/>
          <p:nvPr/>
        </p:nvSpPr>
        <p:spPr>
          <a:xfrm>
            <a:off x="950976"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Scenic coastal trails and cedar paths.</a:t>
            </a:r>
            <a:endParaRPr lang="en-US" sz="680" dirty="0"/>
          </a:p>
        </p:txBody>
      </p:sp>
      <p:sp>
        <p:nvSpPr>
          <p:cNvPr id="50" name="Text 48"/>
          <p:cNvSpPr/>
          <p:nvPr/>
        </p:nvSpPr>
        <p:spPr>
          <a:xfrm>
            <a:off x="950976"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LAND ADVENTURE</a:t>
            </a:r>
            <a:endParaRPr lang="en-US" sz="640" dirty="0"/>
          </a:p>
        </p:txBody>
      </p:sp>
      <p:sp>
        <p:nvSpPr>
          <p:cNvPr id="51" name="Shape 49"/>
          <p:cNvSpPr/>
          <p:nvPr/>
        </p:nvSpPr>
        <p:spPr>
          <a:xfrm>
            <a:off x="3310128"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2" name="Text 50"/>
          <p:cNvSpPr/>
          <p:nvPr/>
        </p:nvSpPr>
        <p:spPr>
          <a:xfrm>
            <a:off x="3438144"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02</a:t>
            </a:r>
            <a:endParaRPr lang="en-US" sz="560" dirty="0"/>
          </a:p>
        </p:txBody>
      </p:sp>
      <p:sp>
        <p:nvSpPr>
          <p:cNvPr id="53" name="Text 51"/>
          <p:cNvSpPr/>
          <p:nvPr/>
        </p:nvSpPr>
        <p:spPr>
          <a:xfrm>
            <a:off x="3438144"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Kayaking</a:t>
            </a:r>
            <a:endParaRPr lang="en-US" sz="1230" dirty="0"/>
          </a:p>
        </p:txBody>
      </p:sp>
      <p:sp>
        <p:nvSpPr>
          <p:cNvPr id="54" name="Text 52"/>
          <p:cNvSpPr/>
          <p:nvPr/>
        </p:nvSpPr>
        <p:spPr>
          <a:xfrm>
            <a:off x="3438144"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Paddle the waters around Moffat Bay.</a:t>
            </a:r>
            <a:endParaRPr lang="en-US" sz="680" dirty="0"/>
          </a:p>
        </p:txBody>
      </p:sp>
      <p:sp>
        <p:nvSpPr>
          <p:cNvPr id="55" name="Text 53"/>
          <p:cNvSpPr/>
          <p:nvPr/>
        </p:nvSpPr>
        <p:spPr>
          <a:xfrm>
            <a:off x="3438144"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WATER ADVENTURE</a:t>
            </a:r>
            <a:endParaRPr lang="en-US" sz="640" dirty="0"/>
          </a:p>
        </p:txBody>
      </p:sp>
      <p:sp>
        <p:nvSpPr>
          <p:cNvPr id="56" name="Shape 54"/>
          <p:cNvSpPr/>
          <p:nvPr/>
        </p:nvSpPr>
        <p:spPr>
          <a:xfrm>
            <a:off x="5797296"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7" name="Text 55"/>
          <p:cNvSpPr/>
          <p:nvPr/>
        </p:nvSpPr>
        <p:spPr>
          <a:xfrm>
            <a:off x="5925312"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03</a:t>
            </a:r>
            <a:endParaRPr lang="en-US" sz="560" dirty="0"/>
          </a:p>
        </p:txBody>
      </p:sp>
      <p:sp>
        <p:nvSpPr>
          <p:cNvPr id="58" name="Text 56"/>
          <p:cNvSpPr/>
          <p:nvPr/>
        </p:nvSpPr>
        <p:spPr>
          <a:xfrm>
            <a:off x="5925312"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Whale Watching</a:t>
            </a:r>
            <a:endParaRPr lang="en-US" sz="1230" dirty="0"/>
          </a:p>
        </p:txBody>
      </p:sp>
      <p:sp>
        <p:nvSpPr>
          <p:cNvPr id="59" name="Text 57"/>
          <p:cNvSpPr/>
          <p:nvPr/>
        </p:nvSpPr>
        <p:spPr>
          <a:xfrm>
            <a:off x="5925312"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Look for whales and marine wildlife.</a:t>
            </a:r>
            <a:endParaRPr lang="en-US" sz="680" dirty="0"/>
          </a:p>
        </p:txBody>
      </p:sp>
      <p:sp>
        <p:nvSpPr>
          <p:cNvPr id="60" name="Text 58"/>
          <p:cNvSpPr/>
          <p:nvPr/>
        </p:nvSpPr>
        <p:spPr>
          <a:xfrm>
            <a:off x="5925312"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WILDLIFE EXPERIENCE</a:t>
            </a:r>
            <a:endParaRPr lang="en-US" sz="640" dirty="0"/>
          </a:p>
        </p:txBody>
      </p:sp>
      <p:sp>
        <p:nvSpPr>
          <p:cNvPr id="61" name="Shape 59"/>
          <p:cNvSpPr/>
          <p:nvPr/>
        </p:nvSpPr>
        <p:spPr>
          <a:xfrm>
            <a:off x="8284464" y="4041648"/>
            <a:ext cx="2240280" cy="1225296"/>
          </a:xfrm>
          <a:prstGeom prst="roundRect">
            <a:avLst>
              <a:gd name="adj" fmla="val 7463"/>
            </a:avLst>
          </a:prstGeom>
          <a:solidFill>
            <a:srgbClr val="FFFFFF">
              <a:alpha val="90000"/>
            </a:srgbClr>
          </a:solidFill>
          <a:ln w="12700">
            <a:solidFill>
              <a:srgbClr val="E9DFCF">
                <a:alpha val="9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2" name="Text 60"/>
          <p:cNvSpPr/>
          <p:nvPr/>
        </p:nvSpPr>
        <p:spPr>
          <a:xfrm>
            <a:off x="8412480" y="4160520"/>
            <a:ext cx="640080" cy="109728"/>
          </a:xfrm>
          <a:prstGeom prst="rect">
            <a:avLst/>
          </a:prstGeom>
          <a:noFill/>
          <a:ln/>
        </p:spPr>
        <p:txBody>
          <a:bodyPr wrap="square" lIns="381" tIns="381" rIns="381" bIns="381" rtlCol="0" anchor="ctr">
            <a:normAutofit/>
          </a:bodyPr>
          <a:lstStyle/>
          <a:p>
            <a:pPr marL="0" indent="0" algn="l">
              <a:buNone/>
            </a:pPr>
            <a:r>
              <a:rPr lang="en-US" sz="560" b="1" dirty="0">
                <a:solidFill>
                  <a:srgbClr val="CDA059"/>
                </a:solidFill>
                <a:latin typeface="Arial" pitchFamily="34" charset="0"/>
                <a:ea typeface="Arial" pitchFamily="34" charset="-122"/>
                <a:cs typeface="Arial" pitchFamily="34" charset="-120"/>
              </a:rPr>
              <a:t>04</a:t>
            </a:r>
            <a:endParaRPr lang="en-US" sz="560" dirty="0"/>
          </a:p>
        </p:txBody>
      </p:sp>
      <p:sp>
        <p:nvSpPr>
          <p:cNvPr id="63" name="Text 61"/>
          <p:cNvSpPr/>
          <p:nvPr/>
        </p:nvSpPr>
        <p:spPr>
          <a:xfrm>
            <a:off x="8412480" y="4352544"/>
            <a:ext cx="1984248" cy="274320"/>
          </a:xfrm>
          <a:prstGeom prst="rect">
            <a:avLst/>
          </a:prstGeom>
          <a:noFill/>
          <a:ln/>
        </p:spPr>
        <p:txBody>
          <a:bodyPr wrap="square" lIns="381" tIns="381" rIns="381" bIns="381" rtlCol="0" anchor="ctr">
            <a:normAutofit/>
          </a:bodyPr>
          <a:lstStyle/>
          <a:p>
            <a:pPr marL="0" indent="0" algn="l">
              <a:buNone/>
            </a:pPr>
            <a:r>
              <a:rPr lang="en-US" sz="1230" dirty="0">
                <a:solidFill>
                  <a:srgbClr val="132133"/>
                </a:solidFill>
                <a:latin typeface="Georgia" pitchFamily="34" charset="0"/>
                <a:ea typeface="Georgia" pitchFamily="34" charset="-122"/>
                <a:cs typeface="Georgia" pitchFamily="34" charset="-120"/>
              </a:rPr>
              <a:t>Scuba Diving</a:t>
            </a:r>
            <a:endParaRPr lang="en-US" sz="1230" dirty="0"/>
          </a:p>
        </p:txBody>
      </p:sp>
      <p:sp>
        <p:nvSpPr>
          <p:cNvPr id="64" name="Text 62"/>
          <p:cNvSpPr/>
          <p:nvPr/>
        </p:nvSpPr>
        <p:spPr>
          <a:xfrm>
            <a:off x="8412480" y="4700016"/>
            <a:ext cx="1984248" cy="384048"/>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Explore the underwater marine environment.</a:t>
            </a:r>
            <a:endParaRPr lang="en-US" sz="680" dirty="0"/>
          </a:p>
        </p:txBody>
      </p:sp>
      <p:sp>
        <p:nvSpPr>
          <p:cNvPr id="65" name="Text 63"/>
          <p:cNvSpPr/>
          <p:nvPr/>
        </p:nvSpPr>
        <p:spPr>
          <a:xfrm>
            <a:off x="8412480" y="4956048"/>
            <a:ext cx="1984248" cy="128016"/>
          </a:xfrm>
          <a:prstGeom prst="rect">
            <a:avLst/>
          </a:prstGeom>
          <a:noFill/>
          <a:ln/>
        </p:spPr>
        <p:txBody>
          <a:bodyPr wrap="square" lIns="381" tIns="381" rIns="381" bIns="381" rtlCol="0" anchor="ctr">
            <a:normAutofit/>
          </a:bodyPr>
          <a:lstStyle/>
          <a:p>
            <a:pPr marL="0" indent="0" algn="l">
              <a:buNone/>
            </a:pPr>
            <a:r>
              <a:rPr lang="en-US" sz="640" b="1" dirty="0">
                <a:solidFill>
                  <a:srgbClr val="276F7B"/>
                </a:solidFill>
                <a:latin typeface="Arial" pitchFamily="34" charset="0"/>
                <a:ea typeface="Arial" pitchFamily="34" charset="-122"/>
                <a:cs typeface="Arial" pitchFamily="34" charset="-120"/>
              </a:rPr>
              <a:t>OCEAN ADVENTURE</a:t>
            </a:r>
            <a:endParaRPr lang="en-US" sz="640" dirty="0"/>
          </a:p>
        </p:txBody>
      </p:sp>
      <p:sp>
        <p:nvSpPr>
          <p:cNvPr id="66" name="Shape 64"/>
          <p:cNvSpPr/>
          <p:nvPr/>
        </p:nvSpPr>
        <p:spPr>
          <a:xfrm>
            <a:off x="822960" y="5486400"/>
            <a:ext cx="9921240" cy="713232"/>
          </a:xfrm>
          <a:prstGeom prst="roundRect">
            <a:avLst>
              <a:gd name="adj" fmla="val 14103"/>
            </a:avLst>
          </a:prstGeom>
          <a:solidFill>
            <a:srgbClr val="132133"/>
          </a:solidFill>
          <a:ln w="12700">
            <a:solidFill>
              <a:srgbClr val="132133"/>
            </a:solidFill>
            <a:prstDash val="solid"/>
          </a:ln>
        </p:spPr>
        <p:txBody>
          <a:bodyPr/>
          <a:lstStyle/>
          <a:p>
            <a:endParaRPr lang="en-US"/>
          </a:p>
        </p:txBody>
      </p:sp>
      <p:sp>
        <p:nvSpPr>
          <p:cNvPr id="67" name="Text 65"/>
          <p:cNvSpPr/>
          <p:nvPr/>
        </p:nvSpPr>
        <p:spPr>
          <a:xfrm>
            <a:off x="1143000" y="5650992"/>
            <a:ext cx="7132320" cy="146304"/>
          </a:xfrm>
          <a:prstGeom prst="rect">
            <a:avLst/>
          </a:prstGeom>
          <a:noFill/>
          <a:ln/>
        </p:spPr>
        <p:txBody>
          <a:bodyPr wrap="square" lIns="381" tIns="381" rIns="381" bIns="381" rtlCol="0" anchor="ctr">
            <a:normAutofit/>
          </a:bodyPr>
          <a:lstStyle/>
          <a:p>
            <a:pPr marL="0" indent="0" algn="l">
              <a:buNone/>
            </a:pPr>
            <a:r>
              <a:rPr lang="en-US" sz="680" b="1" dirty="0">
                <a:solidFill>
                  <a:srgbClr val="DFB66E"/>
                </a:solidFill>
                <a:latin typeface="Arial" pitchFamily="34" charset="0"/>
                <a:ea typeface="Arial" pitchFamily="34" charset="-122"/>
                <a:cs typeface="Arial" pitchFamily="34" charset="-120"/>
              </a:rPr>
              <a:t>MAKE IT YOUR TRIP</a:t>
            </a:r>
            <a:endParaRPr lang="en-US" sz="680" dirty="0"/>
          </a:p>
        </p:txBody>
      </p:sp>
      <p:sp>
        <p:nvSpPr>
          <p:cNvPr id="68" name="Text 66"/>
          <p:cNvSpPr/>
          <p:nvPr/>
        </p:nvSpPr>
        <p:spPr>
          <a:xfrm>
            <a:off x="1143000" y="5852160"/>
            <a:ext cx="7132320" cy="219456"/>
          </a:xfrm>
          <a:prstGeom prst="rect">
            <a:avLst/>
          </a:prstGeom>
          <a:noFill/>
          <a:ln/>
        </p:spPr>
        <p:txBody>
          <a:bodyPr wrap="square" lIns="381" tIns="381" rIns="381" bIns="381" rtlCol="0" anchor="ctr">
            <a:normAutofit/>
          </a:bodyPr>
          <a:lstStyle/>
          <a:p>
            <a:pPr marL="0" indent="0" algn="l">
              <a:buNone/>
            </a:pPr>
            <a:r>
              <a:rPr lang="en-US" sz="1250" dirty="0">
                <a:solidFill>
                  <a:srgbClr val="FFFFFF"/>
                </a:solidFill>
                <a:latin typeface="Georgia" pitchFamily="34" charset="0"/>
                <a:ea typeface="Georgia" pitchFamily="34" charset="-122"/>
                <a:cs typeface="Georgia" pitchFamily="34" charset="-120"/>
              </a:rPr>
              <a:t>Adventure by Day. Relax at the Lodge by Night.</a:t>
            </a:r>
            <a:endParaRPr lang="en-US" sz="1250" dirty="0"/>
          </a:p>
        </p:txBody>
      </p:sp>
      <p:sp>
        <p:nvSpPr>
          <p:cNvPr id="69" name="Text 67"/>
          <p:cNvSpPr/>
          <p:nvPr/>
        </p:nvSpPr>
        <p:spPr>
          <a:xfrm>
            <a:off x="1143000" y="6062472"/>
            <a:ext cx="7132320" cy="146304"/>
          </a:xfrm>
          <a:prstGeom prst="rect">
            <a:avLst/>
          </a:prstGeom>
          <a:noFill/>
          <a:ln/>
        </p:spPr>
        <p:txBody>
          <a:bodyPr wrap="square" lIns="381" tIns="381" rIns="381" bIns="381" rtlCol="0" anchor="t">
            <a:normAutofit/>
          </a:bodyPr>
          <a:lstStyle/>
          <a:p>
            <a:pPr marL="0" indent="0" algn="l">
              <a:buNone/>
            </a:pPr>
            <a:r>
              <a:rPr lang="en-US" sz="580" dirty="0">
                <a:solidFill>
                  <a:srgbClr val="FFFFFF"/>
                </a:solidFill>
                <a:latin typeface="Arial" pitchFamily="34" charset="0"/>
                <a:ea typeface="Arial" pitchFamily="34" charset="-122"/>
                <a:cs typeface="Arial" pitchFamily="34" charset="-120"/>
              </a:rPr>
              <a:t>Spend the day exploring, then return to the lodge to recharge before your next island adventure.</a:t>
            </a:r>
            <a:endParaRPr lang="en-US" sz="580" dirty="0"/>
          </a:p>
        </p:txBody>
      </p:sp>
      <p:sp>
        <p:nvSpPr>
          <p:cNvPr id="70" name="Shape 68">
            <a:hlinkClick r:id="rId8" action="ppaction://hlinksldjump"/>
          </p:cNvPr>
          <p:cNvSpPr/>
          <p:nvPr/>
        </p:nvSpPr>
        <p:spPr>
          <a:xfrm>
            <a:off x="8366760" y="5806440"/>
            <a:ext cx="1298448"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71" name="Text 69">
            <a:hlinkClick r:id="rId8" action="ppaction://hlinksldjump"/>
          </p:cNvPr>
          <p:cNvSpPr/>
          <p:nvPr/>
        </p:nvSpPr>
        <p:spPr>
          <a:xfrm>
            <a:off x="8394192" y="5888736"/>
            <a:ext cx="124358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Reserve Your Room</a:t>
            </a:r>
            <a:endParaRPr lang="en-US" sz="640" dirty="0"/>
          </a:p>
        </p:txBody>
      </p:sp>
      <p:sp>
        <p:nvSpPr>
          <p:cNvPr id="72" name="Shape 70">
            <a:hlinkClick r:id="rId5" action="ppaction://hlinksldjump"/>
          </p:cNvPr>
          <p:cNvSpPr/>
          <p:nvPr/>
        </p:nvSpPr>
        <p:spPr>
          <a:xfrm>
            <a:off x="9802368" y="5806440"/>
            <a:ext cx="91440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73" name="Text 71">
            <a:hlinkClick r:id="rId5" action="ppaction://hlinksldjump"/>
          </p:cNvPr>
          <p:cNvSpPr/>
          <p:nvPr/>
        </p:nvSpPr>
        <p:spPr>
          <a:xfrm>
            <a:off x="9829800" y="5888736"/>
            <a:ext cx="8595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Compare Rooms</a:t>
            </a:r>
            <a:endParaRPr lang="en-US" sz="64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Contact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let guests ask questions before or after booking while keeping booking and lookup paths visible.</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moffatbaylodge.com/contact.html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Shape 19"/>
          <p:cNvSpPr/>
          <p:nvPr/>
        </p:nvSpPr>
        <p:spPr>
          <a:xfrm>
            <a:off x="6611112" y="1627632"/>
            <a:ext cx="384048" cy="22860"/>
          </a:xfrm>
          <a:prstGeom prst="rect">
            <a:avLst/>
          </a:prstGeom>
          <a:solidFill>
            <a:srgbClr val="2F8694"/>
          </a:solidFill>
          <a:ln w="12700">
            <a:solidFill>
              <a:srgbClr val="2F8694"/>
            </a:solidFill>
            <a:prstDash val="solid"/>
          </a:ln>
        </p:spPr>
        <p:txBody>
          <a:bodyPr/>
          <a:lstStyle/>
          <a:p>
            <a:endParaRPr lang="en-US"/>
          </a:p>
        </p:txBody>
      </p:sp>
      <p:sp>
        <p:nvSpPr>
          <p:cNvPr id="22" name="Text 20">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7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GET IN TOUCH</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Contact Moffat Bay Lodge</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Questions about rooms, activities, reservations, or your upcoming stay? Our lodge team is here to help.</a:t>
            </a:r>
            <a:endParaRPr lang="en-US" sz="840" dirty="0"/>
          </a:p>
        </p:txBody>
      </p:sp>
      <p:sp>
        <p:nvSpPr>
          <p:cNvPr id="41" name="Shape 39"/>
          <p:cNvSpPr/>
          <p:nvPr/>
        </p:nvSpPr>
        <p:spPr>
          <a:xfrm>
            <a:off x="813816" y="3337560"/>
            <a:ext cx="4206240" cy="2697480"/>
          </a:xfrm>
          <a:prstGeom prst="roundRect">
            <a:avLst>
              <a:gd name="adj" fmla="val 3390"/>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42" name="Shape 40"/>
          <p:cNvSpPr/>
          <p:nvPr/>
        </p:nvSpPr>
        <p:spPr>
          <a:xfrm>
            <a:off x="822960" y="3337560"/>
            <a:ext cx="4206240" cy="54864"/>
          </a:xfrm>
          <a:prstGeom prst="rect">
            <a:avLst/>
          </a:prstGeom>
          <a:solidFill>
            <a:srgbClr val="2F8694"/>
          </a:solidFill>
          <a:ln w="12700">
            <a:solidFill>
              <a:srgbClr val="2F8694"/>
            </a:solidFill>
            <a:prstDash val="solid"/>
          </a:ln>
        </p:spPr>
        <p:txBody>
          <a:bodyPr/>
          <a:lstStyle/>
          <a:p>
            <a:endParaRPr lang="en-US"/>
          </a:p>
        </p:txBody>
      </p:sp>
      <p:sp>
        <p:nvSpPr>
          <p:cNvPr id="43" name="Text 41"/>
          <p:cNvSpPr/>
          <p:nvPr/>
        </p:nvSpPr>
        <p:spPr>
          <a:xfrm>
            <a:off x="987552" y="3502152"/>
            <a:ext cx="387705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Lodge Contact Details</a:t>
            </a:r>
            <a:endParaRPr lang="en-US" sz="1250" dirty="0"/>
          </a:p>
        </p:txBody>
      </p:sp>
      <p:sp>
        <p:nvSpPr>
          <p:cNvPr id="44" name="Text 42"/>
          <p:cNvSpPr/>
          <p:nvPr/>
        </p:nvSpPr>
        <p:spPr>
          <a:xfrm>
            <a:off x="987552" y="3840480"/>
            <a:ext cx="3877056" cy="2039112"/>
          </a:xfrm>
          <a:prstGeom prst="rect">
            <a:avLst/>
          </a:prstGeom>
          <a:noFill/>
          <a:ln/>
        </p:spPr>
        <p:txBody>
          <a:bodyPr wrap="square" lIns="381" tIns="381" rIns="381" bIns="381" rtlCol="0" anchor="t">
            <a:normAutofit/>
          </a:bodyPr>
          <a:lstStyle/>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Phone: (555) 410-2233</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Email: stay@moffatbaylodge.com</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Address: 14 Harbor Crest Road, Moffat Bay Island</a:t>
            </a:r>
            <a:endParaRPr lang="en-US" sz="680" dirty="0"/>
          </a:p>
          <a:p>
            <a:pPr marL="0" indent="0" algn="l">
              <a:lnSpc>
                <a:spcPct val="150000"/>
              </a:lnSpc>
              <a:buNone/>
            </a:pPr>
            <a:r>
              <a:rPr lang="en-US" sz="680" dirty="0">
                <a:solidFill>
                  <a:srgbClr val="2A3B50"/>
                </a:solidFill>
                <a:latin typeface="Arial" pitchFamily="34" charset="0"/>
                <a:ea typeface="Arial" pitchFamily="34" charset="-122"/>
                <a:cs typeface="Arial" pitchFamily="34" charset="-120"/>
              </a:rPr>
              <a:t>Front Desk Hours: 24/7</a:t>
            </a:r>
            <a:endParaRPr lang="en-US" sz="680" dirty="0"/>
          </a:p>
        </p:txBody>
      </p:sp>
      <p:sp>
        <p:nvSpPr>
          <p:cNvPr id="45" name="Shape 43">
            <a:hlinkClick r:id="rId5" action="ppaction://hlinksldjump"/>
          </p:cNvPr>
          <p:cNvSpPr/>
          <p:nvPr/>
        </p:nvSpPr>
        <p:spPr>
          <a:xfrm>
            <a:off x="1024128" y="5596128"/>
            <a:ext cx="8686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46" name="Text 44">
            <a:hlinkClick r:id="rId5" action="ppaction://hlinksldjump"/>
          </p:cNvPr>
          <p:cNvSpPr/>
          <p:nvPr/>
        </p:nvSpPr>
        <p:spPr>
          <a:xfrm>
            <a:off x="1051560" y="5678424"/>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a:t>
            </a:r>
            <a:endParaRPr lang="en-US" sz="640" dirty="0"/>
          </a:p>
        </p:txBody>
      </p:sp>
      <p:sp>
        <p:nvSpPr>
          <p:cNvPr id="47" name="Shape 45">
            <a:hlinkClick r:id="rId11" action="ppaction://hlinksldjump"/>
          </p:cNvPr>
          <p:cNvSpPr/>
          <p:nvPr/>
        </p:nvSpPr>
        <p:spPr>
          <a:xfrm>
            <a:off x="2029968" y="5596128"/>
            <a:ext cx="123444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48" name="Text 46">
            <a:hlinkClick r:id="rId11" action="ppaction://hlinksldjump"/>
          </p:cNvPr>
          <p:cNvSpPr/>
          <p:nvPr/>
        </p:nvSpPr>
        <p:spPr>
          <a:xfrm>
            <a:off x="2057400" y="5678424"/>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 Reservation</a:t>
            </a:r>
            <a:endParaRPr lang="en-US" sz="640" dirty="0"/>
          </a:p>
        </p:txBody>
      </p:sp>
      <p:sp>
        <p:nvSpPr>
          <p:cNvPr id="49" name="Shape 47"/>
          <p:cNvSpPr/>
          <p:nvPr/>
        </p:nvSpPr>
        <p:spPr>
          <a:xfrm>
            <a:off x="5394960" y="3337560"/>
            <a:ext cx="5349240" cy="2697480"/>
          </a:xfrm>
          <a:prstGeom prst="roundRect">
            <a:avLst>
              <a:gd name="adj" fmla="val 3390"/>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50" name="Text 48"/>
          <p:cNvSpPr/>
          <p:nvPr/>
        </p:nvSpPr>
        <p:spPr>
          <a:xfrm>
            <a:off x="5623560" y="3566160"/>
            <a:ext cx="2377440" cy="219456"/>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Send an Inquiry</a:t>
            </a:r>
            <a:endParaRPr lang="en-US" sz="1300" dirty="0"/>
          </a:p>
        </p:txBody>
      </p:sp>
      <p:sp>
        <p:nvSpPr>
          <p:cNvPr id="51" name="Text 49"/>
          <p:cNvSpPr/>
          <p:nvPr/>
        </p:nvSpPr>
        <p:spPr>
          <a:xfrm>
            <a:off x="5623560" y="395935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Full Name</a:t>
            </a:r>
            <a:endParaRPr lang="en-US" sz="530" dirty="0"/>
          </a:p>
        </p:txBody>
      </p:sp>
      <p:sp>
        <p:nvSpPr>
          <p:cNvPr id="52" name="Shape 50"/>
          <p:cNvSpPr/>
          <p:nvPr/>
        </p:nvSpPr>
        <p:spPr>
          <a:xfrm>
            <a:off x="5623560" y="408736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3" name="Text 51"/>
          <p:cNvSpPr/>
          <p:nvPr/>
        </p:nvSpPr>
        <p:spPr>
          <a:xfrm>
            <a:off x="5696712" y="417880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Your name</a:t>
            </a:r>
            <a:endParaRPr lang="en-US" sz="510" dirty="0"/>
          </a:p>
        </p:txBody>
      </p:sp>
      <p:sp>
        <p:nvSpPr>
          <p:cNvPr id="54" name="Text 52"/>
          <p:cNvSpPr/>
          <p:nvPr/>
        </p:nvSpPr>
        <p:spPr>
          <a:xfrm>
            <a:off x="8229600" y="395935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a:t>
            </a:r>
            <a:endParaRPr lang="en-US" sz="530" dirty="0"/>
          </a:p>
        </p:txBody>
      </p:sp>
      <p:sp>
        <p:nvSpPr>
          <p:cNvPr id="55" name="Shape 53"/>
          <p:cNvSpPr/>
          <p:nvPr/>
        </p:nvSpPr>
        <p:spPr>
          <a:xfrm>
            <a:off x="8229600" y="408736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6" name="Text 54"/>
          <p:cNvSpPr/>
          <p:nvPr/>
        </p:nvSpPr>
        <p:spPr>
          <a:xfrm>
            <a:off x="8302752" y="417880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you@example.com</a:t>
            </a:r>
            <a:endParaRPr lang="en-US" sz="510" dirty="0"/>
          </a:p>
        </p:txBody>
      </p:sp>
      <p:sp>
        <p:nvSpPr>
          <p:cNvPr id="57" name="Text 55"/>
          <p:cNvSpPr/>
          <p:nvPr/>
        </p:nvSpPr>
        <p:spPr>
          <a:xfrm>
            <a:off x="5623560" y="4645152"/>
            <a:ext cx="493776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Message</a:t>
            </a:r>
            <a:endParaRPr lang="en-US" sz="530" dirty="0"/>
          </a:p>
        </p:txBody>
      </p:sp>
      <p:sp>
        <p:nvSpPr>
          <p:cNvPr id="58" name="Shape 56"/>
          <p:cNvSpPr/>
          <p:nvPr/>
        </p:nvSpPr>
        <p:spPr>
          <a:xfrm>
            <a:off x="5623560" y="4773168"/>
            <a:ext cx="4937760" cy="713232"/>
          </a:xfrm>
          <a:prstGeom prst="roundRect">
            <a:avLst>
              <a:gd name="adj" fmla="val 5128"/>
            </a:avLst>
          </a:prstGeom>
          <a:solidFill>
            <a:srgbClr val="FFFFFF"/>
          </a:solidFill>
          <a:ln w="12700">
            <a:solidFill>
              <a:srgbClr val="B8C2C5">
                <a:alpha val="80000"/>
              </a:srgbClr>
            </a:solidFill>
            <a:prstDash val="solid"/>
          </a:ln>
        </p:spPr>
        <p:txBody>
          <a:bodyPr/>
          <a:lstStyle/>
          <a:p>
            <a:endParaRPr lang="en-US"/>
          </a:p>
        </p:txBody>
      </p:sp>
      <p:sp>
        <p:nvSpPr>
          <p:cNvPr id="59" name="Text 57"/>
          <p:cNvSpPr/>
          <p:nvPr/>
        </p:nvSpPr>
        <p:spPr>
          <a:xfrm>
            <a:off x="5696712" y="4864608"/>
            <a:ext cx="479145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How can we help?</a:t>
            </a:r>
            <a:endParaRPr lang="en-US" sz="510" dirty="0"/>
          </a:p>
        </p:txBody>
      </p:sp>
      <p:sp>
        <p:nvSpPr>
          <p:cNvPr id="60" name="Shape 58">
            <a:hlinkClick r:id="rId7" action="ppaction://hlinksldjump"/>
          </p:cNvPr>
          <p:cNvSpPr/>
          <p:nvPr/>
        </p:nvSpPr>
        <p:spPr>
          <a:xfrm>
            <a:off x="5623560" y="5577840"/>
            <a:ext cx="1170432"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1" name="Text 59">
            <a:hlinkClick r:id="rId7" action="ppaction://hlinksldjump"/>
          </p:cNvPr>
          <p:cNvSpPr/>
          <p:nvPr/>
        </p:nvSpPr>
        <p:spPr>
          <a:xfrm>
            <a:off x="5650992" y="5660136"/>
            <a:ext cx="1115568"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Send Message</a:t>
            </a:r>
            <a:endParaRPr lang="en-US" sz="64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Login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let returning guests sign in before confirming or managing reservations.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moffatbaylodge.com/login.html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8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GUEST ACCESS</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Welcome Back</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Log in with your email and password to continue to your Moffat Bay Lodge reservation.</a:t>
            </a:r>
            <a:endParaRPr lang="en-US" sz="840" dirty="0"/>
          </a:p>
        </p:txBody>
      </p:sp>
      <p:sp>
        <p:nvSpPr>
          <p:cNvPr id="40" name="Shape 38"/>
          <p:cNvSpPr/>
          <p:nvPr/>
        </p:nvSpPr>
        <p:spPr>
          <a:xfrm>
            <a:off x="822960" y="3337560"/>
            <a:ext cx="4800600" cy="2423160"/>
          </a:xfrm>
          <a:prstGeom prst="roundRect">
            <a:avLst>
              <a:gd name="adj" fmla="val 377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66160"/>
            <a:ext cx="2103120" cy="219456"/>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Login</a:t>
            </a:r>
            <a:endParaRPr lang="en-US" sz="1300" dirty="0"/>
          </a:p>
        </p:txBody>
      </p:sp>
      <p:sp>
        <p:nvSpPr>
          <p:cNvPr id="42" name="Text 40"/>
          <p:cNvSpPr/>
          <p:nvPr/>
        </p:nvSpPr>
        <p:spPr>
          <a:xfrm>
            <a:off x="1051560" y="3977640"/>
            <a:ext cx="434340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 Address</a:t>
            </a:r>
            <a:endParaRPr lang="en-US" sz="530" dirty="0"/>
          </a:p>
        </p:txBody>
      </p:sp>
      <p:sp>
        <p:nvSpPr>
          <p:cNvPr id="43" name="Shape 41"/>
          <p:cNvSpPr/>
          <p:nvPr/>
        </p:nvSpPr>
        <p:spPr>
          <a:xfrm>
            <a:off x="1051560" y="4105656"/>
            <a:ext cx="434340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197096"/>
            <a:ext cx="419709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demo@moffatbay.com</a:t>
            </a:r>
            <a:endParaRPr lang="en-US" sz="510" dirty="0"/>
          </a:p>
        </p:txBody>
      </p:sp>
      <p:sp>
        <p:nvSpPr>
          <p:cNvPr id="45" name="Text 43"/>
          <p:cNvSpPr/>
          <p:nvPr/>
        </p:nvSpPr>
        <p:spPr>
          <a:xfrm>
            <a:off x="1051560" y="4636008"/>
            <a:ext cx="434340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Password</a:t>
            </a:r>
            <a:endParaRPr lang="en-US" sz="530" dirty="0"/>
          </a:p>
        </p:txBody>
      </p:sp>
      <p:sp>
        <p:nvSpPr>
          <p:cNvPr id="46" name="Shape 44"/>
          <p:cNvSpPr/>
          <p:nvPr/>
        </p:nvSpPr>
        <p:spPr>
          <a:xfrm>
            <a:off x="1051560" y="4764024"/>
            <a:ext cx="434340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7" name="Text 45"/>
          <p:cNvSpPr/>
          <p:nvPr/>
        </p:nvSpPr>
        <p:spPr>
          <a:xfrm>
            <a:off x="1124712" y="4855464"/>
            <a:ext cx="419709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48" name="Shape 46">
            <a:hlinkClick r:id="rId11" action="ppaction://hlinksldjump"/>
          </p:cNvPr>
          <p:cNvSpPr/>
          <p:nvPr/>
        </p:nvSpPr>
        <p:spPr>
          <a:xfrm>
            <a:off x="1051560" y="5303520"/>
            <a:ext cx="7772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9" name="Text 47">
            <a:hlinkClick r:id="rId11" action="ppaction://hlinksldjump"/>
          </p:cNvPr>
          <p:cNvSpPr/>
          <p:nvPr/>
        </p:nvSpPr>
        <p:spPr>
          <a:xfrm>
            <a:off x="1078992" y="5385816"/>
            <a:ext cx="7223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Login</a:t>
            </a:r>
            <a:endParaRPr lang="en-US" sz="640" dirty="0"/>
          </a:p>
        </p:txBody>
      </p:sp>
      <p:sp>
        <p:nvSpPr>
          <p:cNvPr id="50" name="Text 48"/>
          <p:cNvSpPr/>
          <p:nvPr/>
        </p:nvSpPr>
        <p:spPr>
          <a:xfrm>
            <a:off x="1965960" y="5376672"/>
            <a:ext cx="3291840" cy="118872"/>
          </a:xfrm>
          <a:prstGeom prst="rect">
            <a:avLst/>
          </a:prstGeom>
          <a:noFill/>
          <a:ln/>
        </p:spPr>
        <p:txBody>
          <a:bodyPr wrap="square" lIns="381" tIns="381" rIns="381" bIns="381" rtlCol="0" anchor="ctr">
            <a:normAutofit/>
          </a:bodyPr>
          <a:lstStyle/>
          <a:p>
            <a:pPr marL="0" indent="0" algn="l">
              <a:buNone/>
            </a:pPr>
            <a:r>
              <a:rPr lang="en-US" sz="560" dirty="0">
                <a:solidFill>
                  <a:srgbClr val="536273"/>
                </a:solidFill>
                <a:latin typeface="Arial" pitchFamily="34" charset="0"/>
                <a:ea typeface="Arial" pitchFamily="34" charset="-122"/>
                <a:cs typeface="Arial" pitchFamily="34" charset="-120"/>
              </a:rPr>
              <a:t>Demo account: demo@moffatbay.com / DemoPass1</a:t>
            </a:r>
            <a:endParaRPr lang="en-US" sz="560" dirty="0"/>
          </a:p>
        </p:txBody>
      </p:sp>
      <p:sp>
        <p:nvSpPr>
          <p:cNvPr id="51" name="Shape 49"/>
          <p:cNvSpPr/>
          <p:nvPr/>
        </p:nvSpPr>
        <p:spPr>
          <a:xfrm>
            <a:off x="5989320" y="3337560"/>
            <a:ext cx="4754880" cy="2423160"/>
          </a:xfrm>
          <a:prstGeom prst="roundRect">
            <a:avLst>
              <a:gd name="adj" fmla="val 3774"/>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2" name="Text 50"/>
          <p:cNvSpPr/>
          <p:nvPr/>
        </p:nvSpPr>
        <p:spPr>
          <a:xfrm>
            <a:off x="6153912" y="3502152"/>
            <a:ext cx="442569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New to Moffat Bay?</a:t>
            </a:r>
            <a:endParaRPr lang="en-US" sz="1250" dirty="0"/>
          </a:p>
        </p:txBody>
      </p:sp>
      <p:sp>
        <p:nvSpPr>
          <p:cNvPr id="53" name="Text 51"/>
          <p:cNvSpPr/>
          <p:nvPr/>
        </p:nvSpPr>
        <p:spPr>
          <a:xfrm>
            <a:off x="6153912" y="3840480"/>
            <a:ext cx="4425696" cy="176479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Create a free account to confirm a lodge reservation. You can browse rooms, rates, attractions, and other pages without signing in.</a:t>
            </a:r>
            <a:endParaRPr lang="en-US" sz="680" dirty="0"/>
          </a:p>
        </p:txBody>
      </p:sp>
      <p:sp>
        <p:nvSpPr>
          <p:cNvPr id="54" name="Shape 52">
            <a:hlinkClick r:id="rId10" action="ppaction://hlinksldjump"/>
          </p:cNvPr>
          <p:cNvSpPr/>
          <p:nvPr/>
        </p:nvSpPr>
        <p:spPr>
          <a:xfrm>
            <a:off x="6199632" y="5138928"/>
            <a:ext cx="114300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55" name="Text 53">
            <a:hlinkClick r:id="rId10" action="ppaction://hlinksldjump"/>
          </p:cNvPr>
          <p:cNvSpPr/>
          <p:nvPr/>
        </p:nvSpPr>
        <p:spPr>
          <a:xfrm>
            <a:off x="6227064" y="5221224"/>
            <a:ext cx="10881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Create Account</a:t>
            </a:r>
            <a:endParaRPr lang="en-US" sz="640" dirty="0"/>
          </a:p>
        </p:txBody>
      </p:sp>
      <p:sp>
        <p:nvSpPr>
          <p:cNvPr id="56" name="Shape 54">
            <a:hlinkClick r:id="rId5" action="ppaction://hlinksldjump"/>
          </p:cNvPr>
          <p:cNvSpPr/>
          <p:nvPr/>
        </p:nvSpPr>
        <p:spPr>
          <a:xfrm>
            <a:off x="7479792" y="5138928"/>
            <a:ext cx="105156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57" name="Text 55">
            <a:hlinkClick r:id="rId5" action="ppaction://hlinksldjump"/>
          </p:cNvPr>
          <p:cNvSpPr/>
          <p:nvPr/>
        </p:nvSpPr>
        <p:spPr>
          <a:xfrm>
            <a:off x="7507224" y="5221224"/>
            <a:ext cx="9966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Browse Rooms</a:t>
            </a:r>
            <a:endParaRPr lang="en-US" sz="64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Register Page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collect guest account details before booking confirmation and future lookup.</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moffatbaylodge.com/register.html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9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CREATE AN ACCOUNT</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Register for Your Free Account</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Create an account to confirm reservations and return later to look up your stay.</a:t>
            </a:r>
            <a:endParaRPr lang="en-US" sz="840" dirty="0"/>
          </a:p>
        </p:txBody>
      </p:sp>
      <p:sp>
        <p:nvSpPr>
          <p:cNvPr id="40" name="Shape 38"/>
          <p:cNvSpPr/>
          <p:nvPr/>
        </p:nvSpPr>
        <p:spPr>
          <a:xfrm>
            <a:off x="822960" y="3337560"/>
            <a:ext cx="5486400" cy="2880360"/>
          </a:xfrm>
          <a:prstGeom prst="roundRect">
            <a:avLst>
              <a:gd name="adj" fmla="val 3175"/>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47872"/>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Guest Information</a:t>
            </a:r>
            <a:endParaRPr lang="en-US" sz="1300" dirty="0"/>
          </a:p>
        </p:txBody>
      </p:sp>
      <p:sp>
        <p:nvSpPr>
          <p:cNvPr id="42" name="Text 40"/>
          <p:cNvSpPr/>
          <p:nvPr/>
        </p:nvSpPr>
        <p:spPr>
          <a:xfrm>
            <a:off x="105156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Email Address</a:t>
            </a:r>
            <a:endParaRPr lang="en-US" sz="530" dirty="0"/>
          </a:p>
        </p:txBody>
      </p:sp>
      <p:sp>
        <p:nvSpPr>
          <p:cNvPr id="43" name="Shape 41"/>
          <p:cNvSpPr/>
          <p:nvPr/>
        </p:nvSpPr>
        <p:spPr>
          <a:xfrm>
            <a:off x="105156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you@example.com</a:t>
            </a:r>
            <a:endParaRPr lang="en-US" sz="510" dirty="0"/>
          </a:p>
        </p:txBody>
      </p:sp>
      <p:sp>
        <p:nvSpPr>
          <p:cNvPr id="45" name="Text 43"/>
          <p:cNvSpPr/>
          <p:nvPr/>
        </p:nvSpPr>
        <p:spPr>
          <a:xfrm>
            <a:off x="370332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Telephone</a:t>
            </a:r>
            <a:endParaRPr lang="en-US" sz="530" dirty="0"/>
          </a:p>
        </p:txBody>
      </p:sp>
      <p:sp>
        <p:nvSpPr>
          <p:cNvPr id="46" name="Shape 44"/>
          <p:cNvSpPr/>
          <p:nvPr/>
        </p:nvSpPr>
        <p:spPr>
          <a:xfrm>
            <a:off x="370332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7" name="Text 45"/>
          <p:cNvSpPr/>
          <p:nvPr/>
        </p:nvSpPr>
        <p:spPr>
          <a:xfrm>
            <a:off x="377647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(555) 123-4567</a:t>
            </a:r>
            <a:endParaRPr lang="en-US" sz="510" dirty="0"/>
          </a:p>
        </p:txBody>
      </p:sp>
      <p:sp>
        <p:nvSpPr>
          <p:cNvPr id="48" name="Text 46"/>
          <p:cNvSpPr/>
          <p:nvPr/>
        </p:nvSpPr>
        <p:spPr>
          <a:xfrm>
            <a:off x="1051560" y="4535424"/>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First Name</a:t>
            </a:r>
            <a:endParaRPr lang="en-US" sz="530" dirty="0"/>
          </a:p>
        </p:txBody>
      </p:sp>
      <p:sp>
        <p:nvSpPr>
          <p:cNvPr id="49" name="Shape 47"/>
          <p:cNvSpPr/>
          <p:nvPr/>
        </p:nvSpPr>
        <p:spPr>
          <a:xfrm>
            <a:off x="1051560" y="4663440"/>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0" name="Text 48"/>
          <p:cNvSpPr/>
          <p:nvPr/>
        </p:nvSpPr>
        <p:spPr>
          <a:xfrm>
            <a:off x="1124712" y="4754880"/>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First</a:t>
            </a:r>
            <a:endParaRPr lang="en-US" sz="510" dirty="0"/>
          </a:p>
        </p:txBody>
      </p:sp>
      <p:sp>
        <p:nvSpPr>
          <p:cNvPr id="51" name="Text 49"/>
          <p:cNvSpPr/>
          <p:nvPr/>
        </p:nvSpPr>
        <p:spPr>
          <a:xfrm>
            <a:off x="3703320" y="4535424"/>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Last Name</a:t>
            </a:r>
            <a:endParaRPr lang="en-US" sz="530" dirty="0"/>
          </a:p>
        </p:txBody>
      </p:sp>
      <p:sp>
        <p:nvSpPr>
          <p:cNvPr id="52" name="Shape 50"/>
          <p:cNvSpPr/>
          <p:nvPr/>
        </p:nvSpPr>
        <p:spPr>
          <a:xfrm>
            <a:off x="3703320" y="4663440"/>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3" name="Text 51"/>
          <p:cNvSpPr/>
          <p:nvPr/>
        </p:nvSpPr>
        <p:spPr>
          <a:xfrm>
            <a:off x="3776472" y="4754880"/>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Last</a:t>
            </a:r>
            <a:endParaRPr lang="en-US" sz="510" dirty="0"/>
          </a:p>
        </p:txBody>
      </p:sp>
      <p:sp>
        <p:nvSpPr>
          <p:cNvPr id="54" name="Text 52"/>
          <p:cNvSpPr/>
          <p:nvPr/>
        </p:nvSpPr>
        <p:spPr>
          <a:xfrm>
            <a:off x="1051560" y="5157216"/>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Password</a:t>
            </a:r>
            <a:endParaRPr lang="en-US" sz="530" dirty="0"/>
          </a:p>
        </p:txBody>
      </p:sp>
      <p:sp>
        <p:nvSpPr>
          <p:cNvPr id="55" name="Shape 53"/>
          <p:cNvSpPr/>
          <p:nvPr/>
        </p:nvSpPr>
        <p:spPr>
          <a:xfrm>
            <a:off x="1051560" y="5285232"/>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6" name="Text 54"/>
          <p:cNvSpPr/>
          <p:nvPr/>
        </p:nvSpPr>
        <p:spPr>
          <a:xfrm>
            <a:off x="1124712" y="5376672"/>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57" name="Text 55"/>
          <p:cNvSpPr/>
          <p:nvPr/>
        </p:nvSpPr>
        <p:spPr>
          <a:xfrm>
            <a:off x="3703320" y="5157216"/>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Confirm Password</a:t>
            </a:r>
            <a:endParaRPr lang="en-US" sz="530" dirty="0"/>
          </a:p>
        </p:txBody>
      </p:sp>
      <p:sp>
        <p:nvSpPr>
          <p:cNvPr id="58" name="Shape 56"/>
          <p:cNvSpPr/>
          <p:nvPr/>
        </p:nvSpPr>
        <p:spPr>
          <a:xfrm>
            <a:off x="3703320" y="5285232"/>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9" name="Text 57"/>
          <p:cNvSpPr/>
          <p:nvPr/>
        </p:nvSpPr>
        <p:spPr>
          <a:xfrm>
            <a:off x="3776472" y="5376672"/>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a:t>
            </a:r>
            <a:endParaRPr lang="en-US" sz="510" dirty="0"/>
          </a:p>
        </p:txBody>
      </p:sp>
      <p:sp>
        <p:nvSpPr>
          <p:cNvPr id="60" name="Shape 58">
            <a:hlinkClick r:id="rId8" action="ppaction://hlinksldjump"/>
          </p:cNvPr>
          <p:cNvSpPr/>
          <p:nvPr/>
        </p:nvSpPr>
        <p:spPr>
          <a:xfrm>
            <a:off x="1051560" y="5806440"/>
            <a:ext cx="12344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1" name="Text 59">
            <a:hlinkClick r:id="rId8" action="ppaction://hlinksldjump"/>
          </p:cNvPr>
          <p:cNvSpPr/>
          <p:nvPr/>
        </p:nvSpPr>
        <p:spPr>
          <a:xfrm>
            <a:off x="1078992" y="5888736"/>
            <a:ext cx="11795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Create Account</a:t>
            </a:r>
            <a:endParaRPr lang="en-US" sz="640" dirty="0"/>
          </a:p>
        </p:txBody>
      </p:sp>
      <p:sp>
        <p:nvSpPr>
          <p:cNvPr id="62" name="Shape 60"/>
          <p:cNvSpPr/>
          <p:nvPr/>
        </p:nvSpPr>
        <p:spPr>
          <a:xfrm>
            <a:off x="6720840" y="3337560"/>
            <a:ext cx="4023360" cy="2880360"/>
          </a:xfrm>
          <a:prstGeom prst="roundRect">
            <a:avLst>
              <a:gd name="adj" fmla="val 3175"/>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63" name="Text 61"/>
          <p:cNvSpPr/>
          <p:nvPr/>
        </p:nvSpPr>
        <p:spPr>
          <a:xfrm>
            <a:off x="6885432" y="3502152"/>
            <a:ext cx="369417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Why Register?</a:t>
            </a:r>
            <a:endParaRPr lang="en-US" sz="1250" dirty="0"/>
          </a:p>
        </p:txBody>
      </p:sp>
      <p:sp>
        <p:nvSpPr>
          <p:cNvPr id="64" name="Text 62"/>
          <p:cNvSpPr/>
          <p:nvPr/>
        </p:nvSpPr>
        <p:spPr>
          <a:xfrm>
            <a:off x="6885432" y="3840480"/>
            <a:ext cx="3694176" cy="222199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Browse freely, then use your account when you are ready to confirm a reservation. Registration supports booking, confirming reservations, and reservation lookup.</a:t>
            </a:r>
            <a:endParaRPr lang="en-US" sz="680" dirty="0"/>
          </a:p>
        </p:txBody>
      </p:sp>
      <p:sp>
        <p:nvSpPr>
          <p:cNvPr id="65" name="Shape 63">
            <a:hlinkClick r:id="rId9" action="ppaction://hlinksldjump"/>
          </p:cNvPr>
          <p:cNvSpPr/>
          <p:nvPr/>
        </p:nvSpPr>
        <p:spPr>
          <a:xfrm>
            <a:off x="6949440" y="5650992"/>
            <a:ext cx="17830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6" name="Text 64">
            <a:hlinkClick r:id="rId9" action="ppaction://hlinksldjump"/>
          </p:cNvPr>
          <p:cNvSpPr/>
          <p:nvPr/>
        </p:nvSpPr>
        <p:spPr>
          <a:xfrm>
            <a:off x="6976872" y="5733288"/>
            <a:ext cx="17282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Already Have an Account?</a:t>
            </a:r>
            <a:endParaRPr lang="en-US" sz="64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Book Your Stay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collect room, guest, and travel date details before reservation review.</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76F7B"/>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p:cNvSpPr/>
          <p:nvPr/>
        </p:nvSpPr>
        <p:spPr>
          <a:xfrm>
            <a:off x="7287768" y="1627632"/>
            <a:ext cx="329184" cy="22860"/>
          </a:xfrm>
          <a:prstGeom prst="rect">
            <a:avLst/>
          </a:prstGeom>
          <a:solidFill>
            <a:srgbClr val="2F8694"/>
          </a:solidFill>
          <a:ln w="12700">
            <a:solidFill>
              <a:srgbClr val="2F8694"/>
            </a:solidFill>
            <a:prstDash val="solid"/>
          </a:ln>
        </p:spPr>
        <p:txBody>
          <a:bodyPr/>
          <a:lstStyle/>
          <a:p>
            <a:endParaRPr lang="en-US"/>
          </a:p>
        </p:txBody>
      </p:sp>
      <p:sp>
        <p:nvSpPr>
          <p:cNvPr id="23" name="Shape 21">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4" name="Text 22">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5" name="Shape 23">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6" name="Text 24">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7" name="Text 25"/>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10 | Editable components | Use Slide Show mode to click through the prototype</a:t>
            </a:r>
            <a:endParaRPr lang="en-US" sz="710" dirty="0"/>
          </a:p>
        </p:txBody>
      </p:sp>
      <p:sp>
        <p:nvSpPr>
          <p:cNvPr id="28" name="Shape 26">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9" name="Text 27">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30" name="Shape 28">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1" name="Text 29">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2" name="Shape 30">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3" name="Text 31">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4" name="Shape 32">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5" name="Text 33">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6" name="Shape 34">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7" name="Text 35">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8" name="Text 36"/>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PLAN YOUR GETAWAY</a:t>
            </a:r>
            <a:endParaRPr lang="en-US" sz="680" dirty="0"/>
          </a:p>
        </p:txBody>
      </p:sp>
      <p:sp>
        <p:nvSpPr>
          <p:cNvPr id="39" name="Text 37"/>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Book Your Vacation</a:t>
            </a:r>
            <a:endParaRPr lang="en-US" sz="2000" dirty="0"/>
          </a:p>
        </p:txBody>
      </p:sp>
      <p:sp>
        <p:nvSpPr>
          <p:cNvPr id="40" name="Text 38"/>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Choose your room, guest count, and travel dates. Guests review the reservation before confirming it.</a:t>
            </a:r>
            <a:endParaRPr lang="en-US" sz="840" dirty="0"/>
          </a:p>
        </p:txBody>
      </p:sp>
      <p:sp>
        <p:nvSpPr>
          <p:cNvPr id="41" name="Shape 39"/>
          <p:cNvSpPr/>
          <p:nvPr/>
        </p:nvSpPr>
        <p:spPr>
          <a:xfrm>
            <a:off x="822960" y="3337560"/>
            <a:ext cx="5486400" cy="2697480"/>
          </a:xfrm>
          <a:prstGeom prst="roundRect">
            <a:avLst>
              <a:gd name="adj" fmla="val 3390"/>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2" name="Text 40"/>
          <p:cNvSpPr/>
          <p:nvPr/>
        </p:nvSpPr>
        <p:spPr>
          <a:xfrm>
            <a:off x="1051560" y="3547872"/>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Reservation Details</a:t>
            </a:r>
            <a:endParaRPr lang="en-US" sz="1300" dirty="0"/>
          </a:p>
        </p:txBody>
      </p:sp>
      <p:sp>
        <p:nvSpPr>
          <p:cNvPr id="43" name="Text 41"/>
          <p:cNvSpPr/>
          <p:nvPr/>
        </p:nvSpPr>
        <p:spPr>
          <a:xfrm>
            <a:off x="105156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Room Size</a:t>
            </a:r>
            <a:endParaRPr lang="en-US" sz="530" dirty="0"/>
          </a:p>
        </p:txBody>
      </p:sp>
      <p:sp>
        <p:nvSpPr>
          <p:cNvPr id="44" name="Shape 42"/>
          <p:cNvSpPr/>
          <p:nvPr/>
        </p:nvSpPr>
        <p:spPr>
          <a:xfrm>
            <a:off x="105156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5" name="Text 43"/>
          <p:cNvSpPr/>
          <p:nvPr/>
        </p:nvSpPr>
        <p:spPr>
          <a:xfrm>
            <a:off x="112471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Queen ($135)</a:t>
            </a:r>
            <a:endParaRPr lang="en-US" sz="510" dirty="0"/>
          </a:p>
        </p:txBody>
      </p:sp>
      <p:sp>
        <p:nvSpPr>
          <p:cNvPr id="46" name="Text 44"/>
          <p:cNvSpPr/>
          <p:nvPr/>
        </p:nvSpPr>
        <p:spPr>
          <a:xfrm>
            <a:off x="3218688" y="4123944"/>
            <a:ext cx="109728" cy="91440"/>
          </a:xfrm>
          <a:prstGeom prst="rect">
            <a:avLst/>
          </a:prstGeom>
          <a:noFill/>
          <a:ln/>
        </p:spPr>
        <p:txBody>
          <a:bodyPr wrap="square" lIns="381" tIns="381" rIns="381" bIns="381" rtlCol="0" anchor="ctr">
            <a:normAutofit lnSpcReduction="10000"/>
          </a:bodyPr>
          <a:lstStyle/>
          <a:p>
            <a:pPr marL="0" indent="0" algn="ctr">
              <a:buNone/>
            </a:pPr>
            <a:r>
              <a:rPr lang="en-US" sz="600" dirty="0">
                <a:solidFill>
                  <a:srgbClr val="2A3B50"/>
                </a:solidFill>
                <a:latin typeface="Arial" pitchFamily="34" charset="0"/>
                <a:ea typeface="Arial" pitchFamily="34" charset="-122"/>
                <a:cs typeface="Arial" pitchFamily="34" charset="-120"/>
              </a:rPr>
              <a:t>⌄</a:t>
            </a:r>
            <a:endParaRPr lang="en-US" sz="600" dirty="0"/>
          </a:p>
        </p:txBody>
      </p:sp>
      <p:sp>
        <p:nvSpPr>
          <p:cNvPr id="47" name="Text 45"/>
          <p:cNvSpPr/>
          <p:nvPr/>
        </p:nvSpPr>
        <p:spPr>
          <a:xfrm>
            <a:off x="3703320" y="3913632"/>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Number of Guests</a:t>
            </a:r>
            <a:endParaRPr lang="en-US" sz="530" dirty="0"/>
          </a:p>
        </p:txBody>
      </p:sp>
      <p:sp>
        <p:nvSpPr>
          <p:cNvPr id="48" name="Shape 46"/>
          <p:cNvSpPr/>
          <p:nvPr/>
        </p:nvSpPr>
        <p:spPr>
          <a:xfrm>
            <a:off x="3703320" y="4041648"/>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9" name="Text 47"/>
          <p:cNvSpPr/>
          <p:nvPr/>
        </p:nvSpPr>
        <p:spPr>
          <a:xfrm>
            <a:off x="3776472" y="4133088"/>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2</a:t>
            </a:r>
            <a:endParaRPr lang="en-US" sz="510" dirty="0"/>
          </a:p>
        </p:txBody>
      </p:sp>
      <p:sp>
        <p:nvSpPr>
          <p:cNvPr id="50" name="Text 48"/>
          <p:cNvSpPr/>
          <p:nvPr/>
        </p:nvSpPr>
        <p:spPr>
          <a:xfrm>
            <a:off x="1051560" y="4590288"/>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Check-In Date</a:t>
            </a:r>
            <a:endParaRPr lang="en-US" sz="530" dirty="0"/>
          </a:p>
        </p:txBody>
      </p:sp>
      <p:sp>
        <p:nvSpPr>
          <p:cNvPr id="51" name="Shape 49"/>
          <p:cNvSpPr/>
          <p:nvPr/>
        </p:nvSpPr>
        <p:spPr>
          <a:xfrm>
            <a:off x="1051560" y="4718304"/>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2" name="Text 50"/>
          <p:cNvSpPr/>
          <p:nvPr/>
        </p:nvSpPr>
        <p:spPr>
          <a:xfrm>
            <a:off x="1124712" y="4809744"/>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mm/dd/yyyy</a:t>
            </a:r>
            <a:endParaRPr lang="en-US" sz="510" dirty="0"/>
          </a:p>
        </p:txBody>
      </p:sp>
      <p:sp>
        <p:nvSpPr>
          <p:cNvPr id="53" name="Text 51"/>
          <p:cNvSpPr/>
          <p:nvPr/>
        </p:nvSpPr>
        <p:spPr>
          <a:xfrm>
            <a:off x="3703320" y="4590288"/>
            <a:ext cx="233172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Check-Out Date</a:t>
            </a:r>
            <a:endParaRPr lang="en-US" sz="530" dirty="0"/>
          </a:p>
        </p:txBody>
      </p:sp>
      <p:sp>
        <p:nvSpPr>
          <p:cNvPr id="54" name="Shape 52"/>
          <p:cNvSpPr/>
          <p:nvPr/>
        </p:nvSpPr>
        <p:spPr>
          <a:xfrm>
            <a:off x="3703320" y="4718304"/>
            <a:ext cx="233172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55" name="Text 53"/>
          <p:cNvSpPr/>
          <p:nvPr/>
        </p:nvSpPr>
        <p:spPr>
          <a:xfrm>
            <a:off x="3776472" y="4809744"/>
            <a:ext cx="218541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mm/dd/yyyy</a:t>
            </a:r>
            <a:endParaRPr lang="en-US" sz="510" dirty="0"/>
          </a:p>
        </p:txBody>
      </p:sp>
      <p:sp>
        <p:nvSpPr>
          <p:cNvPr id="56" name="Shape 54">
            <a:hlinkClick r:id="rId13" action="ppaction://hlinksldjump"/>
          </p:cNvPr>
          <p:cNvSpPr/>
          <p:nvPr/>
        </p:nvSpPr>
        <p:spPr>
          <a:xfrm>
            <a:off x="1051560" y="5504688"/>
            <a:ext cx="1481328"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57" name="Text 55">
            <a:hlinkClick r:id="rId13" action="ppaction://hlinksldjump"/>
          </p:cNvPr>
          <p:cNvSpPr/>
          <p:nvPr/>
        </p:nvSpPr>
        <p:spPr>
          <a:xfrm>
            <a:off x="1078992" y="5586984"/>
            <a:ext cx="1426464"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3" action="ppaction://hlinksldjump">
                  <a:extLst>
                    <a:ext uri="{A12FA001-AC4F-418D-AE19-62706E023703}">
                      <ahyp:hlinkClr xmlns:ahyp="http://schemas.microsoft.com/office/drawing/2018/hyperlinkcolor" val="tx"/>
                    </a:ext>
                  </a:extLst>
                </a:hlinkClick>
              </a:rPr>
              <a:t>Review Reservation</a:t>
            </a:r>
            <a:endParaRPr lang="en-US" sz="640" dirty="0"/>
          </a:p>
        </p:txBody>
      </p:sp>
      <p:sp>
        <p:nvSpPr>
          <p:cNvPr id="58" name="Shape 56"/>
          <p:cNvSpPr/>
          <p:nvPr/>
        </p:nvSpPr>
        <p:spPr>
          <a:xfrm>
            <a:off x="6720840" y="3337560"/>
            <a:ext cx="4023360" cy="2697480"/>
          </a:xfrm>
          <a:prstGeom prst="roundRect">
            <a:avLst>
              <a:gd name="adj" fmla="val 3390"/>
            </a:avLst>
          </a:prstGeom>
          <a:solidFill>
            <a:srgbClr val="FFFFFF">
              <a:alpha val="90000"/>
            </a:srgbClr>
          </a:solidFill>
          <a:ln w="12700">
            <a:solidFill>
              <a:srgbClr val="E9DFCF">
                <a:alpha val="80000"/>
              </a:srgbClr>
            </a:solidFill>
            <a:prstDash val="solid"/>
          </a:ln>
          <a:effectLst>
            <a:outerShdw blurRad="12700" dist="8890" dir="2700000" algn="bl" rotWithShape="0">
              <a:srgbClr val="132133">
                <a:alpha val="7000"/>
              </a:srgbClr>
            </a:outerShdw>
          </a:effectLst>
        </p:spPr>
        <p:txBody>
          <a:bodyPr/>
          <a:lstStyle/>
          <a:p>
            <a:endParaRPr lang="en-US"/>
          </a:p>
        </p:txBody>
      </p:sp>
      <p:sp>
        <p:nvSpPr>
          <p:cNvPr id="59" name="Shape 57"/>
          <p:cNvSpPr/>
          <p:nvPr/>
        </p:nvSpPr>
        <p:spPr>
          <a:xfrm>
            <a:off x="6720840" y="3337560"/>
            <a:ext cx="4023360" cy="54864"/>
          </a:xfrm>
          <a:prstGeom prst="rect">
            <a:avLst/>
          </a:prstGeom>
          <a:solidFill>
            <a:srgbClr val="2F8694"/>
          </a:solidFill>
          <a:ln w="12700">
            <a:solidFill>
              <a:srgbClr val="2F8694"/>
            </a:solidFill>
            <a:prstDash val="solid"/>
          </a:ln>
        </p:spPr>
        <p:txBody>
          <a:bodyPr/>
          <a:lstStyle/>
          <a:p>
            <a:endParaRPr lang="en-US"/>
          </a:p>
        </p:txBody>
      </p:sp>
      <p:sp>
        <p:nvSpPr>
          <p:cNvPr id="60" name="Text 58"/>
          <p:cNvSpPr/>
          <p:nvPr/>
        </p:nvSpPr>
        <p:spPr>
          <a:xfrm>
            <a:off x="6885432" y="3502152"/>
            <a:ext cx="3694176" cy="292608"/>
          </a:xfrm>
          <a:prstGeom prst="rect">
            <a:avLst/>
          </a:prstGeom>
          <a:noFill/>
          <a:ln/>
        </p:spPr>
        <p:txBody>
          <a:bodyPr wrap="square" lIns="381" tIns="381" rIns="381" bIns="381" rtlCol="0" anchor="ctr">
            <a:normAutofit/>
          </a:bodyPr>
          <a:lstStyle/>
          <a:p>
            <a:pPr marL="0" indent="0" algn="l">
              <a:buNone/>
            </a:pPr>
            <a:r>
              <a:rPr lang="en-US" sz="1250" dirty="0">
                <a:solidFill>
                  <a:srgbClr val="132133"/>
                </a:solidFill>
                <a:latin typeface="Georgia" pitchFamily="34" charset="0"/>
                <a:ea typeface="Georgia" pitchFamily="34" charset="-122"/>
                <a:cs typeface="Georgia" pitchFamily="34" charset="-120"/>
              </a:rPr>
              <a:t>Before You Confirm</a:t>
            </a:r>
            <a:endParaRPr lang="en-US" sz="1250" dirty="0"/>
          </a:p>
        </p:txBody>
      </p:sp>
      <p:sp>
        <p:nvSpPr>
          <p:cNvPr id="61" name="Text 59"/>
          <p:cNvSpPr/>
          <p:nvPr/>
        </p:nvSpPr>
        <p:spPr>
          <a:xfrm>
            <a:off x="6885432" y="3840480"/>
            <a:ext cx="3694176" cy="2039112"/>
          </a:xfrm>
          <a:prstGeom prst="rect">
            <a:avLst/>
          </a:prstGeom>
          <a:noFill/>
          <a:ln/>
        </p:spPr>
        <p:txBody>
          <a:bodyPr wrap="square" lIns="381" tIns="381" rIns="381" bIns="381" rtlCol="0" anchor="t">
            <a:normAutofit/>
          </a:bodyPr>
          <a:lstStyle/>
          <a:p>
            <a:pPr marL="0" indent="0" algn="l">
              <a:buNone/>
            </a:pPr>
            <a:r>
              <a:rPr lang="en-US" sz="680" dirty="0">
                <a:solidFill>
                  <a:srgbClr val="2A3B50"/>
                </a:solidFill>
                <a:latin typeface="Arial" pitchFamily="34" charset="0"/>
                <a:ea typeface="Arial" pitchFamily="34" charset="-122"/>
                <a:cs typeface="Arial" pitchFamily="34" charset="-120"/>
              </a:rPr>
              <a:t>All rooms are at the same Moffat Bay Lodge location. The guest chooses a room type, not a separate property. Confirmation requires a free account and login.</a:t>
            </a:r>
            <a:endParaRPr lang="en-US" sz="680" dirty="0"/>
          </a:p>
        </p:txBody>
      </p:sp>
      <p:sp>
        <p:nvSpPr>
          <p:cNvPr id="62" name="Shape 60">
            <a:hlinkClick r:id="rId5" action="ppaction://hlinksldjump"/>
          </p:cNvPr>
          <p:cNvSpPr/>
          <p:nvPr/>
        </p:nvSpPr>
        <p:spPr>
          <a:xfrm>
            <a:off x="6949440" y="5413248"/>
            <a:ext cx="10972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3" name="Text 61">
            <a:hlinkClick r:id="rId5" action="ppaction://hlinksldjump"/>
          </p:cNvPr>
          <p:cNvSpPr/>
          <p:nvPr/>
        </p:nvSpPr>
        <p:spPr>
          <a:xfrm>
            <a:off x="6976872" y="5495544"/>
            <a:ext cx="10424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Compare Rooms</a:t>
            </a:r>
            <a:endParaRPr lang="en-US" sz="640" dirty="0"/>
          </a:p>
        </p:txBody>
      </p:sp>
      <p:sp>
        <p:nvSpPr>
          <p:cNvPr id="64" name="Shape 62">
            <a:hlinkClick r:id="rId9" action="ppaction://hlinksldjump"/>
          </p:cNvPr>
          <p:cNvSpPr/>
          <p:nvPr/>
        </p:nvSpPr>
        <p:spPr>
          <a:xfrm>
            <a:off x="8193024" y="5413248"/>
            <a:ext cx="713232"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5" name="Text 63">
            <a:hlinkClick r:id="rId9" action="ppaction://hlinksldjump"/>
          </p:cNvPr>
          <p:cNvSpPr/>
          <p:nvPr/>
        </p:nvSpPr>
        <p:spPr>
          <a:xfrm>
            <a:off x="8220456" y="5495544"/>
            <a:ext cx="658368"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40" dirty="0"/>
          </a:p>
        </p:txBody>
      </p:sp>
      <p:sp>
        <p:nvSpPr>
          <p:cNvPr id="66" name="Shape 64">
            <a:hlinkClick r:id="rId10" action="ppaction://hlinksldjump"/>
          </p:cNvPr>
          <p:cNvSpPr/>
          <p:nvPr/>
        </p:nvSpPr>
        <p:spPr>
          <a:xfrm>
            <a:off x="9034272" y="5413248"/>
            <a:ext cx="86868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67" name="Text 65">
            <a:hlinkClick r:id="rId10" action="ppaction://hlinksldjump"/>
          </p:cNvPr>
          <p:cNvSpPr/>
          <p:nvPr/>
        </p:nvSpPr>
        <p:spPr>
          <a:xfrm>
            <a:off x="9061704" y="5495544"/>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40" dirty="0"/>
          </a:p>
        </p:txBody>
      </p:sp>
      <p:sp>
        <p:nvSpPr>
          <p:cNvPr id="68" name="Text 66">
            <a:hlinkClick r:id="rId11" action="ppaction://hlinksldjump"/>
          </p:cNvPr>
          <p:cNvSpPr/>
          <p:nvPr/>
        </p:nvSpPr>
        <p:spPr>
          <a:xfrm>
            <a:off x="6949440" y="5833872"/>
            <a:ext cx="2560320" cy="109728"/>
          </a:xfrm>
          <a:prstGeom prst="rect">
            <a:avLst/>
          </a:prstGeom>
          <a:noFill/>
          <a:ln/>
        </p:spPr>
        <p:txBody>
          <a:bodyPr wrap="square" lIns="381" tIns="381" rIns="381" bIns="381" rtlCol="0" anchor="ctr">
            <a:normAutofit/>
          </a:bodyPr>
          <a:lstStyle/>
          <a:p>
            <a:pPr marL="0" indent="0" algn="l">
              <a:buNone/>
            </a:pPr>
            <a:r>
              <a:rPr lang="en-US" sz="620" b="1" u="sng" dirty="0">
                <a:solidFill>
                  <a:srgbClr val="276F7B"/>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Already booked? Look up a reservation →</a:t>
            </a:r>
            <a:endParaRPr lang="en-US" sz="62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Reservation Lookup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help returning guests search reservations by ID or email address.</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moffatbaylodge.com/reservation-lookup.html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11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FIND YOUR STAY</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Reservation Lookup</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Search by reservation ID or email address to view room type, guest count, dates, and reservation total.</a:t>
            </a:r>
            <a:endParaRPr lang="en-US" sz="840" dirty="0"/>
          </a:p>
        </p:txBody>
      </p:sp>
      <p:sp>
        <p:nvSpPr>
          <p:cNvPr id="40" name="Shape 38"/>
          <p:cNvSpPr/>
          <p:nvPr/>
        </p:nvSpPr>
        <p:spPr>
          <a:xfrm>
            <a:off x="822960" y="3337560"/>
            <a:ext cx="4754880" cy="2057400"/>
          </a:xfrm>
          <a:prstGeom prst="roundRect">
            <a:avLst>
              <a:gd name="adj" fmla="val 444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Text 39"/>
          <p:cNvSpPr/>
          <p:nvPr/>
        </p:nvSpPr>
        <p:spPr>
          <a:xfrm>
            <a:off x="1051560" y="3566160"/>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Search Reservations</a:t>
            </a:r>
            <a:endParaRPr lang="en-US" sz="1300" dirty="0"/>
          </a:p>
        </p:txBody>
      </p:sp>
      <p:sp>
        <p:nvSpPr>
          <p:cNvPr id="42" name="Text 40"/>
          <p:cNvSpPr/>
          <p:nvPr/>
        </p:nvSpPr>
        <p:spPr>
          <a:xfrm>
            <a:off x="1051560" y="4005072"/>
            <a:ext cx="4251960" cy="100584"/>
          </a:xfrm>
          <a:prstGeom prst="rect">
            <a:avLst/>
          </a:prstGeom>
          <a:noFill/>
          <a:ln/>
        </p:spPr>
        <p:txBody>
          <a:bodyPr wrap="square" lIns="381" tIns="381" rIns="381" bIns="381" rtlCol="0" anchor="ctr">
            <a:normAutofit/>
          </a:bodyPr>
          <a:lstStyle/>
          <a:p>
            <a:pPr marL="0" indent="0" algn="l">
              <a:buNone/>
            </a:pPr>
            <a:r>
              <a:rPr lang="en-US" sz="530" b="1" dirty="0">
                <a:solidFill>
                  <a:srgbClr val="2A3B50"/>
                </a:solidFill>
                <a:latin typeface="Arial" pitchFamily="34" charset="0"/>
                <a:ea typeface="Arial" pitchFamily="34" charset="-122"/>
                <a:cs typeface="Arial" pitchFamily="34" charset="-120"/>
              </a:rPr>
              <a:t>Reservation ID or Email</a:t>
            </a:r>
            <a:endParaRPr lang="en-US" sz="530" dirty="0"/>
          </a:p>
        </p:txBody>
      </p:sp>
      <p:sp>
        <p:nvSpPr>
          <p:cNvPr id="43" name="Shape 41"/>
          <p:cNvSpPr/>
          <p:nvPr/>
        </p:nvSpPr>
        <p:spPr>
          <a:xfrm>
            <a:off x="1051560" y="4133088"/>
            <a:ext cx="4251960" cy="310896"/>
          </a:xfrm>
          <a:prstGeom prst="roundRect">
            <a:avLst>
              <a:gd name="adj" fmla="val 11765"/>
            </a:avLst>
          </a:prstGeom>
          <a:solidFill>
            <a:srgbClr val="FFFFFF"/>
          </a:solidFill>
          <a:ln w="12700">
            <a:solidFill>
              <a:srgbClr val="B8C2C5">
                <a:alpha val="80000"/>
              </a:srgbClr>
            </a:solidFill>
            <a:prstDash val="solid"/>
          </a:ln>
        </p:spPr>
        <p:txBody>
          <a:bodyPr/>
          <a:lstStyle/>
          <a:p>
            <a:endParaRPr lang="en-US"/>
          </a:p>
        </p:txBody>
      </p:sp>
      <p:sp>
        <p:nvSpPr>
          <p:cNvPr id="44" name="Text 42"/>
          <p:cNvSpPr/>
          <p:nvPr/>
        </p:nvSpPr>
        <p:spPr>
          <a:xfrm>
            <a:off x="1124712" y="4224528"/>
            <a:ext cx="4105656" cy="82296"/>
          </a:xfrm>
          <a:prstGeom prst="rect">
            <a:avLst/>
          </a:prstGeom>
          <a:noFill/>
          <a:ln/>
        </p:spPr>
        <p:txBody>
          <a:bodyPr wrap="square" lIns="381" tIns="381" rIns="381" bIns="381" rtlCol="0" anchor="ctr">
            <a:normAutofit/>
          </a:bodyPr>
          <a:lstStyle/>
          <a:p>
            <a:pPr marL="0" indent="0" algn="l">
              <a:buNone/>
            </a:pPr>
            <a:r>
              <a:rPr lang="en-US" sz="510" dirty="0">
                <a:solidFill>
                  <a:srgbClr val="536273"/>
                </a:solidFill>
                <a:latin typeface="Arial" pitchFamily="34" charset="0"/>
                <a:ea typeface="Arial" pitchFamily="34" charset="-122"/>
                <a:cs typeface="Arial" pitchFamily="34" charset="-120"/>
              </a:rPr>
              <a:t>Example: MBL-2201 or demo@moffatbay.com</a:t>
            </a:r>
            <a:endParaRPr lang="en-US" sz="510" dirty="0"/>
          </a:p>
        </p:txBody>
      </p:sp>
      <p:sp>
        <p:nvSpPr>
          <p:cNvPr id="45" name="Shape 43">
            <a:hlinkClick r:id="rId11" action="ppaction://hlinksldjump"/>
          </p:cNvPr>
          <p:cNvSpPr/>
          <p:nvPr/>
        </p:nvSpPr>
        <p:spPr>
          <a:xfrm>
            <a:off x="1051560" y="4736592"/>
            <a:ext cx="77724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46" name="Text 44">
            <a:hlinkClick r:id="rId11" action="ppaction://hlinksldjump"/>
          </p:cNvPr>
          <p:cNvSpPr/>
          <p:nvPr/>
        </p:nvSpPr>
        <p:spPr>
          <a:xfrm>
            <a:off x="1078992" y="4818888"/>
            <a:ext cx="72237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Search</a:t>
            </a:r>
            <a:endParaRPr lang="en-US" sz="640" dirty="0"/>
          </a:p>
        </p:txBody>
      </p:sp>
      <p:sp>
        <p:nvSpPr>
          <p:cNvPr id="47" name="Shape 45"/>
          <p:cNvSpPr/>
          <p:nvPr/>
        </p:nvSpPr>
        <p:spPr>
          <a:xfrm>
            <a:off x="5989320" y="3337560"/>
            <a:ext cx="4754880" cy="2057400"/>
          </a:xfrm>
          <a:prstGeom prst="roundRect">
            <a:avLst>
              <a:gd name="adj" fmla="val 4444"/>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8" name="Text 46"/>
          <p:cNvSpPr/>
          <p:nvPr/>
        </p:nvSpPr>
        <p:spPr>
          <a:xfrm>
            <a:off x="6217920" y="3566160"/>
            <a:ext cx="2468880" cy="210312"/>
          </a:xfrm>
          <a:prstGeom prst="rect">
            <a:avLst/>
          </a:prstGeom>
          <a:noFill/>
          <a:ln/>
        </p:spPr>
        <p:txBody>
          <a:bodyPr wrap="square" lIns="381" tIns="381" rIns="381" bIns="381" rtlCol="0" anchor="ctr">
            <a:normAutofit/>
          </a:bodyPr>
          <a:lstStyle/>
          <a:p>
            <a:pPr marL="0" indent="0" algn="l">
              <a:buNone/>
            </a:pPr>
            <a:r>
              <a:rPr lang="en-US" sz="1300" dirty="0">
                <a:solidFill>
                  <a:srgbClr val="132133"/>
                </a:solidFill>
                <a:latin typeface="Georgia" pitchFamily="34" charset="0"/>
                <a:ea typeface="Georgia" pitchFamily="34" charset="-122"/>
                <a:cs typeface="Georgia" pitchFamily="34" charset="-120"/>
              </a:rPr>
              <a:t>Reservation Details</a:t>
            </a:r>
            <a:endParaRPr lang="en-US" sz="1300" dirty="0"/>
          </a:p>
        </p:txBody>
      </p:sp>
      <p:sp>
        <p:nvSpPr>
          <p:cNvPr id="49" name="Text 47"/>
          <p:cNvSpPr/>
          <p:nvPr/>
        </p:nvSpPr>
        <p:spPr>
          <a:xfrm>
            <a:off x="6217920" y="3959352"/>
            <a:ext cx="4114800" cy="347472"/>
          </a:xfrm>
          <a:prstGeom prst="rect">
            <a:avLst/>
          </a:prstGeom>
          <a:noFill/>
          <a:ln/>
        </p:spPr>
        <p:txBody>
          <a:bodyPr wrap="square" lIns="381" tIns="381" rIns="381" bIns="381" rtlCol="0" anchor="t">
            <a:normAutofit/>
          </a:bodyPr>
          <a:lstStyle/>
          <a:p>
            <a:pPr marL="0" indent="0" algn="l">
              <a:buNone/>
            </a:pPr>
            <a:r>
              <a:rPr lang="en-US" sz="700" dirty="0">
                <a:solidFill>
                  <a:srgbClr val="2A3B50"/>
                </a:solidFill>
                <a:latin typeface="Arial" pitchFamily="34" charset="0"/>
                <a:ea typeface="Arial" pitchFamily="34" charset="-122"/>
                <a:cs typeface="Arial" pitchFamily="34" charset="-120"/>
              </a:rPr>
              <a:t>Run a search to display reservation details.</a:t>
            </a:r>
            <a:endParaRPr lang="en-US" sz="700" dirty="0"/>
          </a:p>
          <a:p>
            <a:pPr marL="0" indent="0" algn="l">
              <a:buNone/>
            </a:pPr>
            <a:r>
              <a:rPr lang="en-US" sz="700" dirty="0">
                <a:solidFill>
                  <a:srgbClr val="2A3B50"/>
                </a:solidFill>
                <a:latin typeface="Arial" pitchFamily="34" charset="0"/>
                <a:ea typeface="Arial" pitchFamily="34" charset="-122"/>
                <a:cs typeface="Arial" pitchFamily="34" charset="-120"/>
              </a:rPr>
              <a:t>Need to start a new reservation instead?</a:t>
            </a:r>
            <a:endParaRPr lang="en-US" sz="700" dirty="0"/>
          </a:p>
        </p:txBody>
      </p:sp>
      <p:sp>
        <p:nvSpPr>
          <p:cNvPr id="50" name="Shape 48">
            <a:hlinkClick r:id="rId5" action="ppaction://hlinksldjump"/>
          </p:cNvPr>
          <p:cNvSpPr/>
          <p:nvPr/>
        </p:nvSpPr>
        <p:spPr>
          <a:xfrm>
            <a:off x="6217920" y="4690872"/>
            <a:ext cx="86868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51" name="Text 49">
            <a:hlinkClick r:id="rId5" action="ppaction://hlinksldjump"/>
          </p:cNvPr>
          <p:cNvSpPr/>
          <p:nvPr/>
        </p:nvSpPr>
        <p:spPr>
          <a:xfrm>
            <a:off x="6245352" y="4773168"/>
            <a:ext cx="81381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View Rooms</a:t>
            </a:r>
            <a:endParaRPr lang="en-US" sz="640" dirty="0"/>
          </a:p>
        </p:txBody>
      </p:sp>
      <p:sp>
        <p:nvSpPr>
          <p:cNvPr id="52" name="Shape 50">
            <a:hlinkClick r:id="rId8" action="ppaction://hlinksldjump"/>
          </p:cNvPr>
          <p:cNvSpPr/>
          <p:nvPr/>
        </p:nvSpPr>
        <p:spPr>
          <a:xfrm>
            <a:off x="7223760" y="4690872"/>
            <a:ext cx="914400" cy="310896"/>
          </a:xfrm>
          <a:prstGeom prst="roundRect">
            <a:avLst>
              <a:gd name="adj" fmla="val 35294"/>
            </a:avLst>
          </a:prstGeom>
          <a:solidFill>
            <a:srgbClr val="132133"/>
          </a:solidFill>
          <a:ln w="12700">
            <a:solidFill>
              <a:srgbClr val="132133">
                <a:alpha val="0"/>
              </a:srgbClr>
            </a:solidFill>
            <a:prstDash val="solid"/>
          </a:ln>
        </p:spPr>
        <p:txBody>
          <a:bodyPr/>
          <a:lstStyle/>
          <a:p>
            <a:endParaRPr lang="en-US"/>
          </a:p>
        </p:txBody>
      </p:sp>
      <p:sp>
        <p:nvSpPr>
          <p:cNvPr id="53" name="Text 51">
            <a:hlinkClick r:id="rId8" action="ppaction://hlinksldjump"/>
          </p:cNvPr>
          <p:cNvSpPr/>
          <p:nvPr/>
        </p:nvSpPr>
        <p:spPr>
          <a:xfrm>
            <a:off x="7251192" y="4773168"/>
            <a:ext cx="85953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FFFFFF"/>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 a Stay</a:t>
            </a:r>
            <a:endParaRPr lang="en-US" sz="640" dirty="0"/>
          </a:p>
        </p:txBody>
      </p:sp>
      <p:sp>
        <p:nvSpPr>
          <p:cNvPr id="54" name="Shape 52"/>
          <p:cNvSpPr/>
          <p:nvPr/>
        </p:nvSpPr>
        <p:spPr>
          <a:xfrm>
            <a:off x="822960" y="5806440"/>
            <a:ext cx="9921240" cy="475488"/>
          </a:xfrm>
          <a:prstGeom prst="roundRect">
            <a:avLst>
              <a:gd name="adj" fmla="val 19231"/>
            </a:avLst>
          </a:prstGeom>
          <a:solidFill>
            <a:srgbClr val="F5EFE5"/>
          </a:solidFill>
          <a:ln w="12700">
            <a:solidFill>
              <a:srgbClr val="E9DFCF"/>
            </a:solidFill>
            <a:prstDash val="solid"/>
          </a:ln>
        </p:spPr>
        <p:txBody>
          <a:bodyPr/>
          <a:lstStyle/>
          <a:p>
            <a:endParaRPr lang="en-US"/>
          </a:p>
        </p:txBody>
      </p:sp>
      <p:sp>
        <p:nvSpPr>
          <p:cNvPr id="55" name="Text 53"/>
          <p:cNvSpPr/>
          <p:nvPr/>
        </p:nvSpPr>
        <p:spPr>
          <a:xfrm>
            <a:off x="1051560" y="5961888"/>
            <a:ext cx="9326880" cy="118872"/>
          </a:xfrm>
          <a:prstGeom prst="rect">
            <a:avLst/>
          </a:prstGeom>
          <a:noFill/>
          <a:ln/>
        </p:spPr>
        <p:txBody>
          <a:bodyPr wrap="square" lIns="381" tIns="381" rIns="381" bIns="381" rtlCol="0" anchor="ctr">
            <a:normAutofit/>
          </a:bodyPr>
          <a:lstStyle/>
          <a:p>
            <a:pPr marL="0" indent="0" algn="l">
              <a:buNone/>
            </a:pPr>
            <a:r>
              <a:rPr lang="en-US" sz="700" dirty="0">
                <a:solidFill>
                  <a:srgbClr val="536273"/>
                </a:solidFill>
                <a:latin typeface="Arial" pitchFamily="34" charset="0"/>
                <a:ea typeface="Arial" pitchFamily="34" charset="-122"/>
                <a:cs typeface="Arial" pitchFamily="34" charset="-120"/>
              </a:rPr>
              <a:t>Lookup supports guests after booking and gives staff/professor a clear path to verify the reservation management flow.</a:t>
            </a:r>
            <a:endParaRPr lang="en-US" sz="7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p:nvPr/>
        </p:nvSpPr>
        <p:spPr>
          <a:xfrm>
            <a:off x="502920" y="228600"/>
            <a:ext cx="5943600" cy="365760"/>
          </a:xfrm>
          <a:prstGeom prst="rect">
            <a:avLst/>
          </a:prstGeom>
          <a:noFill/>
          <a:ln/>
        </p:spPr>
        <p:txBody>
          <a:bodyPr wrap="square" lIns="381" tIns="381" rIns="381" bIns="381" rtlCol="0" anchor="ctr">
            <a:normAutofit/>
          </a:bodyPr>
          <a:lstStyle/>
          <a:p>
            <a:pPr marL="0" indent="0" algn="l">
              <a:buNone/>
            </a:pPr>
            <a:r>
              <a:rPr lang="en-US" sz="2000" b="1" dirty="0">
                <a:solidFill>
                  <a:srgbClr val="132133"/>
                </a:solidFill>
                <a:latin typeface="Georgia" pitchFamily="34" charset="0"/>
                <a:ea typeface="Georgia" pitchFamily="34" charset="-122"/>
                <a:cs typeface="Georgia" pitchFamily="34" charset="-120"/>
              </a:rPr>
              <a:t>Reservation Summary Prototype</a:t>
            </a:r>
            <a:endParaRPr lang="en-US" sz="2000" dirty="0"/>
          </a:p>
        </p:txBody>
      </p:sp>
      <p:sp>
        <p:nvSpPr>
          <p:cNvPr id="3" name="Text 1"/>
          <p:cNvSpPr/>
          <p:nvPr/>
        </p:nvSpPr>
        <p:spPr>
          <a:xfrm>
            <a:off x="512064" y="630936"/>
            <a:ext cx="6492240" cy="228600"/>
          </a:xfrm>
          <a:prstGeom prst="rect">
            <a:avLst/>
          </a:prstGeom>
          <a:noFill/>
          <a:ln/>
        </p:spPr>
        <p:txBody>
          <a:bodyPr wrap="square" lIns="381" tIns="381" rIns="381" bIns="381" rtlCol="0" anchor="ctr">
            <a:normAutofit/>
          </a:bodyPr>
          <a:lstStyle/>
          <a:p>
            <a:pPr marL="0" indent="0" algn="l">
              <a:buNone/>
            </a:pPr>
            <a:r>
              <a:rPr lang="en-US" sz="850" dirty="0">
                <a:solidFill>
                  <a:srgbClr val="536273"/>
                </a:solidFill>
                <a:latin typeface="Arial" pitchFamily="34" charset="0"/>
                <a:ea typeface="Arial" pitchFamily="34" charset="-122"/>
                <a:cs typeface="Arial" pitchFamily="34" charset="-120"/>
              </a:rPr>
              <a:t>Purpose: final review page before confirming or cancelling a reservation.</a:t>
            </a:r>
            <a:endParaRPr lang="en-US" sz="850" dirty="0"/>
          </a:p>
        </p:txBody>
      </p:sp>
      <p:sp>
        <p:nvSpPr>
          <p:cNvPr id="4" name="Text 2"/>
          <p:cNvSpPr/>
          <p:nvPr/>
        </p:nvSpPr>
        <p:spPr>
          <a:xfrm>
            <a:off x="8823960" y="256032"/>
            <a:ext cx="2743200" cy="228600"/>
          </a:xfrm>
          <a:prstGeom prst="rect">
            <a:avLst/>
          </a:prstGeom>
          <a:noFill/>
          <a:ln/>
        </p:spPr>
        <p:txBody>
          <a:bodyPr wrap="square" lIns="381" tIns="381" rIns="381" bIns="381" rtlCol="0" anchor="ctr">
            <a:normAutofit/>
          </a:bodyPr>
          <a:lstStyle/>
          <a:p>
            <a:pPr marL="0" indent="0" algn="r">
              <a:buNone/>
            </a:pPr>
            <a:r>
              <a:rPr lang="en-US" sz="800" b="1" dirty="0">
                <a:solidFill>
                  <a:srgbClr val="536273"/>
                </a:solidFill>
                <a:latin typeface="Arial" pitchFamily="34" charset="0"/>
                <a:ea typeface="Arial" pitchFamily="34" charset="-122"/>
                <a:cs typeface="Arial" pitchFamily="34" charset="-120"/>
              </a:rPr>
              <a:t>Moffat Bay Lodge Prototype</a:t>
            </a:r>
            <a:endParaRPr lang="en-US" sz="800" dirty="0"/>
          </a:p>
        </p:txBody>
      </p:sp>
      <p:sp>
        <p:nvSpPr>
          <p:cNvPr id="5" name="Shape 3"/>
          <p:cNvSpPr/>
          <p:nvPr/>
        </p:nvSpPr>
        <p:spPr>
          <a:xfrm>
            <a:off x="502920" y="896112"/>
            <a:ext cx="11201400" cy="5440680"/>
          </a:xfrm>
          <a:prstGeom prst="roundRect">
            <a:avLst>
              <a:gd name="adj" fmla="val 1513"/>
            </a:avLst>
          </a:prstGeom>
          <a:solidFill>
            <a:srgbClr val="FFFAF2"/>
          </a:solidFill>
          <a:ln w="12700">
            <a:solidFill>
              <a:srgbClr val="E9DFCF"/>
            </a:solidFill>
            <a:prstDash val="solid"/>
          </a:ln>
          <a:effectLst>
            <a:outerShdw blurRad="25400" dist="12700" dir="2700000" algn="bl" rotWithShape="0">
              <a:srgbClr val="132133">
                <a:alpha val="10000"/>
              </a:srgbClr>
            </a:outerShdw>
          </a:effectLst>
        </p:spPr>
        <p:txBody>
          <a:bodyPr/>
          <a:lstStyle/>
          <a:p>
            <a:endParaRPr lang="en-US"/>
          </a:p>
        </p:txBody>
      </p:sp>
      <p:sp>
        <p:nvSpPr>
          <p:cNvPr id="6" name="Shape 4"/>
          <p:cNvSpPr/>
          <p:nvPr/>
        </p:nvSpPr>
        <p:spPr>
          <a:xfrm>
            <a:off x="502920" y="896112"/>
            <a:ext cx="11201400" cy="384048"/>
          </a:xfrm>
          <a:prstGeom prst="rect">
            <a:avLst/>
          </a:prstGeom>
          <a:solidFill>
            <a:srgbClr val="FFFFFF"/>
          </a:solidFill>
          <a:ln w="12700">
            <a:solidFill>
              <a:srgbClr val="E9DFCF"/>
            </a:solidFill>
            <a:prstDash val="solid"/>
          </a:ln>
        </p:spPr>
        <p:txBody>
          <a:bodyPr/>
          <a:lstStyle/>
          <a:p>
            <a:endParaRPr lang="en-US"/>
          </a:p>
        </p:txBody>
      </p:sp>
      <p:sp>
        <p:nvSpPr>
          <p:cNvPr id="10" name="Shape 8"/>
          <p:cNvSpPr/>
          <p:nvPr/>
        </p:nvSpPr>
        <p:spPr>
          <a:xfrm>
            <a:off x="1280160" y="987552"/>
            <a:ext cx="3657600" cy="192024"/>
          </a:xfrm>
          <a:prstGeom prst="roundRect">
            <a:avLst>
              <a:gd name="adj" fmla="val 28571"/>
            </a:avLst>
          </a:prstGeom>
          <a:solidFill>
            <a:srgbClr val="F5EFE5"/>
          </a:solidFill>
          <a:ln w="12700">
            <a:solidFill>
              <a:srgbClr val="E9DFCF">
                <a:alpha val="80000"/>
              </a:srgbClr>
            </a:solidFill>
            <a:prstDash val="solid"/>
          </a:ln>
        </p:spPr>
        <p:txBody>
          <a:bodyPr/>
          <a:lstStyle/>
          <a:p>
            <a:endParaRPr lang="en-US"/>
          </a:p>
        </p:txBody>
      </p:sp>
      <p:sp>
        <p:nvSpPr>
          <p:cNvPr id="11" name="Text 9"/>
          <p:cNvSpPr/>
          <p:nvPr/>
        </p:nvSpPr>
        <p:spPr>
          <a:xfrm>
            <a:off x="1408176" y="1014984"/>
            <a:ext cx="3337560" cy="109728"/>
          </a:xfrm>
          <a:prstGeom prst="rect">
            <a:avLst/>
          </a:prstGeom>
          <a:noFill/>
          <a:ln/>
        </p:spPr>
        <p:txBody>
          <a:bodyPr wrap="square" lIns="381" tIns="381" rIns="381" bIns="381" rtlCol="0" anchor="ctr">
            <a:normAutofit/>
          </a:bodyPr>
          <a:lstStyle/>
          <a:p>
            <a:pPr marL="0" indent="0" algn="l">
              <a:buNone/>
            </a:pPr>
            <a:r>
              <a:rPr lang="en-US" sz="550" dirty="0">
                <a:solidFill>
                  <a:srgbClr val="536273"/>
                </a:solidFill>
                <a:latin typeface="Arial" pitchFamily="34" charset="0"/>
                <a:ea typeface="Arial" pitchFamily="34" charset="-122"/>
                <a:cs typeface="Arial" pitchFamily="34" charset="-120"/>
              </a:rPr>
              <a:t>moffatbaylodge.com/reservation-summary.html</a:t>
            </a:r>
            <a:endParaRPr lang="en-US" sz="550" dirty="0"/>
          </a:p>
        </p:txBody>
      </p:sp>
      <p:sp>
        <p:nvSpPr>
          <p:cNvPr id="12" name="Shape 10"/>
          <p:cNvSpPr/>
          <p:nvPr/>
        </p:nvSpPr>
        <p:spPr>
          <a:xfrm>
            <a:off x="502920" y="1280160"/>
            <a:ext cx="11201400" cy="530352"/>
          </a:xfrm>
          <a:prstGeom prst="rect">
            <a:avLst/>
          </a:prstGeom>
          <a:solidFill>
            <a:srgbClr val="FAF5EC"/>
          </a:solidFill>
          <a:ln w="12700">
            <a:solidFill>
              <a:srgbClr val="E9DFCF">
                <a:alpha val="90000"/>
              </a:srgbClr>
            </a:solidFill>
            <a:prstDash val="solid"/>
          </a:ln>
        </p:spPr>
        <p:txBody>
          <a:bodyPr/>
          <a:lstStyle/>
          <a:p>
            <a:endParaRPr lang="en-US"/>
          </a:p>
        </p:txBody>
      </p:sp>
      <p:sp>
        <p:nvSpPr>
          <p:cNvPr id="13" name="Shape 11"/>
          <p:cNvSpPr/>
          <p:nvPr/>
        </p:nvSpPr>
        <p:spPr>
          <a:xfrm>
            <a:off x="731520" y="1399032"/>
            <a:ext cx="256032" cy="256032"/>
          </a:xfrm>
          <a:prstGeom prst="ellipse">
            <a:avLst/>
          </a:prstGeom>
          <a:solidFill>
            <a:srgbClr val="276F7B"/>
          </a:solidFill>
          <a:ln w="12700">
            <a:solidFill>
              <a:srgbClr val="276F7B"/>
            </a:solidFill>
            <a:prstDash val="solid"/>
          </a:ln>
        </p:spPr>
        <p:txBody>
          <a:bodyPr/>
          <a:lstStyle/>
          <a:p>
            <a:endParaRPr lang="en-US"/>
          </a:p>
        </p:txBody>
      </p:sp>
      <p:sp>
        <p:nvSpPr>
          <p:cNvPr id="14" name="Text 12"/>
          <p:cNvSpPr/>
          <p:nvPr/>
        </p:nvSpPr>
        <p:spPr>
          <a:xfrm>
            <a:off x="731520" y="1426464"/>
            <a:ext cx="256032" cy="109728"/>
          </a:xfrm>
          <a:prstGeom prst="rect">
            <a:avLst/>
          </a:prstGeom>
          <a:noFill/>
          <a:ln/>
        </p:spPr>
        <p:txBody>
          <a:bodyPr wrap="square" lIns="381" tIns="381" rIns="381" bIns="381" rtlCol="0" anchor="ctr">
            <a:normAutofit/>
          </a:bodyPr>
          <a:lstStyle/>
          <a:p>
            <a:pPr marL="0" indent="0" algn="ctr">
              <a:buNone/>
            </a:pPr>
            <a:r>
              <a:rPr lang="en-US" sz="700" b="1" dirty="0">
                <a:solidFill>
                  <a:srgbClr val="FFFFFF"/>
                </a:solidFill>
                <a:latin typeface="Georgia" pitchFamily="34" charset="0"/>
                <a:ea typeface="Georgia" pitchFamily="34" charset="-122"/>
                <a:cs typeface="Georgia" pitchFamily="34" charset="-120"/>
              </a:rPr>
              <a:t>MB</a:t>
            </a:r>
            <a:endParaRPr lang="en-US" sz="700" dirty="0"/>
          </a:p>
        </p:txBody>
      </p:sp>
      <p:sp>
        <p:nvSpPr>
          <p:cNvPr id="15" name="Text 13"/>
          <p:cNvSpPr/>
          <p:nvPr/>
        </p:nvSpPr>
        <p:spPr>
          <a:xfrm>
            <a:off x="1069848" y="1435608"/>
            <a:ext cx="1691640" cy="118872"/>
          </a:xfrm>
          <a:prstGeom prst="rect">
            <a:avLst/>
          </a:prstGeom>
          <a:noFill/>
          <a:ln/>
        </p:spPr>
        <p:txBody>
          <a:bodyPr wrap="square" lIns="381" tIns="381" rIns="381" bIns="381" rtlCol="0" anchor="ctr">
            <a:normAutofit/>
          </a:bodyPr>
          <a:lstStyle/>
          <a:p>
            <a:pPr marL="0" indent="0" algn="l">
              <a:buNone/>
            </a:pPr>
            <a:r>
              <a:rPr lang="en-US" sz="680" b="1" dirty="0">
                <a:solidFill>
                  <a:srgbClr val="132133"/>
                </a:solidFill>
                <a:latin typeface="Arial" pitchFamily="34" charset="0"/>
                <a:ea typeface="Arial" pitchFamily="34" charset="-122"/>
                <a:cs typeface="Arial" pitchFamily="34" charset="-120"/>
              </a:rPr>
              <a:t>MOFFAT BAY LODGE</a:t>
            </a:r>
            <a:endParaRPr lang="en-US" sz="680" dirty="0"/>
          </a:p>
        </p:txBody>
      </p:sp>
      <p:sp>
        <p:nvSpPr>
          <p:cNvPr id="16" name="Text 14">
            <a:hlinkClick r:id="rId3" action="ppaction://hlinksldjump"/>
          </p:cNvPr>
          <p:cNvSpPr/>
          <p:nvPr/>
        </p:nvSpPr>
        <p:spPr>
          <a:xfrm>
            <a:off x="3291840" y="1453896"/>
            <a:ext cx="402336"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640" dirty="0"/>
          </a:p>
        </p:txBody>
      </p:sp>
      <p:sp>
        <p:nvSpPr>
          <p:cNvPr id="17" name="Text 15">
            <a:hlinkClick r:id="rId4" action="ppaction://hlinksldjump"/>
          </p:cNvPr>
          <p:cNvSpPr/>
          <p:nvPr/>
        </p:nvSpPr>
        <p:spPr>
          <a:xfrm>
            <a:off x="3895344"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4" action="ppaction://hlinksldjump">
                  <a:extLst>
                    <a:ext uri="{A12FA001-AC4F-418D-AE19-62706E023703}">
                      <ahyp:hlinkClr xmlns:ahyp="http://schemas.microsoft.com/office/drawing/2018/hyperlinkcolor" val="tx"/>
                    </a:ext>
                  </a:extLst>
                </a:hlinkClick>
              </a:rPr>
              <a:t>About</a:t>
            </a:r>
            <a:endParaRPr lang="en-US" sz="640" dirty="0"/>
          </a:p>
        </p:txBody>
      </p:sp>
      <p:sp>
        <p:nvSpPr>
          <p:cNvPr id="18" name="Text 16">
            <a:hlinkClick r:id="rId5" action="ppaction://hlinksldjump"/>
          </p:cNvPr>
          <p:cNvSpPr/>
          <p:nvPr/>
        </p:nvSpPr>
        <p:spPr>
          <a:xfrm>
            <a:off x="4517136" y="1453896"/>
            <a:ext cx="96012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 &amp; Pricing</a:t>
            </a:r>
            <a:endParaRPr lang="en-US" sz="640" dirty="0"/>
          </a:p>
        </p:txBody>
      </p:sp>
      <p:sp>
        <p:nvSpPr>
          <p:cNvPr id="19" name="Text 17">
            <a:hlinkClick r:id="rId6" action="ppaction://hlinksldjump"/>
          </p:cNvPr>
          <p:cNvSpPr/>
          <p:nvPr/>
        </p:nvSpPr>
        <p:spPr>
          <a:xfrm>
            <a:off x="5678424" y="1453896"/>
            <a:ext cx="685800"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6" action="ppaction://hlinksldjump">
                  <a:extLst>
                    <a:ext uri="{A12FA001-AC4F-418D-AE19-62706E023703}">
                      <ahyp:hlinkClr xmlns:ahyp="http://schemas.microsoft.com/office/drawing/2018/hyperlinkcolor" val="tx"/>
                    </a:ext>
                  </a:extLst>
                </a:hlinkClick>
              </a:rPr>
              <a:t>Attractions</a:t>
            </a:r>
            <a:endParaRPr lang="en-US" sz="640" dirty="0"/>
          </a:p>
        </p:txBody>
      </p:sp>
      <p:sp>
        <p:nvSpPr>
          <p:cNvPr id="20" name="Text 18">
            <a:hlinkClick r:id="rId7" action="ppaction://hlinksldjump"/>
          </p:cNvPr>
          <p:cNvSpPr/>
          <p:nvPr/>
        </p:nvSpPr>
        <p:spPr>
          <a:xfrm>
            <a:off x="6565392" y="1453896"/>
            <a:ext cx="475488"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7" action="ppaction://hlinksldjump">
                  <a:extLst>
                    <a:ext uri="{A12FA001-AC4F-418D-AE19-62706E023703}">
                      <ahyp:hlinkClr xmlns:ahyp="http://schemas.microsoft.com/office/drawing/2018/hyperlinkcolor" val="tx"/>
                    </a:ext>
                  </a:extLst>
                </a:hlinkClick>
              </a:rPr>
              <a:t>Contact</a:t>
            </a:r>
            <a:endParaRPr lang="en-US" sz="640" dirty="0"/>
          </a:p>
        </p:txBody>
      </p:sp>
      <p:sp>
        <p:nvSpPr>
          <p:cNvPr id="21" name="Text 19">
            <a:hlinkClick r:id="rId8" action="ppaction://hlinksldjump"/>
          </p:cNvPr>
          <p:cNvSpPr/>
          <p:nvPr/>
        </p:nvSpPr>
        <p:spPr>
          <a:xfrm>
            <a:off x="7242048" y="1453896"/>
            <a:ext cx="420624" cy="118872"/>
          </a:xfrm>
          <a:prstGeom prst="rect">
            <a:avLst/>
          </a:prstGeom>
          <a:noFill/>
          <a:ln/>
        </p:spPr>
        <p:txBody>
          <a:bodyPr wrap="square" lIns="381" tIns="381" rIns="381" bIns="381" rtlCol="0" anchor="ctr">
            <a:normAutofit/>
          </a:bodyPr>
          <a:lstStyle/>
          <a:p>
            <a:pPr marL="0" indent="0" algn="ctr">
              <a:buNone/>
            </a:pPr>
            <a:r>
              <a:rPr lang="en-US" sz="64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640" dirty="0"/>
          </a:p>
        </p:txBody>
      </p:sp>
      <p:sp>
        <p:nvSpPr>
          <p:cNvPr id="22" name="Shape 20">
            <a:hlinkClick r:id="rId9" action="ppaction://hlinksldjump"/>
          </p:cNvPr>
          <p:cNvSpPr/>
          <p:nvPr/>
        </p:nvSpPr>
        <p:spPr>
          <a:xfrm>
            <a:off x="10378440" y="1417320"/>
            <a:ext cx="530352"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23" name="Text 21">
            <a:hlinkClick r:id="rId9" action="ppaction://hlinksldjump"/>
          </p:cNvPr>
          <p:cNvSpPr/>
          <p:nvPr/>
        </p:nvSpPr>
        <p:spPr>
          <a:xfrm>
            <a:off x="10396728" y="1444752"/>
            <a:ext cx="493776"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9" action="ppaction://hlinksldjump">
                  <a:extLst>
                    <a:ext uri="{A12FA001-AC4F-418D-AE19-62706E023703}">
                      <ahyp:hlinkClr xmlns:ahyp="http://schemas.microsoft.com/office/drawing/2018/hyperlinkcolor" val="tx"/>
                    </a:ext>
                  </a:extLst>
                </a:hlinkClick>
              </a:rPr>
              <a:t>Login</a:t>
            </a:r>
            <a:endParaRPr lang="en-US" sz="600" dirty="0"/>
          </a:p>
        </p:txBody>
      </p:sp>
      <p:sp>
        <p:nvSpPr>
          <p:cNvPr id="24" name="Shape 22">
            <a:hlinkClick r:id="rId10" action="ppaction://hlinksldjump"/>
          </p:cNvPr>
          <p:cNvSpPr/>
          <p:nvPr/>
        </p:nvSpPr>
        <p:spPr>
          <a:xfrm>
            <a:off x="10991088" y="1417320"/>
            <a:ext cx="585216" cy="283464"/>
          </a:xfrm>
          <a:prstGeom prst="roundRect">
            <a:avLst>
              <a:gd name="adj" fmla="val 25806"/>
            </a:avLst>
          </a:prstGeom>
          <a:solidFill>
            <a:srgbClr val="276F7B"/>
          </a:solidFill>
          <a:ln w="12700">
            <a:solidFill>
              <a:srgbClr val="276F7B">
                <a:alpha val="0"/>
              </a:srgbClr>
            </a:solidFill>
            <a:prstDash val="solid"/>
          </a:ln>
        </p:spPr>
        <p:txBody>
          <a:bodyPr/>
          <a:lstStyle/>
          <a:p>
            <a:endParaRPr lang="en-US"/>
          </a:p>
        </p:txBody>
      </p:sp>
      <p:sp>
        <p:nvSpPr>
          <p:cNvPr id="25" name="Text 23">
            <a:hlinkClick r:id="rId10" action="ppaction://hlinksldjump"/>
          </p:cNvPr>
          <p:cNvSpPr/>
          <p:nvPr/>
        </p:nvSpPr>
        <p:spPr>
          <a:xfrm>
            <a:off x="11009376" y="1444752"/>
            <a:ext cx="548640" cy="182880"/>
          </a:xfrm>
          <a:prstGeom prst="rect">
            <a:avLst/>
          </a:prstGeom>
          <a:noFill/>
          <a:ln/>
        </p:spPr>
        <p:txBody>
          <a:bodyPr wrap="square" lIns="381" tIns="381" rIns="381" bIns="381" rtlCol="0" anchor="ctr">
            <a:normAutofit/>
          </a:bodyPr>
          <a:lstStyle/>
          <a:p>
            <a:pPr marL="0" indent="0" algn="ctr">
              <a:buNone/>
            </a:pPr>
            <a:r>
              <a:rPr lang="en-US" sz="600" b="1" u="sng" dirty="0">
                <a:solidFill>
                  <a:srgbClr val="FFFFFF"/>
                </a:solidFill>
                <a:latin typeface="Arial" pitchFamily="34" charset="0"/>
                <a:ea typeface="Arial" pitchFamily="34" charset="-122"/>
                <a:cs typeface="Arial" pitchFamily="34" charset="-120"/>
                <a:hlinkClick r:id="rId10" action="ppaction://hlinksldjump">
                  <a:extLst>
                    <a:ext uri="{A12FA001-AC4F-418D-AE19-62706E023703}">
                      <ahyp:hlinkClr xmlns:ahyp="http://schemas.microsoft.com/office/drawing/2018/hyperlinkcolor" val="tx"/>
                    </a:ext>
                  </a:extLst>
                </a:hlinkClick>
              </a:rPr>
              <a:t>Register</a:t>
            </a:r>
            <a:endParaRPr lang="en-US" sz="600" dirty="0"/>
          </a:p>
        </p:txBody>
      </p:sp>
      <p:sp>
        <p:nvSpPr>
          <p:cNvPr id="26" name="Text 24"/>
          <p:cNvSpPr/>
          <p:nvPr/>
        </p:nvSpPr>
        <p:spPr>
          <a:xfrm>
            <a:off x="502920" y="6510528"/>
            <a:ext cx="6400800" cy="201168"/>
          </a:xfrm>
          <a:prstGeom prst="rect">
            <a:avLst/>
          </a:prstGeom>
          <a:noFill/>
          <a:ln/>
        </p:spPr>
        <p:txBody>
          <a:bodyPr wrap="square" lIns="381" tIns="381" rIns="381" bIns="381" rtlCol="0" anchor="ctr">
            <a:normAutofit/>
          </a:bodyPr>
          <a:lstStyle/>
          <a:p>
            <a:pPr marL="0" indent="0" algn="l">
              <a:buNone/>
            </a:pPr>
            <a:r>
              <a:rPr lang="en-US" sz="710" dirty="0">
                <a:solidFill>
                  <a:srgbClr val="536273"/>
                </a:solidFill>
                <a:latin typeface="Arial" pitchFamily="34" charset="0"/>
                <a:ea typeface="Arial" pitchFamily="34" charset="-122"/>
                <a:cs typeface="Arial" pitchFamily="34" charset="-120"/>
              </a:rPr>
              <a:t>Slide 12 | Editable components | Use Slide Show mode to click through the prototype</a:t>
            </a:r>
            <a:endParaRPr lang="en-US" sz="710" dirty="0"/>
          </a:p>
        </p:txBody>
      </p:sp>
      <p:sp>
        <p:nvSpPr>
          <p:cNvPr id="27" name="Shape 25">
            <a:hlinkClick r:id="rId3" action="ppaction://hlinksldjump"/>
          </p:cNvPr>
          <p:cNvSpPr/>
          <p:nvPr/>
        </p:nvSpPr>
        <p:spPr>
          <a:xfrm>
            <a:off x="7635240"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28" name="Text 26">
            <a:hlinkClick r:id="rId3" action="ppaction://hlinksldjump"/>
          </p:cNvPr>
          <p:cNvSpPr/>
          <p:nvPr/>
        </p:nvSpPr>
        <p:spPr>
          <a:xfrm>
            <a:off x="7653528"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3" action="ppaction://hlinksldjump">
                  <a:extLst>
                    <a:ext uri="{A12FA001-AC4F-418D-AE19-62706E023703}">
                      <ahyp:hlinkClr xmlns:ahyp="http://schemas.microsoft.com/office/drawing/2018/hyperlinkcolor" val="tx"/>
                    </a:ext>
                  </a:extLst>
                </a:hlinkClick>
              </a:rPr>
              <a:t>Home</a:t>
            </a:r>
            <a:endParaRPr lang="en-US" sz="800" dirty="0"/>
          </a:p>
        </p:txBody>
      </p:sp>
      <p:sp>
        <p:nvSpPr>
          <p:cNvPr id="29" name="Shape 27">
            <a:hlinkClick r:id="rId5" action="ppaction://hlinksldjump"/>
          </p:cNvPr>
          <p:cNvSpPr/>
          <p:nvPr/>
        </p:nvSpPr>
        <p:spPr>
          <a:xfrm>
            <a:off x="8476488"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0" name="Text 28">
            <a:hlinkClick r:id="rId5" action="ppaction://hlinksldjump"/>
          </p:cNvPr>
          <p:cNvSpPr/>
          <p:nvPr/>
        </p:nvSpPr>
        <p:spPr>
          <a:xfrm>
            <a:off x="8494776"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5" action="ppaction://hlinksldjump">
                  <a:extLst>
                    <a:ext uri="{A12FA001-AC4F-418D-AE19-62706E023703}">
                      <ahyp:hlinkClr xmlns:ahyp="http://schemas.microsoft.com/office/drawing/2018/hyperlinkcolor" val="tx"/>
                    </a:ext>
                  </a:extLst>
                </a:hlinkClick>
              </a:rPr>
              <a:t>Rooms</a:t>
            </a:r>
            <a:endParaRPr lang="en-US" sz="800" dirty="0"/>
          </a:p>
        </p:txBody>
      </p:sp>
      <p:sp>
        <p:nvSpPr>
          <p:cNvPr id="31" name="Shape 29">
            <a:hlinkClick r:id="rId8" action="ppaction://hlinksldjump"/>
          </p:cNvPr>
          <p:cNvSpPr/>
          <p:nvPr/>
        </p:nvSpPr>
        <p:spPr>
          <a:xfrm>
            <a:off x="9317736"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2" name="Text 30">
            <a:hlinkClick r:id="rId8" action="ppaction://hlinksldjump"/>
          </p:cNvPr>
          <p:cNvSpPr/>
          <p:nvPr/>
        </p:nvSpPr>
        <p:spPr>
          <a:xfrm>
            <a:off x="9336024"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Book</a:t>
            </a:r>
            <a:endParaRPr lang="en-US" sz="800" dirty="0"/>
          </a:p>
        </p:txBody>
      </p:sp>
      <p:sp>
        <p:nvSpPr>
          <p:cNvPr id="33" name="Shape 31">
            <a:hlinkClick r:id="rId11" action="ppaction://hlinksldjump"/>
          </p:cNvPr>
          <p:cNvSpPr/>
          <p:nvPr/>
        </p:nvSpPr>
        <p:spPr>
          <a:xfrm>
            <a:off x="10158984" y="6455664"/>
            <a:ext cx="749808" cy="283464"/>
          </a:xfrm>
          <a:prstGeom prst="roundRect">
            <a:avLst>
              <a:gd name="adj" fmla="val 25806"/>
            </a:avLst>
          </a:prstGeom>
          <a:solidFill>
            <a:srgbClr val="FFFFFF">
              <a:alpha val="30000"/>
            </a:srgbClr>
          </a:solidFill>
          <a:ln w="12700">
            <a:solidFill>
              <a:srgbClr val="536273">
                <a:alpha val="50000"/>
              </a:srgbClr>
            </a:solidFill>
            <a:prstDash val="solid"/>
          </a:ln>
        </p:spPr>
        <p:txBody>
          <a:bodyPr/>
          <a:lstStyle/>
          <a:p>
            <a:endParaRPr lang="en-US"/>
          </a:p>
        </p:txBody>
      </p:sp>
      <p:sp>
        <p:nvSpPr>
          <p:cNvPr id="34" name="Text 32">
            <a:hlinkClick r:id="rId11" action="ppaction://hlinksldjump"/>
          </p:cNvPr>
          <p:cNvSpPr/>
          <p:nvPr/>
        </p:nvSpPr>
        <p:spPr>
          <a:xfrm>
            <a:off x="10177272" y="6483096"/>
            <a:ext cx="713232" cy="182880"/>
          </a:xfrm>
          <a:prstGeom prst="rect">
            <a:avLst/>
          </a:prstGeom>
          <a:noFill/>
          <a:ln/>
        </p:spPr>
        <p:txBody>
          <a:bodyPr wrap="square" lIns="381" tIns="381" rIns="381" bIns="381" rtlCol="0" anchor="ctr">
            <a:normAutofit/>
          </a:bodyPr>
          <a:lstStyle/>
          <a:p>
            <a:pPr marL="0" indent="0" algn="ctr">
              <a:buNone/>
            </a:pPr>
            <a:r>
              <a:rPr lang="en-US" sz="800" b="1" u="sng" dirty="0">
                <a:solidFill>
                  <a:srgbClr val="2A3B50"/>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Lookup</a:t>
            </a:r>
            <a:endParaRPr lang="en-US" sz="800" dirty="0"/>
          </a:p>
        </p:txBody>
      </p:sp>
      <p:sp>
        <p:nvSpPr>
          <p:cNvPr id="35" name="Shape 33">
            <a:hlinkClick r:id="rId12" action="ppaction://hlinksldjump"/>
          </p:cNvPr>
          <p:cNvSpPr/>
          <p:nvPr/>
        </p:nvSpPr>
        <p:spPr>
          <a:xfrm>
            <a:off x="11000232" y="6455664"/>
            <a:ext cx="868680" cy="283464"/>
          </a:xfrm>
          <a:prstGeom prst="roundRect">
            <a:avLst>
              <a:gd name="adj" fmla="val 25806"/>
            </a:avLst>
          </a:prstGeom>
          <a:solidFill>
            <a:srgbClr val="132133"/>
          </a:solidFill>
          <a:ln w="12700">
            <a:solidFill>
              <a:srgbClr val="132133">
                <a:alpha val="0"/>
              </a:srgbClr>
            </a:solidFill>
            <a:prstDash val="solid"/>
          </a:ln>
        </p:spPr>
        <p:txBody>
          <a:bodyPr/>
          <a:lstStyle/>
          <a:p>
            <a:endParaRPr lang="en-US"/>
          </a:p>
        </p:txBody>
      </p:sp>
      <p:sp>
        <p:nvSpPr>
          <p:cNvPr id="36" name="Text 34">
            <a:hlinkClick r:id="rId12" action="ppaction://hlinksldjump"/>
          </p:cNvPr>
          <p:cNvSpPr/>
          <p:nvPr/>
        </p:nvSpPr>
        <p:spPr>
          <a:xfrm>
            <a:off x="11018520" y="6483096"/>
            <a:ext cx="832104" cy="182880"/>
          </a:xfrm>
          <a:prstGeom prst="rect">
            <a:avLst/>
          </a:prstGeom>
          <a:noFill/>
          <a:ln/>
        </p:spPr>
        <p:txBody>
          <a:bodyPr wrap="square" lIns="381" tIns="381" rIns="381" bIns="381" rtlCol="0" anchor="ctr">
            <a:normAutofit/>
          </a:bodyPr>
          <a:lstStyle/>
          <a:p>
            <a:pPr marL="0" indent="0" algn="ctr">
              <a:buNone/>
            </a:pPr>
            <a:r>
              <a:rPr lang="en-US" sz="770" b="1" u="sng" dirty="0">
                <a:solidFill>
                  <a:srgbClr val="FFFFFF"/>
                </a:solidFill>
                <a:latin typeface="Arial" pitchFamily="34" charset="0"/>
                <a:ea typeface="Arial" pitchFamily="34" charset="-122"/>
                <a:cs typeface="Arial" pitchFamily="34" charset="-120"/>
                <a:hlinkClick r:id="rId12" action="ppaction://hlinksldjump">
                  <a:extLst>
                    <a:ext uri="{A12FA001-AC4F-418D-AE19-62706E023703}">
                      <ahyp:hlinkClr xmlns:ahyp="http://schemas.microsoft.com/office/drawing/2018/hyperlinkcolor" val="tx"/>
                    </a:ext>
                  </a:extLst>
                </a:hlinkClick>
              </a:rPr>
              <a:t>Site Flow</a:t>
            </a:r>
            <a:endParaRPr lang="en-US" sz="770" dirty="0"/>
          </a:p>
        </p:txBody>
      </p:sp>
      <p:sp>
        <p:nvSpPr>
          <p:cNvPr id="37" name="Text 35"/>
          <p:cNvSpPr/>
          <p:nvPr/>
        </p:nvSpPr>
        <p:spPr>
          <a:xfrm>
            <a:off x="822960" y="2103120"/>
            <a:ext cx="9509760" cy="146304"/>
          </a:xfrm>
          <a:prstGeom prst="rect">
            <a:avLst/>
          </a:prstGeom>
          <a:noFill/>
          <a:ln/>
        </p:spPr>
        <p:txBody>
          <a:bodyPr wrap="square" lIns="381" tIns="381" rIns="381" bIns="381" rtlCol="0" anchor="ctr">
            <a:normAutofit/>
          </a:bodyPr>
          <a:lstStyle/>
          <a:p>
            <a:pPr marL="0" indent="0" algn="l">
              <a:buNone/>
            </a:pPr>
            <a:r>
              <a:rPr lang="en-US" sz="680" b="1" dirty="0">
                <a:solidFill>
                  <a:srgbClr val="276F7B"/>
                </a:solidFill>
                <a:latin typeface="Arial" pitchFamily="34" charset="0"/>
                <a:ea typeface="Arial" pitchFamily="34" charset="-122"/>
                <a:cs typeface="Arial" pitchFamily="34" charset="-120"/>
              </a:rPr>
              <a:t>FINAL REVIEW</a:t>
            </a:r>
            <a:endParaRPr lang="en-US" sz="680" dirty="0"/>
          </a:p>
        </p:txBody>
      </p:sp>
      <p:sp>
        <p:nvSpPr>
          <p:cNvPr id="38" name="Text 36"/>
          <p:cNvSpPr/>
          <p:nvPr/>
        </p:nvSpPr>
        <p:spPr>
          <a:xfrm>
            <a:off x="822960" y="2304288"/>
            <a:ext cx="9509760" cy="393192"/>
          </a:xfrm>
          <a:prstGeom prst="rect">
            <a:avLst/>
          </a:prstGeom>
          <a:noFill/>
          <a:ln/>
        </p:spPr>
        <p:txBody>
          <a:bodyPr wrap="square" lIns="381" tIns="381" rIns="381" bIns="381" rtlCol="0" anchor="ctr">
            <a:normAutofit/>
          </a:bodyPr>
          <a:lstStyle/>
          <a:p>
            <a:pPr marL="0" indent="0" algn="l">
              <a:buNone/>
            </a:pPr>
            <a:r>
              <a:rPr lang="en-US" sz="2000" dirty="0">
                <a:solidFill>
                  <a:srgbClr val="132133"/>
                </a:solidFill>
                <a:latin typeface="Georgia" pitchFamily="34" charset="0"/>
                <a:ea typeface="Georgia" pitchFamily="34" charset="-122"/>
                <a:cs typeface="Georgia" pitchFamily="34" charset="-120"/>
              </a:rPr>
              <a:t>Reservation Summary</a:t>
            </a:r>
            <a:endParaRPr lang="en-US" sz="2000" dirty="0"/>
          </a:p>
        </p:txBody>
      </p:sp>
      <p:sp>
        <p:nvSpPr>
          <p:cNvPr id="39" name="Text 37"/>
          <p:cNvSpPr/>
          <p:nvPr/>
        </p:nvSpPr>
        <p:spPr>
          <a:xfrm>
            <a:off x="822960" y="2798064"/>
            <a:ext cx="9509760" cy="256032"/>
          </a:xfrm>
          <a:prstGeom prst="rect">
            <a:avLst/>
          </a:prstGeom>
          <a:noFill/>
          <a:ln/>
        </p:spPr>
        <p:txBody>
          <a:bodyPr wrap="square" lIns="381" tIns="381" rIns="381" bIns="381" rtlCol="0" anchor="t">
            <a:normAutofit/>
          </a:bodyPr>
          <a:lstStyle/>
          <a:p>
            <a:pPr marL="0" indent="0" algn="l">
              <a:buNone/>
            </a:pPr>
            <a:r>
              <a:rPr lang="en-US" sz="840" dirty="0">
                <a:solidFill>
                  <a:srgbClr val="2A3B50"/>
                </a:solidFill>
                <a:latin typeface="Arial" pitchFamily="34" charset="0"/>
                <a:ea typeface="Arial" pitchFamily="34" charset="-122"/>
                <a:cs typeface="Arial" pitchFamily="34" charset="-120"/>
              </a:rPr>
              <a:t>Review booking details before final confirmation. Guests can cancel to make changes or confirm the reservation.</a:t>
            </a:r>
            <a:endParaRPr lang="en-US" sz="840" dirty="0"/>
          </a:p>
        </p:txBody>
      </p:sp>
      <p:sp>
        <p:nvSpPr>
          <p:cNvPr id="40" name="Shape 38"/>
          <p:cNvSpPr/>
          <p:nvPr/>
        </p:nvSpPr>
        <p:spPr>
          <a:xfrm>
            <a:off x="822960" y="3337560"/>
            <a:ext cx="9921240" cy="2743200"/>
          </a:xfrm>
          <a:prstGeom prst="roundRect">
            <a:avLst>
              <a:gd name="adj" fmla="val 3333"/>
            </a:avLst>
          </a:prstGeom>
          <a:solidFill>
            <a:srgbClr val="FFFFFF">
              <a:alpha val="92000"/>
            </a:srgbClr>
          </a:solidFill>
          <a:ln w="12700">
            <a:solidFill>
              <a:srgbClr val="E9DFCF"/>
            </a:solidFill>
            <a:prstDash val="solid"/>
          </a:ln>
          <a:effectLst>
            <a:outerShdw blurRad="12700" dist="7620" dir="2700000" algn="bl" rotWithShape="0">
              <a:srgbClr val="132133">
                <a:alpha val="7000"/>
              </a:srgbClr>
            </a:outerShdw>
          </a:effectLst>
        </p:spPr>
        <p:txBody>
          <a:bodyPr/>
          <a:lstStyle/>
          <a:p>
            <a:endParaRPr lang="en-US"/>
          </a:p>
        </p:txBody>
      </p:sp>
      <p:sp>
        <p:nvSpPr>
          <p:cNvPr id="41" name="Shape 39"/>
          <p:cNvSpPr/>
          <p:nvPr/>
        </p:nvSpPr>
        <p:spPr>
          <a:xfrm>
            <a:off x="1115568" y="3675888"/>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2" name="Text 40"/>
          <p:cNvSpPr/>
          <p:nvPr/>
        </p:nvSpPr>
        <p:spPr>
          <a:xfrm>
            <a:off x="1234440" y="3730752"/>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Reservation ID</a:t>
            </a:r>
            <a:endParaRPr lang="en-US" sz="520" dirty="0"/>
          </a:p>
        </p:txBody>
      </p:sp>
      <p:sp>
        <p:nvSpPr>
          <p:cNvPr id="43" name="Text 41"/>
          <p:cNvSpPr/>
          <p:nvPr/>
        </p:nvSpPr>
        <p:spPr>
          <a:xfrm>
            <a:off x="2624328" y="3730752"/>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MBL-2201</a:t>
            </a:r>
            <a:endParaRPr lang="en-US" sz="700" dirty="0"/>
          </a:p>
        </p:txBody>
      </p:sp>
      <p:sp>
        <p:nvSpPr>
          <p:cNvPr id="44" name="Shape 42"/>
          <p:cNvSpPr/>
          <p:nvPr/>
        </p:nvSpPr>
        <p:spPr>
          <a:xfrm>
            <a:off x="5779008" y="3675888"/>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5" name="Text 43"/>
          <p:cNvSpPr/>
          <p:nvPr/>
        </p:nvSpPr>
        <p:spPr>
          <a:xfrm>
            <a:off x="5897880" y="3730752"/>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Room Type</a:t>
            </a:r>
            <a:endParaRPr lang="en-US" sz="520" dirty="0"/>
          </a:p>
        </p:txBody>
      </p:sp>
      <p:sp>
        <p:nvSpPr>
          <p:cNvPr id="46" name="Text 44"/>
          <p:cNvSpPr/>
          <p:nvPr/>
        </p:nvSpPr>
        <p:spPr>
          <a:xfrm>
            <a:off x="7287768" y="3730752"/>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Queen</a:t>
            </a:r>
            <a:endParaRPr lang="en-US" sz="700" dirty="0"/>
          </a:p>
        </p:txBody>
      </p:sp>
      <p:sp>
        <p:nvSpPr>
          <p:cNvPr id="47" name="Shape 45"/>
          <p:cNvSpPr/>
          <p:nvPr/>
        </p:nvSpPr>
        <p:spPr>
          <a:xfrm>
            <a:off x="1115568" y="4197096"/>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48" name="Text 46"/>
          <p:cNvSpPr/>
          <p:nvPr/>
        </p:nvSpPr>
        <p:spPr>
          <a:xfrm>
            <a:off x="1234440" y="4251960"/>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Guests</a:t>
            </a:r>
            <a:endParaRPr lang="en-US" sz="520" dirty="0"/>
          </a:p>
        </p:txBody>
      </p:sp>
      <p:sp>
        <p:nvSpPr>
          <p:cNvPr id="49" name="Text 47"/>
          <p:cNvSpPr/>
          <p:nvPr/>
        </p:nvSpPr>
        <p:spPr>
          <a:xfrm>
            <a:off x="2624328" y="4251960"/>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2</a:t>
            </a:r>
            <a:endParaRPr lang="en-US" sz="700" dirty="0"/>
          </a:p>
        </p:txBody>
      </p:sp>
      <p:sp>
        <p:nvSpPr>
          <p:cNvPr id="50" name="Shape 48"/>
          <p:cNvSpPr/>
          <p:nvPr/>
        </p:nvSpPr>
        <p:spPr>
          <a:xfrm>
            <a:off x="5779008" y="4197096"/>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1" name="Text 49"/>
          <p:cNvSpPr/>
          <p:nvPr/>
        </p:nvSpPr>
        <p:spPr>
          <a:xfrm>
            <a:off x="5897880" y="4251960"/>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Dates</a:t>
            </a:r>
            <a:endParaRPr lang="en-US" sz="520" dirty="0"/>
          </a:p>
        </p:txBody>
      </p:sp>
      <p:sp>
        <p:nvSpPr>
          <p:cNvPr id="52" name="Text 50"/>
          <p:cNvSpPr/>
          <p:nvPr/>
        </p:nvSpPr>
        <p:spPr>
          <a:xfrm>
            <a:off x="7287768" y="4251960"/>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09/06/2026 - 09/10/2026</a:t>
            </a:r>
            <a:endParaRPr lang="en-US" sz="700" dirty="0"/>
          </a:p>
        </p:txBody>
      </p:sp>
      <p:sp>
        <p:nvSpPr>
          <p:cNvPr id="53" name="Shape 51"/>
          <p:cNvSpPr/>
          <p:nvPr/>
        </p:nvSpPr>
        <p:spPr>
          <a:xfrm>
            <a:off x="1115568" y="4718304"/>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4" name="Text 52"/>
          <p:cNvSpPr/>
          <p:nvPr/>
        </p:nvSpPr>
        <p:spPr>
          <a:xfrm>
            <a:off x="1234440" y="4773168"/>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Nightly Rate</a:t>
            </a:r>
            <a:endParaRPr lang="en-US" sz="520" dirty="0"/>
          </a:p>
        </p:txBody>
      </p:sp>
      <p:sp>
        <p:nvSpPr>
          <p:cNvPr id="55" name="Text 53"/>
          <p:cNvSpPr/>
          <p:nvPr/>
        </p:nvSpPr>
        <p:spPr>
          <a:xfrm>
            <a:off x="2624328" y="4773168"/>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$135</a:t>
            </a:r>
            <a:endParaRPr lang="en-US" sz="700" dirty="0"/>
          </a:p>
        </p:txBody>
      </p:sp>
      <p:sp>
        <p:nvSpPr>
          <p:cNvPr id="56" name="Shape 54"/>
          <p:cNvSpPr/>
          <p:nvPr/>
        </p:nvSpPr>
        <p:spPr>
          <a:xfrm>
            <a:off x="5779008" y="4718304"/>
            <a:ext cx="4343400" cy="365760"/>
          </a:xfrm>
          <a:prstGeom prst="roundRect">
            <a:avLst>
              <a:gd name="adj" fmla="val 12500"/>
            </a:avLst>
          </a:prstGeom>
          <a:solidFill>
            <a:srgbClr val="F5EFE5"/>
          </a:solidFill>
          <a:ln w="12700">
            <a:solidFill>
              <a:srgbClr val="E9DFCF">
                <a:alpha val="30000"/>
              </a:srgbClr>
            </a:solidFill>
            <a:prstDash val="solid"/>
          </a:ln>
        </p:spPr>
        <p:txBody>
          <a:bodyPr/>
          <a:lstStyle/>
          <a:p>
            <a:endParaRPr lang="en-US"/>
          </a:p>
        </p:txBody>
      </p:sp>
      <p:sp>
        <p:nvSpPr>
          <p:cNvPr id="57" name="Text 55"/>
          <p:cNvSpPr/>
          <p:nvPr/>
        </p:nvSpPr>
        <p:spPr>
          <a:xfrm>
            <a:off x="5897880" y="4773168"/>
            <a:ext cx="1188720" cy="91440"/>
          </a:xfrm>
          <a:prstGeom prst="rect">
            <a:avLst/>
          </a:prstGeom>
          <a:noFill/>
          <a:ln/>
        </p:spPr>
        <p:txBody>
          <a:bodyPr wrap="square" lIns="381" tIns="381" rIns="381" bIns="381" rtlCol="0" anchor="ctr">
            <a:normAutofit/>
          </a:bodyPr>
          <a:lstStyle/>
          <a:p>
            <a:pPr marL="0" indent="0" algn="l">
              <a:buNone/>
            </a:pPr>
            <a:r>
              <a:rPr lang="en-US" sz="520" b="1" dirty="0">
                <a:solidFill>
                  <a:srgbClr val="2A3B50"/>
                </a:solidFill>
                <a:latin typeface="Arial" pitchFamily="34" charset="0"/>
                <a:ea typeface="Arial" pitchFamily="34" charset="-122"/>
                <a:cs typeface="Arial" pitchFamily="34" charset="-120"/>
              </a:rPr>
              <a:t>Estimated Total</a:t>
            </a:r>
            <a:endParaRPr lang="en-US" sz="520" dirty="0"/>
          </a:p>
        </p:txBody>
      </p:sp>
      <p:sp>
        <p:nvSpPr>
          <p:cNvPr id="58" name="Text 56"/>
          <p:cNvSpPr/>
          <p:nvPr/>
        </p:nvSpPr>
        <p:spPr>
          <a:xfrm>
            <a:off x="7287768" y="4773168"/>
            <a:ext cx="2468880" cy="118872"/>
          </a:xfrm>
          <a:prstGeom prst="rect">
            <a:avLst/>
          </a:prstGeom>
          <a:noFill/>
          <a:ln/>
        </p:spPr>
        <p:txBody>
          <a:bodyPr wrap="square" lIns="381" tIns="381" rIns="381" bIns="381" rtlCol="0" anchor="ctr">
            <a:normAutofit/>
          </a:bodyPr>
          <a:lstStyle/>
          <a:p>
            <a:pPr marL="0" indent="0" algn="l">
              <a:buNone/>
            </a:pPr>
            <a:r>
              <a:rPr lang="en-US" sz="700" b="1" dirty="0">
                <a:solidFill>
                  <a:srgbClr val="132133"/>
                </a:solidFill>
                <a:latin typeface="Arial" pitchFamily="34" charset="0"/>
                <a:ea typeface="Arial" pitchFamily="34" charset="-122"/>
                <a:cs typeface="Arial" pitchFamily="34" charset="-120"/>
              </a:rPr>
              <a:t>$540</a:t>
            </a:r>
            <a:endParaRPr lang="en-US" sz="700" dirty="0"/>
          </a:p>
        </p:txBody>
      </p:sp>
      <p:sp>
        <p:nvSpPr>
          <p:cNvPr id="59" name="Shape 57">
            <a:hlinkClick r:id="rId8" action="ppaction://hlinksldjump"/>
          </p:cNvPr>
          <p:cNvSpPr/>
          <p:nvPr/>
        </p:nvSpPr>
        <p:spPr>
          <a:xfrm>
            <a:off x="1115568" y="5504688"/>
            <a:ext cx="822960" cy="310896"/>
          </a:xfrm>
          <a:prstGeom prst="roundRect">
            <a:avLst>
              <a:gd name="adj" fmla="val 35294"/>
            </a:avLst>
          </a:prstGeom>
          <a:solidFill>
            <a:srgbClr val="FFFFFF">
              <a:alpha val="30000"/>
            </a:srgbClr>
          </a:solidFill>
          <a:ln w="12700">
            <a:solidFill>
              <a:srgbClr val="536273">
                <a:alpha val="70000"/>
              </a:srgbClr>
            </a:solidFill>
            <a:prstDash val="solid"/>
          </a:ln>
        </p:spPr>
        <p:txBody>
          <a:bodyPr/>
          <a:lstStyle/>
          <a:p>
            <a:endParaRPr lang="en-US"/>
          </a:p>
        </p:txBody>
      </p:sp>
      <p:sp>
        <p:nvSpPr>
          <p:cNvPr id="60" name="Text 58">
            <a:hlinkClick r:id="rId8" action="ppaction://hlinksldjump"/>
          </p:cNvPr>
          <p:cNvSpPr/>
          <p:nvPr/>
        </p:nvSpPr>
        <p:spPr>
          <a:xfrm>
            <a:off x="1143000" y="5586984"/>
            <a:ext cx="7680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8" action="ppaction://hlinksldjump">
                  <a:extLst>
                    <a:ext uri="{A12FA001-AC4F-418D-AE19-62706E023703}">
                      <ahyp:hlinkClr xmlns:ahyp="http://schemas.microsoft.com/office/drawing/2018/hyperlinkcolor" val="tx"/>
                    </a:ext>
                  </a:extLst>
                </a:hlinkClick>
              </a:rPr>
              <a:t>Cancel</a:t>
            </a:r>
            <a:endParaRPr lang="en-US" sz="640" dirty="0"/>
          </a:p>
        </p:txBody>
      </p:sp>
      <p:sp>
        <p:nvSpPr>
          <p:cNvPr id="61" name="Shape 59">
            <a:hlinkClick r:id="rId11" action="ppaction://hlinksldjump"/>
          </p:cNvPr>
          <p:cNvSpPr/>
          <p:nvPr/>
        </p:nvSpPr>
        <p:spPr>
          <a:xfrm>
            <a:off x="2121408" y="5504688"/>
            <a:ext cx="1508760" cy="310896"/>
          </a:xfrm>
          <a:prstGeom prst="roundRect">
            <a:avLst>
              <a:gd name="adj" fmla="val 35294"/>
            </a:avLst>
          </a:prstGeom>
          <a:solidFill>
            <a:srgbClr val="CDA059"/>
          </a:solidFill>
          <a:ln w="12700">
            <a:solidFill>
              <a:srgbClr val="CDA059">
                <a:alpha val="0"/>
              </a:srgbClr>
            </a:solidFill>
            <a:prstDash val="solid"/>
          </a:ln>
        </p:spPr>
        <p:txBody>
          <a:bodyPr/>
          <a:lstStyle/>
          <a:p>
            <a:endParaRPr lang="en-US"/>
          </a:p>
        </p:txBody>
      </p:sp>
      <p:sp>
        <p:nvSpPr>
          <p:cNvPr id="62" name="Text 60">
            <a:hlinkClick r:id="rId11" action="ppaction://hlinksldjump"/>
          </p:cNvPr>
          <p:cNvSpPr/>
          <p:nvPr/>
        </p:nvSpPr>
        <p:spPr>
          <a:xfrm>
            <a:off x="2148840" y="5586984"/>
            <a:ext cx="1453896" cy="109728"/>
          </a:xfrm>
          <a:prstGeom prst="rect">
            <a:avLst/>
          </a:prstGeom>
          <a:noFill/>
          <a:ln/>
        </p:spPr>
        <p:txBody>
          <a:bodyPr wrap="square" lIns="381" tIns="381" rIns="381" bIns="381" rtlCol="0" anchor="ctr">
            <a:normAutofit/>
          </a:bodyPr>
          <a:lstStyle/>
          <a:p>
            <a:pPr marL="0" indent="0" algn="ctr">
              <a:buNone/>
            </a:pPr>
            <a:r>
              <a:rPr lang="en-US" sz="640" b="1" u="sng" dirty="0">
                <a:solidFill>
                  <a:srgbClr val="132133"/>
                </a:solidFill>
                <a:latin typeface="Arial" pitchFamily="34" charset="0"/>
                <a:ea typeface="Arial" pitchFamily="34" charset="-122"/>
                <a:cs typeface="Arial" pitchFamily="34" charset="-120"/>
                <a:hlinkClick r:id="rId11" action="ppaction://hlinksldjump">
                  <a:extLst>
                    <a:ext uri="{A12FA001-AC4F-418D-AE19-62706E023703}">
                      <ahyp:hlinkClr xmlns:ahyp="http://schemas.microsoft.com/office/drawing/2018/hyperlinkcolor" val="tx"/>
                    </a:ext>
                  </a:extLst>
                </a:hlinkClick>
              </a:rPr>
              <a:t>Confirm Reservation</a:t>
            </a:r>
            <a:endParaRPr lang="en-US" sz="640" dirty="0"/>
          </a:p>
        </p:txBody>
      </p:sp>
      <p:sp>
        <p:nvSpPr>
          <p:cNvPr id="63" name="Shape 61"/>
          <p:cNvSpPr/>
          <p:nvPr/>
        </p:nvSpPr>
        <p:spPr>
          <a:xfrm>
            <a:off x="6903720" y="5413248"/>
            <a:ext cx="3520440" cy="384048"/>
          </a:xfrm>
          <a:prstGeom prst="roundRect">
            <a:avLst>
              <a:gd name="adj" fmla="val 14286"/>
            </a:avLst>
          </a:prstGeom>
          <a:solidFill>
            <a:srgbClr val="E7F3EC"/>
          </a:solidFill>
          <a:ln w="12700">
            <a:solidFill>
              <a:srgbClr val="E7F3EC"/>
            </a:solidFill>
            <a:prstDash val="solid"/>
          </a:ln>
        </p:spPr>
        <p:txBody>
          <a:bodyPr/>
          <a:lstStyle/>
          <a:p>
            <a:endParaRPr lang="en-US"/>
          </a:p>
        </p:txBody>
      </p:sp>
      <p:sp>
        <p:nvSpPr>
          <p:cNvPr id="64" name="Text 62"/>
          <p:cNvSpPr/>
          <p:nvPr/>
        </p:nvSpPr>
        <p:spPr>
          <a:xfrm>
            <a:off x="7086600" y="5559552"/>
            <a:ext cx="2926080" cy="100584"/>
          </a:xfrm>
          <a:prstGeom prst="rect">
            <a:avLst/>
          </a:prstGeom>
          <a:noFill/>
          <a:ln/>
        </p:spPr>
        <p:txBody>
          <a:bodyPr wrap="square" lIns="381" tIns="381" rIns="381" bIns="381" rtlCol="0" anchor="ctr">
            <a:normAutofit/>
          </a:bodyPr>
          <a:lstStyle/>
          <a:p>
            <a:pPr marL="0" indent="0" algn="l">
              <a:buNone/>
            </a:pPr>
            <a:r>
              <a:rPr lang="en-US" sz="620" b="1" dirty="0">
                <a:solidFill>
                  <a:srgbClr val="216C4D"/>
                </a:solidFill>
                <a:latin typeface="Arial" pitchFamily="34" charset="0"/>
                <a:ea typeface="Arial" pitchFamily="34" charset="-122"/>
                <a:cs typeface="Arial" pitchFamily="34" charset="-120"/>
              </a:rPr>
              <a:t>Success message appears after confirmation.</a:t>
            </a:r>
            <a:endParaRPr lang="en-US" sz="6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5762FB90-FE35-F282-DBA2-FB2E6AC7924F}"/>
              </a:ext>
            </a:extLst>
          </p:cNvPr>
          <p:cNvPicPr>
            <a:picLocks noChangeAspect="1"/>
          </p:cNvPicPr>
          <p:nvPr/>
        </p:nvPicPr>
        <p:blipFill>
          <a:blip r:embed="rId2"/>
          <a:stretch>
            <a:fillRect/>
          </a:stretch>
        </p:blipFill>
        <p:spPr>
          <a:xfrm>
            <a:off x="6312747" y="1084791"/>
            <a:ext cx="5376333" cy="5209625"/>
          </a:xfrm>
          <a:prstGeom prst="rect">
            <a:avLst/>
          </a:prstGeom>
        </p:spPr>
      </p:pic>
      <p:sp>
        <p:nvSpPr>
          <p:cNvPr id="7" name="TextBox 6"/>
          <p:cNvSpPr txBox="1"/>
          <p:nvPr/>
        </p:nvSpPr>
        <p:spPr>
          <a:xfrm>
            <a:off x="502920" y="256032"/>
            <a:ext cx="6766560" cy="384048"/>
          </a:xfrm>
          <a:prstGeom prst="rect">
            <a:avLst/>
          </a:prstGeom>
          <a:noFill/>
        </p:spPr>
        <p:txBody>
          <a:bodyPr wrap="none">
            <a:spAutoFit/>
          </a:bodyPr>
          <a:lstStyle/>
          <a:p>
            <a:pPr>
              <a:defRPr sz="2600" b="1">
                <a:solidFill>
                  <a:srgbClr val="0D1D2F"/>
                </a:solidFill>
                <a:latin typeface="Georgia"/>
              </a:defRPr>
            </a:pPr>
            <a:r>
              <a:t>Database Design &amp; ERD</a:t>
            </a:r>
          </a:p>
        </p:txBody>
      </p:sp>
      <p:sp>
        <p:nvSpPr>
          <p:cNvPr id="8" name="TextBox 7"/>
          <p:cNvSpPr txBox="1"/>
          <p:nvPr/>
        </p:nvSpPr>
        <p:spPr>
          <a:xfrm>
            <a:off x="521207" y="694944"/>
            <a:ext cx="7955279" cy="292608"/>
          </a:xfrm>
          <a:prstGeom prst="rect">
            <a:avLst/>
          </a:prstGeom>
          <a:noFill/>
        </p:spPr>
        <p:txBody>
          <a:bodyPr wrap="none">
            <a:spAutoFit/>
          </a:bodyPr>
          <a:lstStyle/>
          <a:p>
            <a:pPr>
              <a:defRPr sz="1150">
                <a:solidFill>
                  <a:srgbClr val="586370"/>
                </a:solidFill>
                <a:latin typeface="Aptos"/>
              </a:defRPr>
            </a:pPr>
            <a:r>
              <a:t>Relationships behind booking and guest history.</a:t>
            </a:r>
          </a:p>
        </p:txBody>
      </p:sp>
      <p:sp>
        <p:nvSpPr>
          <p:cNvPr id="9" name="Rounded Rectangle 8"/>
          <p:cNvSpPr/>
          <p:nvPr/>
        </p:nvSpPr>
        <p:spPr>
          <a:xfrm>
            <a:off x="502920" y="1152144"/>
            <a:ext cx="4343400" cy="5074920"/>
          </a:xfrm>
          <a:prstGeom prst="roundRect">
            <a:avLst/>
          </a:prstGeom>
          <a:solidFill>
            <a:srgbClr val="F5F8F8"/>
          </a:solidFill>
          <a:ln w="10160">
            <a:solidFill>
              <a:srgbClr val="E0E8E8"/>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1389888"/>
            <a:ext cx="3794760" cy="256032"/>
          </a:xfrm>
          <a:prstGeom prst="rect">
            <a:avLst/>
          </a:prstGeom>
          <a:noFill/>
        </p:spPr>
        <p:txBody>
          <a:bodyPr wrap="square" lIns="45720" tIns="36576" rIns="45720" bIns="36576">
            <a:spAutoFit/>
          </a:bodyPr>
          <a:lstStyle/>
          <a:p>
            <a:pPr>
              <a:defRPr sz="1500" b="1">
                <a:solidFill>
                  <a:srgbClr val="0E606C"/>
                </a:solidFill>
                <a:latin typeface="Aptos"/>
              </a:defRPr>
            </a:pPr>
            <a:r>
              <a:t>How the tables connect</a:t>
            </a:r>
          </a:p>
        </p:txBody>
      </p:sp>
      <p:sp>
        <p:nvSpPr>
          <p:cNvPr id="11" name="TextBox 10"/>
          <p:cNvSpPr txBox="1"/>
          <p:nvPr/>
        </p:nvSpPr>
        <p:spPr>
          <a:xfrm>
            <a:off x="777240" y="1764792"/>
            <a:ext cx="3794760" cy="3337560"/>
          </a:xfrm>
          <a:prstGeom prst="rect">
            <a:avLst/>
          </a:prstGeom>
          <a:noFill/>
        </p:spPr>
        <p:txBody>
          <a:bodyPr wrap="square" tIns="73152" bIns="73152">
            <a:spAutoFit/>
          </a:bodyPr>
          <a:lstStyle/>
          <a:p>
            <a:pPr>
              <a:spcAft>
                <a:spcPts val="400"/>
              </a:spcAft>
              <a:defRPr sz="1150">
                <a:solidFill>
                  <a:srgbClr val="0D1D2F"/>
                </a:solidFill>
                <a:latin typeface="Aptos"/>
              </a:defRPr>
            </a:pPr>
            <a:r>
              <a:t>Customers → reservations</a:t>
            </a:r>
          </a:p>
          <a:p>
            <a:pPr>
              <a:spcAft>
                <a:spcPts val="400"/>
              </a:spcAft>
              <a:defRPr sz="1150">
                <a:solidFill>
                  <a:srgbClr val="0D1D2F"/>
                </a:solidFill>
                <a:latin typeface="Aptos"/>
              </a:defRPr>
            </a:pPr>
            <a:r>
              <a:t>Room types → prices and occupancy</a:t>
            </a:r>
          </a:p>
          <a:p>
            <a:pPr>
              <a:spcAft>
                <a:spcPts val="400"/>
              </a:spcAft>
              <a:defRPr sz="1150">
                <a:solidFill>
                  <a:srgbClr val="0D1D2F"/>
                </a:solidFill>
                <a:latin typeface="Aptos"/>
              </a:defRPr>
            </a:pPr>
            <a:r>
              <a:t>Rooms → available room numbers</a:t>
            </a:r>
          </a:p>
          <a:p>
            <a:pPr>
              <a:spcAft>
                <a:spcPts val="400"/>
              </a:spcAft>
              <a:defRPr sz="1150">
                <a:solidFill>
                  <a:srgbClr val="0D1D2F"/>
                </a:solidFill>
                <a:latin typeface="Aptos"/>
              </a:defRPr>
            </a:pPr>
            <a:r>
              <a:t>Reservation rooms → booking details</a:t>
            </a:r>
          </a:p>
          <a:p>
            <a:pPr>
              <a:spcAft>
                <a:spcPts val="400"/>
              </a:spcAft>
              <a:defRPr sz="1150">
                <a:solidFill>
                  <a:srgbClr val="0D1D2F"/>
                </a:solidFill>
                <a:latin typeface="Aptos"/>
              </a:defRPr>
            </a:pPr>
            <a:r>
              <a:t>Contact messages → guest questions</a:t>
            </a:r>
          </a:p>
        </p:txBody>
      </p:sp>
      <p:sp>
        <p:nvSpPr>
          <p:cNvPr id="12" name="Rounded Rectangle 11"/>
          <p:cNvSpPr/>
          <p:nvPr/>
        </p:nvSpPr>
        <p:spPr>
          <a:xfrm>
            <a:off x="777240" y="5285232"/>
            <a:ext cx="3794760" cy="676656"/>
          </a:xfrm>
          <a:prstGeom prst="roundRect">
            <a:avLst/>
          </a:prstGeom>
          <a:solidFill>
            <a:srgbClr val="FFFBF1"/>
          </a:solidFill>
          <a:ln w="10160">
            <a:solidFill>
              <a:srgbClr val="E0B053"/>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960120" y="5431536"/>
            <a:ext cx="3429000" cy="356616"/>
          </a:xfrm>
          <a:prstGeom prst="rect">
            <a:avLst/>
          </a:prstGeom>
          <a:noFill/>
        </p:spPr>
        <p:txBody>
          <a:bodyPr wrap="square" lIns="45720" tIns="36576" rIns="45720" bIns="36576">
            <a:spAutoFit/>
          </a:bodyPr>
          <a:lstStyle/>
          <a:p>
            <a:pPr>
              <a:defRPr sz="1080" b="0">
                <a:solidFill>
                  <a:srgbClr val="0D1D2F"/>
                </a:solidFill>
                <a:latin typeface="Aptos"/>
              </a:defRPr>
            </a:pPr>
            <a:r>
              <a:t>Supports availability, bookings, history, and contact.</a:t>
            </a:r>
          </a:p>
        </p:txBody>
      </p:sp>
    </p:spTree>
    <p:extLst>
      <p:ext uri="{BB962C8B-B14F-4D97-AF65-F5344CB8AC3E}">
        <p14:creationId xmlns:p14="http://schemas.microsoft.com/office/powerpoint/2010/main" val="42154586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0D51221-4031-16CF-9492-E5678E8C135F}"/>
              </a:ext>
            </a:extLst>
          </p:cNvPr>
          <p:cNvSpPr>
            <a:spLocks noGrp="1"/>
          </p:cNvSpPr>
          <p:nvPr>
            <p:ph type="title"/>
          </p:nvPr>
        </p:nvSpPr>
        <p:spPr>
          <a:xfrm>
            <a:off x="841248" y="329184"/>
            <a:ext cx="10515600" cy="502920"/>
          </a:xfrm>
        </p:spPr>
        <p:txBody>
          <a:bodyPr/>
          <a:lstStyle/>
          <a:p>
            <a:r>
              <a:rPr lang="en-US" sz="3000" b="1" dirty="0">
                <a:solidFill>
                  <a:srgbClr val="0D1D2F"/>
                </a:solidFill>
                <a:latin typeface="Georgia"/>
              </a:rPr>
              <a:t>Tests Created &amp; Results</a:t>
            </a:r>
          </a:p>
        </p:txBody>
      </p:sp>
      <p:sp>
        <p:nvSpPr>
          <p:cNvPr id="4" name="TextBox 3"/>
          <p:cNvSpPr txBox="1"/>
          <p:nvPr/>
        </p:nvSpPr>
        <p:spPr>
          <a:xfrm>
            <a:off x="868680" y="1051560"/>
            <a:ext cx="9875520" cy="274320"/>
          </a:xfrm>
          <a:prstGeom prst="rect">
            <a:avLst/>
          </a:prstGeom>
          <a:noFill/>
        </p:spPr>
        <p:txBody>
          <a:bodyPr wrap="square" lIns="45720" tIns="36576" rIns="45720" bIns="36576">
            <a:spAutoFit/>
          </a:bodyPr>
          <a:lstStyle/>
          <a:p>
            <a:pPr>
              <a:defRPr sz="1200" b="0">
                <a:solidFill>
                  <a:srgbClr val="586370"/>
                </a:solidFill>
                <a:latin typeface="Aptos"/>
              </a:defRPr>
            </a:pPr>
            <a:r>
              <a:t>Five key tests passed. Screenshots show the results.</a:t>
            </a:r>
          </a:p>
        </p:txBody>
      </p:sp>
      <p:sp>
        <p:nvSpPr>
          <p:cNvPr id="5" name="Rectangle 4"/>
          <p:cNvSpPr/>
          <p:nvPr/>
        </p:nvSpPr>
        <p:spPr>
          <a:xfrm>
            <a:off x="658368" y="1417320"/>
            <a:ext cx="10881360" cy="329184"/>
          </a:xfrm>
          <a:prstGeom prst="rect">
            <a:avLst/>
          </a:prstGeom>
          <a:solidFill>
            <a:srgbClr val="0E606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804672" y="1481328"/>
            <a:ext cx="3794760" cy="155448"/>
          </a:xfrm>
          <a:prstGeom prst="rect">
            <a:avLst/>
          </a:prstGeom>
          <a:noFill/>
        </p:spPr>
        <p:txBody>
          <a:bodyPr wrap="square" lIns="45720" tIns="36576" rIns="45720" bIns="36576">
            <a:spAutoFit/>
          </a:bodyPr>
          <a:lstStyle/>
          <a:p>
            <a:pPr>
              <a:defRPr sz="950" b="1">
                <a:solidFill>
                  <a:srgbClr val="FFFFFF"/>
                </a:solidFill>
                <a:latin typeface="Aptos"/>
              </a:defRPr>
            </a:pPr>
            <a:r>
              <a:t>Test Name &amp; Description</a:t>
            </a:r>
          </a:p>
        </p:txBody>
      </p:sp>
      <p:sp>
        <p:nvSpPr>
          <p:cNvPr id="7" name="TextBox 6"/>
          <p:cNvSpPr txBox="1"/>
          <p:nvPr/>
        </p:nvSpPr>
        <p:spPr>
          <a:xfrm>
            <a:off x="4709160" y="1481328"/>
            <a:ext cx="2834640" cy="155448"/>
          </a:xfrm>
          <a:prstGeom prst="rect">
            <a:avLst/>
          </a:prstGeom>
          <a:noFill/>
        </p:spPr>
        <p:txBody>
          <a:bodyPr wrap="square" lIns="45720" tIns="36576" rIns="45720" bIns="36576">
            <a:spAutoFit/>
          </a:bodyPr>
          <a:lstStyle/>
          <a:p>
            <a:pPr>
              <a:defRPr sz="950" b="1">
                <a:solidFill>
                  <a:srgbClr val="FFFFFF"/>
                </a:solidFill>
                <a:latin typeface="Aptos"/>
              </a:defRPr>
            </a:pPr>
            <a:r>
              <a:t>Quick Result</a:t>
            </a:r>
          </a:p>
        </p:txBody>
      </p:sp>
      <p:sp>
        <p:nvSpPr>
          <p:cNvPr id="8" name="TextBox 7"/>
          <p:cNvSpPr txBox="1"/>
          <p:nvPr/>
        </p:nvSpPr>
        <p:spPr>
          <a:xfrm>
            <a:off x="7818120" y="1481328"/>
            <a:ext cx="3291840" cy="155448"/>
          </a:xfrm>
          <a:prstGeom prst="rect">
            <a:avLst/>
          </a:prstGeom>
          <a:noFill/>
        </p:spPr>
        <p:txBody>
          <a:bodyPr wrap="square" lIns="45720" tIns="36576" rIns="45720" bIns="36576">
            <a:spAutoFit/>
          </a:bodyPr>
          <a:lstStyle/>
          <a:p>
            <a:pPr>
              <a:defRPr sz="950" b="1">
                <a:solidFill>
                  <a:srgbClr val="FFFFFF"/>
                </a:solidFill>
                <a:latin typeface="Aptos"/>
              </a:defRPr>
            </a:pPr>
            <a:r>
              <a:t>Screenshot Evidence</a:t>
            </a:r>
          </a:p>
        </p:txBody>
      </p:sp>
      <p:sp>
        <p:nvSpPr>
          <p:cNvPr id="9" name="Rectangle 8"/>
          <p:cNvSpPr/>
          <p:nvPr/>
        </p:nvSpPr>
        <p:spPr>
          <a:xfrm>
            <a:off x="658368" y="1783080"/>
            <a:ext cx="10881360" cy="896112"/>
          </a:xfrm>
          <a:prstGeom prst="rect">
            <a:avLst/>
          </a:prstGeom>
          <a:solidFill>
            <a:srgbClr val="FAFAF8"/>
          </a:solidFill>
          <a:ln w="10160">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04672" y="1856231"/>
            <a:ext cx="3703320" cy="795528"/>
          </a:xfrm>
          <a:prstGeom prst="rect">
            <a:avLst/>
          </a:prstGeom>
          <a:noFill/>
        </p:spPr>
        <p:txBody>
          <a:bodyPr wrap="square" lIns="36576" tIns="18288" rIns="27432" bIns="18288">
            <a:spAutoFit/>
          </a:bodyPr>
          <a:lstStyle/>
          <a:p>
            <a:pPr>
              <a:defRPr sz="840" b="1">
                <a:solidFill>
                  <a:srgbClr val="0D1D2F"/>
                </a:solidFill>
                <a:latin typeface="Aptos"/>
              </a:defRPr>
            </a:pPr>
            <a:r>
              <a:t>Reservation History Loads</a:t>
            </a:r>
          </a:p>
          <a:p>
            <a:pPr>
              <a:spcBef>
                <a:spcPts val="200"/>
              </a:spcBef>
              <a:defRPr sz="750">
                <a:solidFill>
                  <a:srgbClr val="3E4956"/>
                </a:solidFill>
                <a:latin typeface="Aptos"/>
              </a:defRPr>
            </a:pPr>
            <a:r>
              <a:t>Saved customer reservations are shown.</a:t>
            </a:r>
          </a:p>
        </p:txBody>
      </p:sp>
      <p:sp>
        <p:nvSpPr>
          <p:cNvPr id="11" name="TextBox 10"/>
          <p:cNvSpPr txBox="1"/>
          <p:nvPr/>
        </p:nvSpPr>
        <p:spPr>
          <a:xfrm>
            <a:off x="4709160" y="1892807"/>
            <a:ext cx="2743200" cy="777240"/>
          </a:xfrm>
          <a:prstGeom prst="rect">
            <a:avLst/>
          </a:prstGeom>
          <a:noFill/>
        </p:spPr>
        <p:txBody>
          <a:bodyPr wrap="square" lIns="27432" tIns="18288" rIns="27432" bIns="18288">
            <a:spAutoFit/>
          </a:bodyPr>
          <a:lstStyle/>
          <a:p>
            <a:pPr>
              <a:defRPr sz="790">
                <a:solidFill>
                  <a:srgbClr val="0D1D2F"/>
                </a:solidFill>
                <a:latin typeface="Aptos"/>
              </a:defRPr>
            </a:pPr>
            <a:r>
              <a:t>Passed: dates and totals loaded.</a:t>
            </a:r>
          </a:p>
        </p:txBody>
      </p:sp>
      <p:sp>
        <p:nvSpPr>
          <p:cNvPr id="12" name="Rectangle 11"/>
          <p:cNvSpPr/>
          <p:nvPr/>
        </p:nvSpPr>
        <p:spPr>
          <a:xfrm>
            <a:off x="658368" y="2724912"/>
            <a:ext cx="10881360" cy="896112"/>
          </a:xfrm>
          <a:prstGeom prst="rect">
            <a:avLst/>
          </a:prstGeom>
          <a:solidFill>
            <a:srgbClr val="EEF4F4"/>
          </a:solidFill>
          <a:ln w="10160">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04672" y="2798064"/>
            <a:ext cx="3703320" cy="795528"/>
          </a:xfrm>
          <a:prstGeom prst="rect">
            <a:avLst/>
          </a:prstGeom>
          <a:noFill/>
        </p:spPr>
        <p:txBody>
          <a:bodyPr wrap="square" lIns="36576" tIns="18288" rIns="27432" bIns="18288">
            <a:spAutoFit/>
          </a:bodyPr>
          <a:lstStyle/>
          <a:p>
            <a:pPr>
              <a:defRPr sz="840" b="1">
                <a:solidFill>
                  <a:srgbClr val="0D1D2F"/>
                </a:solidFill>
                <a:latin typeface="Aptos"/>
              </a:defRPr>
            </a:pPr>
            <a:r>
              <a:t>Reservation Details Expand</a:t>
            </a:r>
          </a:p>
          <a:p>
            <a:pPr>
              <a:spcBef>
                <a:spcPts val="200"/>
              </a:spcBef>
              <a:defRPr sz="750">
                <a:solidFill>
                  <a:srgbClr val="3E4956"/>
                </a:solidFill>
                <a:latin typeface="Aptos"/>
              </a:defRPr>
            </a:pPr>
            <a:r>
              <a:t>Room information opens on selection.</a:t>
            </a:r>
          </a:p>
        </p:txBody>
      </p:sp>
      <p:sp>
        <p:nvSpPr>
          <p:cNvPr id="14" name="TextBox 13"/>
          <p:cNvSpPr txBox="1"/>
          <p:nvPr/>
        </p:nvSpPr>
        <p:spPr>
          <a:xfrm>
            <a:off x="4709160" y="2834640"/>
            <a:ext cx="2743200" cy="777240"/>
          </a:xfrm>
          <a:prstGeom prst="rect">
            <a:avLst/>
          </a:prstGeom>
          <a:noFill/>
        </p:spPr>
        <p:txBody>
          <a:bodyPr wrap="square" lIns="27432" tIns="18288" rIns="27432" bIns="18288">
            <a:spAutoFit/>
          </a:bodyPr>
          <a:lstStyle/>
          <a:p>
            <a:pPr>
              <a:defRPr sz="790">
                <a:solidFill>
                  <a:srgbClr val="0D1D2F"/>
                </a:solidFill>
                <a:latin typeface="Aptos"/>
              </a:defRPr>
            </a:pPr>
            <a:r>
              <a:t>Passed: room rows and subtotals match.</a:t>
            </a:r>
          </a:p>
        </p:txBody>
      </p:sp>
      <p:sp>
        <p:nvSpPr>
          <p:cNvPr id="15" name="Rectangle 14"/>
          <p:cNvSpPr/>
          <p:nvPr/>
        </p:nvSpPr>
        <p:spPr>
          <a:xfrm>
            <a:off x="658368" y="3666744"/>
            <a:ext cx="10881360" cy="896112"/>
          </a:xfrm>
          <a:prstGeom prst="rect">
            <a:avLst/>
          </a:prstGeom>
          <a:solidFill>
            <a:srgbClr val="FAFAF8"/>
          </a:solidFill>
          <a:ln w="10160">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804672" y="3739896"/>
            <a:ext cx="3703320" cy="795528"/>
          </a:xfrm>
          <a:prstGeom prst="rect">
            <a:avLst/>
          </a:prstGeom>
          <a:noFill/>
        </p:spPr>
        <p:txBody>
          <a:bodyPr wrap="square" lIns="36576" tIns="18288" rIns="27432" bIns="18288">
            <a:spAutoFit/>
          </a:bodyPr>
          <a:lstStyle/>
          <a:p>
            <a:pPr>
              <a:defRPr sz="840" b="1">
                <a:solidFill>
                  <a:srgbClr val="0D1D2F"/>
                </a:solidFill>
                <a:latin typeface="Aptos"/>
              </a:defRPr>
            </a:pPr>
            <a:r>
              <a:t>About + Contact Form</a:t>
            </a:r>
          </a:p>
          <a:p>
            <a:pPr>
              <a:spcBef>
                <a:spcPts val="200"/>
              </a:spcBef>
              <a:defRPr sz="750">
                <a:solidFill>
                  <a:srgbClr val="3E4956"/>
                </a:solidFill>
                <a:latin typeface="Aptos"/>
              </a:defRPr>
            </a:pPr>
            <a:r>
              <a:t>The combined page loads correctly.</a:t>
            </a:r>
          </a:p>
        </p:txBody>
      </p:sp>
      <p:sp>
        <p:nvSpPr>
          <p:cNvPr id="17" name="TextBox 16"/>
          <p:cNvSpPr txBox="1"/>
          <p:nvPr/>
        </p:nvSpPr>
        <p:spPr>
          <a:xfrm>
            <a:off x="4709160" y="3776472"/>
            <a:ext cx="2743200" cy="777240"/>
          </a:xfrm>
          <a:prstGeom prst="rect">
            <a:avLst/>
          </a:prstGeom>
          <a:noFill/>
        </p:spPr>
        <p:txBody>
          <a:bodyPr wrap="square" lIns="27432" tIns="18288" rIns="27432" bIns="18288">
            <a:spAutoFit/>
          </a:bodyPr>
          <a:lstStyle/>
          <a:p>
            <a:pPr>
              <a:defRPr sz="790">
                <a:solidFill>
                  <a:srgbClr val="0D1D2F"/>
                </a:solidFill>
                <a:latin typeface="Aptos"/>
              </a:defRPr>
            </a:pPr>
            <a:r>
              <a:t>Passed: inquiry fields are visible.</a:t>
            </a:r>
          </a:p>
        </p:txBody>
      </p:sp>
      <p:sp>
        <p:nvSpPr>
          <p:cNvPr id="18" name="Rectangle 17"/>
          <p:cNvSpPr/>
          <p:nvPr/>
        </p:nvSpPr>
        <p:spPr>
          <a:xfrm>
            <a:off x="658368" y="4608576"/>
            <a:ext cx="10881360" cy="896112"/>
          </a:xfrm>
          <a:prstGeom prst="rect">
            <a:avLst/>
          </a:prstGeom>
          <a:solidFill>
            <a:srgbClr val="EEF4F4"/>
          </a:solidFill>
          <a:ln w="10160">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804672" y="4681728"/>
            <a:ext cx="3703320" cy="795528"/>
          </a:xfrm>
          <a:prstGeom prst="rect">
            <a:avLst/>
          </a:prstGeom>
          <a:noFill/>
        </p:spPr>
        <p:txBody>
          <a:bodyPr wrap="square" lIns="36576" tIns="18288" rIns="27432" bIns="18288">
            <a:spAutoFit/>
          </a:bodyPr>
          <a:lstStyle/>
          <a:p>
            <a:pPr>
              <a:defRPr sz="840" b="1">
                <a:solidFill>
                  <a:srgbClr val="0D1D2F"/>
                </a:solidFill>
                <a:latin typeface="Aptos"/>
              </a:defRPr>
            </a:pPr>
            <a:r>
              <a:t>Booking Summary</a:t>
            </a:r>
          </a:p>
          <a:p>
            <a:pPr>
              <a:spcBef>
                <a:spcPts val="200"/>
              </a:spcBef>
              <a:defRPr sz="750">
                <a:solidFill>
                  <a:srgbClr val="3E4956"/>
                </a:solidFill>
                <a:latin typeface="Aptos"/>
              </a:defRPr>
            </a:pPr>
            <a:r>
              <a:t>Guests review their selected stay.</a:t>
            </a:r>
          </a:p>
        </p:txBody>
      </p:sp>
      <p:sp>
        <p:nvSpPr>
          <p:cNvPr id="20" name="TextBox 19"/>
          <p:cNvSpPr txBox="1"/>
          <p:nvPr/>
        </p:nvSpPr>
        <p:spPr>
          <a:xfrm>
            <a:off x="4709160" y="4718304"/>
            <a:ext cx="2743200" cy="777240"/>
          </a:xfrm>
          <a:prstGeom prst="rect">
            <a:avLst/>
          </a:prstGeom>
          <a:noFill/>
        </p:spPr>
        <p:txBody>
          <a:bodyPr wrap="square" lIns="27432" tIns="18288" rIns="27432" bIns="18288">
            <a:spAutoFit/>
          </a:bodyPr>
          <a:lstStyle/>
          <a:p>
            <a:pPr>
              <a:defRPr sz="790">
                <a:solidFill>
                  <a:srgbClr val="0D1D2F"/>
                </a:solidFill>
                <a:latin typeface="Aptos"/>
              </a:defRPr>
            </a:pPr>
            <a:r>
              <a:t>Passed: dates and total match.</a:t>
            </a:r>
          </a:p>
        </p:txBody>
      </p:sp>
      <p:sp>
        <p:nvSpPr>
          <p:cNvPr id="21" name="Rectangle 20"/>
          <p:cNvSpPr/>
          <p:nvPr/>
        </p:nvSpPr>
        <p:spPr>
          <a:xfrm>
            <a:off x="658368" y="5550408"/>
            <a:ext cx="10881360" cy="896112"/>
          </a:xfrm>
          <a:prstGeom prst="rect">
            <a:avLst/>
          </a:prstGeom>
          <a:solidFill>
            <a:srgbClr val="FAFAF8"/>
          </a:solidFill>
          <a:ln w="10160">
            <a:solidFill>
              <a:srgbClr val="E2E2E2"/>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04672" y="5623560"/>
            <a:ext cx="3703320" cy="795528"/>
          </a:xfrm>
          <a:prstGeom prst="rect">
            <a:avLst/>
          </a:prstGeom>
          <a:noFill/>
        </p:spPr>
        <p:txBody>
          <a:bodyPr wrap="square" lIns="36576" tIns="18288" rIns="27432" bIns="18288">
            <a:spAutoFit/>
          </a:bodyPr>
          <a:lstStyle/>
          <a:p>
            <a:pPr>
              <a:defRPr sz="840" b="1">
                <a:solidFill>
                  <a:srgbClr val="0D1D2F"/>
                </a:solidFill>
                <a:latin typeface="Aptos"/>
              </a:defRPr>
            </a:pPr>
            <a:r>
              <a:t>Availability Checks</a:t>
            </a:r>
          </a:p>
          <a:p>
            <a:pPr>
              <a:spcBef>
                <a:spcPts val="200"/>
              </a:spcBef>
              <a:defRPr sz="750">
                <a:solidFill>
                  <a:srgbClr val="3E4956"/>
                </a:solidFill>
                <a:latin typeface="Aptos"/>
              </a:defRPr>
            </a:pPr>
            <a:r>
              <a:t>Too many requested rooms are blocked.</a:t>
            </a:r>
          </a:p>
        </p:txBody>
      </p:sp>
      <p:sp>
        <p:nvSpPr>
          <p:cNvPr id="23" name="TextBox 22"/>
          <p:cNvSpPr txBox="1"/>
          <p:nvPr/>
        </p:nvSpPr>
        <p:spPr>
          <a:xfrm>
            <a:off x="4709160" y="5660136"/>
            <a:ext cx="2743200" cy="777240"/>
          </a:xfrm>
          <a:prstGeom prst="rect">
            <a:avLst/>
          </a:prstGeom>
          <a:noFill/>
        </p:spPr>
        <p:txBody>
          <a:bodyPr wrap="square" lIns="27432" tIns="18288" rIns="27432" bIns="18288">
            <a:spAutoFit/>
          </a:bodyPr>
          <a:lstStyle/>
          <a:p>
            <a:pPr>
              <a:defRPr sz="790">
                <a:solidFill>
                  <a:srgbClr val="0D1D2F"/>
                </a:solidFill>
                <a:latin typeface="Aptos"/>
              </a:defRPr>
            </a:pPr>
            <a:r>
              <a:t>Passed: clear availability warning.</a:t>
            </a:r>
          </a:p>
        </p:txBody>
      </p:sp>
      <p:pic>
        <p:nvPicPr>
          <p:cNvPr id="24" name="Picture 23" descr="image.png"/>
          <p:cNvPicPr>
            <a:picLocks noChangeAspect="1"/>
          </p:cNvPicPr>
          <p:nvPr/>
        </p:nvPicPr>
        <p:blipFill>
          <a:blip r:embed="rId2"/>
          <a:stretch>
            <a:fillRect/>
          </a:stretch>
        </p:blipFill>
        <p:spPr>
          <a:xfrm>
            <a:off x="8820330" y="1856231"/>
            <a:ext cx="1424578" cy="758952"/>
          </a:xfrm>
          <a:prstGeom prst="rect">
            <a:avLst/>
          </a:prstGeom>
          <a:ln w="6350">
            <a:solidFill>
              <a:srgbClr val="BEC8CD"/>
            </a:solidFill>
          </a:ln>
        </p:spPr>
      </p:pic>
      <p:pic>
        <p:nvPicPr>
          <p:cNvPr id="25" name="Picture 24" descr="image.png"/>
          <p:cNvPicPr>
            <a:picLocks noChangeAspect="1"/>
          </p:cNvPicPr>
          <p:nvPr/>
        </p:nvPicPr>
        <p:blipFill>
          <a:blip r:embed="rId3"/>
          <a:stretch>
            <a:fillRect/>
          </a:stretch>
        </p:blipFill>
        <p:spPr>
          <a:xfrm>
            <a:off x="8820248" y="2798064"/>
            <a:ext cx="1424742" cy="758952"/>
          </a:xfrm>
          <a:prstGeom prst="rect">
            <a:avLst/>
          </a:prstGeom>
          <a:ln w="6350">
            <a:solidFill>
              <a:srgbClr val="BEC8CD"/>
            </a:solidFill>
          </a:ln>
        </p:spPr>
      </p:pic>
      <p:pic>
        <p:nvPicPr>
          <p:cNvPr id="26" name="Picture 25" descr="image.tmp"/>
          <p:cNvPicPr>
            <a:picLocks noChangeAspect="1"/>
          </p:cNvPicPr>
          <p:nvPr/>
        </p:nvPicPr>
        <p:blipFill>
          <a:blip r:embed="rId4"/>
          <a:stretch>
            <a:fillRect/>
          </a:stretch>
        </p:blipFill>
        <p:spPr>
          <a:xfrm>
            <a:off x="8779966" y="3739896"/>
            <a:ext cx="1505307" cy="758952"/>
          </a:xfrm>
          <a:prstGeom prst="rect">
            <a:avLst/>
          </a:prstGeom>
          <a:ln w="6350">
            <a:solidFill>
              <a:srgbClr val="BEC8CD"/>
            </a:solidFill>
          </a:ln>
        </p:spPr>
      </p:pic>
      <p:pic>
        <p:nvPicPr>
          <p:cNvPr id="27" name="Picture 26" descr="image.tmp"/>
          <p:cNvPicPr>
            <a:picLocks noChangeAspect="1"/>
          </p:cNvPicPr>
          <p:nvPr/>
        </p:nvPicPr>
        <p:blipFill>
          <a:blip r:embed="rId5"/>
          <a:stretch>
            <a:fillRect/>
          </a:stretch>
        </p:blipFill>
        <p:spPr>
          <a:xfrm>
            <a:off x="8775708" y="4681728"/>
            <a:ext cx="1513823" cy="758952"/>
          </a:xfrm>
          <a:prstGeom prst="rect">
            <a:avLst/>
          </a:prstGeom>
          <a:ln w="6350">
            <a:solidFill>
              <a:srgbClr val="BEC8CD"/>
            </a:solidFill>
          </a:ln>
        </p:spPr>
      </p:pic>
      <p:pic>
        <p:nvPicPr>
          <p:cNvPr id="28" name="Picture 27" descr="image.tmp"/>
          <p:cNvPicPr>
            <a:picLocks noChangeAspect="1"/>
          </p:cNvPicPr>
          <p:nvPr/>
        </p:nvPicPr>
        <p:blipFill>
          <a:blip r:embed="rId6"/>
          <a:stretch>
            <a:fillRect/>
          </a:stretch>
        </p:blipFill>
        <p:spPr>
          <a:xfrm>
            <a:off x="8781917" y="5623560"/>
            <a:ext cx="1501405" cy="758952"/>
          </a:xfrm>
          <a:prstGeom prst="rect">
            <a:avLst/>
          </a:prstGeom>
          <a:ln w="6350">
            <a:solidFill>
              <a:srgbClr val="BEC8CD"/>
            </a:solidFill>
          </a:ln>
        </p:spPr>
      </p:pic>
    </p:spTree>
    <p:extLst>
      <p:ext uri="{BB962C8B-B14F-4D97-AF65-F5344CB8AC3E}">
        <p14:creationId xmlns:p14="http://schemas.microsoft.com/office/powerpoint/2010/main" val="23888555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826E1880-E19A-5FD8-D055-58E8FB76ECF2}"/>
              </a:ext>
            </a:extLst>
          </p:cNvPr>
          <p:cNvSpPr>
            <a:spLocks noGrp="1"/>
          </p:cNvSpPr>
          <p:nvPr>
            <p:ph type="title"/>
          </p:nvPr>
        </p:nvSpPr>
        <p:spPr>
          <a:xfrm>
            <a:off x="841248" y="329184"/>
            <a:ext cx="10515600" cy="502920"/>
          </a:xfrm>
        </p:spPr>
        <p:txBody>
          <a:bodyPr/>
          <a:lstStyle/>
          <a:p>
            <a:r>
              <a:rPr lang="en-US" sz="3000" b="1" dirty="0">
                <a:solidFill>
                  <a:srgbClr val="0D1D2F"/>
                </a:solidFill>
                <a:latin typeface="Georgia"/>
              </a:rPr>
              <a:t>Team Lessons Learned</a:t>
            </a:r>
          </a:p>
        </p:txBody>
      </p:sp>
      <p:sp>
        <p:nvSpPr>
          <p:cNvPr id="8" name="TextBox 7"/>
          <p:cNvSpPr txBox="1"/>
          <p:nvPr/>
        </p:nvSpPr>
        <p:spPr>
          <a:xfrm>
            <a:off x="868680" y="1051560"/>
            <a:ext cx="9875520" cy="274320"/>
          </a:xfrm>
          <a:prstGeom prst="rect">
            <a:avLst/>
          </a:prstGeom>
          <a:noFill/>
        </p:spPr>
        <p:txBody>
          <a:bodyPr wrap="square" lIns="45720" tIns="36576" rIns="45720" bIns="36576">
            <a:spAutoFit/>
          </a:bodyPr>
          <a:lstStyle/>
          <a:p>
            <a:pPr>
              <a:defRPr sz="1200" b="0">
                <a:solidFill>
                  <a:srgbClr val="586370"/>
                </a:solidFill>
                <a:latin typeface="Aptos"/>
              </a:defRPr>
            </a:pPr>
            <a:r>
              <a:t>Key takeaways from building, testing, documenting, and merging the final prototype.</a:t>
            </a:r>
          </a:p>
        </p:txBody>
      </p:sp>
      <p:sp>
        <p:nvSpPr>
          <p:cNvPr id="9" name="Rounded Rectangle 8"/>
          <p:cNvSpPr/>
          <p:nvPr/>
        </p:nvSpPr>
        <p:spPr>
          <a:xfrm>
            <a:off x="804672" y="1572768"/>
            <a:ext cx="5166360" cy="1298448"/>
          </a:xfrm>
          <a:prstGeom prst="roundRect">
            <a:avLst/>
          </a:prstGeom>
          <a:solidFill>
            <a:srgbClr val="F8FAFA"/>
          </a:solidFill>
          <a:ln w="10160">
            <a:solidFill>
              <a:srgbClr val="DC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1005840" y="1737360"/>
            <a:ext cx="4764024" cy="256032"/>
          </a:xfrm>
          <a:prstGeom prst="rect">
            <a:avLst/>
          </a:prstGeom>
          <a:noFill/>
        </p:spPr>
        <p:txBody>
          <a:bodyPr wrap="square" lIns="45720" tIns="36576" rIns="45720" bIns="36576">
            <a:spAutoFit/>
          </a:bodyPr>
          <a:lstStyle/>
          <a:p>
            <a:pPr>
              <a:defRPr sz="1320" b="1">
                <a:solidFill>
                  <a:srgbClr val="0E606C"/>
                </a:solidFill>
                <a:latin typeface="Aptos"/>
              </a:defRPr>
            </a:pPr>
            <a:r>
              <a:t>Async communication needs clear handoffs.</a:t>
            </a:r>
          </a:p>
        </p:txBody>
      </p:sp>
      <p:sp>
        <p:nvSpPr>
          <p:cNvPr id="11" name="TextBox 10"/>
          <p:cNvSpPr txBox="1"/>
          <p:nvPr/>
        </p:nvSpPr>
        <p:spPr>
          <a:xfrm>
            <a:off x="1005840" y="2057400"/>
            <a:ext cx="4764024" cy="713232"/>
          </a:xfrm>
          <a:prstGeom prst="rect">
            <a:avLst/>
          </a:prstGeom>
          <a:noFill/>
        </p:spPr>
        <p:txBody>
          <a:bodyPr wrap="square" lIns="45720" tIns="36576" rIns="45720" bIns="36576">
            <a:spAutoFit/>
          </a:bodyPr>
          <a:lstStyle/>
          <a:p>
            <a:pPr>
              <a:defRPr sz="1100" b="0">
                <a:solidFill>
                  <a:srgbClr val="0D1D2F"/>
                </a:solidFill>
                <a:latin typeface="Aptos"/>
              </a:defRPr>
            </a:pPr>
            <a:r>
              <a:t>Because the team worked at different times, quick updates and clear ownership helped prevent duplicated work and missed files.</a:t>
            </a:r>
          </a:p>
        </p:txBody>
      </p:sp>
      <p:sp>
        <p:nvSpPr>
          <p:cNvPr id="12" name="Rounded Rectangle 11"/>
          <p:cNvSpPr/>
          <p:nvPr/>
        </p:nvSpPr>
        <p:spPr>
          <a:xfrm>
            <a:off x="6355080" y="1572768"/>
            <a:ext cx="5166360" cy="1298448"/>
          </a:xfrm>
          <a:prstGeom prst="roundRect">
            <a:avLst/>
          </a:prstGeom>
          <a:solidFill>
            <a:srgbClr val="FFFBF1"/>
          </a:solidFill>
          <a:ln w="10160">
            <a:solidFill>
              <a:srgbClr val="DC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6556248" y="1737360"/>
            <a:ext cx="4764024" cy="256032"/>
          </a:xfrm>
          <a:prstGeom prst="rect">
            <a:avLst/>
          </a:prstGeom>
          <a:noFill/>
        </p:spPr>
        <p:txBody>
          <a:bodyPr wrap="square" lIns="45720" tIns="36576" rIns="45720" bIns="36576">
            <a:spAutoFit/>
          </a:bodyPr>
          <a:lstStyle/>
          <a:p>
            <a:pPr>
              <a:defRPr sz="1320" b="1">
                <a:solidFill>
                  <a:srgbClr val="0E606C"/>
                </a:solidFill>
                <a:latin typeface="Aptos"/>
              </a:defRPr>
            </a:pPr>
            <a:r>
              <a:t>Backup coverage keeps the project moving.</a:t>
            </a:r>
          </a:p>
        </p:txBody>
      </p:sp>
      <p:sp>
        <p:nvSpPr>
          <p:cNvPr id="14" name="TextBox 13"/>
          <p:cNvSpPr txBox="1"/>
          <p:nvPr/>
        </p:nvSpPr>
        <p:spPr>
          <a:xfrm>
            <a:off x="6556248" y="2057400"/>
            <a:ext cx="4764024" cy="713232"/>
          </a:xfrm>
          <a:prstGeom prst="rect">
            <a:avLst/>
          </a:prstGeom>
          <a:noFill/>
        </p:spPr>
        <p:txBody>
          <a:bodyPr wrap="square" lIns="45720" tIns="36576" rIns="45720" bIns="36576">
            <a:spAutoFit/>
          </a:bodyPr>
          <a:lstStyle/>
          <a:p>
            <a:pPr>
              <a:defRPr sz="1100" b="0">
                <a:solidFill>
                  <a:srgbClr val="0D1D2F"/>
                </a:solidFill>
                <a:latin typeface="Aptos"/>
              </a:defRPr>
            </a:pPr>
            <a:r>
              <a:t>Having a backup plan matters when teammates have work, family, or schedule conflicts during the week.</a:t>
            </a:r>
          </a:p>
        </p:txBody>
      </p:sp>
      <p:sp>
        <p:nvSpPr>
          <p:cNvPr id="15" name="Rounded Rectangle 14"/>
          <p:cNvSpPr/>
          <p:nvPr/>
        </p:nvSpPr>
        <p:spPr>
          <a:xfrm>
            <a:off x="804672" y="3054096"/>
            <a:ext cx="5166360" cy="1298448"/>
          </a:xfrm>
          <a:prstGeom prst="roundRect">
            <a:avLst/>
          </a:prstGeom>
          <a:solidFill>
            <a:srgbClr val="F8FAFA"/>
          </a:solidFill>
          <a:ln w="10160">
            <a:solidFill>
              <a:srgbClr val="DC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1005840" y="3218688"/>
            <a:ext cx="4764024" cy="256032"/>
          </a:xfrm>
          <a:prstGeom prst="rect">
            <a:avLst/>
          </a:prstGeom>
          <a:noFill/>
        </p:spPr>
        <p:txBody>
          <a:bodyPr wrap="square" lIns="45720" tIns="36576" rIns="45720" bIns="36576">
            <a:spAutoFit/>
          </a:bodyPr>
          <a:lstStyle/>
          <a:p>
            <a:pPr>
              <a:defRPr sz="1320" b="1">
                <a:solidFill>
                  <a:srgbClr val="0E606C"/>
                </a:solidFill>
                <a:latin typeface="Aptos"/>
              </a:defRPr>
            </a:pPr>
            <a:r>
              <a:t>Speed should still leave room for fair participation.</a:t>
            </a:r>
          </a:p>
        </p:txBody>
      </p:sp>
      <p:sp>
        <p:nvSpPr>
          <p:cNvPr id="17" name="TextBox 16"/>
          <p:cNvSpPr txBox="1"/>
          <p:nvPr/>
        </p:nvSpPr>
        <p:spPr>
          <a:xfrm>
            <a:off x="1005840" y="3538728"/>
            <a:ext cx="4764024" cy="713232"/>
          </a:xfrm>
          <a:prstGeom prst="rect">
            <a:avLst/>
          </a:prstGeom>
          <a:noFill/>
        </p:spPr>
        <p:txBody>
          <a:bodyPr wrap="square" lIns="45720" tIns="36576" rIns="45720" bIns="36576">
            <a:spAutoFit/>
          </a:bodyPr>
          <a:lstStyle/>
          <a:p>
            <a:pPr>
              <a:defRPr sz="1100" b="0">
                <a:solidFill>
                  <a:srgbClr val="0D1D2F"/>
                </a:solidFill>
                <a:latin typeface="Aptos"/>
              </a:defRPr>
            </a:pPr>
            <a:r>
              <a:t>Some work was completed well before the Sunday deadline, which helped progress but left fewer weekend tasks for teammates who planned to contribute later.</a:t>
            </a:r>
          </a:p>
        </p:txBody>
      </p:sp>
      <p:sp>
        <p:nvSpPr>
          <p:cNvPr id="18" name="Rounded Rectangle 17"/>
          <p:cNvSpPr/>
          <p:nvPr/>
        </p:nvSpPr>
        <p:spPr>
          <a:xfrm>
            <a:off x="6355080" y="3054096"/>
            <a:ext cx="5166360" cy="1298448"/>
          </a:xfrm>
          <a:prstGeom prst="roundRect">
            <a:avLst/>
          </a:prstGeom>
          <a:solidFill>
            <a:srgbClr val="FFFBF1"/>
          </a:solidFill>
          <a:ln w="10160">
            <a:solidFill>
              <a:srgbClr val="DC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6556248" y="3218688"/>
            <a:ext cx="4764024" cy="256032"/>
          </a:xfrm>
          <a:prstGeom prst="rect">
            <a:avLst/>
          </a:prstGeom>
          <a:noFill/>
        </p:spPr>
        <p:txBody>
          <a:bodyPr wrap="square" lIns="45720" tIns="36576" rIns="45720" bIns="36576">
            <a:spAutoFit/>
          </a:bodyPr>
          <a:lstStyle/>
          <a:p>
            <a:pPr>
              <a:defRPr sz="1320" b="1">
                <a:solidFill>
                  <a:srgbClr val="0E606C"/>
                </a:solidFill>
                <a:latin typeface="Aptos"/>
              </a:defRPr>
            </a:pPr>
            <a:r>
              <a:t>QA must compare against the current site.</a:t>
            </a:r>
          </a:p>
        </p:txBody>
      </p:sp>
      <p:sp>
        <p:nvSpPr>
          <p:cNvPr id="20" name="TextBox 19"/>
          <p:cNvSpPr txBox="1"/>
          <p:nvPr/>
        </p:nvSpPr>
        <p:spPr>
          <a:xfrm>
            <a:off x="6556248" y="3538728"/>
            <a:ext cx="4764024" cy="713232"/>
          </a:xfrm>
          <a:prstGeom prst="rect">
            <a:avLst/>
          </a:prstGeom>
          <a:noFill/>
        </p:spPr>
        <p:txBody>
          <a:bodyPr wrap="square" lIns="45720" tIns="36576" rIns="45720" bIns="36576">
            <a:spAutoFit/>
          </a:bodyPr>
          <a:lstStyle/>
          <a:p>
            <a:pPr>
              <a:defRPr sz="1100" b="0">
                <a:solidFill>
                  <a:srgbClr val="0D1D2F"/>
                </a:solidFill>
                <a:latin typeface="Aptos"/>
              </a:defRPr>
            </a:pPr>
            <a:r>
              <a:t>Testing helped catch places where pricing, screenshots, seed data, and written results needed to match the working prototype.</a:t>
            </a:r>
          </a:p>
        </p:txBody>
      </p:sp>
      <p:sp>
        <p:nvSpPr>
          <p:cNvPr id="21" name="Rounded Rectangle 20"/>
          <p:cNvSpPr/>
          <p:nvPr/>
        </p:nvSpPr>
        <p:spPr>
          <a:xfrm>
            <a:off x="804672" y="4535424"/>
            <a:ext cx="5166360" cy="1298448"/>
          </a:xfrm>
          <a:prstGeom prst="roundRect">
            <a:avLst/>
          </a:prstGeom>
          <a:solidFill>
            <a:srgbClr val="F8FAFA"/>
          </a:solidFill>
          <a:ln w="10160">
            <a:solidFill>
              <a:srgbClr val="DC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1005840" y="4700016"/>
            <a:ext cx="4764024" cy="256032"/>
          </a:xfrm>
          <a:prstGeom prst="rect">
            <a:avLst/>
          </a:prstGeom>
          <a:noFill/>
        </p:spPr>
        <p:txBody>
          <a:bodyPr wrap="square" lIns="45720" tIns="36576" rIns="45720" bIns="36576">
            <a:spAutoFit/>
          </a:bodyPr>
          <a:lstStyle/>
          <a:p>
            <a:pPr>
              <a:defRPr sz="1320" b="1">
                <a:solidFill>
                  <a:srgbClr val="0E606C"/>
                </a:solidFill>
                <a:latin typeface="Aptos"/>
              </a:defRPr>
            </a:pPr>
            <a:r>
              <a:t>Data consistency affects the whole flow.</a:t>
            </a:r>
          </a:p>
        </p:txBody>
      </p:sp>
      <p:sp>
        <p:nvSpPr>
          <p:cNvPr id="23" name="TextBox 22"/>
          <p:cNvSpPr txBox="1"/>
          <p:nvPr/>
        </p:nvSpPr>
        <p:spPr>
          <a:xfrm>
            <a:off x="1005840" y="5020056"/>
            <a:ext cx="4764024" cy="713232"/>
          </a:xfrm>
          <a:prstGeom prst="rect">
            <a:avLst/>
          </a:prstGeom>
          <a:noFill/>
        </p:spPr>
        <p:txBody>
          <a:bodyPr wrap="square" lIns="45720" tIns="36576" rIns="45720" bIns="36576">
            <a:spAutoFit/>
          </a:bodyPr>
          <a:lstStyle/>
          <a:p>
            <a:pPr>
              <a:defRPr sz="1100" b="0">
                <a:solidFill>
                  <a:srgbClr val="0D1D2F"/>
                </a:solidFill>
                <a:latin typeface="Aptos"/>
              </a:defRPr>
            </a:pPr>
            <a:r>
              <a:t>Room prices, availability checks, reservation history, and summary totals all depend on the frontend and database using the same values.</a:t>
            </a:r>
          </a:p>
        </p:txBody>
      </p:sp>
      <p:sp>
        <p:nvSpPr>
          <p:cNvPr id="24" name="Rounded Rectangle 23"/>
          <p:cNvSpPr/>
          <p:nvPr/>
        </p:nvSpPr>
        <p:spPr>
          <a:xfrm>
            <a:off x="6355080" y="4535424"/>
            <a:ext cx="5166360" cy="1298448"/>
          </a:xfrm>
          <a:prstGeom prst="roundRect">
            <a:avLst/>
          </a:prstGeom>
          <a:solidFill>
            <a:srgbClr val="FFFBF1"/>
          </a:solidFill>
          <a:ln w="10160">
            <a:solidFill>
              <a:srgbClr val="DCE1E1"/>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6556248" y="4700016"/>
            <a:ext cx="4764024" cy="256032"/>
          </a:xfrm>
          <a:prstGeom prst="rect">
            <a:avLst/>
          </a:prstGeom>
          <a:noFill/>
        </p:spPr>
        <p:txBody>
          <a:bodyPr wrap="square" lIns="45720" tIns="36576" rIns="45720" bIns="36576">
            <a:spAutoFit/>
          </a:bodyPr>
          <a:lstStyle/>
          <a:p>
            <a:pPr>
              <a:defRPr sz="1320" b="1">
                <a:solidFill>
                  <a:srgbClr val="0E606C"/>
                </a:solidFill>
                <a:latin typeface="Aptos"/>
              </a:defRPr>
            </a:pPr>
            <a:r>
              <a:t>Git process needs clear timing and ownership.</a:t>
            </a:r>
          </a:p>
        </p:txBody>
      </p:sp>
      <p:sp>
        <p:nvSpPr>
          <p:cNvPr id="26" name="TextBox 25"/>
          <p:cNvSpPr txBox="1"/>
          <p:nvPr/>
        </p:nvSpPr>
        <p:spPr>
          <a:xfrm>
            <a:off x="6556248" y="5020056"/>
            <a:ext cx="4764024" cy="713232"/>
          </a:xfrm>
          <a:prstGeom prst="rect">
            <a:avLst/>
          </a:prstGeom>
          <a:noFill/>
        </p:spPr>
        <p:txBody>
          <a:bodyPr wrap="square" lIns="45720" tIns="36576" rIns="45720" bIns="36576">
            <a:spAutoFit/>
          </a:bodyPr>
          <a:lstStyle/>
          <a:p>
            <a:pPr>
              <a:defRPr sz="1100" b="0">
                <a:solidFill>
                  <a:srgbClr val="0D1D2F"/>
                </a:solidFill>
                <a:latin typeface="Aptos"/>
              </a:defRPr>
            </a:pPr>
            <a:r>
              <a:t>Branches, pull requests, and merge timing should be coordinated so final changes are not missed, duplicated, or overwritten.</a:t>
            </a:r>
          </a:p>
        </p:txBody>
      </p:sp>
    </p:spTree>
    <p:extLst>
      <p:ext uri="{BB962C8B-B14F-4D97-AF65-F5344CB8AC3E}">
        <p14:creationId xmlns:p14="http://schemas.microsoft.com/office/powerpoint/2010/main" val="3797506827"/>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63</TotalTime>
  <Words>2237</Words>
  <Application>Microsoft Office PowerPoint</Application>
  <PresentationFormat>Widescreen</PresentationFormat>
  <Paragraphs>516</Paragraphs>
  <Slides>15</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15</vt:i4>
      </vt:variant>
    </vt:vector>
  </HeadingPairs>
  <TitlesOfParts>
    <vt:vector size="20" baseType="lpstr">
      <vt:lpstr>Aptos</vt:lpstr>
      <vt:lpstr>Aptos Display</vt:lpstr>
      <vt:lpstr>Arial</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Tests Created &amp; Results</vt:lpstr>
      <vt:lpstr>Team Lessons Learned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Tiffany Davidson</dc:creator>
  <cp:lastModifiedBy>Tiffany Davidson</cp:lastModifiedBy>
  <cp:revision>9</cp:revision>
  <dcterms:created xsi:type="dcterms:W3CDTF">2026-08-17T13:22:54Z</dcterms:created>
  <dcterms:modified xsi:type="dcterms:W3CDTF">2026-10-11T17:48:10Z</dcterms:modified>
</cp:coreProperties>
</file>